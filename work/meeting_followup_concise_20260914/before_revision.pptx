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Layouts/followup20260914_slideLayout1.xml" ContentType="application/vnd.openxmlformats-officedocument.presentationml.slideLayout+xml"/>
  <Override PartName="/ppt/slideMasters/followup20260914_slideMaster1.xml" ContentType="application/vnd.openxmlformats-officedocument.presentationml.slideMaster+xml"/>
  <Override PartName="/ppt/slideMasters/theme/followup20260914_theme2.xml" ContentType="application/vnd.openxmlformats-officedocument.theme+xml"/>
  <Override PartName="/ppt/slideLayouts/followup20260914_slideLayout2.xml" ContentType="application/vnd.openxmlformats-officedocument.presentationml.slideLayout+xml"/>
  <Override PartName="/ppt/slideLayouts/followup20260914_slideLayout3.xml" ContentType="application/vnd.openxmlformats-officedocument.presentationml.slideLayout+xml"/>
  <Override PartName="/ppt/slideLayouts/followup20260914_slideLayout4.xml" ContentType="application/vnd.openxmlformats-officedocument.presentationml.slideLayout+xml"/>
  <Override PartName="/ppt/slideLayouts/followup20260914_slideLayout5.xml" ContentType="application/vnd.openxmlformats-officedocument.presentationml.slideLayout+xml"/>
  <Override PartName="/ppt/slideLayouts/followup20260914_slideLayout6.xml" ContentType="application/vnd.openxmlformats-officedocument.presentationml.slideLayout+xml"/>
  <Override PartName="/ppt/slideLayouts/followup20260914_slideLayout7.xml" ContentType="application/vnd.openxmlformats-officedocument.presentationml.slideLayout+xml"/>
  <Override PartName="/ppt/slideLayouts/followup20260914_slideLayout8.xml" ContentType="application/vnd.openxmlformats-officedocument.presentationml.slideLayout+xml"/>
  <Override PartName="/ppt/slideLayouts/followup20260914_slideLayout9.xml" ContentType="application/vnd.openxmlformats-officedocument.presentationml.slideLayout+xml"/>
  <Override PartName="/ppt/notesSlides/followup20260914_notesSlide16.xml" ContentType="application/vnd.openxmlformats-officedocument.presentationml.notesSlide+xml"/>
  <Override PartName="/ppt/notesMasters/followup20260914_notesMaster1.xml" ContentType="application/vnd.openxmlformats-officedocument.presentationml.notesMaster+xml"/>
  <Override PartName="/ppt/notesMasters/theme/followup20260914_theme3.xml" ContentType="application/vnd.openxmlformats-officedocument.theme+xml"/>
  <Override PartName="/ppt/notesSlides/followup20260914_notesSlide17.xml" ContentType="application/vnd.openxmlformats-officedocument.presentationml.notesSlide+xml"/>
  <Override PartName="/ppt/notesSlides/followup20260914_notesSlide18.xml" ContentType="application/vnd.openxmlformats-officedocument.presentationml.notesSlide+xml"/>
  <Override PartName="/ppt/notesSlides/followup20260914_notesSlide19.xml" ContentType="application/vnd.openxmlformats-officedocument.presentationml.notesSlide+xml"/>
  <Override PartName="/ppt/notesSlides/followup20260914_notesSlide20.xml" ContentType="application/vnd.openxmlformats-officedocument.presentationml.notesSlide+xml"/>
  <Override PartName="/ppt/notesSlides/followup20260914_notesSlide21.xml" ContentType="application/vnd.openxmlformats-officedocument.presentationml.notesSlide+xml"/>
  <Override PartName="/ppt/notesSlides/followup20260914_notesSlide22.xml" ContentType="application/vnd.openxmlformats-officedocument.presentationml.notesSlide+xml"/>
  <Override PartName="/ppt/notesSlides/followup20260914_notesSlide23.xml" ContentType="application/vnd.openxmlformats-officedocument.presentationml.notesSlide+xml"/>
  <Override PartName="/ppt/notesSlides/followup20260914_notesSlide24.xml" ContentType="application/vnd.openxmlformats-officedocument.presentationml.notesSlide+xml"/>
  <Override PartName="/ppt/notesSlides/followup20260914_notesSlide25.xml" ContentType="application/vnd.openxmlformats-officedocument.presentationml.notesSlide+xml"/>
  <Override PartName="/ppt/notesSlides/followup20260914_notesSlide26.xml" ContentType="application/vnd.openxmlformats-officedocument.presentationml.notesSlide+xml"/>
  <Override PartName="/ppt/notesSlides/followup20260914_notesSlide27.xml" ContentType="application/vnd.openxmlformats-officedocument.presentationml.notesSlide+xml"/>
  <Override PartName="/ppt/notesSlides/followup20260914_notesSlide28.xml" ContentType="application/vnd.openxmlformats-officedocument.presentationml.notesSlide+xml"/>
  <Override PartName="/ppt/notesSlides/followup20260914_notesSlide29.xml" ContentType="application/vnd.openxmlformats-officedocument.presentationml.notesSlide+xml"/>
  <Override PartName="/ppt/notesSlides/followup20260914_notesSlide30.xml" ContentType="application/vnd.openxmlformats-officedocument.presentationml.notesSlide+xml"/>
  <Override PartName="/ppt/notesSlides/followup20260914_notesSlide31.xml" ContentType="application/vnd.openxmlformats-officedocument.presentationml.notesSlide+xml"/>
  <Override PartName="/ppt/notesSlides/followup20260914_notesSlide32.xml" ContentType="application/vnd.openxmlformats-officedocument.presentationml.notesSlide+xml"/>
  <Override PartName="/ppt/notesSlides/followup20260914_notesSlide3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r:id="rIdFollowup20260914slideMaster0" id="2147483649"/>
  </p:sldMasterIdLst>
  <p:notesMasterIdLst>
    <p:notesMasterId r:id="rId17"/>
    <p:notesMasterId r:id="rIdFollowup20260914notesMaster0"/>
  </p:notesMasterIdLst>
  <p:handoutMasterIdLst>
    <p:handoutMasterId r:id="rId18"/>
  </p:handoutMasterIdLst>
  <p:sldIdLst>
    <p:sldId id="257" r:id="rId2"/>
    <p:sldId id="258" r:id="rId3"/>
    <p:sldId id="264" r:id="rId4"/>
    <p:sldId id="265" r:id="rId5"/>
    <p:sldId id="261" r:id="rId6"/>
    <p:sldId id="263" r:id="rId7"/>
    <p:sldId id="262" r:id="rId8"/>
    <p:sldId id="259" r:id="rId9"/>
    <p:sldId id="266" r:id="rId10"/>
    <p:sldId id="270" r:id="rId11"/>
    <p:sldId id="267" r:id="rId12"/>
    <p:sldId id="268" r:id="rId13"/>
    <p:sldId id="269" r:id="rId14"/>
    <p:sldId id="271" r:id="rId15"/>
    <p:sldId id="260" r:id="rId16"/>
    <p:sldId id="272" r:id="rIdFollowup20260914Slide16"/>
    <p:sldId id="273" r:id="rIdFollowup20260914Slide17"/>
    <p:sldId id="274" r:id="rIdFollowup20260914Slide18"/>
    <p:sldId id="275" r:id="rIdFollowup20260914Slide19"/>
    <p:sldId id="276" r:id="rIdFollowup20260914Slide20"/>
    <p:sldId id="277" r:id="rIdFollowup20260914Slide21"/>
    <p:sldId id="278" r:id="rIdFollowup20260914Slide22"/>
    <p:sldId id="279" r:id="rIdFollowup20260914Slide23"/>
    <p:sldId id="280" r:id="rIdFollowup20260914Slide24"/>
    <p:sldId id="281" r:id="rIdFollowup20260914Slide25"/>
    <p:sldId id="282" r:id="rIdFollowup20260914Slide26"/>
    <p:sldId id="283" r:id="rIdFollowup20260914Slide27"/>
    <p:sldId id="284" r:id="rIdFollowup20260914Slide28"/>
    <p:sldId id="285" r:id="rIdFollowup20260914Slide29"/>
    <p:sldId id="286" r:id="rIdFollowup20260914Slide30"/>
    <p:sldId id="287" r:id="rIdFollowup20260914Slide31"/>
    <p:sldId id="288" r:id="rIdFollowup20260914Slide32"/>
    <p:sldId id="289" r:id="rIdFollowup20260914Slide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00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86681"/>
  </p:normalViewPr>
  <p:slideViewPr>
    <p:cSldViewPr snapToGrid="0">
      <p:cViewPr varScale="1">
        <p:scale>
          <a:sx n="107" d="100"/>
          <a:sy n="107" d="100"/>
        </p:scale>
        <p:origin x="640"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 Id="rIdFollowup20260914Slide16" Type="http://schemas.openxmlformats.org/officeDocument/2006/relationships/slide" Target="slides/slide16.xml"/><Relationship Id="rIdFollowup20260914Slide17" Type="http://schemas.openxmlformats.org/officeDocument/2006/relationships/slide" Target="slides/slide17.xml"/><Relationship Id="rIdFollowup20260914Slide18" Type="http://schemas.openxmlformats.org/officeDocument/2006/relationships/slide" Target="slides/slide18.xml"/><Relationship Id="rIdFollowup20260914Slide19" Type="http://schemas.openxmlformats.org/officeDocument/2006/relationships/slide" Target="slides/slide19.xml"/><Relationship Id="rIdFollowup20260914Slide20" Type="http://schemas.openxmlformats.org/officeDocument/2006/relationships/slide" Target="slides/slide20.xml"/><Relationship Id="rIdFollowup20260914Slide21" Type="http://schemas.openxmlformats.org/officeDocument/2006/relationships/slide" Target="slides/slide21.xml"/><Relationship Id="rIdFollowup20260914Slide22" Type="http://schemas.openxmlformats.org/officeDocument/2006/relationships/slide" Target="slides/slide22.xml"/><Relationship Id="rIdFollowup20260914Slide23" Type="http://schemas.openxmlformats.org/officeDocument/2006/relationships/slide" Target="slides/slide23.xml"/><Relationship Id="rIdFollowup20260914Slide24" Type="http://schemas.openxmlformats.org/officeDocument/2006/relationships/slide" Target="slides/slide24.xml"/><Relationship Id="rIdFollowup20260914Slide25" Type="http://schemas.openxmlformats.org/officeDocument/2006/relationships/slide" Target="slides/slide25.xml"/><Relationship Id="rIdFollowup20260914Slide26" Type="http://schemas.openxmlformats.org/officeDocument/2006/relationships/slide" Target="slides/slide26.xml"/><Relationship Id="rIdFollowup20260914Slide27" Type="http://schemas.openxmlformats.org/officeDocument/2006/relationships/slide" Target="slides/slide27.xml"/><Relationship Id="rIdFollowup20260914Slide28" Type="http://schemas.openxmlformats.org/officeDocument/2006/relationships/slide" Target="slides/slide28.xml"/><Relationship Id="rIdFollowup20260914Slide29" Type="http://schemas.openxmlformats.org/officeDocument/2006/relationships/slide" Target="slides/slide29.xml"/><Relationship Id="rIdFollowup20260914Slide30" Type="http://schemas.openxmlformats.org/officeDocument/2006/relationships/slide" Target="slides/slide30.xml"/><Relationship Id="rIdFollowup20260914Slide31" Type="http://schemas.openxmlformats.org/officeDocument/2006/relationships/slide" Target="slides/slide31.xml"/><Relationship Id="rIdFollowup20260914Slide32" Type="http://schemas.openxmlformats.org/officeDocument/2006/relationships/slide" Target="slides/slide32.xml"/><Relationship Id="rIdFollowup20260914Slide33" Type="http://schemas.openxmlformats.org/officeDocument/2006/relationships/slide" Target="slides/slide33.xml"/><Relationship Id="rIdFollowup20260914slideMaster0" Type="http://schemas.openxmlformats.org/officeDocument/2006/relationships/slideMaster" Target="slideMasters/followup20260914_slideMaster1.xml"/><Relationship Id="rIdFollowup20260914notesMaster0" Type="http://schemas.openxmlformats.org/officeDocument/2006/relationships/notesMaster" Target="notesMasters/followup20260914_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AFC8F7-AF27-F130-7C82-24EFFBB7B0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a:extLst>
              <a:ext uri="{FF2B5EF4-FFF2-40B4-BE49-F238E27FC236}">
                <a16:creationId xmlns:a16="http://schemas.microsoft.com/office/drawing/2014/main" id="{C5AB00E0-B2F9-6C7A-555C-7A817ED955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8514F1-A004-5B48-BF92-2A67EAD675E3}" type="datetimeFigureOut">
              <a:rPr lang="en-CN" smtClean="0"/>
              <a:t>9/10/26</a:t>
            </a:fld>
            <a:endParaRPr lang="en-CN"/>
          </a:p>
        </p:txBody>
      </p:sp>
      <p:sp>
        <p:nvSpPr>
          <p:cNvPr id="4" name="Footer Placeholder 3">
            <a:extLst>
              <a:ext uri="{FF2B5EF4-FFF2-40B4-BE49-F238E27FC236}">
                <a16:creationId xmlns:a16="http://schemas.microsoft.com/office/drawing/2014/main" id="{F8F16121-F8B1-EB14-652E-D18CA489EE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5" name="Slide Number Placeholder 4">
            <a:extLst>
              <a:ext uri="{FF2B5EF4-FFF2-40B4-BE49-F238E27FC236}">
                <a16:creationId xmlns:a16="http://schemas.microsoft.com/office/drawing/2014/main" id="{D3065ACD-FFA5-8586-3750-5C53301D5D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BB1930-FD93-4348-BEFD-0E8A90AA44AF}" type="slidenum">
              <a:rPr lang="en-CN" smtClean="0"/>
              <a:t>‹#›</a:t>
            </a:fld>
            <a:endParaRPr lang="en-CN"/>
          </a:p>
        </p:txBody>
      </p:sp>
    </p:spTree>
    <p:extLst>
      <p:ext uri="{BB962C8B-B14F-4D97-AF65-F5344CB8AC3E}">
        <p14:creationId xmlns:p14="http://schemas.microsoft.com/office/powerpoint/2010/main" val="42032629"/>
      </p:ext>
    </p:extLst>
  </p:cSld>
  <p:clrMap bg1="lt1" tx1="dk1" bg2="lt2" tx2="dk2" accent1="accent1" accent2="accent2" accent3="accent3" accent4="accent4" accent5="accent5" accent6="accent6" hlink="hlink" folHlink="folHlink"/>
</p:handoutMaster>
</file>

<file path=ppt/notesMasters/_rels/followup20260914_notesMaster1.xml.rels><?xml version='1.0' encoding='UTF-8' standalone='yes'?>
<Relationships xmlns="http://schemas.openxmlformats.org/package/2006/relationships"><Relationship Type="http://schemas.openxmlformats.org/officeDocument/2006/relationships/theme" Target="theme/followup20260914_theme3.xml" Id="R1978c3a20dd247fe"/></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followup2026091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1FF414-C241-D84F-96D2-7DA274BED85C}" type="datetimeFigureOut">
              <a:rPr lang="en-CN" smtClean="0"/>
              <a:t>9/10/26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A9F544-7F2B-574D-A23E-126D715F5459}" type="slidenum">
              <a:rPr lang="en-CN" smtClean="0"/>
              <a:t>‹#›</a:t>
            </a:fld>
            <a:endParaRPr lang="en-CN"/>
          </a:p>
        </p:txBody>
      </p:sp>
    </p:spTree>
    <p:extLst>
      <p:ext uri="{BB962C8B-B14F-4D97-AF65-F5344CB8AC3E}">
        <p14:creationId xmlns:p14="http://schemas.microsoft.com/office/powerpoint/2010/main" val="3853696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followup20260914_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followup20260914_notesSlide16.xml.rels><?xml version='1.0' encoding='UTF-8' standalone='yes'?>
<Relationships xmlns="http://schemas.openxmlformats.org/package/2006/relationships"><Relationship Type="http://schemas.openxmlformats.org/officeDocument/2006/relationships/slide" Target="../slides/slide16.xml" Id="Rd0cc33e91cf94a6a"/><Relationship Type="http://schemas.openxmlformats.org/officeDocument/2006/relationships/notesMaster" Target="../notesMasters/followup20260914_notesMaster1.xml" Id="Rde065d7ec6e547ca"/></Relationships>
</file>

<file path=ppt/notesSlides/_rels/followup20260914_notesSlide17.xml.rels><?xml version='1.0' encoding='UTF-8' standalone='yes'?>
<Relationships xmlns="http://schemas.openxmlformats.org/package/2006/relationships"><Relationship Type="http://schemas.openxmlformats.org/officeDocument/2006/relationships/slide" Target="../slides/slide17.xml" Id="Rfe89ee1ee7a642dd"/><Relationship Type="http://schemas.openxmlformats.org/officeDocument/2006/relationships/notesMaster" Target="../notesMasters/followup20260914_notesMaster1.xml" Id="R171226b199c64caf"/></Relationships>
</file>

<file path=ppt/notesSlides/_rels/followup20260914_notesSlide18.xml.rels><?xml version='1.0' encoding='UTF-8' standalone='yes'?>
<Relationships xmlns="http://schemas.openxmlformats.org/package/2006/relationships"><Relationship Type="http://schemas.openxmlformats.org/officeDocument/2006/relationships/slide" Target="../slides/slide18.xml" Id="Rf35d3c1c12dd47c3"/><Relationship Type="http://schemas.openxmlformats.org/officeDocument/2006/relationships/notesMaster" Target="../notesMasters/followup20260914_notesMaster1.xml" Id="R328116b320814e38"/></Relationships>
</file>

<file path=ppt/notesSlides/_rels/followup20260914_notesSlide19.xml.rels><?xml version='1.0' encoding='UTF-8' standalone='yes'?>
<Relationships xmlns="http://schemas.openxmlformats.org/package/2006/relationships"><Relationship Type="http://schemas.openxmlformats.org/officeDocument/2006/relationships/slide" Target="../slides/slide19.xml" Id="R5ef0f1dcec424dfb"/><Relationship Type="http://schemas.openxmlformats.org/officeDocument/2006/relationships/notesMaster" Target="../notesMasters/followup20260914_notesMaster1.xml" Id="R99dffedc7fb345e3"/></Relationships>
</file>

<file path=ppt/notesSlides/_rels/followup20260914_notesSlide20.xml.rels><?xml version='1.0' encoding='UTF-8' standalone='yes'?>
<Relationships xmlns="http://schemas.openxmlformats.org/package/2006/relationships"><Relationship Type="http://schemas.openxmlformats.org/officeDocument/2006/relationships/slide" Target="../slides/slide20.xml" Id="R97e4307e94a74796"/><Relationship Type="http://schemas.openxmlformats.org/officeDocument/2006/relationships/notesMaster" Target="../notesMasters/followup20260914_notesMaster1.xml" Id="R03e783e6b932418e"/></Relationships>
</file>

<file path=ppt/notesSlides/_rels/followup20260914_notesSlide21.xml.rels><?xml version='1.0' encoding='UTF-8' standalone='yes'?>
<Relationships xmlns="http://schemas.openxmlformats.org/package/2006/relationships"><Relationship Type="http://schemas.openxmlformats.org/officeDocument/2006/relationships/slide" Target="../slides/slide21.xml" Id="R3c269989916c4f2e"/><Relationship Type="http://schemas.openxmlformats.org/officeDocument/2006/relationships/notesMaster" Target="../notesMasters/followup20260914_notesMaster1.xml" Id="R22d5686006ea4dd0"/></Relationships>
</file>

<file path=ppt/notesSlides/_rels/followup20260914_notesSlide22.xml.rels><?xml version='1.0' encoding='UTF-8' standalone='yes'?>
<Relationships xmlns="http://schemas.openxmlformats.org/package/2006/relationships"><Relationship Type="http://schemas.openxmlformats.org/officeDocument/2006/relationships/slide" Target="../slides/slide22.xml" Id="R5a0f8a6dc87b4da9"/><Relationship Type="http://schemas.openxmlformats.org/officeDocument/2006/relationships/notesMaster" Target="../notesMasters/followup20260914_notesMaster1.xml" Id="R0d4609eeb2d24a07"/></Relationships>
</file>

<file path=ppt/notesSlides/_rels/followup20260914_notesSlide23.xml.rels><?xml version='1.0' encoding='UTF-8' standalone='yes'?>
<Relationships xmlns="http://schemas.openxmlformats.org/package/2006/relationships"><Relationship Type="http://schemas.openxmlformats.org/officeDocument/2006/relationships/slide" Target="../slides/slide23.xml" Id="R6174b0d995ab4ef3"/><Relationship Type="http://schemas.openxmlformats.org/officeDocument/2006/relationships/notesMaster" Target="../notesMasters/followup20260914_notesMaster1.xml" Id="R27f2520ae2e84c2e"/></Relationships>
</file>

<file path=ppt/notesSlides/_rels/followup20260914_notesSlide24.xml.rels><?xml version='1.0' encoding='UTF-8' standalone='yes'?>
<Relationships xmlns="http://schemas.openxmlformats.org/package/2006/relationships"><Relationship Type="http://schemas.openxmlformats.org/officeDocument/2006/relationships/slide" Target="../slides/slide24.xml" Id="Rdc50a40c6c7e45f7"/><Relationship Type="http://schemas.openxmlformats.org/officeDocument/2006/relationships/notesMaster" Target="../notesMasters/followup20260914_notesMaster1.xml" Id="Rdac1861dbc184fe8"/></Relationships>
</file>

<file path=ppt/notesSlides/_rels/followup20260914_notesSlide25.xml.rels><?xml version='1.0' encoding='UTF-8' standalone='yes'?>
<Relationships xmlns="http://schemas.openxmlformats.org/package/2006/relationships"><Relationship Type="http://schemas.openxmlformats.org/officeDocument/2006/relationships/slide" Target="../slides/slide25.xml" Id="Rc35317f1b4474c44"/><Relationship Type="http://schemas.openxmlformats.org/officeDocument/2006/relationships/notesMaster" Target="../notesMasters/followup20260914_notesMaster1.xml" Id="Raf729fe44cc042ee"/></Relationships>
</file>

<file path=ppt/notesSlides/_rels/followup20260914_notesSlide26.xml.rels><?xml version='1.0' encoding='UTF-8' standalone='yes'?>
<Relationships xmlns="http://schemas.openxmlformats.org/package/2006/relationships"><Relationship Type="http://schemas.openxmlformats.org/officeDocument/2006/relationships/slide" Target="../slides/slide26.xml" Id="R2b72cbb4ce96400d"/><Relationship Type="http://schemas.openxmlformats.org/officeDocument/2006/relationships/notesMaster" Target="../notesMasters/followup20260914_notesMaster1.xml" Id="R08106c35cdea48a9"/></Relationships>
</file>

<file path=ppt/notesSlides/_rels/followup20260914_notesSlide27.xml.rels><?xml version='1.0' encoding='UTF-8' standalone='yes'?>
<Relationships xmlns="http://schemas.openxmlformats.org/package/2006/relationships"><Relationship Type="http://schemas.openxmlformats.org/officeDocument/2006/relationships/slide" Target="../slides/slide27.xml" Id="R71f01cc1f61248bd"/><Relationship Type="http://schemas.openxmlformats.org/officeDocument/2006/relationships/notesMaster" Target="../notesMasters/followup20260914_notesMaster1.xml" Id="Rd7da727f20b541e9"/></Relationships>
</file>

<file path=ppt/notesSlides/_rels/followup20260914_notesSlide28.xml.rels><?xml version='1.0' encoding='UTF-8' standalone='yes'?>
<Relationships xmlns="http://schemas.openxmlformats.org/package/2006/relationships"><Relationship Type="http://schemas.openxmlformats.org/officeDocument/2006/relationships/slide" Target="../slides/slide28.xml" Id="R7026fa0483ba4893"/><Relationship Type="http://schemas.openxmlformats.org/officeDocument/2006/relationships/notesMaster" Target="../notesMasters/followup20260914_notesMaster1.xml" Id="Rf787e4c0cce343e4"/></Relationships>
</file>

<file path=ppt/notesSlides/_rels/followup20260914_notesSlide29.xml.rels><?xml version='1.0' encoding='UTF-8' standalone='yes'?>
<Relationships xmlns="http://schemas.openxmlformats.org/package/2006/relationships"><Relationship Type="http://schemas.openxmlformats.org/officeDocument/2006/relationships/slide" Target="../slides/slide29.xml" Id="Rc78f659a569c4d98"/><Relationship Type="http://schemas.openxmlformats.org/officeDocument/2006/relationships/notesMaster" Target="../notesMasters/followup20260914_notesMaster1.xml" Id="R07d42e4278c74eb6"/></Relationships>
</file>

<file path=ppt/notesSlides/_rels/followup20260914_notesSlide30.xml.rels><?xml version='1.0' encoding='UTF-8' standalone='yes'?>
<Relationships xmlns="http://schemas.openxmlformats.org/package/2006/relationships"><Relationship Type="http://schemas.openxmlformats.org/officeDocument/2006/relationships/slide" Target="../slides/slide30.xml" Id="R760a30b9a9334430"/><Relationship Type="http://schemas.openxmlformats.org/officeDocument/2006/relationships/notesMaster" Target="../notesMasters/followup20260914_notesMaster1.xml" Id="R4f026e6a5efc41b1"/></Relationships>
</file>

<file path=ppt/notesSlides/_rels/followup20260914_notesSlide31.xml.rels><?xml version='1.0' encoding='UTF-8' standalone='yes'?>
<Relationships xmlns="http://schemas.openxmlformats.org/package/2006/relationships"><Relationship Type="http://schemas.openxmlformats.org/officeDocument/2006/relationships/slide" Target="../slides/slide31.xml" Id="R6f07b65d3dea48f1"/><Relationship Type="http://schemas.openxmlformats.org/officeDocument/2006/relationships/notesMaster" Target="../notesMasters/followup20260914_notesMaster1.xml" Id="R3f35484fa61a4d07"/></Relationships>
</file>

<file path=ppt/notesSlides/_rels/followup20260914_notesSlide32.xml.rels><?xml version='1.0' encoding='UTF-8' standalone='yes'?>
<Relationships xmlns="http://schemas.openxmlformats.org/package/2006/relationships"><Relationship Type="http://schemas.openxmlformats.org/officeDocument/2006/relationships/slide" Target="../slides/slide32.xml" Id="Racf0ea032cd948c8"/><Relationship Type="http://schemas.openxmlformats.org/officeDocument/2006/relationships/notesMaster" Target="../notesMasters/followup20260914_notesMaster1.xml" Id="R0e9f0d1c8d7a4b6b"/></Relationships>
</file>

<file path=ppt/notesSlides/_rels/followup20260914_notesSlide33.xml.rels><?xml version='1.0' encoding='UTF-8' standalone='yes'?>
<Relationships xmlns="http://schemas.openxmlformats.org/package/2006/relationships"><Relationship Type="http://schemas.openxmlformats.org/officeDocument/2006/relationships/slide" Target="../slides/slide33.xml" Id="R259a97df482b4202"/><Relationship Type="http://schemas.openxmlformats.org/officeDocument/2006/relationships/notesMaster" Target="../notesMasters/followup20260914_notesMaster1.xml" Id="Rb0498488bb5f4659"/></Relationships>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followup20260914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问题：是否已有模型把组成、性质、文本和晶体信息用于一个可复用的学习系统，并利用不完整样本支持预测与生成？本次为针对性原始来源检索，不是穷尽性系统综述。“未证实”只代表所读材料的证据范围。</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LLaMat: A family of large language models for materials research with insights into model adaptability in continued pretraining. Nature Machine Intelligence 8, 435–448 (2026). https://doi.org/10.1038/s42256-026-01199-8 . Methods checked against preprint https://arxiv.org/html/2412.09560v1 §4.1.2, §4.2.1–4.2.3. Journal metadata and preprint methods are distinguished.</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LLaMat: A family of large language models for materials research with insights into model adaptability in continued pretraining. Nature Machine Intelligence 8, 435–448 (2026). https://doi.org/10.1038/s42256-026-01199-8 . Methods checked against preprint https://arxiv.org/html/2412.09560v1 §4.1.2, §4.2.1–4.2.3. Journal metadata and preprint methods are distinguished.</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MatterChat: A multimodal large language model for materials science. Nature Machine Intelligence 8, 588–601 (2026). https://doi.org/10.1038/s42256-026-01214-y — Methods, Dataset curation and Discussion.</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a:p xmlns:a="http://schemas.openxmlformats.org/drawingml/2006/main">
            <a:r>
              <a:t/>
            </a:r>
          </a:p>
          <a:p xmlns:a="http://schemas.openxmlformats.org/drawingml/2006/main">
            <a:r>
              <a:t>MatBind: A Shared Embedding Space for Multimodal Materials Characterization (2026). https://arxiv.org/html/2607.08470v1 — §5.1 Table 1 and §5.3. Preprint. Structure and pXRD available for all records; DOS and text are partial. Shared embedding retrieval is not de novo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 directly supports single-domain and cross-domain training and property-to-text data. §5.4 states that full-coordinate modelling is a separately fine-tuned NatureLM-Mat3D module. The example string below is our own illustrative Li/O sequence under the published syntax, not a copied model output or a newly generated crystal.</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Choudhary (2024). AtomGPT: Atomistic Generative Pre-trained Transformer for Forward and Inverse Materials Design. https://arxiv.org/html/2405.03680v1 — Methods, separate GPT-2 forward regressor and Mistral inverse model. https://github.com/atomgptlab/atomgpt .</a:t>
            </a:r>
          </a:p>
          <a:p xmlns:a="http://schemas.openxmlformats.org/drawingml/2006/main">
            <a:r>
              <a:t/>
            </a:r>
          </a:p>
          <a:p xmlns:a="http://schemas.openxmlformats.org/drawingml/2006/main">
            <a:r>
              <a:t>Bone et al. Discovery and recovery of crystalline materials with property-conditioned transformers. https://arxiv.org/html/2511.21299v1 — §II.1–II.2, §IV.1, Appendix V. CrystaLLM-π, arXiv record first posted 2025. Unlabelled CIF pretraining followed by labelled property/XRD conditioning. Continuous condition embeddings, autoregressive CIF output.</a:t>
            </a:r>
          </a:p>
          <a:p xmlns:a="http://schemas.openxmlformats.org/drawingml/2006/main">
            <a:r>
              <a:t/>
            </a:r>
          </a:p>
          <a:p xmlns:a="http://schemas.openxmlformats.org/drawingml/2006/main">
            <a:r>
              <a:t>CLOUD: A Scalable and Physics-Informed Foundation Model for Crystal Representation Learning (2026). Nature Communications. https://doi.org/10.1038/s41467-026-70467-3 — Fig.1, Results: SCOPE crystal representation. Coordinate-free symmetry strings, masked pretraining, downstream property prediction.</a:t>
            </a:r>
          </a:p>
          <a:p xmlns:a="http://schemas.openxmlformats.org/drawingml/2006/main">
            <a:r>
              <a:t/>
            </a:r>
          </a:p>
          <a:p xmlns:a="http://schemas.openxmlformats.org/drawingml/2006/main">
            <a:r>
              <a:t>Exploration of crystal chemical space using text-guided generative artificial intelligence (2025). Nature Communications. https://doi.org/10.1038/s41467-025-59636-y — Fig.1 and Methods: Crystal CLIP plus text-conditioned diffusion, Chameleon.</a:t>
            </a:r>
          </a:p>
          <a:p xmlns:a="http://schemas.openxmlformats.org/drawingml/2006/main">
            <a:r>
              <a:t/>
            </a:r>
          </a:p>
          <a:p xmlns:a="http://schemas.openxmlformats.org/drawingml/2006/main">
            <a:r>
              <a:t>Gruver et al. (2024). Fine-Tuned Language Models Generate Stable Inorganic Materials as Text. https://arxiv.org/abs/2402.04379 — unconditional generation, infilling, text-conditioned generation. Included as an early counterexample, not an all-task foundation-model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design on this slide is a proposal for CrystalDLM, not an existing implementation or a claim copied from a paper. Let O be the observed-field set and M a randomly masked subset of O. Reconstruction loss applies only to M. Entirely absent fields provide no ground truth. Paired observations are necessary to learn identifiable cross-field relationships.</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in the experiment matrix is proposed future work. Same data splits and matched optimization/token budgets are essential. Hold out material identities/prototypes across sources to prevent duplicated formulas, polymorphs, derived texts and structures leaking between train and test.</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CLOUD: A Scalable and Physics-Informed Foundation Model for Crystal Representation Learning (2026). Nature Communications. https://doi.org/10.1038/s41467-026-70467-3 — Fig.1, Results: SCOPE crystal representation. Coordinate-free symmetry strings, masked pretraining, downstream property prediction.</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Representation prior art: SLICES https://doi.org/10.1038/s41467-023-42870-7 ; SLICES-PLUS https://arxiv.org/abs/2410.22828 ; coGN https://doi.org/10.1039/D4DD00018H . Previously audited in research/notes/ and research/edge_orbit_tokenizer_proposal.md. This supplement does not re-audit every prior-art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NaCl rock-salt example, full occupancy. Wyckoff multiplicity is the number of sites of one orbit per conventional cell. It is not a coordination number, bond count or number of independent coordinates. Na and Cl can be interchanged with an origin relabelling; the shown assignment is one standard choice. Conventional fcc cell contains 4 Na and 4 Cl, primitive cell contains one formula unit.</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factorized record at the bottom is a proposed representation interface. It is not the actual edge-orbit codec JSON and not a globally unique WyFormer enumeration. Enumeration is meaningful only with its space-group-specific compatibility map.</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Kazeev et al. Wyckoff Transformer: Generation of Symmetric Crystals. https://arxiv.org/abs/2503.02407v4 . Local prior analysis research/model_comparison.md. Oriented site-symmetry and enumeration require the space-group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Representation prior art: SLICES https://doi.org/10.1038/s41467-023-42870-7 ; SLICES-PLUS https://arxiv.org/abs/2410.22828 ; coGN https://doi.org/10.1039/D4DD00018H . Previously audited in research/notes/ and research/edge_orbit_tokenizer_proposal.md. This supplement does not re-audit every prior-art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JSON field names are shown. operations contains 32 Seitz entries; translations are stored as rational [numerator, denominator] pairs. nodes[0] has 16 affine stabilizer entries, nodes[1] has 8. The ellipses are for display only. JSON schema is not changed by this task. The projector formula q=b+Pu gives (0,0,0) for Kr and (1/2,1/2,z) for F in this chosen representative gauge.</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was isolated and expanded using expand(prototype, free_vectors). Orbit sizes sum to 44 and reproduce the union. edge_key and transform canonicalize undirected endpoint pairs, so the counts correspond to 44 UNDIRECTED periodic edges. Explicit reverse expansion yields 88 directed adjacency entries. The 7/44 count alone is not whole-file compression: the operations table and site constraints also occupy storage. Changing the free geometry preserves the abstract graph for generic coordinates, but it need not remain the same cutoff-neighbour graph; singular coordinates may also change orbit multiplicities.</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record serialization only. The existing prototype/geometry payload is real, but task, observed, condition and target wrappers are not implemented. Numeric conditions must record property name, unit, reference state and measurement/computational conditions. Energy alone is ambiguous. No property value is fabricated for mp-30009 here.</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LLaMat: A family of large language models for materials research with insights into model adaptability in continued pretraining. Nature Machine Intelligence 8, 435–448 (2026). https://doi.org/10.1038/s42256-026-01199-8 . Methods checked against preprint https://arxiv.org/html/2412.09560v1 §4.1.2, §4.2.1–4.2.3. Journal metadata and preprint methods are distinguished.</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MatterChat: A multimodal large language model for materials science. Nature Machine Intelligence 8, 588–601 (2026). https://doi.org/10.1038/s42256-026-01214-y — Methods, Dataset curation and Discussion.</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a:p xmlns:a="http://schemas.openxmlformats.org/drawingml/2006/main">
            <a:r>
              <a:t/>
            </a:r>
          </a:p>
          <a:p xmlns:a="http://schemas.openxmlformats.org/drawingml/2006/main">
            <a:r>
              <a:t>MatBind: A Shared Embedding Space for Multimodal Materials Characterization (2026). https://arxiv.org/html/2607.08470v1 — §5.1 Table 1 and §5.3. Preprint. Structure and pXRD available for all records; DOS and text are partial. Shared embedding retrieval is not de novo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Choudhary (2024). AtomGPT: Atomistic Generative Pre-trained Transformer for Forward and Inverse Materials Design. https://arxiv.org/html/2405.03680v1 — Methods, separate GPT-2 forward regressor and Mistral inverse model. https://github.com/atomgptlab/atomgpt .</a:t>
            </a:r>
          </a:p>
          <a:p xmlns:a="http://schemas.openxmlformats.org/drawingml/2006/main">
            <a:r>
              <a:t/>
            </a:r>
          </a:p>
          <a:p xmlns:a="http://schemas.openxmlformats.org/drawingml/2006/main">
            <a:r>
              <a:t>Bone et al. Discovery and recovery of crystalline materials with property-conditioned transformers. https://arxiv.org/html/2511.21299v1 — §II.1–II.2, §IV.1, Appendix V. CrystaLLM-π, arXiv record first posted 2025. Unlabelled CIF pretraining followed by labelled property/XRD conditioning. Continuous condition embeddings, autoregressive CIF output.</a:t>
            </a:r>
          </a:p>
          <a:p xmlns:a="http://schemas.openxmlformats.org/drawingml/2006/main">
            <a:r>
              <a:t/>
            </a:r>
          </a:p>
          <a:p xmlns:a="http://schemas.openxmlformats.org/drawingml/2006/main">
            <a:r>
              <a:t>CLOUD: A Scalable and Physics-Informed Foundation Model for Crystal Representation Learning (2026). Nature Communications. https://doi.org/10.1038/s41467-026-70467-3 — Fig.1, Results: SCOPE crystal representation. Coordinate-free symmetry strings, masked pretraining, downstream property prediction.</a:t>
            </a:r>
          </a:p>
          <a:p xmlns:a="http://schemas.openxmlformats.org/drawingml/2006/main">
            <a:r>
              <a:t/>
            </a:r>
          </a:p>
          <a:p xmlns:a="http://schemas.openxmlformats.org/drawingml/2006/main">
            <a:r>
              <a:t>Exploration of crystal chemical space using text-guided generative artificial intelligence (2025). Nature Communications. https://doi.org/10.1038/s41467-025-59636-y — Fig.1 and Methods: Crystal CLIP plus text-conditioned diffusion, Chameleon.</a:t>
            </a:r>
          </a:p>
          <a:p xmlns:a="http://schemas.openxmlformats.org/drawingml/2006/main">
            <a:r>
              <a:t/>
            </a:r>
          </a:p>
          <a:p xmlns:a="http://schemas.openxmlformats.org/drawingml/2006/main">
            <a:r>
              <a:t>Gruver et al. (2024). Fine-Tuned Language Models Generate Stable Inorganic Materials as Text. https://arxiv.org/abs/2402.04379 — unconditional generation, infilling, text-conditioned generation. Included as an early counterexample, not an all-task foundation-model claim.</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Representation prior art: SLICES https://doi.org/10.1038/s41467-023-42870-7 ; SLICES-PLUS https://arxiv.org/abs/2410.22828 ; coGN https://doi.org/10.1039/D4DD00018H . Previously audited in research/notes/ and research/edge_orbit_tokenizer_proposal.md. This supplement does not re-audit every prior-art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2</a:t>
            </a:fld>
            <a:endParaRPr lang="en-CN"/>
          </a:p>
        </p:txBody>
      </p:sp>
    </p:spTree>
    <p:extLst>
      <p:ext uri="{BB962C8B-B14F-4D97-AF65-F5344CB8AC3E}">
        <p14:creationId xmlns:p14="http://schemas.microsoft.com/office/powerpoint/2010/main" val="28764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我理解的我们想做的工作有两个方向：一个是、、是找一个更好的</a:t>
            </a:r>
            <a:r>
              <a:rPr kumimoji="1" lang="en-US" altLang="zh-CN" dirty="0"/>
              <a:t>tokenizer</a:t>
            </a:r>
            <a:r>
              <a:rPr kumimoji="1" lang="zh-CN" altLang="en-US" dirty="0"/>
              <a:t>，来描述</a:t>
            </a:r>
            <a:r>
              <a:rPr kumimoji="1" lang="en-US" altLang="zh-CN" dirty="0"/>
              <a:t>crystallographic</a:t>
            </a:r>
            <a:r>
              <a:rPr kumimoji="1" lang="zh-CN" altLang="en-US" dirty="0"/>
              <a:t>。在生成和训练的时候，最好是都做到能够</a:t>
            </a:r>
            <a:r>
              <a:rPr kumimoji="1" lang="en-US" altLang="zh-CN" dirty="0"/>
              <a:t>disorder</a:t>
            </a:r>
            <a:r>
              <a:rPr kumimoji="1" lang="zh-CN" altLang="en-US" dirty="0"/>
              <a:t>的一个状态。</a:t>
            </a:r>
            <a:br>
              <a:rPr kumimoji="1" lang="en-US" altLang="zh-CN" dirty="0"/>
            </a:br>
            <a:br>
              <a:rPr kumimoji="1" lang="en-US" altLang="zh-CN" dirty="0"/>
            </a:br>
            <a:r>
              <a:rPr kumimoji="1" lang="zh-CN" altLang="en-US" dirty="0"/>
              <a:t>还有一个就是</a:t>
            </a:r>
            <a:r>
              <a:rPr lang="en-US" altLang="zh-CN" sz="1000" kern="1200" dirty="0" err="1">
                <a:solidFill>
                  <a:srgbClr val="B60007"/>
                </a:solidFill>
                <a:latin typeface="+mn-lt"/>
                <a:ea typeface="+mn-ea"/>
                <a:cs typeface="+mn-cs"/>
              </a:rPr>
              <a:t>WyFormer</a:t>
            </a:r>
            <a:r>
              <a:rPr lang="en-US" altLang="zh-CN" sz="1000" kern="1200" dirty="0">
                <a:solidFill>
                  <a:srgbClr val="B60007"/>
                </a:solidFill>
                <a:latin typeface="+mn-lt"/>
                <a:ea typeface="+mn-ea"/>
                <a:cs typeface="+mn-cs"/>
              </a:rPr>
              <a:t> </a:t>
            </a:r>
            <a:r>
              <a:rPr lang="en-US" altLang="zh-CN" sz="1000" kern="1200" dirty="0" err="1">
                <a:solidFill>
                  <a:srgbClr val="B60007"/>
                </a:solidFill>
                <a:latin typeface="+mn-lt"/>
                <a:ea typeface="+mn-ea"/>
                <a:cs typeface="+mn-cs"/>
              </a:rPr>
              <a:t>representation+masked</a:t>
            </a:r>
            <a:r>
              <a:rPr lang="en-US" altLang="zh-CN" sz="1000" kern="1200" dirty="0">
                <a:solidFill>
                  <a:srgbClr val="B60007"/>
                </a:solidFill>
                <a:latin typeface="+mn-lt"/>
                <a:ea typeface="+mn-ea"/>
                <a:cs typeface="+mn-cs"/>
              </a:rPr>
              <a:t>/discrete diffusion</a:t>
            </a:r>
            <a:r>
              <a:rPr lang="zh-CN" altLang="en-US" sz="1000" kern="1200" dirty="0">
                <a:solidFill>
                  <a:srgbClr val="B60007"/>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zh-CN" dirty="0"/>
            </a:br>
            <a:r>
              <a:rPr kumimoji="1" lang="zh-CN" altLang="en-US" dirty="0"/>
              <a:t>不过您那天又说如果</a:t>
            </a:r>
            <a:r>
              <a:rPr kumimoji="1" lang="en-US" altLang="zh-CN" dirty="0"/>
              <a:t>vocabulary</a:t>
            </a:r>
            <a:r>
              <a:rPr kumimoji="1" lang="zh-CN" altLang="en-US" dirty="0"/>
              <a:t>比较难搞就直接用</a:t>
            </a:r>
            <a:r>
              <a:rPr kumimoji="1" lang="en-US" altLang="zh-CN" dirty="0" err="1"/>
              <a:t>WyFormer</a:t>
            </a:r>
            <a:r>
              <a:rPr kumimoji="1" lang="zh-CN" altLang="en-US" dirty="0"/>
              <a:t>的</a:t>
            </a:r>
            <a:r>
              <a:rPr kumimoji="1" lang="en-US" altLang="zh-CN" dirty="0"/>
              <a:t>tokenizer</a:t>
            </a:r>
            <a:r>
              <a:rPr kumimoji="1" lang="zh-CN" altLang="en-US" dirty="0"/>
              <a:t>也行，然后我就觉得是不是</a:t>
            </a:r>
            <a:r>
              <a:rPr kumimoji="1" lang="en-US" altLang="zh-CN" dirty="0"/>
              <a:t>BPE</a:t>
            </a:r>
            <a:r>
              <a:rPr kumimoji="1" lang="zh-CN" altLang="en-US" dirty="0"/>
              <a:t>的加入也可以单独作为一个点。</a:t>
            </a:r>
            <a:br>
              <a:rPr kumimoji="1" lang="en-US" altLang="zh-CN" dirty="0"/>
            </a:br>
            <a:br>
              <a:rPr kumimoji="1" lang="en-US" altLang="zh-CN" dirty="0"/>
            </a:b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所以我就去调研了一下这几个方向的内容</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3</a:t>
            </a:fld>
            <a:endParaRPr lang="en-CN"/>
          </a:p>
        </p:txBody>
      </p:sp>
    </p:spTree>
    <p:extLst>
      <p:ext uri="{BB962C8B-B14F-4D97-AF65-F5344CB8AC3E}">
        <p14:creationId xmlns:p14="http://schemas.microsoft.com/office/powerpoint/2010/main" val="2658698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2026 </a:t>
            </a:r>
            <a:r>
              <a:rPr lang="zh-CN" altLang="en-US" dirty="0"/>
              <a:t>年的 </a:t>
            </a:r>
            <a:r>
              <a:rPr lang="en-US" altLang="zh-CN" b="1" dirty="0"/>
              <a:t>Matra-Genoa</a:t>
            </a:r>
            <a:r>
              <a:rPr lang="en-US" altLang="zh-CN" dirty="0"/>
              <a:t> </a:t>
            </a:r>
            <a:r>
              <a:rPr lang="zh-CN" altLang="en-US" dirty="0"/>
              <a:t>已经做了一件非常接近的事情：它指出 </a:t>
            </a:r>
            <a:r>
              <a:rPr lang="en-US" altLang="zh-CN" dirty="0"/>
              <a:t>230 </a:t>
            </a:r>
            <a:r>
              <a:rPr lang="zh-CN" altLang="en-US" dirty="0"/>
              <a:t>个空间群一共有 </a:t>
            </a:r>
            <a:r>
              <a:rPr lang="en-US" altLang="zh-CN" dirty="0"/>
              <a:t>1,731 </a:t>
            </a:r>
            <a:r>
              <a:rPr lang="zh-CN" altLang="en-US" dirty="0"/>
              <a:t>个 </a:t>
            </a:r>
            <a:r>
              <a:rPr lang="en-US" altLang="zh-CN" dirty="0"/>
              <a:t>Wyckoff positions</a:t>
            </a:r>
            <a:r>
              <a:rPr lang="zh-CN" altLang="en-US" dirty="0"/>
              <a:t>，但有些 </a:t>
            </a:r>
            <a:r>
              <a:rPr lang="en-US" altLang="zh-CN" dirty="0"/>
              <a:t>positions </a:t>
            </a:r>
            <a:r>
              <a:rPr lang="zh-CN" altLang="en-US" dirty="0"/>
              <a:t>在不同空间群中描述相同的代数 </a:t>
            </a:r>
            <a:r>
              <a:rPr lang="en-US" altLang="zh-CN" dirty="0"/>
              <a:t>orbit</a:t>
            </a:r>
            <a:r>
              <a:rPr lang="zh-CN" altLang="en-US" dirty="0"/>
              <a:t>，因此将其合并为 </a:t>
            </a:r>
            <a:r>
              <a:rPr lang="en-US" altLang="zh-CN" b="1" dirty="0"/>
              <a:t>990 </a:t>
            </a:r>
            <a:r>
              <a:rPr lang="zh-CN" altLang="en-US" b="1" dirty="0"/>
              <a:t>个共享的 </a:t>
            </a:r>
            <a:r>
              <a:rPr lang="en-US" altLang="zh-CN" b="1" dirty="0"/>
              <a:t>unique Wyckoff orbit representations</a:t>
            </a:r>
            <a:r>
              <a:rPr lang="zh-CN" altLang="en-US" dirty="0"/>
              <a:t>，然后使用自回归 </a:t>
            </a:r>
            <a:r>
              <a:rPr lang="en-US" altLang="zh-CN" dirty="0"/>
              <a:t>Transformer </a:t>
            </a:r>
            <a:r>
              <a:rPr lang="zh-CN" altLang="en-US" dirty="0"/>
              <a:t>进行生成</a:t>
            </a:r>
            <a:br>
              <a:rPr lang="en-US" altLang="zh-CN" dirty="0"/>
            </a:br>
            <a:br>
              <a:rPr lang="en-US" altLang="zh-CN" dirty="0"/>
            </a:br>
            <a:r>
              <a:rPr lang="zh-CN" altLang="en-US" dirty="0"/>
              <a:t>他们已经做了一种晶体结构的可逆化表达设计，而且扩展到了</a:t>
            </a:r>
            <a:r>
              <a:rPr lang="zh-CN" altLang="en-US" b="1" dirty="0"/>
              <a:t>晶胞尺寸这个参数</a:t>
            </a:r>
            <a:r>
              <a:rPr lang="zh-CN" altLang="en-US" dirty="0"/>
              <a:t>了：：</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i</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空间群；</a:t>
            </a:r>
            <a:r>
              <a:rPr lang="en-US" altLang="zh-CN" sz="1200" b="0" i="0" kern="1200" dirty="0">
                <a:solidFill>
                  <a:schemeClr val="tx1"/>
                </a:solidFill>
                <a:effectLst/>
                <a:latin typeface="+mn-lt"/>
                <a:ea typeface="+mn-ea"/>
                <a:cs typeface="+mn-cs"/>
              </a:rPr>
              <a:t>(ii) </a:t>
            </a:r>
            <a:r>
              <a:rPr lang="zh-CN" altLang="en-US" sz="1200" b="0" i="0" kern="1200" dirty="0">
                <a:solidFill>
                  <a:schemeClr val="tx1"/>
                </a:solidFill>
                <a:effectLst/>
                <a:latin typeface="+mn-lt"/>
                <a:ea typeface="+mn-ea"/>
                <a:cs typeface="+mn-cs"/>
              </a:rPr>
              <a:t>一组魏科夫位置及其对应的化学元素；</a:t>
            </a:r>
            <a:r>
              <a:rPr lang="en-US" altLang="zh-CN" sz="1200" b="0" i="0" kern="1200" dirty="0">
                <a:solidFill>
                  <a:schemeClr val="tx1"/>
                </a:solidFill>
                <a:effectLst/>
                <a:latin typeface="+mn-lt"/>
                <a:ea typeface="+mn-ea"/>
                <a:cs typeface="+mn-cs"/>
              </a:rPr>
              <a:t>(iii) </a:t>
            </a:r>
            <a:r>
              <a:rPr lang="zh-CN" altLang="en-US" sz="1200" b="0" i="0" kern="1200" dirty="0">
                <a:solidFill>
                  <a:schemeClr val="tx1"/>
                </a:solidFill>
                <a:effectLst/>
                <a:latin typeface="+mn-lt"/>
                <a:ea typeface="+mn-ea"/>
                <a:cs typeface="+mn-cs"/>
              </a:rPr>
              <a:t>魏科夫位置所需的自由参数；以及最后的 </a:t>
            </a:r>
            <a:r>
              <a:rPr lang="en-US" altLang="zh-CN" sz="1200" b="0" i="0" kern="1200" dirty="0">
                <a:solidFill>
                  <a:schemeClr val="tx1"/>
                </a:solidFill>
                <a:effectLst/>
                <a:latin typeface="+mn-lt"/>
                <a:ea typeface="+mn-ea"/>
                <a:cs typeface="+mn-cs"/>
              </a:rPr>
              <a:t>(iv) </a:t>
            </a:r>
            <a:r>
              <a:rPr lang="zh-CN" altLang="en-US" sz="1200" b="0" i="0" kern="1200" dirty="0">
                <a:solidFill>
                  <a:schemeClr val="tx1"/>
                </a:solidFill>
                <a:effectLst/>
                <a:latin typeface="+mn-lt"/>
                <a:ea typeface="+mn-ea"/>
                <a:cs typeface="+mn-cs"/>
              </a:rPr>
              <a:t>晶胞尺寸（</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α</a:t>
            </a:r>
            <a:r>
              <a:rPr lang="zh-CN" altLang="el-GR"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β</a:t>
            </a:r>
            <a:r>
              <a:rPr lang="zh-CN" altLang="el-GR"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γ</a:t>
            </a:r>
            <a:r>
              <a:rPr lang="zh-CN" altLang="el-GR"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魏科夫位置通过将给定空间群对称变换下的等价位点映射到单个位点，将一组等价点（轨道）约化为一个点。</a:t>
            </a:r>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4</a:t>
            </a:fld>
            <a:endParaRPr lang="en-CN"/>
          </a:p>
        </p:txBody>
      </p:sp>
    </p:spTree>
    <p:extLst>
      <p:ext uri="{BB962C8B-B14F-4D97-AF65-F5344CB8AC3E}">
        <p14:creationId xmlns:p14="http://schemas.microsoft.com/office/powerpoint/2010/main" val="3150144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然后之前我想的是老师你提到的</a:t>
            </a:r>
            <a:r>
              <a:rPr kumimoji="1" lang="en-US" altLang="zh-CN" dirty="0"/>
              <a:t>BPE</a:t>
            </a:r>
            <a:r>
              <a:rPr kumimoji="1" lang="zh-CN" altLang="en-US" dirty="0"/>
              <a:t>，如果只是单独压缩每个晶体内部的</a:t>
            </a:r>
            <a:r>
              <a:rPr kumimoji="1" lang="en-US" altLang="zh-CN" dirty="0"/>
              <a:t>position</a:t>
            </a:r>
            <a:r>
              <a:rPr kumimoji="1" lang="zh-CN" altLang="en-US" dirty="0"/>
              <a:t>表达，这篇文章有提到，所以单个晶体内的表达去压缩可能效果不是很好</a:t>
            </a:r>
          </a:p>
        </p:txBody>
      </p:sp>
      <p:sp>
        <p:nvSpPr>
          <p:cNvPr id="4" name="灯片编号占位符 3"/>
          <p:cNvSpPr>
            <a:spLocks noGrp="1"/>
          </p:cNvSpPr>
          <p:nvPr>
            <p:ph type="sldNum" sz="quarter" idx="5"/>
          </p:nvPr>
        </p:nvSpPr>
        <p:spPr/>
        <p:txBody>
          <a:bodyPr/>
          <a:lstStyle/>
          <a:p>
            <a:fld id="{17A9F544-7F2B-574D-A23E-126D715F5459}" type="slidenum">
              <a:rPr lang="en-CN" smtClean="0"/>
              <a:t>5</a:t>
            </a:fld>
            <a:endParaRPr lang="en-CN"/>
          </a:p>
        </p:txBody>
      </p:sp>
    </p:spTree>
    <p:extLst>
      <p:ext uri="{BB962C8B-B14F-4D97-AF65-F5344CB8AC3E}">
        <p14:creationId xmlns:p14="http://schemas.microsoft.com/office/powerpoint/2010/main" val="3642562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MaskGXT</a:t>
            </a:r>
            <a:r>
              <a:rPr lang="zh-CN" altLang="en-US" dirty="0"/>
              <a:t>。它采取了另一条路线：不是先生成一个 </a:t>
            </a:r>
            <a:r>
              <a:rPr lang="en-US" altLang="zh-CN" dirty="0"/>
              <a:t>Wyckoff protostructure</a:t>
            </a:r>
            <a:r>
              <a:rPr lang="zh-CN" altLang="en-US" dirty="0"/>
              <a:t>，再补全几何，而是把整个 </a:t>
            </a:r>
            <a:r>
              <a:rPr lang="en-US" altLang="zh-CN" dirty="0"/>
              <a:t>CSP </a:t>
            </a:r>
            <a:r>
              <a:rPr lang="zh-CN" altLang="en-US" dirty="0"/>
              <a:t>输出离散化为 </a:t>
            </a:r>
            <a:r>
              <a:rPr lang="en-US" altLang="zh-CN" dirty="0"/>
              <a:t>token</a:t>
            </a:r>
            <a:r>
              <a:rPr lang="zh-CN" altLang="en-US" dirty="0"/>
              <a:t>，包括 </a:t>
            </a:r>
            <a:r>
              <a:rPr lang="en-US" altLang="zh-CN" dirty="0"/>
              <a:t>space group</a:t>
            </a:r>
            <a:r>
              <a:rPr lang="zh-CN" altLang="en-US" dirty="0"/>
              <a:t>、</a:t>
            </a:r>
            <a:r>
              <a:rPr lang="en-US" altLang="zh-CN" dirty="0"/>
              <a:t>lattice</a:t>
            </a:r>
            <a:r>
              <a:rPr lang="zh-CN" altLang="en-US" dirty="0"/>
              <a:t>、</a:t>
            </a:r>
            <a:r>
              <a:rPr lang="en-US" altLang="zh-CN" dirty="0"/>
              <a:t>fractional coordinates </a:t>
            </a:r>
            <a:r>
              <a:rPr lang="zh-CN" altLang="en-US" dirty="0"/>
              <a:t>和 </a:t>
            </a:r>
            <a:r>
              <a:rPr lang="en-US" altLang="zh-CN" dirty="0"/>
              <a:t>Wyckoff labels</a:t>
            </a:r>
            <a:r>
              <a:rPr lang="zh-CN" altLang="en-US" dirty="0"/>
              <a:t>。训练时随机 </a:t>
            </a:r>
            <a:r>
              <a:rPr lang="en-US" altLang="zh-CN" dirty="0"/>
              <a:t>mask </a:t>
            </a:r>
            <a:r>
              <a:rPr lang="zh-CN" altLang="en-US" dirty="0"/>
              <a:t>一部分 </a:t>
            </a:r>
            <a:r>
              <a:rPr lang="en-US" altLang="zh-CN" dirty="0"/>
              <a:t>token</a:t>
            </a:r>
            <a:r>
              <a:rPr lang="zh-CN" altLang="en-US" dirty="0"/>
              <a:t>，让双向 </a:t>
            </a:r>
            <a:r>
              <a:rPr lang="en-US" altLang="zh-CN" dirty="0"/>
              <a:t>Transformer </a:t>
            </a:r>
            <a:r>
              <a:rPr lang="zh-CN" altLang="en-US" dirty="0"/>
              <a:t>同时恢复它们；采样时则从 </a:t>
            </a:r>
            <a:r>
              <a:rPr lang="en-US" altLang="zh-CN" dirty="0"/>
              <a:t>fully masked sequence </a:t>
            </a:r>
            <a:r>
              <a:rPr lang="zh-CN" altLang="en-US" dirty="0"/>
              <a:t>开始，逐轮保留高置信度预测，并重新 </a:t>
            </a:r>
            <a:r>
              <a:rPr lang="en-US" altLang="zh-CN" dirty="0"/>
              <a:t>mask </a:t>
            </a:r>
            <a:r>
              <a:rPr lang="zh-CN" altLang="en-US" dirty="0"/>
              <a:t>其余位置。</a:t>
            </a:r>
          </a:p>
          <a:p>
            <a:endParaRPr lang="en-US" altLang="zh-CN" dirty="0"/>
          </a:p>
        </p:txBody>
      </p:sp>
      <p:sp>
        <p:nvSpPr>
          <p:cNvPr id="4" name="灯片编号占位符 3"/>
          <p:cNvSpPr>
            <a:spLocks noGrp="1"/>
          </p:cNvSpPr>
          <p:nvPr>
            <p:ph type="sldNum" sz="quarter" idx="5"/>
          </p:nvPr>
        </p:nvSpPr>
        <p:spPr/>
        <p:txBody>
          <a:bodyPr/>
          <a:lstStyle/>
          <a:p>
            <a:fld id="{17A9F544-7F2B-574D-A23E-126D715F5459}" type="slidenum">
              <a:rPr lang="en-CN" smtClean="0"/>
              <a:t>6</a:t>
            </a:fld>
            <a:endParaRPr lang="en-CN"/>
          </a:p>
        </p:txBody>
      </p:sp>
    </p:spTree>
    <p:extLst>
      <p:ext uri="{BB962C8B-B14F-4D97-AF65-F5344CB8AC3E}">
        <p14:creationId xmlns:p14="http://schemas.microsoft.com/office/powerpoint/2010/main" val="1227596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DynaCrys</a:t>
            </a:r>
            <a:r>
              <a:rPr lang="zh-CN" altLang="en-US" dirty="0"/>
              <a:t>。过去很多 </a:t>
            </a:r>
            <a:r>
              <a:rPr lang="en-US" altLang="zh-CN" dirty="0"/>
              <a:t>symmetry-aware crystal generator </a:t>
            </a:r>
            <a:r>
              <a:rPr lang="zh-CN" altLang="en-US" dirty="0"/>
              <a:t>会先确定一个空间群，然后在固定空间群下生成 </a:t>
            </a:r>
            <a:r>
              <a:rPr lang="en-US" altLang="zh-CN" dirty="0"/>
              <a:t>Wyckoff positions </a:t>
            </a:r>
            <a:r>
              <a:rPr lang="zh-CN" altLang="en-US" dirty="0"/>
              <a:t>或原子坐标。</a:t>
            </a:r>
            <a:r>
              <a:rPr lang="en-US" altLang="zh-CN" dirty="0" err="1"/>
              <a:t>DynaCrys</a:t>
            </a:r>
            <a:r>
              <a:rPr lang="en-US" altLang="zh-CN" dirty="0"/>
              <a:t> </a:t>
            </a:r>
            <a:r>
              <a:rPr lang="zh-CN" altLang="en-US" dirty="0"/>
              <a:t>是把空间群本身也放进 </a:t>
            </a:r>
            <a:r>
              <a:rPr lang="en-US" altLang="zh-CN" dirty="0"/>
              <a:t>diffusion state</a:t>
            </a:r>
            <a:r>
              <a:rPr lang="zh-CN" altLang="en-US" dirty="0"/>
              <a:t>。它首先在 </a:t>
            </a:r>
            <a:r>
              <a:rPr lang="en-US" altLang="zh-CN" dirty="0"/>
              <a:t>symbolic stage </a:t>
            </a:r>
            <a:r>
              <a:rPr lang="zh-CN" altLang="en-US" dirty="0"/>
              <a:t>中联合更新空间群、</a:t>
            </a:r>
            <a:r>
              <a:rPr lang="en-US" altLang="zh-CN" dirty="0"/>
              <a:t>Wyckoff occupations </a:t>
            </a:r>
            <a:r>
              <a:rPr lang="zh-CN" altLang="en-US" dirty="0"/>
              <a:t>和元素，得到 </a:t>
            </a:r>
            <a:r>
              <a:rPr lang="en-US" altLang="zh-CN" dirty="0"/>
              <a:t>protostructure </a:t>
            </a:r>
            <a:r>
              <a:rPr lang="zh-CN" altLang="en-US" dirty="0"/>
              <a:t>之后，再用 </a:t>
            </a:r>
            <a:r>
              <a:rPr lang="en-US" altLang="zh-CN" dirty="0"/>
              <a:t>geometry diffusion </a:t>
            </a:r>
            <a:r>
              <a:rPr lang="zh-CN" altLang="en-US" dirty="0"/>
              <a:t>生成 </a:t>
            </a:r>
            <a:r>
              <a:rPr lang="en-US" altLang="zh-CN" dirty="0"/>
              <a:t>lattice </a:t>
            </a:r>
            <a:r>
              <a:rPr lang="zh-CN" altLang="en-US" dirty="0"/>
              <a:t>和自由 </a:t>
            </a:r>
            <a:r>
              <a:rPr lang="en-US" altLang="zh-CN" dirty="0"/>
              <a:t>Wyckoff coordinates</a:t>
            </a:r>
            <a:r>
              <a:rPr lang="zh-CN" altLang="en-US" dirty="0"/>
              <a:t>。</a:t>
            </a:r>
          </a:p>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7</a:t>
            </a:fld>
            <a:endParaRPr lang="en-CN"/>
          </a:p>
        </p:txBody>
      </p:sp>
    </p:spTree>
    <p:extLst>
      <p:ext uri="{BB962C8B-B14F-4D97-AF65-F5344CB8AC3E}">
        <p14:creationId xmlns:p14="http://schemas.microsoft.com/office/powerpoint/2010/main" val="209736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还没有想的很清楚，不过就是结合我之前的工作，我看他们现在都是只用</a:t>
            </a:r>
            <a:r>
              <a:rPr kumimoji="1" lang="en-US" altLang="zh-CN" dirty="0" err="1"/>
              <a:t>ehull</a:t>
            </a:r>
            <a:r>
              <a:rPr kumimoji="1" lang="zh-CN" altLang="en-US" dirty="0"/>
              <a:t>数据库里面的东西直接去说一个</a:t>
            </a:r>
            <a:r>
              <a:rPr kumimoji="1" lang="en-US" altLang="zh-CN" dirty="0"/>
              <a:t>SUN</a:t>
            </a:r>
            <a:r>
              <a:rPr kumimoji="1" lang="zh-CN" altLang="en-US" dirty="0"/>
              <a:t>指标，在材料上面来说不是很可靠，而且也都是静态的一个未弛豫的结构，所以我姐和一些资料就想到了</a:t>
            </a:r>
            <a:r>
              <a:rPr kumimoji="1" lang="en-US" altLang="zh-CN" dirty="0"/>
              <a:t>test-time</a:t>
            </a:r>
            <a:r>
              <a:rPr kumimoji="1" lang="zh-CN" altLang="en-US" dirty="0"/>
              <a:t> </a:t>
            </a:r>
            <a:r>
              <a:rPr kumimoji="1" lang="en-US" altLang="zh-CN" dirty="0"/>
              <a:t>scaling</a:t>
            </a:r>
            <a:r>
              <a:rPr kumimoji="1" lang="zh-CN" altLang="en-US" dirty="0"/>
              <a:t>这种方法，就是边做部分的</a:t>
            </a:r>
            <a:r>
              <a:rPr kumimoji="1" lang="en-US" altLang="zh-CN" dirty="0"/>
              <a:t>denoising</a:t>
            </a:r>
            <a:r>
              <a:rPr kumimoji="1" lang="zh-CN" altLang="en-US" dirty="0"/>
              <a:t>一边用快速的</a:t>
            </a:r>
            <a:r>
              <a:rPr kumimoji="1" lang="en-US" altLang="zh-CN" dirty="0"/>
              <a:t>MLIP</a:t>
            </a:r>
            <a:r>
              <a:rPr kumimoji="1" lang="zh-CN" altLang="en-US" dirty="0"/>
              <a:t>做能量和声子筛查，不过这块只是个初步设想。</a:t>
            </a:r>
          </a:p>
        </p:txBody>
      </p:sp>
      <p:sp>
        <p:nvSpPr>
          <p:cNvPr id="4" name="灯片编号占位符 3"/>
          <p:cNvSpPr>
            <a:spLocks noGrp="1"/>
          </p:cNvSpPr>
          <p:nvPr>
            <p:ph type="sldNum" sz="quarter" idx="5"/>
          </p:nvPr>
        </p:nvSpPr>
        <p:spPr/>
        <p:txBody>
          <a:bodyPr/>
          <a:lstStyle/>
          <a:p>
            <a:fld id="{17A9F544-7F2B-574D-A23E-126D715F5459}" type="slidenum">
              <a:rPr lang="en-CN" smtClean="0"/>
              <a:t>9</a:t>
            </a:fld>
            <a:endParaRPr lang="en-CN"/>
          </a:p>
        </p:txBody>
      </p:sp>
    </p:spTree>
    <p:extLst>
      <p:ext uri="{BB962C8B-B14F-4D97-AF65-F5344CB8AC3E}">
        <p14:creationId xmlns:p14="http://schemas.microsoft.com/office/powerpoint/2010/main" val="3172753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001" dirty="0"/>
          </a:p>
        </p:txBody>
      </p:sp>
      <p:sp>
        <p:nvSpPr>
          <p:cNvPr id="4" name="Slide Number Placeholder 3"/>
          <p:cNvSpPr>
            <a:spLocks noGrp="1"/>
          </p:cNvSpPr>
          <p:nvPr>
            <p:ph type="sldNum" sz="quarter" idx="5"/>
          </p:nvPr>
        </p:nvSpPr>
        <p:spPr/>
        <p:txBody>
          <a:bodyPr/>
          <a:lstStyle/>
          <a:p>
            <a:fld id="{17A9F544-7F2B-574D-A23E-126D715F5459}" type="slidenum">
              <a:rPr lang="en-CN" smtClean="0"/>
              <a:t>11</a:t>
            </a:fld>
            <a:endParaRPr lang="en-CN"/>
          </a:p>
        </p:txBody>
      </p:sp>
    </p:spTree>
    <p:extLst>
      <p:ext uri="{BB962C8B-B14F-4D97-AF65-F5344CB8AC3E}">
        <p14:creationId xmlns:p14="http://schemas.microsoft.com/office/powerpoint/2010/main" val="3482496140"/>
      </p:ext>
    </p:extLst>
  </p:cSld>
  <p:clrMapOvr>
    <a:masterClrMapping/>
  </p:clrMapOvr>
</p:notes>
</file>

<file path=ppt/slideLayouts/_rels/followup20260914_slideLayout1.xml.rels><?xml version='1.0' encoding='UTF-8' standalone='yes'?>
<Relationships xmlns="http://schemas.openxmlformats.org/package/2006/relationships"><Relationship Type="http://schemas.openxmlformats.org/officeDocument/2006/relationships/slideMaster" Target="../slideMasters/followup20260914_slideMaster1.xml" Id="R37329625e8c74ec3"/><Relationship Type="http://schemas.openxmlformats.org/officeDocument/2006/relationships/image" Target="../media/followup20260914_image.png" Id="R1e3c602a50b242d8"/></Relationships>
</file>

<file path=ppt/slideLayouts/_rels/followup20260914_slideLayout2.xml.rels><?xml version='1.0' encoding='UTF-8' standalone='yes'?>
<Relationships xmlns="http://schemas.openxmlformats.org/package/2006/relationships"><Relationship Type="http://schemas.openxmlformats.org/officeDocument/2006/relationships/slideMaster" Target="../slideMasters/followup20260914_slideMaster1.xml" Id="R489db71dadfb46aa"/><Relationship Type="http://schemas.openxmlformats.org/officeDocument/2006/relationships/image" Target="../media/followup20260914_image2.png" Id="R615aa440ee714277"/></Relationships>
</file>

<file path=ppt/slideLayouts/_rels/followup20260914_slideLayout3.xml.rels><?xml version='1.0' encoding='UTF-8' standalone='yes'?>
<Relationships xmlns="http://schemas.openxmlformats.org/package/2006/relationships"><Relationship Type="http://schemas.openxmlformats.org/officeDocument/2006/relationships/slideMaster" Target="../slideMasters/followup20260914_slideMaster1.xml" Id="R0886d5f5692c4233"/><Relationship Type="http://schemas.openxmlformats.org/officeDocument/2006/relationships/image" Target="../media/followup20260914_image3.png" Id="R617ff2e2f8f0467d"/></Relationships>
</file>

<file path=ppt/slideLayouts/_rels/followup20260914_slideLayout4.xml.rels><?xml version='1.0' encoding='UTF-8' standalone='yes'?>
<Relationships xmlns="http://schemas.openxmlformats.org/package/2006/relationships"><Relationship Type="http://schemas.openxmlformats.org/officeDocument/2006/relationships/slideMaster" Target="../slideMasters/followup20260914_slideMaster1.xml" Id="R89f2805075c3466b"/><Relationship Type="http://schemas.openxmlformats.org/officeDocument/2006/relationships/image" Target="../media/followup20260914_image3.png" Id="Rd78fc6204da34693"/></Relationships>
</file>

<file path=ppt/slideLayouts/_rels/followup20260914_slideLayout5.xml.rels><?xml version='1.0' encoding='UTF-8' standalone='yes'?>
<Relationships xmlns="http://schemas.openxmlformats.org/package/2006/relationships"><Relationship Type="http://schemas.openxmlformats.org/officeDocument/2006/relationships/slideMaster" Target="../slideMasters/followup20260914_slideMaster1.xml" Id="R097a2caa87a04057"/><Relationship Type="http://schemas.openxmlformats.org/officeDocument/2006/relationships/image" Target="../media/followup20260914_image3.png" Id="Racf744febb084c5d"/></Relationships>
</file>

<file path=ppt/slideLayouts/_rels/followup20260914_slideLayout6.xml.rels><?xml version='1.0' encoding='UTF-8' standalone='yes'?>
<Relationships xmlns="http://schemas.openxmlformats.org/package/2006/relationships"><Relationship Type="http://schemas.openxmlformats.org/officeDocument/2006/relationships/slideMaster" Target="../slideMasters/followup20260914_slideMaster1.xml" Id="Ra8b282e7caf243f2"/><Relationship Type="http://schemas.openxmlformats.org/officeDocument/2006/relationships/image" Target="../media/followup20260914_image3.png" Id="R0f2a2ce5f5b7430b"/></Relationships>
</file>

<file path=ppt/slideLayouts/_rels/followup20260914_slideLayout7.xml.rels><?xml version='1.0' encoding='UTF-8' standalone='yes'?>
<Relationships xmlns="http://schemas.openxmlformats.org/package/2006/relationships"><Relationship Type="http://schemas.openxmlformats.org/officeDocument/2006/relationships/slideMaster" Target="../slideMasters/followup20260914_slideMaster1.xml" Id="R36354aa6f04f41b8"/><Relationship Type="http://schemas.openxmlformats.org/officeDocument/2006/relationships/image" Target="../media/followup20260914_image3.png" Id="Rc9cdb90e0d7c4ace"/></Relationships>
</file>

<file path=ppt/slideLayouts/_rels/followup20260914_slideLayout8.xml.rels><?xml version='1.0' encoding='UTF-8' standalone='yes'?>
<Relationships xmlns="http://schemas.openxmlformats.org/package/2006/relationships"><Relationship Type="http://schemas.openxmlformats.org/officeDocument/2006/relationships/slideMaster" Target="../slideMasters/followup20260914_slideMaster1.xml" Id="R3cba5755b14441d9"/><Relationship Type="http://schemas.openxmlformats.org/officeDocument/2006/relationships/image" Target="../media/followup20260914_image4.png" Id="R8766cd33606e4da6"/></Relationships>
</file>

<file path=ppt/slideLayouts/_rels/followup20260914_slideLayout9.xml.rels><?xml version='1.0' encoding='UTF-8' standalone='yes'?>
<Relationships xmlns="http://schemas.openxmlformats.org/package/2006/relationships"><Relationship Type="http://schemas.openxmlformats.org/officeDocument/2006/relationships/slideMaster" Target="../slideMasters/followup20260914_slideMaster1.xml" Id="R8c708471901849e3"/></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followup20260914_slideLayout1.xml><?xml version="1.0" encoding="utf-8"?>
<p:sldLayout xmlns:p="http://schemas.openxmlformats.org/presentationml/2006/main" type="secHead" preserve="1">
  <p:cSld name="节标题">
    <p:bg>
      <p:bgPr>
        <a:blipFill xmlns:a="http://schemas.openxmlformats.org/drawingml/2006/main" rotWithShape="1">
          <a:blip xmlns:r="http://schemas.openxmlformats.org/officeDocument/2006/relationships" r:embed="R1e3c602a50b242d8">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F5E9A1-8520-5146-239F-0FA97511B65B}"/>
              </a:ext>
            </a:extLst>
          </p:cNvPr>
          <p:cNvSpPr>
            <a:spLocks xmlns:a="http://schemas.openxmlformats.org/drawingml/2006/main" noGrp="1"/>
          </p:cNvSpPr>
          <p:nvPr>
            <p:ph type="title" idx="0" hasCustomPrompt="1"/>
          </p:nvPr>
        </p:nvSpPr>
        <p:spPr>
          <a:xfrm xmlns:a="http://schemas.openxmlformats.org/drawingml/2006/main">
            <a:off x="831850" y="1709738"/>
            <a:ext cx="10515600" cy="2852737"/>
          </a:xfrm>
        </p:spPr>
        <p:txBody>
          <a:bodyPr xmlns:a="http://schemas.openxmlformats.org/drawingml/2006/main" anchor="b">
            <a:normAutofit/>
          </a:bodyPr>
          <a:lstStyle xmlns:a="http://schemas.openxmlformats.org/drawingml/2006/main">
            <a:lvl1pPr>
              <a:buNone/>
              <a:defRPr sz="4800" b="1">
                <a:solidFill>
                  <a:srgbClr val="B60007"/>
                </a:solidFill>
              </a:defRPr>
            </a:lvl1pPr>
          </a:lstStyle>
          <a:p xmlns:a="http://schemas.openxmlformats.org/drawingml/2006/main">
            <a:r>
              <a:t>Presentation Title</a:t>
            </a:r>
          </a:p>
        </p:txBody>
      </p:sp>
      <p:sp>
        <p:nvSpPr>
          <p:cNvPr id="3" name="Text Placeholder 2">
            <a:extLst xmlns:a="http://schemas.openxmlformats.org/drawingml/2006/main">
              <a:ext uri="{FF2B5EF4-FFF2-40B4-BE49-F238E27FC236}">
                <a16:creationId xmlns:a16="http://schemas.microsoft.com/office/drawing/2014/main" id="{4EE82710-E1E4-466F-30AE-69A71966AE2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单击此处编辑母版文本样式</a:t>
            </a:r>
          </a:p>
        </p:txBody>
      </p:sp>
    </p:spTree>
  </p:cSld>
</p:sldLayout>
</file>

<file path=ppt/slideLayouts/followup20260914_slideLayout2.xml><?xml version="1.0" encoding="utf-8"?>
<p:sldLayout xmlns:p="http://schemas.openxmlformats.org/presentationml/2006/main" type="title" preserve="1">
  <p:cSld name="标题幻灯片">
    <p:bg>
      <p:bgPr>
        <a:blipFill xmlns:a="http://schemas.openxmlformats.org/drawingml/2006/main" rotWithShape="1">
          <a:blip xmlns:r="http://schemas.openxmlformats.org/officeDocument/2006/relationships" r:embed="R615aa440ee71427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FA7141-DFF9-E7CA-A95A-620E50267A56}"/>
              </a:ext>
            </a:extLst>
          </p:cNvPr>
          <p:cNvSpPr>
            <a:spLocks xmlns:a="http://schemas.openxmlformats.org/drawingml/2006/main" noGrp="1"/>
          </p:cNvSpPr>
          <p:nvPr>
            <p:ph type="ctrTitle" idx="0" hasCustomPrompt="1"/>
          </p:nvPr>
        </p:nvSpPr>
        <p:spPr>
          <a:xfrm xmlns:a="http://schemas.openxmlformats.org/drawingml/2006/main">
            <a:off x="1524000" y="1122363"/>
            <a:ext cx="9144000" cy="2387600"/>
          </a:xfrm>
        </p:spPr>
        <p:txBody>
          <a:bodyPr xmlns:a="http://schemas.openxmlformats.org/drawingml/2006/main" anchor="b">
            <a:normAutofit/>
          </a:bodyPr>
          <a:lstStyle xmlns:a="http://schemas.openxmlformats.org/drawingml/2006/main">
            <a:lvl1pPr algn="l">
              <a:buNone/>
              <a:defRPr sz="5400" b="1">
                <a:solidFill>
                  <a:srgbClr val="B60007"/>
                </a:solidFill>
              </a:defRPr>
            </a:lvl1pPr>
          </a:lstStyle>
          <a:p xmlns:a="http://schemas.openxmlformats.org/drawingml/2006/main">
            <a:r>
              <a:t>Presentation Title</a:t>
            </a:r>
          </a:p>
        </p:txBody>
      </p:sp>
      <p:sp>
        <p:nvSpPr>
          <p:cNvPr id="3" name="Subtitle 2">
            <a:extLst xmlns:a="http://schemas.openxmlformats.org/drawingml/2006/main">
              <a:ext uri="{FF2B5EF4-FFF2-40B4-BE49-F238E27FC236}">
                <a16:creationId xmlns:a16="http://schemas.microsoft.com/office/drawing/2014/main" id="{05641A52-A17E-07B5-1692-6E5DC631A28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endParaRPr/>
          </a:p>
        </p:txBody>
      </p:sp>
    </p:spTree>
  </p:cSld>
</p:sldLayout>
</file>

<file path=ppt/slideLayouts/followup20260914_slideLayout3.xml><?xml version="1.0" encoding="utf-8"?>
<p:sldLayout xmlns:p="http://schemas.openxmlformats.org/presentationml/2006/main" type="obj" preserve="1">
  <p:cSld name="标题和内容">
    <p:bg>
      <p:bgPr>
        <a:blipFill xmlns:a="http://schemas.openxmlformats.org/drawingml/2006/main" rotWithShape="1">
          <a:blip xmlns:r="http://schemas.openxmlformats.org/officeDocument/2006/relationships" r:embed="R617ff2e2f8f0467d">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79DD4F-0AF3-F7C8-6C26-A700CF76F533}"/>
              </a:ext>
            </a:extLst>
          </p:cNvPr>
          <p:cNvSpPr>
            <a:spLocks xmlns:a="http://schemas.openxmlformats.org/drawingml/2006/main" noGrp="1"/>
          </p:cNvSpPr>
          <p:nvPr>
            <p:ph type="title" idx="0"/>
          </p:nvPr>
        </p:nvSpPr>
        <p:spPr>
          <a:xfrm xmlns:a="http://schemas.openxmlformats.org/drawingml/2006/main">
            <a:off x="838200" y="365125"/>
            <a:ext cx="8417312"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A187A4B2-E3CB-CD7E-B61C-DB90D5C43BB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A500D57-1613-E8EB-F6FF-C1AF5144441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4.xml><?xml version="1.0" encoding="utf-8"?>
<p:sldLayout xmlns:p="http://schemas.openxmlformats.org/presentationml/2006/main" type="twoObj" preserve="1">
  <p:cSld name="两栏内容">
    <p:bg>
      <p:bgPr>
        <a:blipFill xmlns:a="http://schemas.openxmlformats.org/drawingml/2006/main" rotWithShape="1">
          <a:blip xmlns:r="http://schemas.openxmlformats.org/officeDocument/2006/relationships" r:embed="Rd78fc6204da34693">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2CBD4C-653E-6CF0-91A1-8D087DAE2717}"/>
              </a:ext>
            </a:extLst>
          </p:cNvPr>
          <p:cNvSpPr>
            <a:spLocks xmlns:a="http://schemas.openxmlformats.org/drawingml/2006/main" noGrp="1"/>
          </p:cNvSpPr>
          <p:nvPr>
            <p:ph type="title" idx="0"/>
          </p:nvPr>
        </p:nvSpPr>
        <p:spPr>
          <a:xfrm xmlns:a="http://schemas.openxmlformats.org/drawingml/2006/main">
            <a:off x="838201" y="365125"/>
            <a:ext cx="8406160"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26605617-0FE6-1513-7E9C-B0470E5FC50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Content Placeholder 3">
            <a:extLst xmlns:a="http://schemas.openxmlformats.org/drawingml/2006/main">
              <a:ext uri="{FF2B5EF4-FFF2-40B4-BE49-F238E27FC236}">
                <a16:creationId xmlns:a16="http://schemas.microsoft.com/office/drawing/2014/main" id="{00B2526F-CC14-905B-B4F8-3DA58013D78A}"/>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5" name="Slide Number Placeholder 3">
            <a:extLst xmlns:a="http://schemas.openxmlformats.org/drawingml/2006/main">
              <a:ext uri="{FF2B5EF4-FFF2-40B4-BE49-F238E27FC236}">
                <a16:creationId xmlns:a16="http://schemas.microsoft.com/office/drawing/2014/main" id="{671BA4A5-63AD-67A0-D23D-D9DF7698117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5.xml><?xml version="1.0" encoding="utf-8"?>
<p:sldLayout xmlns:p="http://schemas.openxmlformats.org/presentationml/2006/main" type="blank" preserve="1">
  <p:cSld name="空白">
    <p:bg>
      <p:bgPr>
        <a:blipFill xmlns:a="http://schemas.openxmlformats.org/drawingml/2006/main" rotWithShape="1">
          <a:blip xmlns:r="http://schemas.openxmlformats.org/officeDocument/2006/relationships" r:embed="Racf744febb084c5d">
            <a:lum/>
          </a:blip>
          <a:srcRect l="0" t="0" r="0" b="0"/>
          <a:stretch>
            <a:fillRect l="0" t="0" r="0" b="0"/>
          </a:stretch>
        </a:blipFill>
      </p:bgPr>
    </p:bg>
    <p:spTree>
      <p:nvGrpSpPr>
        <p:cNvPr id="1" name=""/>
        <p:cNvGrpSpPr/>
        <p:nvPr/>
      </p:nvGrpSpPr>
      <p:grpSpPr>
        <a:xfrm xmlns:a="http://schemas.openxmlformats.org/drawingml/2006/main"/>
      </p:grpSpPr>
      <p:sp>
        <p:nvSpPr>
          <p:cNvPr id="2" name="Slide Number Placeholder 3">
            <a:extLst xmlns:a="http://schemas.openxmlformats.org/drawingml/2006/main">
              <a:ext uri="{FF2B5EF4-FFF2-40B4-BE49-F238E27FC236}">
                <a16:creationId xmlns:a16="http://schemas.microsoft.com/office/drawing/2014/main" id="{9CC3666C-BC10-00D8-077D-FD477333DF2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6.xml><?xml version="1.0" encoding="utf-8"?>
<p:sldLayout xmlns:p="http://schemas.openxmlformats.org/presentationml/2006/main" type="objTx" preserve="1">
  <p:cSld name="内容与标题">
    <p:bg>
      <p:bgPr>
        <a:blipFill xmlns:a="http://schemas.openxmlformats.org/drawingml/2006/main" rotWithShape="1">
          <a:blip xmlns:r="http://schemas.openxmlformats.org/officeDocument/2006/relationships" r:embed="R0f2a2ce5f5b7430b">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1AA3B4-DA5B-C327-0769-E9EBF774653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1EE14E74-BCFC-0E95-9CE3-070A751A14FA}"/>
              </a:ext>
            </a:extLst>
          </p:cNvPr>
          <p:cNvSpPr>
            <a:spLocks xmlns:a="http://schemas.openxmlformats.org/drawingml/2006/main" noGrp="1"/>
          </p:cNvSpPr>
          <p:nvPr>
            <p:ph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Text Placeholder 3">
            <a:extLst xmlns:a="http://schemas.openxmlformats.org/drawingml/2006/main">
              <a:ext uri="{FF2B5EF4-FFF2-40B4-BE49-F238E27FC236}">
                <a16:creationId xmlns:a16="http://schemas.microsoft.com/office/drawing/2014/main" id="{6D5A0A65-1AC3-F886-E086-2AEEE968DBE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77BFCB75-E804-30AC-684E-DAF9F69EB3F5}"/>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7.xml><?xml version="1.0" encoding="utf-8"?>
<p:sldLayout xmlns:p="http://schemas.openxmlformats.org/presentationml/2006/main" type="picTx" preserve="1">
  <p:cSld name="图片与标题">
    <p:bg>
      <p:bgPr>
        <a:blipFill xmlns:a="http://schemas.openxmlformats.org/drawingml/2006/main" rotWithShape="1">
          <a:blip xmlns:r="http://schemas.openxmlformats.org/officeDocument/2006/relationships" r:embed="Rc9cdb90e0d7c4ace">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B70E19-8461-6D1B-3777-F2ACE03D8BB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Picture Placeholder 2">
            <a:extLst xmlns:a="http://schemas.openxmlformats.org/drawingml/2006/main">
              <a:ext uri="{FF2B5EF4-FFF2-40B4-BE49-F238E27FC236}">
                <a16:creationId xmlns:a16="http://schemas.microsoft.com/office/drawing/2014/main" id="{7A434AD4-9470-24F9-D1C7-747B24E3E881}"/>
              </a:ext>
            </a:extLst>
          </p:cNvPr>
          <p:cNvSpPr>
            <a:spLocks xmlns:a="http://schemas.openxmlformats.org/drawingml/2006/main" noGrp="1"/>
          </p:cNvSpPr>
          <p:nvPr>
            <p:ph type="pic"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endParaRPr/>
          </a:p>
        </p:txBody>
      </p:sp>
      <p:sp>
        <p:nvSpPr>
          <p:cNvPr id="4" name="Text Placeholder 3">
            <a:extLst xmlns:a="http://schemas.openxmlformats.org/drawingml/2006/main">
              <a:ext uri="{FF2B5EF4-FFF2-40B4-BE49-F238E27FC236}">
                <a16:creationId xmlns:a16="http://schemas.microsoft.com/office/drawing/2014/main" id="{EA022BA7-4769-04C9-C7FE-7359DD5A502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83EE5AD8-D3BB-0D57-A7AB-DE64EEB013D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8.xml><?xml version="1.0" encoding="utf-8"?>
<p:sldLayout xmlns:p="http://schemas.openxmlformats.org/presentationml/2006/main" preserve="1" userDrawn="1">
  <p:cSld name="自定义版式">
    <p:bg>
      <p:bgPr>
        <a:blipFill xmlns:a="http://schemas.openxmlformats.org/drawingml/2006/main" rotWithShape="1">
          <a:blip xmlns:r="http://schemas.openxmlformats.org/officeDocument/2006/relationships" r:embed="R8766cd33606e4da6">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004289-8E53-FEC4-517B-14893B0C0BBC}"/>
              </a:ext>
            </a:extLst>
          </p:cNvPr>
          <p:cNvSpPr>
            <a:spLocks xmlns:a="http://schemas.openxmlformats.org/drawingml/2006/main" noGrp="1"/>
          </p:cNvSpPr>
          <p:nvPr>
            <p:ph type="title" idx="0" hasCustomPrompt="1"/>
          </p:nvPr>
        </p:nvSpPr>
        <p:spPr>
          <a:xfrm xmlns:a="http://schemas.openxmlformats.org/drawingml/2006/main">
            <a:off x="838200" y="2743849"/>
            <a:ext cx="10515600" cy="1095508"/>
          </a:xfrm>
        </p:spPr>
        <p:txBody>
          <a:bodyPr xmlns:a="http://schemas.openxmlformats.org/drawingml/2006/main"/>
          <a:lstStyle xmlns:a="http://schemas.openxmlformats.org/drawingml/2006/main">
            <a:lvl1pPr algn="ctr">
              <a:buNone/>
              <a:defRPr/>
            </a:lvl1pPr>
          </a:lstStyle>
          <a:p xmlns:a="http://schemas.openxmlformats.org/drawingml/2006/main">
            <a:r>
              <a:t>Thank you!</a:t>
            </a:r>
          </a:p>
        </p:txBody>
      </p:sp>
    </p:spTree>
  </p:cSld>
</p:sldLayout>
</file>

<file path=ppt/slideLayouts/followup20260914_slideLayout9.xml><?xml version="1.0" encoding="utf-8"?>
<p:sldLayout xmlns:p="http://schemas.openxmlformats.org/presentationml/2006/main" preserve="1" userDrawn="1">
  <p:cSld name="1_Custom Layou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95A5D8-C6CA-3BB5-2670-321D6742C2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Tree>
  </p:cSld>
</p:sldLayout>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E9A1-8520-5146-239F-0FA97511B65B}"/>
              </a:ext>
            </a:extLst>
          </p:cNvPr>
          <p:cNvSpPr>
            <a:spLocks noGrp="1"/>
          </p:cNvSpPr>
          <p:nvPr>
            <p:ph type="title" hasCustomPrompt="1"/>
          </p:nvPr>
        </p:nvSpPr>
        <p:spPr>
          <a:xfrm>
            <a:off x="831850" y="1709738"/>
            <a:ext cx="10515600" cy="2852737"/>
          </a:xfrm>
        </p:spPr>
        <p:txBody>
          <a:bodyPr anchor="b">
            <a:normAutofit/>
          </a:bodyPr>
          <a:lstStyle>
            <a:lvl1pPr>
              <a:defRPr sz="4800" b="1">
                <a:solidFill>
                  <a:srgbClr val="B60007"/>
                </a:solidFill>
              </a:defRPr>
            </a:lvl1pPr>
          </a:lstStyle>
          <a:p>
            <a:r>
              <a:rPr lang="en-US" dirty="0"/>
              <a:t>Presentation Title</a:t>
            </a:r>
          </a:p>
        </p:txBody>
      </p:sp>
      <p:sp>
        <p:nvSpPr>
          <p:cNvPr id="3" name="Text Placeholder 2">
            <a:extLst>
              <a:ext uri="{FF2B5EF4-FFF2-40B4-BE49-F238E27FC236}">
                <a16:creationId xmlns:a16="http://schemas.microsoft.com/office/drawing/2014/main" id="{4EE82710-E1E4-466F-30AE-69A71966AE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3070831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A7141-DFF9-E7CA-A95A-620E50267A56}"/>
              </a:ext>
            </a:extLst>
          </p:cNvPr>
          <p:cNvSpPr>
            <a:spLocks noGrp="1"/>
          </p:cNvSpPr>
          <p:nvPr>
            <p:ph type="ctrTitle" hasCustomPrompt="1"/>
          </p:nvPr>
        </p:nvSpPr>
        <p:spPr>
          <a:xfrm>
            <a:off x="1524000" y="1122363"/>
            <a:ext cx="9144000" cy="2387600"/>
          </a:xfrm>
        </p:spPr>
        <p:txBody>
          <a:bodyPr anchor="b">
            <a:normAutofit/>
          </a:bodyPr>
          <a:lstStyle>
            <a:lvl1pPr algn="l">
              <a:defRPr sz="5400" b="1">
                <a:solidFill>
                  <a:srgbClr val="B60007"/>
                </a:solidFill>
              </a:defRPr>
            </a:lvl1pPr>
          </a:lstStyle>
          <a:p>
            <a:r>
              <a:rPr lang="en-US" dirty="0"/>
              <a:t>Presentation Title</a:t>
            </a:r>
          </a:p>
        </p:txBody>
      </p:sp>
      <p:sp>
        <p:nvSpPr>
          <p:cNvPr id="3" name="Subtitle 2">
            <a:extLst>
              <a:ext uri="{FF2B5EF4-FFF2-40B4-BE49-F238E27FC236}">
                <a16:creationId xmlns:a16="http://schemas.microsoft.com/office/drawing/2014/main" id="{05641A52-A17E-07B5-1692-6E5DC631A289}"/>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Tree>
    <p:extLst>
      <p:ext uri="{BB962C8B-B14F-4D97-AF65-F5344CB8AC3E}">
        <p14:creationId xmlns:p14="http://schemas.microsoft.com/office/powerpoint/2010/main" val="850708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DD4F-0AF3-F7C8-6C26-A700CF76F533}"/>
              </a:ext>
            </a:extLst>
          </p:cNvPr>
          <p:cNvSpPr>
            <a:spLocks noGrp="1"/>
          </p:cNvSpPr>
          <p:nvPr>
            <p:ph type="title"/>
          </p:nvPr>
        </p:nvSpPr>
        <p:spPr>
          <a:xfrm>
            <a:off x="838200" y="365125"/>
            <a:ext cx="8417312" cy="1325563"/>
          </a:xfrm>
        </p:spPr>
        <p:txBody>
          <a:bodyPr/>
          <a:lstStyle>
            <a:lvl1pPr>
              <a:defRPr b="1">
                <a:solidFill>
                  <a:srgbClr val="B60007"/>
                </a:solidFill>
              </a:defRPr>
            </a:lvl1pPr>
          </a:lstStyle>
          <a:p>
            <a:r>
              <a:rPr lang="zh-CN" altLang="en-US"/>
              <a:t>单击此处编辑母版标题样式</a:t>
            </a:r>
            <a:endParaRPr lang="en-US" dirty="0"/>
          </a:p>
        </p:txBody>
      </p:sp>
      <p:sp>
        <p:nvSpPr>
          <p:cNvPr id="3" name="Content Placeholder 2">
            <a:extLst>
              <a:ext uri="{FF2B5EF4-FFF2-40B4-BE49-F238E27FC236}">
                <a16:creationId xmlns:a16="http://schemas.microsoft.com/office/drawing/2014/main" id="{A187A4B2-E3CB-CD7E-B61C-DB90D5C43BB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Slide Number Placeholder 3">
            <a:extLst>
              <a:ext uri="{FF2B5EF4-FFF2-40B4-BE49-F238E27FC236}">
                <a16:creationId xmlns:a16="http://schemas.microsoft.com/office/drawing/2014/main" id="{5A500D57-1613-E8EB-F6FF-C1AF514444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2548487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CBD4C-653E-6CF0-91A1-8D087DAE2717}"/>
              </a:ext>
            </a:extLst>
          </p:cNvPr>
          <p:cNvSpPr>
            <a:spLocks noGrp="1"/>
          </p:cNvSpPr>
          <p:nvPr>
            <p:ph type="title"/>
          </p:nvPr>
        </p:nvSpPr>
        <p:spPr>
          <a:xfrm>
            <a:off x="838201" y="365125"/>
            <a:ext cx="8406160" cy="1325563"/>
          </a:xfrm>
        </p:spPr>
        <p:txBody>
          <a:bodyPr/>
          <a:lstStyle>
            <a:lvl1pPr>
              <a:defRPr b="1">
                <a:solidFill>
                  <a:srgbClr val="B60007"/>
                </a:solidFill>
              </a:defRPr>
            </a:lvl1pPr>
          </a:lstStyle>
          <a:p>
            <a:r>
              <a:rPr lang="zh-CN" altLang="en-US"/>
              <a:t>单击此处编辑母版标题样式</a:t>
            </a:r>
            <a:endParaRPr lang="en-US" dirty="0"/>
          </a:p>
        </p:txBody>
      </p:sp>
      <p:sp>
        <p:nvSpPr>
          <p:cNvPr id="3" name="Content Placeholder 2">
            <a:extLst>
              <a:ext uri="{FF2B5EF4-FFF2-40B4-BE49-F238E27FC236}">
                <a16:creationId xmlns:a16="http://schemas.microsoft.com/office/drawing/2014/main" id="{26605617-0FE6-1513-7E9C-B0470E5FC50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a:extLst>
              <a:ext uri="{FF2B5EF4-FFF2-40B4-BE49-F238E27FC236}">
                <a16:creationId xmlns:a16="http://schemas.microsoft.com/office/drawing/2014/main" id="{00B2526F-CC14-905B-B4F8-3DA58013D78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Slide Number Placeholder 3">
            <a:extLst>
              <a:ext uri="{FF2B5EF4-FFF2-40B4-BE49-F238E27FC236}">
                <a16:creationId xmlns:a16="http://schemas.microsoft.com/office/drawing/2014/main" id="{671BA4A5-63AD-67A0-D23D-D9DF769811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416474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CC3666C-BC10-00D8-077D-FD477333D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017997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AA3B4-DA5B-C327-0769-E9EBF77465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Content Placeholder 2">
            <a:extLst>
              <a:ext uri="{FF2B5EF4-FFF2-40B4-BE49-F238E27FC236}">
                <a16:creationId xmlns:a16="http://schemas.microsoft.com/office/drawing/2014/main" id="{1EE14E74-BCFC-0E95-9CE3-070A751A14FA}"/>
              </a:ext>
            </a:extLst>
          </p:cNvPr>
          <p:cNvSpPr>
            <a:spLocks noGrp="1"/>
          </p:cNvSpPr>
          <p:nvPr>
            <p:ph idx="1"/>
          </p:nvPr>
        </p:nvSpPr>
        <p:spPr>
          <a:xfrm>
            <a:off x="5183188" y="2049462"/>
            <a:ext cx="6172200" cy="38115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a:extLst>
              <a:ext uri="{FF2B5EF4-FFF2-40B4-BE49-F238E27FC236}">
                <a16:creationId xmlns:a16="http://schemas.microsoft.com/office/drawing/2014/main" id="{6D5A0A65-1AC3-F886-E086-2AEEE968DB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Slide Number Placeholder 3">
            <a:extLst>
              <a:ext uri="{FF2B5EF4-FFF2-40B4-BE49-F238E27FC236}">
                <a16:creationId xmlns:a16="http://schemas.microsoft.com/office/drawing/2014/main" id="{77BFCB75-E804-30AC-684E-DAF9F69EB3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4113038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70E19-8461-6D1B-3777-F2ACE03D8B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Picture Placeholder 2">
            <a:extLst>
              <a:ext uri="{FF2B5EF4-FFF2-40B4-BE49-F238E27FC236}">
                <a16:creationId xmlns:a16="http://schemas.microsoft.com/office/drawing/2014/main" id="{7A434AD4-9470-24F9-D1C7-747B24E3E881}"/>
              </a:ext>
            </a:extLst>
          </p:cNvPr>
          <p:cNvSpPr>
            <a:spLocks noGrp="1"/>
          </p:cNvSpPr>
          <p:nvPr>
            <p:ph type="pic" idx="1"/>
          </p:nvPr>
        </p:nvSpPr>
        <p:spPr>
          <a:xfrm>
            <a:off x="5183188" y="2049462"/>
            <a:ext cx="6172200" cy="38115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a:extLst>
              <a:ext uri="{FF2B5EF4-FFF2-40B4-BE49-F238E27FC236}">
                <a16:creationId xmlns:a16="http://schemas.microsoft.com/office/drawing/2014/main" id="{EA022BA7-4769-04C9-C7FE-7359DD5A50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Slide Number Placeholder 3">
            <a:extLst>
              <a:ext uri="{FF2B5EF4-FFF2-40B4-BE49-F238E27FC236}">
                <a16:creationId xmlns:a16="http://schemas.microsoft.com/office/drawing/2014/main" id="{83EE5AD8-D3BB-0D57-A7AB-DE64EEB013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762097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4289-8E53-FEC4-517B-14893B0C0BBC}"/>
              </a:ext>
            </a:extLst>
          </p:cNvPr>
          <p:cNvSpPr>
            <a:spLocks noGrp="1"/>
          </p:cNvSpPr>
          <p:nvPr>
            <p:ph type="title" hasCustomPrompt="1"/>
          </p:nvPr>
        </p:nvSpPr>
        <p:spPr>
          <a:xfrm>
            <a:off x="838200" y="2743849"/>
            <a:ext cx="10515600" cy="1095508"/>
          </a:xfrm>
        </p:spPr>
        <p:txBody>
          <a:bodyPr/>
          <a:lstStyle>
            <a:lvl1pPr algn="ctr">
              <a:defRPr/>
            </a:lvl1pPr>
          </a:lstStyle>
          <a:p>
            <a:r>
              <a:rPr lang="en-US" dirty="0"/>
              <a:t>Thank you!</a:t>
            </a:r>
          </a:p>
        </p:txBody>
      </p:sp>
    </p:spTree>
    <p:extLst>
      <p:ext uri="{BB962C8B-B14F-4D97-AF65-F5344CB8AC3E}">
        <p14:creationId xmlns:p14="http://schemas.microsoft.com/office/powerpoint/2010/main" val="3608637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5A5D8-C6CA-3BB5-2670-321D6742C20D}"/>
              </a:ext>
            </a:extLst>
          </p:cNvPr>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1291912519"/>
      </p:ext>
    </p:extLst>
  </p:cSld>
  <p:clrMapOvr>
    <a:masterClrMapping/>
  </p:clrMapOvr>
</p:sldLayout>
</file>

<file path=ppt/slideMasters/_rels/followup20260914_slideMaster1.xml.rels><?xml version='1.0' encoding='UTF-8' standalone='yes'?>
<Relationships xmlns="http://schemas.openxmlformats.org/package/2006/relationships"><Relationship Type="http://schemas.openxmlformats.org/officeDocument/2006/relationships/theme" Target="theme/followup20260914_theme2.xml" Id="R54cdce2aaa43431a"/><Relationship Type="http://schemas.openxmlformats.org/officeDocument/2006/relationships/slideLayout" Target="../slideLayouts/followup20260914_slideLayout1.xml" Id="Re92341319e794057"/><Relationship Type="http://schemas.openxmlformats.org/officeDocument/2006/relationships/slideLayout" Target="../slideLayouts/followup20260914_slideLayout2.xml" Id="Rd454aa4051b449fe"/><Relationship Type="http://schemas.openxmlformats.org/officeDocument/2006/relationships/slideLayout" Target="../slideLayouts/followup20260914_slideLayout3.xml" Id="R99335397cb934a9a"/><Relationship Type="http://schemas.openxmlformats.org/officeDocument/2006/relationships/slideLayout" Target="../slideLayouts/followup20260914_slideLayout4.xml" Id="Re8d8443792aa48b6"/><Relationship Type="http://schemas.openxmlformats.org/officeDocument/2006/relationships/slideLayout" Target="../slideLayouts/followup20260914_slideLayout5.xml" Id="Rcf6282a30385461e"/><Relationship Type="http://schemas.openxmlformats.org/officeDocument/2006/relationships/slideLayout" Target="../slideLayouts/followup20260914_slideLayout6.xml" Id="R671e7ee25ace4ac6"/><Relationship Type="http://schemas.openxmlformats.org/officeDocument/2006/relationships/slideLayout" Target="../slideLayouts/followup20260914_slideLayout7.xml" Id="R6ad942b9a33a4c2b"/><Relationship Type="http://schemas.openxmlformats.org/officeDocument/2006/relationships/slideLayout" Target="../slideLayouts/followup20260914_slideLayout8.xml" Id="Ra4633d771a8d430f"/><Relationship Type="http://schemas.openxmlformats.org/officeDocument/2006/relationships/slideLayout" Target="../slideLayouts/followup20260914_slideLayout9.xml" Id="R8e83f2eb8fd1467b"/></Relationships>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followup20260914_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DF015CB-7E28-AD44-692E-F693A876D62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endParaRPr/>
          </a:p>
        </p:txBody>
      </p:sp>
      <p:sp>
        <p:nvSpPr>
          <p:cNvPr id="3" name="Text Placeholder 2">
            <a:extLst xmlns:a="http://schemas.openxmlformats.org/drawingml/2006/main">
              <a:ext uri="{FF2B5EF4-FFF2-40B4-BE49-F238E27FC236}">
                <a16:creationId xmlns:a16="http://schemas.microsoft.com/office/drawing/2014/main" id="{D2C282AF-0EB8-0195-21FA-E6FCC6AC556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8346745-5357-82A3-9FDC-B99ED641782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2341319e794057"/>
    <p:sldLayoutId xmlns:r="http://schemas.openxmlformats.org/officeDocument/2006/relationships" id="2147483650" r:id="Rd454aa4051b449fe"/>
    <p:sldLayoutId xmlns:r="http://schemas.openxmlformats.org/officeDocument/2006/relationships" id="2147483651" r:id="R99335397cb934a9a"/>
    <p:sldLayoutId xmlns:r="http://schemas.openxmlformats.org/officeDocument/2006/relationships" id="2147483652" r:id="Re8d8443792aa48b6"/>
    <p:sldLayoutId xmlns:r="http://schemas.openxmlformats.org/officeDocument/2006/relationships" id="2147483653" r:id="Rcf6282a30385461e"/>
    <p:sldLayoutId xmlns:r="http://schemas.openxmlformats.org/officeDocument/2006/relationships" id="2147483654" r:id="R671e7ee25ace4ac6"/>
    <p:sldLayoutId xmlns:r="http://schemas.openxmlformats.org/officeDocument/2006/relationships" id="2147483655" r:id="R6ad942b9a33a4c2b"/>
    <p:sldLayoutId xmlns:r="http://schemas.openxmlformats.org/officeDocument/2006/relationships" id="2147483656" r:id="Ra4633d771a8d430f"/>
    <p:sldLayoutId xmlns:r="http://schemas.openxmlformats.org/officeDocument/2006/relationships" id="2147483657" r:id="R8e83f2eb8fd1467b"/>
  </p:sldLayoutIdLst>
  <p:hf hdr="0" ftr="0" dt="0"/>
  <p:txStyles>
    <p:titleStyle>
      <a:lvl1pPr xmlns:a="http://schemas.openxmlformats.org/drawingml/2006/main" algn="l" defTabSz="914400">
        <a:lnSpc>
          <a:spcPct val="90000"/>
        </a:lnSpc>
        <a:spcBef>
          <a:spcPct val="0"/>
        </a:spcBef>
        <a:buNone/>
        <a:defRPr sz="4400" b="1" kern="1200">
          <a:solidFill>
            <a:srgbClr val="B60007"/>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F015CB-7E28-AD44-692E-F693A876D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a:extLst>
              <a:ext uri="{FF2B5EF4-FFF2-40B4-BE49-F238E27FC236}">
                <a16:creationId xmlns:a16="http://schemas.microsoft.com/office/drawing/2014/main" id="{D2C282AF-0EB8-0195-21FA-E6FCC6AC55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Slide Number Placeholder 3">
            <a:extLst>
              <a:ext uri="{FF2B5EF4-FFF2-40B4-BE49-F238E27FC236}">
                <a16:creationId xmlns:a16="http://schemas.microsoft.com/office/drawing/2014/main" id="{58346745-5357-82A3-9FDC-B99ED64178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603437735"/>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5" r:id="rId5"/>
    <p:sldLayoutId id="2147483656" r:id="rId6"/>
    <p:sldLayoutId id="2147483657" r:id="rId7"/>
    <p:sldLayoutId id="2147483660" r:id="rId8"/>
    <p:sldLayoutId id="2147483661" r:id="rId9"/>
  </p:sldLayoutIdLst>
  <p:hf hdr="0" ftr="0" dt="0"/>
  <p:txStyles>
    <p:titleStyle>
      <a:lvl1pPr algn="l" defTabSz="914400" rtl="0" eaLnBrk="1" latinLnBrk="0" hangingPunct="1">
        <a:lnSpc>
          <a:spcPct val="90000"/>
        </a:lnSpc>
        <a:spcBef>
          <a:spcPct val="0"/>
        </a:spcBef>
        <a:buNone/>
        <a:defRPr sz="4400" b="1" kern="1200">
          <a:solidFill>
            <a:srgbClr val="B6000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followup20260914_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hyperlink" Target="https://doi.org/10.48550/arXiv.2503.02407"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48550/arXiv.2606.22866"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doi.org/10.48550/arXiv.2608.07401" TargetMode="Externa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Type="http://schemas.openxmlformats.org/officeDocument/2006/relationships/slideLayout" Target="../slideLayouts/followup20260914_slideLayout1.xml" Id="Rdf0f185539f34253"/><Relationship Type="http://schemas.openxmlformats.org/officeDocument/2006/relationships/notesSlide" Target="../notesSlides/followup20260914_notesSlide16.xml" Id="R9a8036f8d96a4ebc"/></Relationships>
</file>

<file path=ppt/slides/_rels/slide17.xml.rels><?xml version='1.0' encoding='UTF-8' standalone='yes'?>
<Relationships xmlns="http://schemas.openxmlformats.org/package/2006/relationships"><Relationship Type="http://schemas.openxmlformats.org/officeDocument/2006/relationships/slideLayout" Target="../slideLayouts/followup20260914_slideLayout1.xml" Id="R2f0b30ba311d4024"/><Relationship Type="http://schemas.openxmlformats.org/officeDocument/2006/relationships/notesSlide" Target="../notesSlides/followup20260914_notesSlide17.xml" Id="R06cf816515074424"/></Relationships>
</file>

<file path=ppt/slides/_rels/slide18.xml.rels><?xml version='1.0' encoding='UTF-8' standalone='yes'?>
<Relationships xmlns="http://schemas.openxmlformats.org/package/2006/relationships"><Relationship Type="http://schemas.openxmlformats.org/officeDocument/2006/relationships/slideLayout" Target="../slideLayouts/followup20260914_slideLayout1.xml" Id="R8e54be8dbdc74ce3"/><Relationship Type="http://schemas.openxmlformats.org/officeDocument/2006/relationships/notesSlide" Target="../notesSlides/followup20260914_notesSlide18.xml" Id="Rd07cbed79e284155"/></Relationships>
</file>

<file path=ppt/slides/_rels/slide19.xml.rels><?xml version='1.0' encoding='UTF-8' standalone='yes'?>
<Relationships xmlns="http://schemas.openxmlformats.org/package/2006/relationships"><Relationship Type="http://schemas.openxmlformats.org/officeDocument/2006/relationships/slideLayout" Target="../slideLayouts/followup20260914_slideLayout1.xml" Id="R25eba7c9b0ef483b"/><Relationship Type="http://schemas.openxmlformats.org/officeDocument/2006/relationships/notesSlide" Target="../notesSlides/followup20260914_notesSlide19.xml" Id="Ra3a7e0562b004257"/></Relationships>
</file>

<file path=ppt/slides/_rels/slide20.xml.rels><?xml version='1.0' encoding='UTF-8' standalone='yes'?>
<Relationships xmlns="http://schemas.openxmlformats.org/package/2006/relationships"><Relationship Type="http://schemas.openxmlformats.org/officeDocument/2006/relationships/slideLayout" Target="../slideLayouts/followup20260914_slideLayout1.xml" Id="Rf61c95c822224507"/><Relationship Type="http://schemas.openxmlformats.org/officeDocument/2006/relationships/notesSlide" Target="../notesSlides/followup20260914_notesSlide20.xml" Id="Reefee995ced64c0b"/></Relationships>
</file>

<file path=ppt/slides/_rels/slide21.xml.rels><?xml version='1.0' encoding='UTF-8' standalone='yes'?>
<Relationships xmlns="http://schemas.openxmlformats.org/package/2006/relationships"><Relationship Type="http://schemas.openxmlformats.org/officeDocument/2006/relationships/slideLayout" Target="../slideLayouts/followup20260914_slideLayout1.xml" Id="Re3f14799638e4e1a"/><Relationship Type="http://schemas.openxmlformats.org/officeDocument/2006/relationships/notesSlide" Target="../notesSlides/followup20260914_notesSlide21.xml" Id="R0d0b2a8bf6094ed4"/></Relationships>
</file>

<file path=ppt/slides/_rels/slide22.xml.rels><?xml version='1.0' encoding='UTF-8' standalone='yes'?>
<Relationships xmlns="http://schemas.openxmlformats.org/package/2006/relationships"><Relationship Type="http://schemas.openxmlformats.org/officeDocument/2006/relationships/slideLayout" Target="../slideLayouts/followup20260914_slideLayout1.xml" Id="Re76144c3b75e40cb"/><Relationship Type="http://schemas.openxmlformats.org/officeDocument/2006/relationships/notesSlide" Target="../notesSlides/followup20260914_notesSlide22.xml" Id="R953ff688add44e43"/></Relationships>
</file>

<file path=ppt/slides/_rels/slide23.xml.rels><?xml version='1.0' encoding='UTF-8' standalone='yes'?>
<Relationships xmlns="http://schemas.openxmlformats.org/package/2006/relationships"><Relationship Type="http://schemas.openxmlformats.org/officeDocument/2006/relationships/slideLayout" Target="../slideLayouts/followup20260914_slideLayout1.xml" Id="R7c0798f8f8e54763"/><Relationship Type="http://schemas.openxmlformats.org/officeDocument/2006/relationships/notesSlide" Target="../notesSlides/followup20260914_notesSlide23.xml" Id="Rd13792a740844492"/></Relationships>
</file>

<file path=ppt/slides/_rels/slide24.xml.rels><?xml version='1.0' encoding='UTF-8' standalone='yes'?>
<Relationships xmlns="http://schemas.openxmlformats.org/package/2006/relationships"><Relationship Type="http://schemas.openxmlformats.org/officeDocument/2006/relationships/slideLayout" Target="../slideLayouts/followup20260914_slideLayout1.xml" Id="R28204b6b1fea47af"/><Relationship Type="http://schemas.openxmlformats.org/officeDocument/2006/relationships/notesSlide" Target="../notesSlides/followup20260914_notesSlide24.xml" Id="Rf434a90492d64a46"/></Relationships>
</file>

<file path=ppt/slides/_rels/slide25.xml.rels><?xml version='1.0' encoding='UTF-8' standalone='yes'?>
<Relationships xmlns="http://schemas.openxmlformats.org/package/2006/relationships"><Relationship Type="http://schemas.openxmlformats.org/officeDocument/2006/relationships/slideLayout" Target="../slideLayouts/followup20260914_slideLayout1.xml" Id="R0422197785ff4a02"/><Relationship Type="http://schemas.openxmlformats.org/officeDocument/2006/relationships/notesSlide" Target="../notesSlides/followup20260914_notesSlide25.xml" Id="R9e5860047d384d91"/></Relationships>
</file>

<file path=ppt/slides/_rels/slide26.xml.rels><?xml version='1.0' encoding='UTF-8' standalone='yes'?>
<Relationships xmlns="http://schemas.openxmlformats.org/package/2006/relationships"><Relationship Type="http://schemas.openxmlformats.org/officeDocument/2006/relationships/slideLayout" Target="../slideLayouts/followup20260914_slideLayout1.xml" Id="R633f140d68164821"/><Relationship Type="http://schemas.openxmlformats.org/officeDocument/2006/relationships/notesSlide" Target="../notesSlides/followup20260914_notesSlide26.xml" Id="R19cde6394ce7462c"/></Relationships>
</file>

<file path=ppt/slides/_rels/slide27.xml.rels><?xml version='1.0' encoding='UTF-8' standalone='yes'?>
<Relationships xmlns="http://schemas.openxmlformats.org/package/2006/relationships"><Relationship Type="http://schemas.openxmlformats.org/officeDocument/2006/relationships/slideLayout" Target="../slideLayouts/followup20260914_slideLayout1.xml" Id="R25ba6d1acdc04942"/><Relationship Type="http://schemas.openxmlformats.org/officeDocument/2006/relationships/notesSlide" Target="../notesSlides/followup20260914_notesSlide27.xml" Id="R210bce003d5a41c8"/></Relationships>
</file>

<file path=ppt/slides/_rels/slide28.xml.rels><?xml version='1.0' encoding='UTF-8' standalone='yes'?>
<Relationships xmlns="http://schemas.openxmlformats.org/package/2006/relationships"><Relationship Type="http://schemas.openxmlformats.org/officeDocument/2006/relationships/slideLayout" Target="../slideLayouts/followup20260914_slideLayout1.xml" Id="R6f6c1133057f49cc"/><Relationship Type="http://schemas.openxmlformats.org/officeDocument/2006/relationships/notesSlide" Target="../notesSlides/followup20260914_notesSlide28.xml" Id="R5bd3d9be47784d88"/></Relationships>
</file>

<file path=ppt/slides/_rels/slide29.xml.rels><?xml version='1.0' encoding='UTF-8' standalone='yes'?>
<Relationships xmlns="http://schemas.openxmlformats.org/package/2006/relationships"><Relationship Type="http://schemas.openxmlformats.org/officeDocument/2006/relationships/slideLayout" Target="../slideLayouts/followup20260914_slideLayout1.xml" Id="R6c0f7281e92a4380"/><Relationship Type="http://schemas.openxmlformats.org/officeDocument/2006/relationships/notesSlide" Target="../notesSlides/followup20260914_notesSlide29.xml" Id="R1ff7a513d97c482f"/></Relationships>
</file>

<file path=ppt/slides/_rels/slide30.xml.rels><?xml version='1.0' encoding='UTF-8' standalone='yes'?>
<Relationships xmlns="http://schemas.openxmlformats.org/package/2006/relationships"><Relationship Type="http://schemas.openxmlformats.org/officeDocument/2006/relationships/slideLayout" Target="../slideLayouts/followup20260914_slideLayout1.xml" Id="R800681d6c5b04293"/><Relationship Type="http://schemas.openxmlformats.org/officeDocument/2006/relationships/notesSlide" Target="../notesSlides/followup20260914_notesSlide30.xml" Id="R739fa46e524d454c"/></Relationships>
</file>

<file path=ppt/slides/_rels/slide31.xml.rels><?xml version='1.0' encoding='UTF-8' standalone='yes'?>
<Relationships xmlns="http://schemas.openxmlformats.org/package/2006/relationships"><Relationship Type="http://schemas.openxmlformats.org/officeDocument/2006/relationships/slideLayout" Target="../slideLayouts/followup20260914_slideLayout1.xml" Id="R8be5157a3bfc4738"/><Relationship Type="http://schemas.openxmlformats.org/officeDocument/2006/relationships/notesSlide" Target="../notesSlides/followup20260914_notesSlide31.xml" Id="R47a09217c27d4e6f"/></Relationships>
</file>

<file path=ppt/slides/_rels/slide32.xml.rels><?xml version='1.0' encoding='UTF-8' standalone='yes'?>
<Relationships xmlns="http://schemas.openxmlformats.org/package/2006/relationships"><Relationship Type="http://schemas.openxmlformats.org/officeDocument/2006/relationships/slideLayout" Target="../slideLayouts/followup20260914_slideLayout1.xml" Id="R896d8a78402741eb"/><Relationship Type="http://schemas.openxmlformats.org/officeDocument/2006/relationships/notesSlide" Target="../notesSlides/followup20260914_notesSlide32.xml" Id="R0eb60fceb3f84007"/></Relationships>
</file>

<file path=ppt/slides/_rels/slide33.xml.rels><?xml version='1.0' encoding='UTF-8' standalone='yes'?>
<Relationships xmlns="http://schemas.openxmlformats.org/package/2006/relationships"><Relationship Type="http://schemas.openxmlformats.org/officeDocument/2006/relationships/slideLayout" Target="../slideLayouts/followup20260914_slideLayout1.xml" Id="Rfd1dda1e04204fa2"/><Relationship Type="http://schemas.openxmlformats.org/officeDocument/2006/relationships/notesSlide" Target="../notesSlides/followup20260914_notesSlide33.xml" Id="R0a15bfe4353d4970"/></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BBDD9-47B9-1E29-1F69-D68D76EB692D}"/>
              </a:ext>
            </a:extLst>
          </p:cNvPr>
          <p:cNvSpPr>
            <a:spLocks noGrp="1"/>
          </p:cNvSpPr>
          <p:nvPr>
            <p:ph type="title"/>
          </p:nvPr>
        </p:nvSpPr>
        <p:spPr/>
        <p:txBody>
          <a:bodyPr/>
          <a:lstStyle/>
          <a:p>
            <a:r>
              <a:rPr lang="en-US" dirty="0"/>
              <a:t>Crystal</a:t>
            </a:r>
            <a:r>
              <a:rPr lang="zh-CN" altLang="en-US" dirty="0"/>
              <a:t> </a:t>
            </a:r>
            <a:r>
              <a:rPr lang="en-US" altLang="zh-CN"/>
              <a:t>DLM</a:t>
            </a:r>
            <a:endParaRPr lang="en-US" dirty="0"/>
          </a:p>
        </p:txBody>
      </p:sp>
      <p:sp>
        <p:nvSpPr>
          <p:cNvPr id="3" name="Text Placeholder 2">
            <a:extLst>
              <a:ext uri="{FF2B5EF4-FFF2-40B4-BE49-F238E27FC236}">
                <a16:creationId xmlns:a16="http://schemas.microsoft.com/office/drawing/2014/main" id="{18055D2C-AD5F-2E5F-6EEF-3150641E658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16179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777ECE8-A9E2-F178-9F8F-A812B4821D38}"/>
              </a:ext>
            </a:extLst>
          </p:cNvPr>
          <p:cNvSpPr>
            <a:spLocks noGrp="1"/>
          </p:cNvSpPr>
          <p:nvPr>
            <p:ph type="title"/>
          </p:nvPr>
        </p:nvSpPr>
        <p:spPr/>
        <p:txBody>
          <a:bodyPr/>
          <a:lstStyle/>
          <a:p>
            <a:r>
              <a:rPr lang="en-US" altLang="zh-CN" dirty="0"/>
              <a:t>Outline</a:t>
            </a:r>
            <a:endParaRPr lang="zh-CN" altLang="en-US" dirty="0"/>
          </a:p>
        </p:txBody>
      </p:sp>
      <p:sp>
        <p:nvSpPr>
          <p:cNvPr id="5" name="文本框 4">
            <a:extLst>
              <a:ext uri="{FF2B5EF4-FFF2-40B4-BE49-F238E27FC236}">
                <a16:creationId xmlns:a16="http://schemas.microsoft.com/office/drawing/2014/main" id="{7E0DFF2B-97B4-A635-BBE6-108C62A7D604}"/>
              </a:ext>
            </a:extLst>
          </p:cNvPr>
          <p:cNvSpPr txBox="1"/>
          <p:nvPr/>
        </p:nvSpPr>
        <p:spPr>
          <a:xfrm>
            <a:off x="4327452" y="2505117"/>
            <a:ext cx="2909771" cy="2677656"/>
          </a:xfrm>
          <a:prstGeom prst="rect">
            <a:avLst/>
          </a:prstGeom>
          <a:noFill/>
        </p:spPr>
        <p:txBody>
          <a:bodyPr wrap="none" rtlCol="0">
            <a:spAutoFit/>
          </a:bodyPr>
          <a:lstStyle/>
          <a:p>
            <a:pPr marL="342900" indent="-342900">
              <a:buFont typeface="Arial" panose="020B0604020202020204" pitchFamily="34" charset="0"/>
              <a:buChar char="•"/>
            </a:pPr>
            <a:r>
              <a:rPr kumimoji="1" lang="en-US" altLang="zh-CN" sz="2400" dirty="0"/>
              <a:t>Related</a:t>
            </a:r>
            <a:r>
              <a:rPr kumimoji="1" lang="zh-CN" altLang="en-US" sz="2400" dirty="0"/>
              <a:t> </a:t>
            </a:r>
            <a:r>
              <a:rPr kumimoji="1" lang="en-US" altLang="zh-CN" sz="2400" dirty="0"/>
              <a:t>Work</a:t>
            </a:r>
          </a:p>
          <a:p>
            <a:pPr marL="342900" indent="-342900">
              <a:lnSpc>
                <a:spcPct val="250000"/>
              </a:lnSpc>
              <a:buFont typeface="Arial" panose="020B0604020202020204" pitchFamily="34" charset="0"/>
              <a:buChar char="•"/>
            </a:pPr>
            <a:r>
              <a:rPr kumimoji="1" lang="en-US" altLang="zh-CN" sz="2400" dirty="0"/>
              <a:t>BPE</a:t>
            </a:r>
          </a:p>
          <a:p>
            <a:pPr marL="342900" indent="-342900">
              <a:lnSpc>
                <a:spcPct val="250000"/>
              </a:lnSpc>
              <a:buFont typeface="Arial" panose="020B0604020202020204" pitchFamily="34" charset="0"/>
              <a:buChar char="•"/>
            </a:pPr>
            <a:r>
              <a:rPr kumimoji="1" lang="en-US" altLang="zh-CN" sz="2400" dirty="0"/>
              <a:t>What we can do?</a:t>
            </a:r>
          </a:p>
          <a:p>
            <a:pPr marL="342900" indent="-342900">
              <a:buFont typeface="Arial" panose="020B0604020202020204" pitchFamily="34" charset="0"/>
              <a:buChar char="•"/>
            </a:pPr>
            <a:endParaRPr kumimoji="1" lang="zh-CN" altLang="en-US" sz="2400" dirty="0"/>
          </a:p>
        </p:txBody>
      </p:sp>
    </p:spTree>
    <p:extLst>
      <p:ext uri="{BB962C8B-B14F-4D97-AF65-F5344CB8AC3E}">
        <p14:creationId xmlns:p14="http://schemas.microsoft.com/office/powerpoint/2010/main" val="2069768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8D321-4442-C978-4B85-4C3E40CDB596}"/>
              </a:ext>
            </a:extLst>
          </p:cNvPr>
          <p:cNvSpPr>
            <a:spLocks noGrp="1"/>
          </p:cNvSpPr>
          <p:nvPr>
            <p:ph type="title"/>
          </p:nvPr>
        </p:nvSpPr>
        <p:spPr/>
        <p:txBody>
          <a:bodyPr/>
          <a:lstStyle/>
          <a:p>
            <a:r>
              <a:rPr kumimoji="1" lang="en-US" altLang="zh-CN" dirty="0"/>
              <a:t>Our</a:t>
            </a:r>
            <a:r>
              <a:rPr kumimoji="1" lang="zh-CN" altLang="en-US" dirty="0"/>
              <a:t> </a:t>
            </a:r>
            <a:r>
              <a:rPr kumimoji="1" lang="en-US" altLang="zh-CN" dirty="0"/>
              <a:t>work</a:t>
            </a:r>
            <a:endParaRPr kumimoji="1" lang="zh-CN" altLang="en-US" dirty="0"/>
          </a:p>
        </p:txBody>
      </p:sp>
      <p:sp>
        <p:nvSpPr>
          <p:cNvPr id="4" name="文本框 3">
            <a:extLst>
              <a:ext uri="{FF2B5EF4-FFF2-40B4-BE49-F238E27FC236}">
                <a16:creationId xmlns:a16="http://schemas.microsoft.com/office/drawing/2014/main" id="{4D436626-E804-5470-1331-6111285AC0DB}"/>
              </a:ext>
            </a:extLst>
          </p:cNvPr>
          <p:cNvSpPr txBox="1"/>
          <p:nvPr/>
        </p:nvSpPr>
        <p:spPr>
          <a:xfrm>
            <a:off x="540541" y="1872556"/>
            <a:ext cx="5248275" cy="3970318"/>
          </a:xfrm>
          <a:prstGeom prst="rect">
            <a:avLst/>
          </a:prstGeom>
          <a:noFill/>
        </p:spPr>
        <p:txBody>
          <a:bodyPr wrap="square">
            <a:spAutoFit/>
          </a:bodyPr>
          <a:lstStyle/>
          <a:p>
            <a:pPr>
              <a:buNone/>
            </a:pPr>
            <a:r>
              <a:rPr lang="en-US" altLang="zh-CN" b="1" dirty="0">
                <a:latin typeface="+mj-lt"/>
                <a:ea typeface="+mj-ea"/>
              </a:rPr>
              <a:t>Orbit identity</a:t>
            </a:r>
            <a:r>
              <a:rPr lang="zh-CN" altLang="en-US" b="1" dirty="0">
                <a:latin typeface="+mj-lt"/>
                <a:ea typeface="+mj-ea"/>
              </a:rPr>
              <a:t>：什么时候两个 </a:t>
            </a:r>
            <a:r>
              <a:rPr lang="en-US" altLang="zh-CN" b="1" dirty="0">
                <a:latin typeface="+mj-lt"/>
                <a:ea typeface="+mj-ea"/>
              </a:rPr>
              <a:t>orbit </a:t>
            </a:r>
            <a:r>
              <a:rPr lang="zh-CN" altLang="en-US" b="1" dirty="0">
                <a:latin typeface="+mj-lt"/>
                <a:ea typeface="+mj-ea"/>
              </a:rPr>
              <a:t>是同一个 </a:t>
            </a:r>
            <a:r>
              <a:rPr lang="en-US" altLang="zh-CN" b="1" dirty="0">
                <a:latin typeface="+mj-lt"/>
                <a:ea typeface="+mj-ea"/>
              </a:rPr>
              <a:t>token</a:t>
            </a:r>
            <a:r>
              <a:rPr lang="zh-CN" altLang="en-US" b="1" dirty="0">
                <a:latin typeface="+mj-lt"/>
                <a:ea typeface="+mj-ea"/>
              </a:rPr>
              <a:t>？</a:t>
            </a:r>
          </a:p>
          <a:p>
            <a:pPr>
              <a:buNone/>
            </a:pPr>
            <a:endParaRPr lang="en-US" altLang="zh-CN" dirty="0">
              <a:latin typeface="+mj-lt"/>
              <a:ea typeface="+mj-ea"/>
            </a:endParaRPr>
          </a:p>
          <a:p>
            <a:pPr>
              <a:buNone/>
            </a:pPr>
            <a:r>
              <a:rPr lang="zh-CN" altLang="en-US" dirty="0">
                <a:latin typeface="+mj-lt"/>
                <a:ea typeface="+mj-ea"/>
              </a:rPr>
              <a:t>直接使用“空间群编号 </a:t>
            </a:r>
            <a:r>
              <a:rPr lang="en-US" altLang="zh-CN" dirty="0">
                <a:latin typeface="+mj-lt"/>
                <a:ea typeface="+mj-ea"/>
              </a:rPr>
              <a:t>+ Wyckoff letter”</a:t>
            </a:r>
            <a:r>
              <a:rPr lang="zh-CN" altLang="en-US" dirty="0">
                <a:latin typeface="+mj-lt"/>
                <a:ea typeface="+mj-ea"/>
              </a:rPr>
              <a:t>会造成严重的数据碎片化，因为每个空间群都有自己的 </a:t>
            </a:r>
            <a:r>
              <a:rPr lang="en-US" altLang="zh-CN" dirty="0">
                <a:latin typeface="+mj-lt"/>
                <a:ea typeface="+mj-ea"/>
              </a:rPr>
              <a:t>a</a:t>
            </a:r>
            <a:r>
              <a:rPr lang="zh-CN" altLang="en-US" dirty="0">
                <a:latin typeface="+mj-lt"/>
                <a:ea typeface="+mj-ea"/>
              </a:rPr>
              <a:t>、</a:t>
            </a:r>
            <a:r>
              <a:rPr lang="en-US" altLang="zh-CN" dirty="0">
                <a:latin typeface="+mj-lt"/>
                <a:ea typeface="+mj-ea"/>
              </a:rPr>
              <a:t>b</a:t>
            </a:r>
            <a:r>
              <a:rPr lang="zh-CN" altLang="en-US" dirty="0">
                <a:latin typeface="+mj-lt"/>
                <a:ea typeface="+mj-ea"/>
              </a:rPr>
              <a:t>、</a:t>
            </a:r>
            <a:r>
              <a:rPr lang="en-US" altLang="zh-CN" dirty="0">
                <a:latin typeface="+mj-lt"/>
                <a:ea typeface="+mj-ea"/>
              </a:rPr>
              <a:t>c</a:t>
            </a:r>
            <a:r>
              <a:rPr lang="zh-CN" altLang="en-US" dirty="0">
                <a:latin typeface="+mj-lt"/>
                <a:ea typeface="+mj-ea"/>
              </a:rPr>
              <a:t>；同样的几何或对称形式可能出现在多个空间群中。</a:t>
            </a:r>
            <a:endParaRPr lang="en-US" altLang="zh-CN" dirty="0">
              <a:latin typeface="+mj-lt"/>
              <a:ea typeface="+mj-ea"/>
            </a:endParaRPr>
          </a:p>
          <a:p>
            <a:pPr>
              <a:buNone/>
            </a:pPr>
            <a:endParaRPr lang="zh-CN" altLang="en-US" dirty="0">
              <a:latin typeface="+mj-lt"/>
              <a:ea typeface="+mj-ea"/>
            </a:endParaRPr>
          </a:p>
          <a:p>
            <a:pPr>
              <a:buNone/>
            </a:pPr>
            <a:r>
              <a:rPr lang="en-US" altLang="zh-CN" dirty="0" err="1">
                <a:latin typeface="+mj-lt"/>
                <a:ea typeface="+mj-ea"/>
              </a:rPr>
              <a:t>WyFormer</a:t>
            </a:r>
            <a:r>
              <a:rPr lang="en-US" altLang="zh-CN" dirty="0">
                <a:latin typeface="+mj-lt"/>
                <a:ea typeface="+mj-ea"/>
              </a:rPr>
              <a:t> </a:t>
            </a:r>
            <a:r>
              <a:rPr lang="zh-CN" altLang="en-US" dirty="0">
                <a:latin typeface="+mj-lt"/>
                <a:ea typeface="+mj-ea"/>
              </a:rPr>
              <a:t>的解决办法是用较通用的 </a:t>
            </a:r>
            <a:r>
              <a:rPr lang="en-US" altLang="zh-CN" dirty="0">
                <a:latin typeface="+mj-lt"/>
                <a:ea typeface="+mj-ea"/>
              </a:rPr>
              <a:t>site symmetry</a:t>
            </a:r>
            <a:r>
              <a:rPr lang="zh-CN" altLang="en-US" dirty="0">
                <a:latin typeface="+mj-lt"/>
                <a:ea typeface="+mj-ea"/>
              </a:rPr>
              <a:t>，再加 </a:t>
            </a:r>
            <a:r>
              <a:rPr lang="en-US" altLang="zh-CN" dirty="0">
                <a:latin typeface="+mj-lt"/>
                <a:ea typeface="+mj-ea"/>
              </a:rPr>
              <a:t>enumeration </a:t>
            </a:r>
            <a:r>
              <a:rPr lang="zh-CN" altLang="en-US" dirty="0">
                <a:latin typeface="+mj-lt"/>
                <a:ea typeface="+mj-ea"/>
              </a:rPr>
              <a:t>区分同一空间群中具有相同 </a:t>
            </a:r>
            <a:r>
              <a:rPr lang="en-US" altLang="zh-CN" dirty="0">
                <a:latin typeface="+mj-lt"/>
                <a:ea typeface="+mj-ea"/>
              </a:rPr>
              <a:t>site symmetry </a:t>
            </a:r>
            <a:r>
              <a:rPr lang="zh-CN" altLang="en-US" dirty="0">
                <a:latin typeface="+mj-lt"/>
                <a:ea typeface="+mj-ea"/>
              </a:rPr>
              <a:t>的多个 </a:t>
            </a:r>
            <a:r>
              <a:rPr lang="en-US" altLang="zh-CN" dirty="0">
                <a:latin typeface="+mj-lt"/>
                <a:ea typeface="+mj-ea"/>
              </a:rPr>
              <a:t>Wyckoff positions</a:t>
            </a:r>
            <a:r>
              <a:rPr lang="zh-CN" altLang="en-US" dirty="0">
                <a:latin typeface="+mj-lt"/>
                <a:ea typeface="+mj-ea"/>
              </a:rPr>
              <a:t>。例如在 </a:t>
            </a:r>
            <a:r>
              <a:rPr lang="en-US" altLang="zh-CN" dirty="0">
                <a:latin typeface="+mj-lt"/>
                <a:ea typeface="+mj-ea"/>
              </a:rPr>
              <a:t>space group 225 </a:t>
            </a:r>
            <a:r>
              <a:rPr lang="zh-CN" altLang="en-US" dirty="0">
                <a:latin typeface="+mj-lt"/>
                <a:ea typeface="+mj-ea"/>
              </a:rPr>
              <a:t>中，</a:t>
            </a:r>
            <a:r>
              <a:rPr lang="en-US" altLang="zh-CN" dirty="0">
                <a:latin typeface="+mj-lt"/>
                <a:ea typeface="+mj-ea"/>
              </a:rPr>
              <a:t>4a </a:t>
            </a:r>
            <a:r>
              <a:rPr lang="zh-CN" altLang="en-US" dirty="0">
                <a:latin typeface="+mj-lt"/>
                <a:ea typeface="+mj-ea"/>
              </a:rPr>
              <a:t>和 </a:t>
            </a:r>
            <a:r>
              <a:rPr lang="en-US" altLang="zh-CN" dirty="0">
                <a:latin typeface="+mj-lt"/>
                <a:ea typeface="+mj-ea"/>
              </a:rPr>
              <a:t>4b </a:t>
            </a:r>
            <a:r>
              <a:rPr lang="zh-CN" altLang="en-US" dirty="0">
                <a:latin typeface="+mj-lt"/>
                <a:ea typeface="+mj-ea"/>
              </a:rPr>
              <a:t>都是 </a:t>
            </a:r>
            <a:r>
              <a:rPr lang="en-US" altLang="zh-CN" dirty="0">
                <a:latin typeface="+mj-lt"/>
                <a:ea typeface="+mj-ea"/>
              </a:rPr>
              <a:t>m3ˉmm\bar 3m</a:t>
            </a:r>
            <a:r>
              <a:rPr lang="zh-CN" altLang="en-US" dirty="0">
                <a:latin typeface="+mj-lt"/>
                <a:ea typeface="+mj-ea"/>
              </a:rPr>
              <a:t>，因此分别编码成 </a:t>
            </a:r>
            <a:r>
              <a:rPr lang="en-US" altLang="zh-CN" dirty="0">
                <a:latin typeface="+mj-lt"/>
                <a:ea typeface="+mj-ea"/>
              </a:rPr>
              <a:t>(m3ˉm,0)(m\bar 3m,0) </a:t>
            </a:r>
            <a:r>
              <a:rPr lang="zh-CN" altLang="en-US" dirty="0">
                <a:latin typeface="+mj-lt"/>
                <a:ea typeface="+mj-ea"/>
              </a:rPr>
              <a:t>与 </a:t>
            </a:r>
            <a:r>
              <a:rPr lang="en-US" altLang="zh-CN" dirty="0">
                <a:latin typeface="+mj-lt"/>
                <a:ea typeface="+mj-ea"/>
              </a:rPr>
              <a:t>(m3ˉm,1)</a:t>
            </a:r>
          </a:p>
        </p:txBody>
      </p:sp>
      <p:sp>
        <p:nvSpPr>
          <p:cNvPr id="6" name="文本框 5">
            <a:extLst>
              <a:ext uri="{FF2B5EF4-FFF2-40B4-BE49-F238E27FC236}">
                <a16:creationId xmlns:a16="http://schemas.microsoft.com/office/drawing/2014/main" id="{736916CE-DB0F-4712-01B7-77FF6D4B3452}"/>
              </a:ext>
            </a:extLst>
          </p:cNvPr>
          <p:cNvSpPr txBox="1"/>
          <p:nvPr/>
        </p:nvSpPr>
        <p:spPr>
          <a:xfrm>
            <a:off x="6591302" y="2274838"/>
            <a:ext cx="5060157" cy="2862322"/>
          </a:xfrm>
          <a:prstGeom prst="rect">
            <a:avLst/>
          </a:prstGeom>
          <a:noFill/>
        </p:spPr>
        <p:txBody>
          <a:bodyPr wrap="square">
            <a:spAutoFit/>
          </a:bodyPr>
          <a:lstStyle/>
          <a:p>
            <a:pPr>
              <a:buNone/>
            </a:pPr>
            <a:r>
              <a:rPr lang="zh-CN" altLang="en-US" b="1" dirty="0">
                <a:latin typeface="+mj-lt"/>
              </a:rPr>
              <a:t>哪些 </a:t>
            </a:r>
            <a:r>
              <a:rPr lang="en-US" altLang="zh-CN" b="1" dirty="0">
                <a:latin typeface="+mj-lt"/>
              </a:rPr>
              <a:t>orbit token </a:t>
            </a:r>
            <a:r>
              <a:rPr lang="zh-CN" altLang="en-US" b="1" dirty="0">
                <a:latin typeface="+mj-lt"/>
              </a:rPr>
              <a:t>可以在某个空间群下</a:t>
            </a:r>
            <a:r>
              <a:rPr lang="en-US" altLang="zh-CN" b="1" dirty="0">
                <a:latin typeface="+mj-lt"/>
              </a:rPr>
              <a:t>legally</a:t>
            </a:r>
            <a:r>
              <a:rPr lang="zh-CN" altLang="en-US" b="1" dirty="0">
                <a:latin typeface="+mj-lt"/>
              </a:rPr>
              <a:t>出现？</a:t>
            </a:r>
          </a:p>
          <a:p>
            <a:pPr>
              <a:buNone/>
            </a:pPr>
            <a:endParaRPr lang="en-US" altLang="zh-CN" dirty="0">
              <a:latin typeface="+mj-lt"/>
            </a:endParaRPr>
          </a:p>
          <a:p>
            <a:pPr>
              <a:buNone/>
            </a:pPr>
            <a:r>
              <a:rPr lang="zh-CN" altLang="en-US" dirty="0">
                <a:latin typeface="+mj-lt"/>
              </a:rPr>
              <a:t>除了词表本身，还需要一个 </a:t>
            </a:r>
            <a:r>
              <a:rPr lang="en-US" altLang="zh-CN" dirty="0">
                <a:latin typeface="+mj-lt"/>
              </a:rPr>
              <a:t>compatibility map</a:t>
            </a:r>
            <a:r>
              <a:rPr lang="zh-CN" altLang="en-US" dirty="0">
                <a:latin typeface="+mj-lt"/>
              </a:rPr>
              <a:t>：</a:t>
            </a:r>
          </a:p>
          <a:p>
            <a:pPr>
              <a:buNone/>
            </a:pPr>
            <a:r>
              <a:rPr lang="zh-CN" altLang="en-US" dirty="0">
                <a:latin typeface="+mj-lt"/>
              </a:rPr>
              <a:t>它告诉模型：</a:t>
            </a:r>
          </a:p>
          <a:p>
            <a:pPr>
              <a:buFont typeface="Arial" panose="020B0604020202020204" pitchFamily="34" charset="0"/>
              <a:buChar char="•"/>
            </a:pPr>
            <a:r>
              <a:rPr lang="zh-CN" altLang="en-US" dirty="0">
                <a:latin typeface="+mj-lt"/>
              </a:rPr>
              <a:t> 这个 </a:t>
            </a:r>
            <a:r>
              <a:rPr lang="en-US" altLang="zh-CN" dirty="0">
                <a:latin typeface="+mj-lt"/>
              </a:rPr>
              <a:t>primitive orbit </a:t>
            </a:r>
            <a:r>
              <a:rPr lang="zh-CN" altLang="en-US" dirty="0">
                <a:latin typeface="+mj-lt"/>
              </a:rPr>
              <a:t>是否存在于空间群 </a:t>
            </a:r>
            <a:r>
              <a:rPr lang="en-US" altLang="zh-CN" dirty="0">
                <a:latin typeface="+mj-lt"/>
              </a:rPr>
              <a:t>GG</a:t>
            </a:r>
            <a:r>
              <a:rPr lang="zh-CN" altLang="en-US" dirty="0">
                <a:latin typeface="+mj-lt"/>
              </a:rPr>
              <a:t>； </a:t>
            </a:r>
          </a:p>
          <a:p>
            <a:pPr>
              <a:buFont typeface="Arial" panose="020B0604020202020204" pitchFamily="34" charset="0"/>
              <a:buChar char="•"/>
            </a:pPr>
            <a:r>
              <a:rPr lang="zh-CN" altLang="en-US" dirty="0">
                <a:latin typeface="+mj-lt"/>
              </a:rPr>
              <a:t> 是否能够重复占据； </a:t>
            </a:r>
          </a:p>
          <a:p>
            <a:pPr>
              <a:buFont typeface="Arial" panose="020B0604020202020204" pitchFamily="34" charset="0"/>
              <a:buChar char="•"/>
            </a:pPr>
            <a:r>
              <a:rPr lang="zh-CN" altLang="en-US" dirty="0">
                <a:latin typeface="+mj-lt"/>
              </a:rPr>
              <a:t> </a:t>
            </a:r>
            <a:r>
              <a:rPr lang="en-US" altLang="zh-CN" dirty="0">
                <a:latin typeface="+mj-lt"/>
              </a:rPr>
              <a:t>multiplicity </a:t>
            </a:r>
            <a:r>
              <a:rPr lang="zh-CN" altLang="en-US" dirty="0">
                <a:latin typeface="+mj-lt"/>
              </a:rPr>
              <a:t>是多少； </a:t>
            </a:r>
          </a:p>
          <a:p>
            <a:pPr>
              <a:buFont typeface="Arial" panose="020B0604020202020204" pitchFamily="34" charset="0"/>
              <a:buChar char="•"/>
            </a:pPr>
            <a:r>
              <a:rPr lang="zh-CN" altLang="en-US" dirty="0">
                <a:latin typeface="+mj-lt"/>
              </a:rPr>
              <a:t> 它有几个自由参数； </a:t>
            </a:r>
          </a:p>
          <a:p>
            <a:pPr>
              <a:buFont typeface="Arial" panose="020B0604020202020204" pitchFamily="34" charset="0"/>
              <a:buChar char="•"/>
            </a:pPr>
            <a:r>
              <a:rPr lang="zh-CN" altLang="en-US" dirty="0">
                <a:latin typeface="+mj-lt"/>
              </a:rPr>
              <a:t> 与给定 </a:t>
            </a:r>
            <a:r>
              <a:rPr lang="en-US" altLang="zh-CN" dirty="0">
                <a:latin typeface="+mj-lt"/>
              </a:rPr>
              <a:t>composition </a:t>
            </a:r>
            <a:r>
              <a:rPr lang="zh-CN" altLang="en-US" dirty="0">
                <a:latin typeface="+mj-lt"/>
              </a:rPr>
              <a:t>是否相容。</a:t>
            </a:r>
          </a:p>
        </p:txBody>
      </p:sp>
      <p:sp>
        <p:nvSpPr>
          <p:cNvPr id="8" name="文本框 7">
            <a:extLst>
              <a:ext uri="{FF2B5EF4-FFF2-40B4-BE49-F238E27FC236}">
                <a16:creationId xmlns:a16="http://schemas.microsoft.com/office/drawing/2014/main" id="{79CB4E37-073D-DB54-43A1-534449AC6AD4}"/>
              </a:ext>
            </a:extLst>
          </p:cNvPr>
          <p:cNvSpPr txBox="1"/>
          <p:nvPr/>
        </p:nvSpPr>
        <p:spPr>
          <a:xfrm>
            <a:off x="838200" y="6024742"/>
            <a:ext cx="6100762" cy="369332"/>
          </a:xfrm>
          <a:prstGeom prst="rect">
            <a:avLst/>
          </a:prstGeom>
          <a:noFill/>
        </p:spPr>
        <p:txBody>
          <a:bodyPr wrap="square">
            <a:spAutoFit/>
          </a:bodyPr>
          <a:lstStyle/>
          <a:p>
            <a:r>
              <a:rPr lang="en-US" altLang="zh-CN" dirty="0" err="1">
                <a:solidFill>
                  <a:srgbClr val="B60007"/>
                </a:solidFill>
                <a:latin typeface="+mj-lt"/>
              </a:rPr>
              <a:t>WyFormer</a:t>
            </a:r>
            <a:r>
              <a:rPr lang="en-US" altLang="zh-CN" dirty="0">
                <a:solidFill>
                  <a:srgbClr val="B60007"/>
                </a:solidFill>
                <a:latin typeface="+mj-lt"/>
              </a:rPr>
              <a:t> </a:t>
            </a:r>
            <a:r>
              <a:rPr lang="en-US" altLang="zh-CN" dirty="0" err="1">
                <a:solidFill>
                  <a:srgbClr val="B60007"/>
                </a:solidFill>
                <a:latin typeface="+mj-lt"/>
              </a:rPr>
              <a:t>representation+masked</a:t>
            </a:r>
            <a:r>
              <a:rPr lang="en-US" altLang="zh-CN" dirty="0">
                <a:solidFill>
                  <a:srgbClr val="B60007"/>
                </a:solidFill>
                <a:latin typeface="+mj-lt"/>
              </a:rPr>
              <a:t>/discrete diffusion</a:t>
            </a:r>
            <a:r>
              <a:rPr lang="zh-CN" altLang="en-US" dirty="0">
                <a:solidFill>
                  <a:srgbClr val="B60007"/>
                </a:solidFill>
                <a:latin typeface="+mj-lt"/>
              </a:rPr>
              <a:t>？</a:t>
            </a:r>
          </a:p>
        </p:txBody>
      </p:sp>
      <p:sp>
        <p:nvSpPr>
          <p:cNvPr id="10" name="文本框 9">
            <a:extLst>
              <a:ext uri="{FF2B5EF4-FFF2-40B4-BE49-F238E27FC236}">
                <a16:creationId xmlns:a16="http://schemas.microsoft.com/office/drawing/2014/main" id="{B3E63158-F163-5568-982C-66C9D772E22B}"/>
              </a:ext>
            </a:extLst>
          </p:cNvPr>
          <p:cNvSpPr txBox="1"/>
          <p:nvPr/>
        </p:nvSpPr>
        <p:spPr>
          <a:xfrm>
            <a:off x="6807994" y="6024742"/>
            <a:ext cx="4545806" cy="369332"/>
          </a:xfrm>
          <a:prstGeom prst="rect">
            <a:avLst/>
          </a:prstGeom>
          <a:noFill/>
        </p:spPr>
        <p:txBody>
          <a:bodyPr wrap="square">
            <a:spAutoFit/>
          </a:bodyPr>
          <a:lstStyle/>
          <a:p>
            <a:r>
              <a:rPr lang="zh-CN" altLang="en-US" dirty="0">
                <a:solidFill>
                  <a:srgbClr val="B60007"/>
                </a:solidFill>
              </a:rPr>
              <a:t>发明一种新的 </a:t>
            </a:r>
            <a:r>
              <a:rPr lang="en-US" altLang="zh-CN" dirty="0">
                <a:solidFill>
                  <a:srgbClr val="B60007"/>
                </a:solidFill>
              </a:rPr>
              <a:t>crystallographic tokenizer</a:t>
            </a:r>
            <a:r>
              <a:rPr lang="zh-CN" altLang="en-US" dirty="0">
                <a:solidFill>
                  <a:srgbClr val="B60007"/>
                </a:solidFill>
              </a:rPr>
              <a:t>？</a:t>
            </a:r>
          </a:p>
        </p:txBody>
      </p:sp>
    </p:spTree>
    <p:extLst>
      <p:ext uri="{BB962C8B-B14F-4D97-AF65-F5344CB8AC3E}">
        <p14:creationId xmlns:p14="http://schemas.microsoft.com/office/powerpoint/2010/main" val="1396562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408E3B-7241-F093-86DF-90BA272BB72F}"/>
              </a:ext>
            </a:extLst>
          </p:cNvPr>
          <p:cNvSpPr>
            <a:spLocks noGrp="1"/>
          </p:cNvSpPr>
          <p:nvPr>
            <p:ph type="title"/>
          </p:nvPr>
        </p:nvSpPr>
        <p:spPr/>
        <p:txBody>
          <a:bodyPr/>
          <a:lstStyle/>
          <a:p>
            <a:r>
              <a:rPr lang="en-US" altLang="zh-CN" dirty="0"/>
              <a:t>Matra-Genoa</a:t>
            </a:r>
            <a:endParaRPr kumimoji="1" lang="zh-CN" altLang="en-US" dirty="0"/>
          </a:p>
        </p:txBody>
      </p:sp>
      <p:sp>
        <p:nvSpPr>
          <p:cNvPr id="6" name="文本框 5">
            <a:extLst>
              <a:ext uri="{FF2B5EF4-FFF2-40B4-BE49-F238E27FC236}">
                <a16:creationId xmlns:a16="http://schemas.microsoft.com/office/drawing/2014/main" id="{7EBF4632-524F-CDAF-5CCB-B0029579045E}"/>
              </a:ext>
            </a:extLst>
          </p:cNvPr>
          <p:cNvSpPr txBox="1"/>
          <p:nvPr/>
        </p:nvSpPr>
        <p:spPr>
          <a:xfrm>
            <a:off x="4564856" y="658574"/>
            <a:ext cx="6100762" cy="738664"/>
          </a:xfrm>
          <a:prstGeom prst="rect">
            <a:avLst/>
          </a:prstGeom>
          <a:noFill/>
        </p:spPr>
        <p:txBody>
          <a:bodyPr wrap="square">
            <a:spAutoFit/>
          </a:bodyPr>
          <a:lstStyle/>
          <a:p>
            <a:pPr>
              <a:buNone/>
            </a:pPr>
            <a:r>
              <a:rPr lang="en-US" altLang="zh-CN" sz="1400" dirty="0">
                <a:effectLst/>
              </a:rPr>
              <a:t>De </a:t>
            </a:r>
            <a:r>
              <a:rPr lang="en-US" altLang="zh-CN" sz="1400" dirty="0" err="1">
                <a:effectLst/>
              </a:rPr>
              <a:t>Breuck</a:t>
            </a:r>
            <a:r>
              <a:rPr lang="en-US" altLang="zh-CN" sz="1400" dirty="0">
                <a:effectLst/>
              </a:rPr>
              <a:t>, P.-P., Piracha, H. A., </a:t>
            </a:r>
            <a:r>
              <a:rPr lang="en-US" altLang="zh-CN" sz="1400" dirty="0" err="1">
                <a:effectLst/>
              </a:rPr>
              <a:t>Rignanese</a:t>
            </a:r>
            <a:r>
              <a:rPr lang="en-US" altLang="zh-CN" sz="1400" dirty="0">
                <a:effectLst/>
              </a:rPr>
              <a:t>, G.-M. &amp; Marques, M. A. L. A generative material transformer using Wyckoff representation | </a:t>
            </a:r>
            <a:r>
              <a:rPr lang="en-US" altLang="zh-CN" sz="1400" dirty="0" err="1">
                <a:effectLst/>
              </a:rPr>
              <a:t>npj</a:t>
            </a:r>
            <a:r>
              <a:rPr lang="en-US" altLang="zh-CN" sz="1400" dirty="0">
                <a:effectLst/>
              </a:rPr>
              <a:t> Computational Materials. </a:t>
            </a:r>
            <a:r>
              <a:rPr lang="en-US" altLang="zh-CN" sz="1400" i="1" dirty="0" err="1">
                <a:effectLst/>
              </a:rPr>
              <a:t>npj</a:t>
            </a:r>
            <a:r>
              <a:rPr lang="en-US" altLang="zh-CN" sz="1400" i="1" dirty="0">
                <a:effectLst/>
              </a:rPr>
              <a:t> Computational Materials</a:t>
            </a:r>
            <a:r>
              <a:rPr lang="en-US" altLang="zh-CN" sz="1400" dirty="0">
                <a:effectLst/>
              </a:rPr>
              <a:t> </a:t>
            </a:r>
            <a:r>
              <a:rPr lang="en-US" altLang="zh-CN" sz="1400" b="1" dirty="0">
                <a:effectLst/>
              </a:rPr>
              <a:t>12</a:t>
            </a:r>
            <a:r>
              <a:rPr lang="en-US" altLang="zh-CN" sz="1400" dirty="0">
                <a:effectLst/>
              </a:rPr>
              <a:t>, 60 (2026).</a:t>
            </a:r>
          </a:p>
        </p:txBody>
      </p:sp>
      <p:pic>
        <p:nvPicPr>
          <p:cNvPr id="7" name="图片 6">
            <a:extLst>
              <a:ext uri="{FF2B5EF4-FFF2-40B4-BE49-F238E27FC236}">
                <a16:creationId xmlns:a16="http://schemas.microsoft.com/office/drawing/2014/main" id="{01D00EF7-084F-D5BD-FF84-39A9A9CC3044}"/>
              </a:ext>
            </a:extLst>
          </p:cNvPr>
          <p:cNvPicPr>
            <a:picLocks noChangeAspect="1"/>
          </p:cNvPicPr>
          <p:nvPr/>
        </p:nvPicPr>
        <p:blipFill>
          <a:blip r:embed="rId3"/>
          <a:stretch>
            <a:fillRect/>
          </a:stretch>
        </p:blipFill>
        <p:spPr>
          <a:xfrm>
            <a:off x="5356411" y="1770926"/>
            <a:ext cx="6548438" cy="3316147"/>
          </a:xfrm>
          <a:prstGeom prst="rect">
            <a:avLst/>
          </a:prstGeom>
        </p:spPr>
      </p:pic>
      <p:pic>
        <p:nvPicPr>
          <p:cNvPr id="8" name="图片 7">
            <a:extLst>
              <a:ext uri="{FF2B5EF4-FFF2-40B4-BE49-F238E27FC236}">
                <a16:creationId xmlns:a16="http://schemas.microsoft.com/office/drawing/2014/main" id="{B7CA826D-B8CA-9F1A-72A9-EB8105AB09E6}"/>
              </a:ext>
            </a:extLst>
          </p:cNvPr>
          <p:cNvPicPr>
            <a:picLocks noChangeAspect="1"/>
          </p:cNvPicPr>
          <p:nvPr/>
        </p:nvPicPr>
        <p:blipFill>
          <a:blip r:embed="rId4"/>
          <a:stretch>
            <a:fillRect/>
          </a:stretch>
        </p:blipFill>
        <p:spPr>
          <a:xfrm>
            <a:off x="287151" y="1770926"/>
            <a:ext cx="5274049" cy="3316148"/>
          </a:xfrm>
          <a:prstGeom prst="rect">
            <a:avLst/>
          </a:prstGeom>
        </p:spPr>
      </p:pic>
      <p:sp>
        <p:nvSpPr>
          <p:cNvPr id="9" name="矩形 8">
            <a:extLst>
              <a:ext uri="{FF2B5EF4-FFF2-40B4-BE49-F238E27FC236}">
                <a16:creationId xmlns:a16="http://schemas.microsoft.com/office/drawing/2014/main" id="{DB885C81-DA79-A069-BDC1-CC1333B79E36}"/>
              </a:ext>
            </a:extLst>
          </p:cNvPr>
          <p:cNvSpPr/>
          <p:nvPr/>
        </p:nvSpPr>
        <p:spPr>
          <a:xfrm>
            <a:off x="2814638" y="2971801"/>
            <a:ext cx="2746562" cy="1328738"/>
          </a:xfrm>
          <a:prstGeom prst="rect">
            <a:avLst/>
          </a:prstGeom>
          <a:noFill/>
          <a:ln w="28575">
            <a:solidFill>
              <a:srgbClr val="B600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E9303776-43D4-2FB4-F25C-B98E28036227}"/>
              </a:ext>
            </a:extLst>
          </p:cNvPr>
          <p:cNvSpPr txBox="1"/>
          <p:nvPr/>
        </p:nvSpPr>
        <p:spPr>
          <a:xfrm>
            <a:off x="287151" y="5288152"/>
            <a:ext cx="8501063" cy="1323439"/>
          </a:xfrm>
          <a:prstGeom prst="rect">
            <a:avLst/>
          </a:prstGeom>
          <a:noFill/>
        </p:spPr>
        <p:txBody>
          <a:bodyPr wrap="square">
            <a:spAutoFit/>
          </a:bodyPr>
          <a:lstStyle/>
          <a:p>
            <a:r>
              <a:rPr lang="en-US" altLang="zh-CN" sz="1600" b="0" i="0" dirty="0">
                <a:solidFill>
                  <a:srgbClr val="222222"/>
                </a:solidFill>
                <a:effectLst/>
                <a:latin typeface="-apple-system"/>
              </a:rPr>
              <a:t>The structure is first decomposed into composition, stability, structure and lattice. </a:t>
            </a:r>
            <a:r>
              <a:rPr lang="en-US" altLang="zh-CN" sz="1600" b="1" i="0" dirty="0">
                <a:solidFill>
                  <a:srgbClr val="222222"/>
                </a:solidFill>
                <a:effectLst/>
                <a:latin typeface="-apple-system"/>
              </a:rPr>
              <a:t>b</a:t>
            </a:r>
            <a:r>
              <a:rPr lang="en-US" altLang="zh-CN" sz="1600" b="0" i="0" dirty="0">
                <a:solidFill>
                  <a:srgbClr val="222222"/>
                </a:solidFill>
                <a:effectLst/>
                <a:latin typeface="-apple-system"/>
              </a:rPr>
              <a:t> The structure is then further decomposed into a set of Wyckoff positions, uniquely identified by a set of Wyckoff identifiers. Optional free parameters are also included to make the representation coordinate-aware. </a:t>
            </a:r>
            <a:r>
              <a:rPr lang="en-US" altLang="zh-CN" sz="1600" b="1" i="0" dirty="0">
                <a:solidFill>
                  <a:srgbClr val="222222"/>
                </a:solidFill>
                <a:effectLst/>
                <a:latin typeface="-apple-system"/>
              </a:rPr>
              <a:t>c</a:t>
            </a:r>
            <a:r>
              <a:rPr lang="en-US" altLang="zh-CN" sz="1600" b="0" i="0" dirty="0">
                <a:solidFill>
                  <a:srgbClr val="222222"/>
                </a:solidFill>
                <a:effectLst/>
                <a:latin typeface="-apple-system"/>
              </a:rPr>
              <a:t> All previous information is gathered into a </a:t>
            </a:r>
            <a:r>
              <a:rPr lang="en-US" altLang="zh-CN" sz="1600" b="0" i="0" dirty="0" err="1">
                <a:solidFill>
                  <a:srgbClr val="222222"/>
                </a:solidFill>
                <a:effectLst/>
                <a:latin typeface="-apple-system"/>
              </a:rPr>
              <a:t>tokenenized</a:t>
            </a:r>
            <a:r>
              <a:rPr lang="en-US" altLang="zh-CN" sz="1600" b="0" i="0" dirty="0">
                <a:solidFill>
                  <a:srgbClr val="222222"/>
                </a:solidFill>
                <a:effectLst/>
                <a:latin typeface="-apple-system"/>
              </a:rPr>
              <a:t> and invertible sequence. The color of the tokens represent the type or the Wyckoff position for ease of visualization.</a:t>
            </a:r>
            <a:endParaRPr lang="zh-CN" altLang="en-US" sz="1600" dirty="0"/>
          </a:p>
        </p:txBody>
      </p:sp>
    </p:spTree>
    <p:extLst>
      <p:ext uri="{BB962C8B-B14F-4D97-AF65-F5344CB8AC3E}">
        <p14:creationId xmlns:p14="http://schemas.microsoft.com/office/powerpoint/2010/main" val="4033880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F1BF70-BB49-F223-6A6D-477A518E10B0}"/>
              </a:ext>
            </a:extLst>
          </p:cNvPr>
          <p:cNvSpPr>
            <a:spLocks noGrp="1"/>
          </p:cNvSpPr>
          <p:nvPr>
            <p:ph type="title"/>
          </p:nvPr>
        </p:nvSpPr>
        <p:spPr/>
        <p:txBody>
          <a:bodyPr/>
          <a:lstStyle/>
          <a:p>
            <a:r>
              <a:rPr kumimoji="1" lang="en-US" altLang="zh-CN" dirty="0" err="1"/>
              <a:t>WyFormer</a:t>
            </a:r>
            <a:endParaRPr kumimoji="1" lang="zh-CN" altLang="en-US" dirty="0"/>
          </a:p>
        </p:txBody>
      </p:sp>
      <p:sp>
        <p:nvSpPr>
          <p:cNvPr id="4" name="灯片编号占位符 3">
            <a:extLst>
              <a:ext uri="{FF2B5EF4-FFF2-40B4-BE49-F238E27FC236}">
                <a16:creationId xmlns:a16="http://schemas.microsoft.com/office/drawing/2014/main" id="{0C7D6403-C6BE-6640-E2B8-1816573D34A4}"/>
              </a:ext>
            </a:extLst>
          </p:cNvPr>
          <p:cNvSpPr>
            <a:spLocks noGrp="1"/>
          </p:cNvSpPr>
          <p:nvPr>
            <p:ph type="sldNum" sz="quarter" idx="4"/>
          </p:nvPr>
        </p:nvSpPr>
        <p:spPr/>
        <p:txBody>
          <a:bodyPr/>
          <a:lstStyle/>
          <a:p>
            <a:fld id="{48D82B17-3AA5-DB4E-A79B-C818A6AD8FB8}" type="slidenum">
              <a:rPr lang="en-CN" smtClean="0"/>
              <a:pPr/>
              <a:t>5</a:t>
            </a:fld>
            <a:endParaRPr lang="en-CN" dirty="0"/>
          </a:p>
        </p:txBody>
      </p:sp>
      <p:pic>
        <p:nvPicPr>
          <p:cNvPr id="5" name="图片 4">
            <a:extLst>
              <a:ext uri="{FF2B5EF4-FFF2-40B4-BE49-F238E27FC236}">
                <a16:creationId xmlns:a16="http://schemas.microsoft.com/office/drawing/2014/main" id="{CA7C6CF9-A960-85AA-5020-7B29B2085A12}"/>
              </a:ext>
            </a:extLst>
          </p:cNvPr>
          <p:cNvPicPr>
            <a:picLocks noChangeAspect="1"/>
          </p:cNvPicPr>
          <p:nvPr/>
        </p:nvPicPr>
        <p:blipFill>
          <a:blip r:embed="rId3"/>
          <a:stretch/>
        </p:blipFill>
        <p:spPr>
          <a:xfrm>
            <a:off x="685800" y="1690688"/>
            <a:ext cx="10820400" cy="1591235"/>
          </a:xfrm>
          <a:prstGeom prst="rect">
            <a:avLst/>
          </a:prstGeom>
        </p:spPr>
      </p:pic>
      <p:sp>
        <p:nvSpPr>
          <p:cNvPr id="9" name="矩形 8">
            <a:extLst>
              <a:ext uri="{FF2B5EF4-FFF2-40B4-BE49-F238E27FC236}">
                <a16:creationId xmlns:a16="http://schemas.microsoft.com/office/drawing/2014/main" id="{0FACEB02-297B-F17C-A49B-B3C1403EECBF}"/>
              </a:ext>
            </a:extLst>
          </p:cNvPr>
          <p:cNvSpPr>
            <a:spLocks noGrp="1"/>
          </p:cNvSpPr>
          <p:nvPr/>
        </p:nvSpPr>
        <p:spPr>
          <a:xfrm>
            <a:off x="2554030" y="3236330"/>
            <a:ext cx="5484185" cy="266700"/>
          </a:xfrm>
          <a:prstGeom prst="rect">
            <a:avLst/>
          </a:prstGeom>
          <a:noFill/>
          <a:ln w="0">
            <a:noFill/>
            <a:prstDash val="solid"/>
          </a:ln>
        </p:spPr>
        <p:txBody>
          <a:bodyPr/>
          <a:lstStyle/>
          <a:p>
            <a:pPr algn="l">
              <a:buNone/>
              <a:defRPr sz="1050" b="0">
                <a:solidFill>
                  <a:srgbClr val="263732"/>
                </a:solidFill>
              </a:defRPr>
            </a:pPr>
            <a:r>
              <a:rPr sz="1400" b="0" dirty="0" err="1">
                <a:solidFill>
                  <a:srgbClr val="263732"/>
                </a:solidFill>
              </a:rPr>
              <a:t>每个</a:t>
            </a:r>
            <a:r>
              <a:rPr sz="1400" b="0" dirty="0">
                <a:solidFill>
                  <a:srgbClr val="263732"/>
                </a:solidFill>
              </a:rPr>
              <a:t> orbit token = element + site symmetry + enumeration</a:t>
            </a:r>
          </a:p>
        </p:txBody>
      </p:sp>
      <p:sp>
        <p:nvSpPr>
          <p:cNvPr id="11" name="矩形 10">
            <a:extLst>
              <a:ext uri="{FF2B5EF4-FFF2-40B4-BE49-F238E27FC236}">
                <a16:creationId xmlns:a16="http://schemas.microsoft.com/office/drawing/2014/main" id="{452BC616-377C-5C52-80F2-E99C359118D1}"/>
              </a:ext>
            </a:extLst>
          </p:cNvPr>
          <p:cNvSpPr>
            <a:spLocks noGrp="1"/>
          </p:cNvSpPr>
          <p:nvPr/>
        </p:nvSpPr>
        <p:spPr>
          <a:xfrm>
            <a:off x="2554030" y="3512555"/>
            <a:ext cx="5484185" cy="266700"/>
          </a:xfrm>
          <a:prstGeom prst="rect">
            <a:avLst/>
          </a:prstGeom>
          <a:noFill/>
          <a:ln w="0">
            <a:noFill/>
            <a:prstDash val="solid"/>
          </a:ln>
        </p:spPr>
        <p:txBody>
          <a:bodyPr/>
          <a:lstStyle/>
          <a:p>
            <a:pPr algn="l">
              <a:buNone/>
              <a:defRPr sz="1275" b="0">
                <a:solidFill>
                  <a:srgbClr val="263732"/>
                </a:solidFill>
              </a:defRPr>
            </a:pPr>
            <a:r>
              <a:rPr sz="1400" b="0" dirty="0" err="1">
                <a:solidFill>
                  <a:srgbClr val="263732"/>
                </a:solidFill>
              </a:rPr>
              <a:t>不使用位置编码，编码器对输入置换不变</a:t>
            </a:r>
            <a:endParaRPr sz="1400" b="0" dirty="0">
              <a:solidFill>
                <a:srgbClr val="263732"/>
              </a:solidFill>
            </a:endParaRPr>
          </a:p>
        </p:txBody>
      </p:sp>
      <p:sp>
        <p:nvSpPr>
          <p:cNvPr id="13" name="矩形 12">
            <a:extLst>
              <a:ext uri="{FF2B5EF4-FFF2-40B4-BE49-F238E27FC236}">
                <a16:creationId xmlns:a16="http://schemas.microsoft.com/office/drawing/2014/main" id="{D9F44FCB-55C0-0855-6DFE-F99F583EBE9A}"/>
              </a:ext>
            </a:extLst>
          </p:cNvPr>
          <p:cNvSpPr>
            <a:spLocks noGrp="1"/>
          </p:cNvSpPr>
          <p:nvPr/>
        </p:nvSpPr>
        <p:spPr>
          <a:xfrm>
            <a:off x="2554031" y="3788780"/>
            <a:ext cx="5728734" cy="266700"/>
          </a:xfrm>
          <a:prstGeom prst="rect">
            <a:avLst/>
          </a:prstGeom>
          <a:noFill/>
          <a:ln w="0">
            <a:noFill/>
            <a:prstDash val="solid"/>
          </a:ln>
        </p:spPr>
        <p:txBody>
          <a:bodyPr/>
          <a:lstStyle/>
          <a:p>
            <a:pPr algn="l">
              <a:buNone/>
              <a:defRPr sz="1125" b="0">
                <a:solidFill>
                  <a:srgbClr val="263732"/>
                </a:solidFill>
              </a:defRPr>
            </a:pPr>
            <a:r>
              <a:rPr sz="1400" b="0" dirty="0" err="1">
                <a:solidFill>
                  <a:srgbClr val="263732"/>
                </a:solidFill>
              </a:rPr>
              <a:t>生成仍按</a:t>
            </a:r>
            <a:r>
              <a:rPr sz="1400" b="0" dirty="0">
                <a:solidFill>
                  <a:srgbClr val="263732"/>
                </a:solidFill>
              </a:rPr>
              <a:t> element → symmetry → enumeration</a:t>
            </a:r>
          </a:p>
        </p:txBody>
      </p:sp>
      <p:sp>
        <p:nvSpPr>
          <p:cNvPr id="18" name="文本框 17">
            <a:extLst>
              <a:ext uri="{FF2B5EF4-FFF2-40B4-BE49-F238E27FC236}">
                <a16:creationId xmlns:a16="http://schemas.microsoft.com/office/drawing/2014/main" id="{E305DFF7-C9C9-B754-55D3-751F3B9B3567}"/>
              </a:ext>
            </a:extLst>
          </p:cNvPr>
          <p:cNvSpPr txBox="1"/>
          <p:nvPr/>
        </p:nvSpPr>
        <p:spPr>
          <a:xfrm>
            <a:off x="5634539" y="4982646"/>
            <a:ext cx="4490538" cy="369332"/>
          </a:xfrm>
          <a:prstGeom prst="rect">
            <a:avLst/>
          </a:prstGeom>
          <a:noFill/>
        </p:spPr>
        <p:txBody>
          <a:bodyPr wrap="square">
            <a:spAutoFit/>
          </a:bodyPr>
          <a:lstStyle/>
          <a:p>
            <a:r>
              <a:rPr lang="zh-CN" altLang="en-US" b="1" dirty="0">
                <a:solidFill>
                  <a:srgbClr val="B60007"/>
                </a:solidFill>
              </a:rPr>
              <a:t>平均每个晶体约 3 个 Wyckoff positions</a:t>
            </a:r>
          </a:p>
        </p:txBody>
      </p:sp>
      <p:sp>
        <p:nvSpPr>
          <p:cNvPr id="20" name="文本框 19">
            <a:extLst>
              <a:ext uri="{FF2B5EF4-FFF2-40B4-BE49-F238E27FC236}">
                <a16:creationId xmlns:a16="http://schemas.microsoft.com/office/drawing/2014/main" id="{7C61B509-18D5-710F-69CD-EFC41C2A2433}"/>
              </a:ext>
            </a:extLst>
          </p:cNvPr>
          <p:cNvSpPr txBox="1"/>
          <p:nvPr/>
        </p:nvSpPr>
        <p:spPr>
          <a:xfrm>
            <a:off x="2029603" y="6259810"/>
            <a:ext cx="6008612" cy="461665"/>
          </a:xfrm>
          <a:prstGeom prst="rect">
            <a:avLst/>
          </a:prstGeom>
          <a:noFill/>
        </p:spPr>
        <p:txBody>
          <a:bodyPr wrap="square">
            <a:spAutoFit/>
          </a:bodyPr>
          <a:lstStyle/>
          <a:p>
            <a:pPr>
              <a:buNone/>
            </a:pPr>
            <a:r>
              <a:rPr lang="en-US" altLang="zh-CN" sz="1200" dirty="0" err="1">
                <a:effectLst/>
              </a:rPr>
              <a:t>Kazeev</a:t>
            </a:r>
            <a:r>
              <a:rPr lang="en-US" altLang="zh-CN" sz="1200" dirty="0">
                <a:effectLst/>
              </a:rPr>
              <a:t>, N. </a:t>
            </a:r>
            <a:r>
              <a:rPr lang="en-US" altLang="zh-CN" sz="1200" i="1" dirty="0">
                <a:effectLst/>
              </a:rPr>
              <a:t>et al.</a:t>
            </a:r>
            <a:r>
              <a:rPr lang="en-US" altLang="zh-CN" sz="1200" dirty="0">
                <a:effectLst/>
              </a:rPr>
              <a:t> Wyckoff Transformer: Generation of Symmetric Crystals. Preprint at </a:t>
            </a:r>
            <a:r>
              <a:rPr lang="en-US" altLang="zh-CN" sz="1200" dirty="0">
                <a:effectLst/>
                <a:hlinkClick r:id="rId4"/>
              </a:rPr>
              <a:t>https://doi.org/10.48550/arXiv.2503.02407</a:t>
            </a:r>
            <a:r>
              <a:rPr lang="en-US" altLang="zh-CN" sz="1200" dirty="0">
                <a:effectLst/>
              </a:rPr>
              <a:t> (2025).</a:t>
            </a:r>
          </a:p>
        </p:txBody>
      </p:sp>
      <p:pic>
        <p:nvPicPr>
          <p:cNvPr id="21" name="图片 20">
            <a:extLst>
              <a:ext uri="{FF2B5EF4-FFF2-40B4-BE49-F238E27FC236}">
                <a16:creationId xmlns:a16="http://schemas.microsoft.com/office/drawing/2014/main" id="{9F75A331-07EF-95B3-AD31-4108D20BA4D9}"/>
              </a:ext>
            </a:extLst>
          </p:cNvPr>
          <p:cNvPicPr>
            <a:picLocks noChangeAspect="1"/>
          </p:cNvPicPr>
          <p:nvPr/>
        </p:nvPicPr>
        <p:blipFill>
          <a:blip r:embed="rId5"/>
          <a:stretch>
            <a:fillRect/>
          </a:stretch>
        </p:blipFill>
        <p:spPr>
          <a:xfrm>
            <a:off x="655898" y="4210983"/>
            <a:ext cx="4762500" cy="2006600"/>
          </a:xfrm>
          <a:prstGeom prst="rect">
            <a:avLst/>
          </a:prstGeom>
        </p:spPr>
      </p:pic>
    </p:spTree>
    <p:extLst>
      <p:ext uri="{BB962C8B-B14F-4D97-AF65-F5344CB8AC3E}">
        <p14:creationId xmlns:p14="http://schemas.microsoft.com/office/powerpoint/2010/main" val="2707687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FD9527-D951-2609-0875-1BA031950687}"/>
              </a:ext>
            </a:extLst>
          </p:cNvPr>
          <p:cNvSpPr>
            <a:spLocks noGrp="1"/>
          </p:cNvSpPr>
          <p:nvPr>
            <p:ph type="title"/>
          </p:nvPr>
        </p:nvSpPr>
        <p:spPr/>
        <p:txBody>
          <a:bodyPr/>
          <a:lstStyle/>
          <a:p>
            <a:r>
              <a:rPr kumimoji="1" lang="en-US" altLang="zh-CN" dirty="0" err="1"/>
              <a:t>MaskGXT</a:t>
            </a:r>
            <a:endParaRPr kumimoji="1" lang="zh-CN" altLang="en-US" dirty="0"/>
          </a:p>
        </p:txBody>
      </p:sp>
      <p:sp>
        <p:nvSpPr>
          <p:cNvPr id="4" name="灯片编号占位符 3">
            <a:extLst>
              <a:ext uri="{FF2B5EF4-FFF2-40B4-BE49-F238E27FC236}">
                <a16:creationId xmlns:a16="http://schemas.microsoft.com/office/drawing/2014/main" id="{8B459779-FE5E-0C78-314B-9A677F7547E8}"/>
              </a:ext>
            </a:extLst>
          </p:cNvPr>
          <p:cNvSpPr>
            <a:spLocks noGrp="1"/>
          </p:cNvSpPr>
          <p:nvPr>
            <p:ph type="sldNum" sz="quarter" idx="4"/>
          </p:nvPr>
        </p:nvSpPr>
        <p:spPr/>
        <p:txBody>
          <a:bodyPr/>
          <a:lstStyle/>
          <a:p>
            <a:fld id="{48D82B17-3AA5-DB4E-A79B-C818A6AD8FB8}" type="slidenum">
              <a:rPr lang="en-CN" smtClean="0"/>
              <a:pPr/>
              <a:t>6</a:t>
            </a:fld>
            <a:endParaRPr lang="en-CN" dirty="0"/>
          </a:p>
        </p:txBody>
      </p:sp>
      <p:sp>
        <p:nvSpPr>
          <p:cNvPr id="8" name="文本框 7">
            <a:extLst>
              <a:ext uri="{FF2B5EF4-FFF2-40B4-BE49-F238E27FC236}">
                <a16:creationId xmlns:a16="http://schemas.microsoft.com/office/drawing/2014/main" id="{C2AF689F-8410-5770-4168-1818EB87E91A}"/>
              </a:ext>
            </a:extLst>
          </p:cNvPr>
          <p:cNvSpPr txBox="1"/>
          <p:nvPr/>
        </p:nvSpPr>
        <p:spPr>
          <a:xfrm>
            <a:off x="3536155" y="766296"/>
            <a:ext cx="6922295" cy="523220"/>
          </a:xfrm>
          <a:prstGeom prst="rect">
            <a:avLst/>
          </a:prstGeom>
          <a:noFill/>
        </p:spPr>
        <p:txBody>
          <a:bodyPr wrap="square">
            <a:spAutoFit/>
          </a:bodyPr>
          <a:lstStyle/>
          <a:p>
            <a:pPr>
              <a:buNone/>
            </a:pPr>
            <a:r>
              <a:rPr lang="en-US" altLang="zh-CN" sz="1400" dirty="0">
                <a:effectLst/>
              </a:rPr>
              <a:t>Seong, K., Kim, N. &amp; Ahn, S. Discovering Crystal Structure Prediction Algorithms with an AI Co-Scientist. Preprint at </a:t>
            </a:r>
            <a:r>
              <a:rPr lang="en-US" altLang="zh-CN" sz="1400" dirty="0">
                <a:effectLst/>
                <a:hlinkClick r:id="rId3"/>
              </a:rPr>
              <a:t>https://doi.org/10.48550/arXiv.2606.22866</a:t>
            </a:r>
            <a:r>
              <a:rPr lang="en-US" altLang="zh-CN" sz="1400" dirty="0">
                <a:effectLst/>
              </a:rPr>
              <a:t> (2026).</a:t>
            </a:r>
          </a:p>
        </p:txBody>
      </p:sp>
      <p:pic>
        <p:nvPicPr>
          <p:cNvPr id="9" name="图片 8">
            <a:extLst>
              <a:ext uri="{FF2B5EF4-FFF2-40B4-BE49-F238E27FC236}">
                <a16:creationId xmlns:a16="http://schemas.microsoft.com/office/drawing/2014/main" id="{1D34B139-B541-78FD-25C4-165E98245243}"/>
              </a:ext>
            </a:extLst>
          </p:cNvPr>
          <p:cNvPicPr>
            <a:picLocks noChangeAspect="1"/>
          </p:cNvPicPr>
          <p:nvPr/>
        </p:nvPicPr>
        <p:blipFill>
          <a:blip r:embed="rId4"/>
          <a:stretch>
            <a:fillRect/>
          </a:stretch>
        </p:blipFill>
        <p:spPr>
          <a:xfrm>
            <a:off x="381001" y="1448023"/>
            <a:ext cx="6400800" cy="5150992"/>
          </a:xfrm>
          <a:prstGeom prst="rect">
            <a:avLst/>
          </a:prstGeom>
        </p:spPr>
      </p:pic>
      <p:sp>
        <p:nvSpPr>
          <p:cNvPr id="11" name="文本框 10">
            <a:extLst>
              <a:ext uri="{FF2B5EF4-FFF2-40B4-BE49-F238E27FC236}">
                <a16:creationId xmlns:a16="http://schemas.microsoft.com/office/drawing/2014/main" id="{5BCBFF48-7D2E-4705-C38E-8056052961D5}"/>
              </a:ext>
            </a:extLst>
          </p:cNvPr>
          <p:cNvSpPr txBox="1"/>
          <p:nvPr/>
        </p:nvSpPr>
        <p:spPr>
          <a:xfrm>
            <a:off x="6596063" y="1849195"/>
            <a:ext cx="5595937" cy="1477328"/>
          </a:xfrm>
          <a:prstGeom prst="rect">
            <a:avLst/>
          </a:prstGeom>
          <a:noFill/>
        </p:spPr>
        <p:txBody>
          <a:bodyPr wrap="square">
            <a:spAutoFit/>
          </a:bodyPr>
          <a:lstStyle/>
          <a:p>
            <a:pPr marL="285750" indent="-285750">
              <a:buFont typeface="Arial" panose="020B0604020202020204" pitchFamily="34" charset="0"/>
              <a:buChar char="•"/>
            </a:pPr>
            <a:r>
              <a:rPr lang="en-US" altLang="zh-CN" dirty="0"/>
              <a:t>1 space-group token </a:t>
            </a:r>
          </a:p>
          <a:p>
            <a:pPr marL="285750" indent="-285750">
              <a:buFont typeface="Arial" panose="020B0604020202020204" pitchFamily="34" charset="0"/>
              <a:buChar char="•"/>
            </a:pPr>
            <a:r>
              <a:rPr lang="en-US" altLang="zh-CN" dirty="0"/>
              <a:t>6 lattice tokens </a:t>
            </a:r>
          </a:p>
          <a:p>
            <a:pPr marL="285750" indent="-285750">
              <a:buFont typeface="Arial" panose="020B0604020202020204" pitchFamily="34" charset="0"/>
              <a:buChar char="•"/>
            </a:pPr>
            <a:r>
              <a:rPr lang="en-US" altLang="zh-CN" dirty="0"/>
              <a:t>3 coordinate tokens per site </a:t>
            </a:r>
          </a:p>
          <a:p>
            <a:pPr marL="285750" indent="-285750">
              <a:buFont typeface="Arial" panose="020B0604020202020204" pitchFamily="34" charset="0"/>
              <a:buChar char="•"/>
            </a:pPr>
            <a:r>
              <a:rPr lang="en-US" altLang="zh-CN" dirty="0"/>
              <a:t>1 Wyckoff token per site </a:t>
            </a:r>
          </a:p>
          <a:p>
            <a:pPr marL="285750" indent="-285750">
              <a:buFont typeface="Arial" panose="020B0604020202020204" pitchFamily="34" charset="0"/>
              <a:buChar char="•"/>
            </a:pPr>
            <a:r>
              <a:rPr lang="en-US" altLang="zh-CN" dirty="0"/>
              <a:t>Atom-type tokens as composition conditions</a:t>
            </a:r>
            <a:endParaRPr lang="zh-CN" altLang="en-US" dirty="0"/>
          </a:p>
        </p:txBody>
      </p:sp>
      <p:sp>
        <p:nvSpPr>
          <p:cNvPr id="13" name="文本框 12">
            <a:extLst>
              <a:ext uri="{FF2B5EF4-FFF2-40B4-BE49-F238E27FC236}">
                <a16:creationId xmlns:a16="http://schemas.microsoft.com/office/drawing/2014/main" id="{FC63AC58-56AE-B1B9-B9A8-DDDC117388D3}"/>
              </a:ext>
            </a:extLst>
          </p:cNvPr>
          <p:cNvSpPr txBox="1"/>
          <p:nvPr/>
        </p:nvSpPr>
        <p:spPr>
          <a:xfrm>
            <a:off x="6883191" y="3763090"/>
            <a:ext cx="4744641" cy="646331"/>
          </a:xfrm>
          <a:prstGeom prst="rect">
            <a:avLst/>
          </a:prstGeom>
          <a:noFill/>
        </p:spPr>
        <p:txBody>
          <a:bodyPr wrap="square">
            <a:spAutoFit/>
          </a:bodyPr>
          <a:lstStyle/>
          <a:p>
            <a:r>
              <a:rPr lang="en-US" altLang="zh-CN" dirty="0"/>
              <a:t>random masking</a:t>
            </a:r>
            <a:r>
              <a:rPr lang="zh-CN" altLang="en-US" dirty="0"/>
              <a:t> </a:t>
            </a:r>
            <a:r>
              <a:rPr lang="en-US" altLang="zh-CN" dirty="0"/>
              <a:t>→</a:t>
            </a:r>
            <a:r>
              <a:rPr lang="zh-CN" altLang="en-US" dirty="0"/>
              <a:t> </a:t>
            </a:r>
            <a:r>
              <a:rPr lang="en-US" altLang="zh-CN" dirty="0"/>
              <a:t>bidirectional Transformer</a:t>
            </a:r>
            <a:r>
              <a:rPr lang="zh-CN" altLang="en-US" dirty="0"/>
              <a:t> </a:t>
            </a:r>
            <a:r>
              <a:rPr lang="en-US" altLang="zh-CN" dirty="0"/>
              <a:t>→</a:t>
            </a:r>
            <a:r>
              <a:rPr lang="zh-CN" altLang="en-US" dirty="0"/>
              <a:t> </a:t>
            </a:r>
            <a:r>
              <a:rPr lang="en-US" altLang="zh-CN" dirty="0"/>
              <a:t>masked reconstruction</a:t>
            </a:r>
            <a:endParaRPr lang="zh-CN" altLang="en-US" dirty="0"/>
          </a:p>
        </p:txBody>
      </p:sp>
      <p:sp>
        <p:nvSpPr>
          <p:cNvPr id="15" name="文本框 14">
            <a:extLst>
              <a:ext uri="{FF2B5EF4-FFF2-40B4-BE49-F238E27FC236}">
                <a16:creationId xmlns:a16="http://schemas.microsoft.com/office/drawing/2014/main" id="{E6174E55-831B-33CE-A95D-3F32463D1612}"/>
              </a:ext>
            </a:extLst>
          </p:cNvPr>
          <p:cNvSpPr txBox="1"/>
          <p:nvPr/>
        </p:nvSpPr>
        <p:spPr>
          <a:xfrm>
            <a:off x="6883191" y="5273452"/>
            <a:ext cx="3207544" cy="369332"/>
          </a:xfrm>
          <a:prstGeom prst="rect">
            <a:avLst/>
          </a:prstGeom>
          <a:noFill/>
        </p:spPr>
        <p:txBody>
          <a:bodyPr wrap="square">
            <a:spAutoFit/>
          </a:bodyPr>
          <a:lstStyle/>
          <a:p>
            <a:r>
              <a:rPr lang="en-US" altLang="zh-CN" dirty="0"/>
              <a:t>Parallel iterative sampling</a:t>
            </a:r>
            <a:endParaRPr lang="zh-CN" altLang="en-US" dirty="0"/>
          </a:p>
        </p:txBody>
      </p:sp>
    </p:spTree>
    <p:extLst>
      <p:ext uri="{BB962C8B-B14F-4D97-AF65-F5344CB8AC3E}">
        <p14:creationId xmlns:p14="http://schemas.microsoft.com/office/powerpoint/2010/main" val="1113482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9A608A-77D1-1542-8EBD-3E03BE17CB95}"/>
              </a:ext>
            </a:extLst>
          </p:cNvPr>
          <p:cNvSpPr>
            <a:spLocks noGrp="1"/>
          </p:cNvSpPr>
          <p:nvPr>
            <p:ph type="title"/>
          </p:nvPr>
        </p:nvSpPr>
        <p:spPr/>
        <p:txBody>
          <a:bodyPr/>
          <a:lstStyle/>
          <a:p>
            <a:r>
              <a:rPr kumimoji="1" lang="en-US" altLang="zh-CN" dirty="0" err="1"/>
              <a:t>DynaCrys</a:t>
            </a:r>
            <a:endParaRPr kumimoji="1" lang="zh-CN" altLang="en-US" dirty="0"/>
          </a:p>
        </p:txBody>
      </p:sp>
      <p:sp>
        <p:nvSpPr>
          <p:cNvPr id="4" name="灯片编号占位符 3">
            <a:extLst>
              <a:ext uri="{FF2B5EF4-FFF2-40B4-BE49-F238E27FC236}">
                <a16:creationId xmlns:a16="http://schemas.microsoft.com/office/drawing/2014/main" id="{A46AC711-4796-7EEE-A0CD-149AB04B5E0B}"/>
              </a:ext>
            </a:extLst>
          </p:cNvPr>
          <p:cNvSpPr>
            <a:spLocks noGrp="1"/>
          </p:cNvSpPr>
          <p:nvPr>
            <p:ph type="sldNum" sz="quarter" idx="4"/>
          </p:nvPr>
        </p:nvSpPr>
        <p:spPr/>
        <p:txBody>
          <a:bodyPr/>
          <a:lstStyle/>
          <a:p>
            <a:fld id="{48D82B17-3AA5-DB4E-A79B-C818A6AD8FB8}" type="slidenum">
              <a:rPr lang="en-CN" smtClean="0"/>
              <a:pPr/>
              <a:t>7</a:t>
            </a:fld>
            <a:endParaRPr lang="en-CN" dirty="0"/>
          </a:p>
        </p:txBody>
      </p:sp>
      <p:pic>
        <p:nvPicPr>
          <p:cNvPr id="5" name="图片 4">
            <a:extLst>
              <a:ext uri="{FF2B5EF4-FFF2-40B4-BE49-F238E27FC236}">
                <a16:creationId xmlns:a16="http://schemas.microsoft.com/office/drawing/2014/main" id="{A301FAD8-CAAC-AC64-D72D-696486CD7596}"/>
              </a:ext>
            </a:extLst>
          </p:cNvPr>
          <p:cNvPicPr>
            <a:picLocks noChangeAspect="1"/>
          </p:cNvPicPr>
          <p:nvPr/>
        </p:nvPicPr>
        <p:blipFill>
          <a:blip r:embed="rId3"/>
          <a:stretch/>
        </p:blipFill>
        <p:spPr>
          <a:xfrm>
            <a:off x="1926265" y="1315386"/>
            <a:ext cx="8536172" cy="1709626"/>
          </a:xfrm>
          <a:prstGeom prst="rect">
            <a:avLst/>
          </a:prstGeom>
        </p:spPr>
      </p:pic>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1FB3118-5FD8-BA12-4214-13AD01849CD4}"/>
                  </a:ext>
                </a:extLst>
              </p:cNvPr>
              <p:cNvSpPr txBox="1"/>
              <p:nvPr/>
            </p:nvSpPr>
            <p:spPr>
              <a:xfrm>
                <a:off x="295938" y="2983861"/>
                <a:ext cx="6097772" cy="2343975"/>
              </a:xfrm>
              <a:prstGeom prst="rect">
                <a:avLst/>
              </a:prstGeom>
              <a:noFill/>
            </p:spPr>
            <p:txBody>
              <a:bodyPr wrap="square">
                <a:spAutoFit/>
              </a:bodyPr>
              <a:lstStyle/>
              <a:p>
                <a:pPr>
                  <a:buNone/>
                </a:pPr>
                <a:r>
                  <a:rPr lang="en-US" altLang="zh-CN" b="1" dirty="0"/>
                  <a:t>① Representation</a:t>
                </a:r>
              </a:p>
              <a:p>
                <a:endParaRPr lang="en-US" altLang="zh-CN" dirty="0"/>
              </a:p>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𝑃</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𝐺</m:t>
                          </m:r>
                          <m:r>
                            <a:rPr lang="en-US" altLang="zh-CN" i="1" dirty="0">
                              <a:latin typeface="Cambria Math" panose="02040503050406030204" pitchFamily="18" charset="0"/>
                            </a:rPr>
                            <m:t>,</m:t>
                          </m:r>
                          <m:r>
                            <a:rPr lang="en-US" altLang="zh-CN" i="1" dirty="0">
                              <a:latin typeface="Cambria Math" panose="02040503050406030204" pitchFamily="18" charset="0"/>
                            </a:rPr>
                            <m:t>𝐾</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err="1">
                                  <a:latin typeface="Cambria Math" panose="02040503050406030204" pitchFamily="18" charset="0"/>
                                </a:rPr>
                                <m:t>𝑟𝑖</m:t>
                              </m:r>
                              <m:r>
                                <a:rPr lang="en-US" altLang="zh-CN" i="1" dirty="0" err="1">
                                  <a:latin typeface="Cambria Math" panose="02040503050406030204" pitchFamily="18" charset="0"/>
                                </a:rPr>
                                <m:t>,</m:t>
                              </m:r>
                              <m:r>
                                <a:rPr lang="en-US" altLang="zh-CN" i="1" dirty="0" err="1">
                                  <a:latin typeface="Cambria Math" panose="02040503050406030204" pitchFamily="18" charset="0"/>
                                </a:rPr>
                                <m:t>𝑍𝑖</m:t>
                              </m:r>
                            </m:e>
                          </m:d>
                          <m:r>
                            <a:rPr lang="en-US" altLang="zh-CN" i="1" dirty="0" err="1">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𝐾</m:t>
                          </m:r>
                        </m:e>
                      </m:d>
                      <m:r>
                        <a:rPr lang="en-US" altLang="zh-CN" i="1" dirty="0">
                          <a:latin typeface="Cambria Math" panose="02040503050406030204" pitchFamily="18" charset="0"/>
                        </a:rPr>
                        <m:t>𝑃</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𝐺</m:t>
                          </m:r>
                          <m:r>
                            <a:rPr lang="en-US" altLang="zh-CN" i="1" dirty="0">
                              <a:latin typeface="Cambria Math" panose="02040503050406030204" pitchFamily="18" charset="0"/>
                            </a:rPr>
                            <m:t>,</m:t>
                          </m:r>
                          <m:r>
                            <a:rPr lang="en-US" altLang="zh-CN" i="1" dirty="0">
                              <a:latin typeface="Cambria Math" panose="02040503050406030204" pitchFamily="18" charset="0"/>
                            </a:rPr>
                            <m:t>𝐾</m:t>
                          </m:r>
                          <m:r>
                            <a:rPr lang="en-US" altLang="zh-CN" i="1" dirty="0">
                              <a:latin typeface="Cambria Math" panose="02040503050406030204" pitchFamily="18" charset="0"/>
                            </a:rPr>
                            <m:t>,</m:t>
                          </m:r>
                          <m:r>
                            <m:rPr>
                              <m:lit/>
                            </m:rP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𝑖</m:t>
                                  </m:r>
                                </m:sub>
                              </m:sSub>
                              <m:r>
                                <a:rPr lang="en-US" altLang="zh-CN" i="1" dirty="0" err="1">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𝑍</m:t>
                                  </m:r>
                                </m:e>
                                <m:sub>
                                  <m:r>
                                    <a:rPr lang="en-US" altLang="zh-CN" i="1" dirty="0" err="1">
                                      <a:latin typeface="Cambria Math" panose="02040503050406030204" pitchFamily="18" charset="0"/>
                                    </a:rPr>
                                    <m:t>𝑖</m:t>
                                  </m:r>
                                </m:sub>
                              </m:sSub>
                            </m:e>
                          </m:d>
                          <m:sSubSup>
                            <m:sSubSupPr>
                              <m:ctrlPr>
                                <a:rPr lang="en-US" altLang="zh-CN" i="1" dirty="0">
                                  <a:latin typeface="Cambria Math" panose="02040503050406030204" pitchFamily="18" charset="0"/>
                                </a:rPr>
                              </m:ctrlPr>
                            </m:sSubSupPr>
                            <m:e>
                              <m:r>
                                <m:rPr>
                                  <m:lit/>
                                </m:rPr>
                                <a:rPr lang="en-US" altLang="zh-CN" i="1" dirty="0">
                                  <a:latin typeface="Cambria Math" panose="02040503050406030204" pitchFamily="18" charset="0"/>
                                </a:rPr>
                                <m:t>}</m:t>
                              </m:r>
                            </m:e>
                            <m:sub>
                              <m:r>
                                <a:rPr lang="en-US" altLang="zh-CN" i="1" dirty="0" err="1">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𝐾</m:t>
                              </m:r>
                            </m:sup>
                          </m:sSubSup>
                        </m:e>
                      </m:d>
                    </m:oMath>
                  </m:oMathPara>
                </a14:m>
                <a:endParaRPr lang="en-US" altLang="zh-CN" dirty="0"/>
              </a:p>
              <a:p>
                <a:endParaRPr lang="en-US" altLang="zh-CN" dirty="0"/>
              </a:p>
              <a:p>
                <a:pPr marL="285750" indent="-285750">
                  <a:buFont typeface="Arial" panose="020B0604020202020204" pitchFamily="34" charset="0"/>
                  <a:buChar char="•"/>
                </a:pPr>
                <a:r>
                  <a:rPr lang="en-US" altLang="zh-CN" dirty="0"/>
                  <a:t>Space group G</a:t>
                </a:r>
              </a:p>
              <a:p>
                <a:pPr marL="285750" indent="-285750">
                  <a:buFont typeface="Arial" panose="020B0604020202020204" pitchFamily="34" charset="0"/>
                  <a:buChar char="•"/>
                </a:pPr>
                <a:r>
                  <a:rPr lang="en-US" altLang="zh-CN" dirty="0"/>
                  <a:t>Number of occupied orbits K</a:t>
                </a:r>
              </a:p>
              <a:p>
                <a:pPr marL="285750" indent="-285750">
                  <a:buFont typeface="Arial" panose="020B0604020202020204" pitchFamily="34" charset="0"/>
                  <a:buChar char="•"/>
                </a:pPr>
                <a:r>
                  <a:rPr lang="en-US" altLang="zh-CN" dirty="0"/>
                  <a:t>Unordered Wyckoff occupations </a:t>
                </a:r>
                <a14:m>
                  <m:oMath xmlns:m="http://schemas.openxmlformats.org/officeDocument/2006/math">
                    <m:d>
                      <m:dPr>
                        <m:ctrlPr>
                          <a:rPr lang="en-US" altLang="zh-CN" i="1" dirty="0" smtClean="0">
                            <a:latin typeface="Cambria Math" panose="02040503050406030204" pitchFamily="18" charset="0"/>
                          </a:rPr>
                        </m:ctrlPr>
                      </m:dPr>
                      <m:e>
                        <m:r>
                          <a:rPr lang="en-US" altLang="zh-CN" i="1" dirty="0" err="1">
                            <a:latin typeface="Cambria Math" panose="02040503050406030204" pitchFamily="18" charset="0"/>
                          </a:rPr>
                          <m:t>𝑟𝑖</m:t>
                        </m:r>
                        <m:r>
                          <a:rPr lang="en-US" altLang="zh-CN" i="1" dirty="0" err="1">
                            <a:latin typeface="Cambria Math" panose="02040503050406030204" pitchFamily="18" charset="0"/>
                          </a:rPr>
                          <m:t>,</m:t>
                        </m:r>
                        <m:r>
                          <a:rPr lang="en-US" altLang="zh-CN" i="1" dirty="0" err="1">
                            <a:latin typeface="Cambria Math" panose="02040503050406030204" pitchFamily="18" charset="0"/>
                          </a:rPr>
                          <m:t>𝑍𝑖</m:t>
                        </m:r>
                      </m:e>
                    </m:d>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𝑖</m:t>
                            </m:r>
                          </m:sub>
                        </m:sSub>
                        <m:r>
                          <a:rPr lang="en-US" altLang="zh-CN" i="1" dirty="0" err="1">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𝑍</m:t>
                            </m:r>
                          </m:e>
                          <m:sub>
                            <m:r>
                              <a:rPr lang="en-US" altLang="zh-CN" i="1" dirty="0" err="1">
                                <a:latin typeface="Cambria Math" panose="02040503050406030204" pitchFamily="18" charset="0"/>
                              </a:rPr>
                              <m:t>𝑖</m:t>
                            </m:r>
                          </m:sub>
                        </m:sSub>
                      </m:e>
                    </m:d>
                  </m:oMath>
                </a14:m>
                <a:endParaRPr lang="en-US" altLang="zh-CN" dirty="0"/>
              </a:p>
              <a:p>
                <a:pPr marL="285750" indent="-285750">
                  <a:buFont typeface="Arial" panose="020B0604020202020204" pitchFamily="34" charset="0"/>
                  <a:buChar char="•"/>
                </a:pPr>
                <a:r>
                  <a:rPr lang="en-US" altLang="zh-CN" dirty="0"/>
                  <a:t>No lattice or free coordinates yet</a:t>
                </a:r>
              </a:p>
            </p:txBody>
          </p:sp>
        </mc:Choice>
        <mc:Fallback xmlns="">
          <p:sp>
            <p:nvSpPr>
              <p:cNvPr id="23" name="文本框 22">
                <a:extLst>
                  <a:ext uri="{FF2B5EF4-FFF2-40B4-BE49-F238E27FC236}">
                    <a16:creationId xmlns:a16="http://schemas.microsoft.com/office/drawing/2014/main" id="{C1FB3118-5FD8-BA12-4214-13AD01849CD4}"/>
                  </a:ext>
                </a:extLst>
              </p:cNvPr>
              <p:cNvSpPr txBox="1">
                <a:spLocks noRot="1" noChangeAspect="1" noMove="1" noResize="1" noEditPoints="1" noAdjustHandles="1" noChangeArrowheads="1" noChangeShapeType="1" noTextEdit="1"/>
              </p:cNvSpPr>
              <p:nvPr/>
            </p:nvSpPr>
            <p:spPr>
              <a:xfrm>
                <a:off x="295938" y="2983861"/>
                <a:ext cx="6097772" cy="2343975"/>
              </a:xfrm>
              <a:prstGeom prst="rect">
                <a:avLst/>
              </a:prstGeom>
              <a:blipFill>
                <a:blip r:embed="rId4"/>
                <a:stretch>
                  <a:fillRect l="-832" t="-1613" b="-2688"/>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C6EB5BCC-8DD4-D19E-ED66-E829D9C12649}"/>
              </a:ext>
            </a:extLst>
          </p:cNvPr>
          <p:cNvSpPr txBox="1"/>
          <p:nvPr/>
        </p:nvSpPr>
        <p:spPr>
          <a:xfrm>
            <a:off x="3941133" y="754828"/>
            <a:ext cx="6097772" cy="461665"/>
          </a:xfrm>
          <a:prstGeom prst="rect">
            <a:avLst/>
          </a:prstGeom>
          <a:noFill/>
        </p:spPr>
        <p:txBody>
          <a:bodyPr wrap="square">
            <a:spAutoFit/>
          </a:bodyPr>
          <a:lstStyle/>
          <a:p>
            <a:pPr>
              <a:buNone/>
            </a:pPr>
            <a:r>
              <a:rPr lang="en-US" altLang="zh-CN" sz="1200" dirty="0">
                <a:effectLst/>
              </a:rPr>
              <a:t>Jin, Z. </a:t>
            </a:r>
            <a:r>
              <a:rPr lang="en-US" altLang="zh-CN" sz="1200" i="1" dirty="0">
                <a:effectLst/>
              </a:rPr>
              <a:t>et al.</a:t>
            </a:r>
            <a:r>
              <a:rPr lang="en-US" altLang="zh-CN" sz="1200" dirty="0">
                <a:effectLst/>
              </a:rPr>
              <a:t> </a:t>
            </a:r>
            <a:r>
              <a:rPr lang="en-US" altLang="zh-CN" sz="1200" dirty="0" err="1">
                <a:effectLst/>
              </a:rPr>
              <a:t>DynaCrys</a:t>
            </a:r>
            <a:r>
              <a:rPr lang="en-US" altLang="zh-CN" sz="1200" dirty="0">
                <a:effectLst/>
              </a:rPr>
              <a:t>: Crystal Generation with Dynamic Space-Group Diffusion. Preprint at </a:t>
            </a:r>
            <a:r>
              <a:rPr lang="en-US" altLang="zh-CN" sz="1200" dirty="0">
                <a:effectLst/>
                <a:hlinkClick r:id="rId5"/>
              </a:rPr>
              <a:t>https://doi.org/10.48550/arXiv.2608.07401</a:t>
            </a:r>
            <a:r>
              <a:rPr lang="en-US" altLang="zh-CN" sz="1200" dirty="0">
                <a:effectLst/>
              </a:rPr>
              <a:t> (2026).</a:t>
            </a:r>
          </a:p>
        </p:txBody>
      </p:sp>
      <p:sp>
        <p:nvSpPr>
          <p:cNvPr id="29" name="文本框 28">
            <a:extLst>
              <a:ext uri="{FF2B5EF4-FFF2-40B4-BE49-F238E27FC236}">
                <a16:creationId xmlns:a16="http://schemas.microsoft.com/office/drawing/2014/main" id="{BC756559-F879-2466-C06E-C959D1ED0A48}"/>
              </a:ext>
            </a:extLst>
          </p:cNvPr>
          <p:cNvSpPr txBox="1"/>
          <p:nvPr/>
        </p:nvSpPr>
        <p:spPr>
          <a:xfrm>
            <a:off x="6206626" y="2983861"/>
            <a:ext cx="6097772" cy="2462213"/>
          </a:xfrm>
          <a:prstGeom prst="rect">
            <a:avLst/>
          </a:prstGeom>
          <a:noFill/>
        </p:spPr>
        <p:txBody>
          <a:bodyPr wrap="square">
            <a:spAutoFit/>
          </a:bodyPr>
          <a:lstStyle/>
          <a:p>
            <a:pPr>
              <a:buNone/>
            </a:pPr>
            <a:r>
              <a:rPr lang="en-US" altLang="zh-CN" sz="1400" b="1" dirty="0"/>
              <a:t>② Generation process</a:t>
            </a:r>
          </a:p>
          <a:p>
            <a:pPr>
              <a:buNone/>
            </a:pPr>
            <a:r>
              <a:rPr lang="en-US" altLang="zh-CN" sz="1400" b="1" dirty="0"/>
              <a:t>Symbolic diffusion</a:t>
            </a:r>
            <a:endParaRPr lang="en-US" altLang="zh-CN" sz="1400" dirty="0"/>
          </a:p>
          <a:p>
            <a:r>
              <a:rPr lang="en-US" altLang="zh-CN" sz="1400" dirty="0"/>
              <a:t>set denoising</a:t>
            </a:r>
            <a:r>
              <a:rPr lang="zh-CN" altLang="en-US" sz="1400" dirty="0"/>
              <a:t> </a:t>
            </a:r>
            <a:r>
              <a:rPr lang="en-US" altLang="zh-CN" sz="1400" dirty="0"/>
              <a:t>→</a:t>
            </a:r>
            <a:r>
              <a:rPr lang="zh-CN" altLang="en-US" sz="1400" dirty="0"/>
              <a:t> </a:t>
            </a:r>
            <a:r>
              <a:rPr lang="en-US" altLang="zh-CN" sz="1400" dirty="0"/>
              <a:t>joint legal sampling</a:t>
            </a:r>
            <a:r>
              <a:rPr lang="zh-CN" altLang="en-US" sz="1400" dirty="0"/>
              <a:t> </a:t>
            </a:r>
            <a:r>
              <a:rPr lang="en-US" altLang="zh-CN" sz="1400" dirty="0"/>
              <a:t>→</a:t>
            </a:r>
            <a:r>
              <a:rPr lang="zh-CN" altLang="en-US" sz="1400" dirty="0"/>
              <a:t> </a:t>
            </a:r>
            <a:r>
              <a:rPr lang="en-US" altLang="zh-CN" sz="1400" dirty="0"/>
              <a:t>re-noising</a:t>
            </a:r>
          </a:p>
          <a:p>
            <a:pPr marL="285750" indent="-285750">
              <a:buFont typeface="Arial" panose="020B0604020202020204" pitchFamily="34" charset="0"/>
              <a:buChar char="•"/>
            </a:pPr>
            <a:r>
              <a:rPr lang="en-US" altLang="zh-CN" sz="1400" dirty="0"/>
              <a:t>Jointly updates GG, Wyckoff rows and elements </a:t>
            </a:r>
          </a:p>
          <a:p>
            <a:pPr marL="285750" indent="-285750">
              <a:buFont typeface="Arial" panose="020B0604020202020204" pitchFamily="34" charset="0"/>
              <a:buChar char="•"/>
            </a:pPr>
            <a:r>
              <a:rPr lang="en-US" altLang="zh-CN" sz="1400" dirty="0"/>
              <a:t>Space-group transitions follow group–subgroup relations </a:t>
            </a:r>
          </a:p>
          <a:p>
            <a:pPr marL="285750" indent="-285750">
              <a:buFont typeface="Arial" panose="020B0604020202020204" pitchFamily="34" charset="0"/>
              <a:buChar char="•"/>
            </a:pPr>
            <a:r>
              <a:rPr lang="en-US" altLang="zh-CN" sz="1400" dirty="0"/>
              <a:t>Legal sampling keeps the decoded symbolic state </a:t>
            </a:r>
            <a:r>
              <a:rPr lang="en-US" altLang="zh-CN" sz="1400" dirty="0" err="1"/>
              <a:t>crystallographically</a:t>
            </a:r>
            <a:r>
              <a:rPr lang="en-US" altLang="zh-CN" sz="1400" dirty="0"/>
              <a:t> valid </a:t>
            </a:r>
          </a:p>
          <a:p>
            <a:pPr>
              <a:buNone/>
            </a:pPr>
            <a:r>
              <a:rPr lang="en-US" altLang="zh-CN" sz="1400" b="1" dirty="0"/>
              <a:t>Geometry diffusion</a:t>
            </a:r>
          </a:p>
          <a:p>
            <a:pPr marL="285750" indent="-285750">
              <a:buFont typeface="Arial" panose="020B0604020202020204" pitchFamily="34" charset="0"/>
              <a:buChar char="•"/>
            </a:pPr>
            <a:r>
              <a:rPr lang="en-US" altLang="zh-CN" sz="1400" dirty="0"/>
              <a:t>Generates lattice parameters </a:t>
            </a:r>
          </a:p>
          <a:p>
            <a:pPr marL="285750" indent="-285750">
              <a:buFont typeface="Arial" panose="020B0604020202020204" pitchFamily="34" charset="0"/>
              <a:buChar char="•"/>
            </a:pPr>
            <a:r>
              <a:rPr lang="en-US" altLang="zh-CN" sz="1400" dirty="0"/>
              <a:t>Generates free Wyckoff coordinates </a:t>
            </a:r>
          </a:p>
          <a:p>
            <a:pPr marL="285750" indent="-285750">
              <a:buFont typeface="Arial" panose="020B0604020202020204" pitchFamily="34" charset="0"/>
              <a:buChar char="•"/>
            </a:pPr>
            <a:r>
              <a:rPr lang="en-US" altLang="zh-CN" sz="1400" dirty="0"/>
              <a:t>Expands them into a complete symmetric crystal </a:t>
            </a:r>
          </a:p>
        </p:txBody>
      </p:sp>
      <p:sp>
        <p:nvSpPr>
          <p:cNvPr id="31" name="文本框 30">
            <a:extLst>
              <a:ext uri="{FF2B5EF4-FFF2-40B4-BE49-F238E27FC236}">
                <a16:creationId xmlns:a16="http://schemas.microsoft.com/office/drawing/2014/main" id="{B5C47C08-1D6A-E937-5FCE-98D0F2EEBBAC}"/>
              </a:ext>
            </a:extLst>
          </p:cNvPr>
          <p:cNvSpPr txBox="1"/>
          <p:nvPr/>
        </p:nvSpPr>
        <p:spPr>
          <a:xfrm>
            <a:off x="2053856" y="5736590"/>
            <a:ext cx="8280991" cy="523220"/>
          </a:xfrm>
          <a:prstGeom prst="rect">
            <a:avLst/>
          </a:prstGeom>
          <a:noFill/>
        </p:spPr>
        <p:txBody>
          <a:bodyPr wrap="square">
            <a:spAutoFit/>
          </a:bodyPr>
          <a:lstStyle/>
          <a:p>
            <a:r>
              <a:rPr lang="zh-CN" altLang="en-US" sz="1400" dirty="0">
                <a:solidFill>
                  <a:srgbClr val="B60007"/>
                </a:solidFill>
              </a:rPr>
              <a:t>空间群不是预先给定或一次性采样的条件，而是在 </a:t>
            </a:r>
            <a:r>
              <a:rPr lang="en-US" altLang="zh-CN" sz="1400" dirty="0">
                <a:solidFill>
                  <a:srgbClr val="B60007"/>
                </a:solidFill>
              </a:rPr>
              <a:t>reverse diffusion </a:t>
            </a:r>
            <a:r>
              <a:rPr lang="zh-CN" altLang="en-US" sz="1400" dirty="0">
                <a:solidFill>
                  <a:srgbClr val="B60007"/>
                </a:solidFill>
              </a:rPr>
              <a:t>过程中与 </a:t>
            </a:r>
            <a:r>
              <a:rPr lang="en-US" altLang="zh-CN" sz="1400" dirty="0">
                <a:solidFill>
                  <a:srgbClr val="B60007"/>
                </a:solidFill>
              </a:rPr>
              <a:t>Wyckoff occupations </a:t>
            </a:r>
            <a:r>
              <a:rPr lang="zh-CN" altLang="en-US" sz="1400" dirty="0">
                <a:solidFill>
                  <a:srgbClr val="B60007"/>
                </a:solidFill>
              </a:rPr>
              <a:t>和元素共同修改；最终再通过 </a:t>
            </a:r>
            <a:r>
              <a:rPr lang="en-US" altLang="zh-CN" sz="1400" dirty="0">
                <a:solidFill>
                  <a:srgbClr val="B60007"/>
                </a:solidFill>
              </a:rPr>
              <a:t>symmetry-constrained geometry diffusion </a:t>
            </a:r>
            <a:r>
              <a:rPr lang="zh-CN" altLang="en-US" sz="1400" dirty="0">
                <a:solidFill>
                  <a:srgbClr val="B60007"/>
                </a:solidFill>
              </a:rPr>
              <a:t>生成完整结构。</a:t>
            </a:r>
          </a:p>
        </p:txBody>
      </p:sp>
    </p:spTree>
    <p:extLst>
      <p:ext uri="{BB962C8B-B14F-4D97-AF65-F5344CB8AC3E}">
        <p14:creationId xmlns:p14="http://schemas.microsoft.com/office/powerpoint/2010/main" val="164630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694C1-7B6F-5555-FDDC-5E344D1BFD9E}"/>
              </a:ext>
            </a:extLst>
          </p:cNvPr>
          <p:cNvSpPr>
            <a:spLocks noGrp="1"/>
          </p:cNvSpPr>
          <p:nvPr>
            <p:ph type="title"/>
          </p:nvPr>
        </p:nvSpPr>
        <p:spPr/>
        <p:txBody>
          <a:bodyPr/>
          <a:lstStyle/>
          <a:p>
            <a:r>
              <a:rPr lang="en-US" dirty="0"/>
              <a:t>Related Work</a:t>
            </a:r>
          </a:p>
        </p:txBody>
      </p:sp>
      <p:sp>
        <p:nvSpPr>
          <p:cNvPr id="4" name="Slide Number Placeholder 3">
            <a:extLst>
              <a:ext uri="{FF2B5EF4-FFF2-40B4-BE49-F238E27FC236}">
                <a16:creationId xmlns:a16="http://schemas.microsoft.com/office/drawing/2014/main" id="{23803555-922C-3010-6599-BF29D37969EA}"/>
              </a:ext>
            </a:extLst>
          </p:cNvPr>
          <p:cNvSpPr>
            <a:spLocks noGrp="1"/>
          </p:cNvSpPr>
          <p:nvPr>
            <p:ph type="sldNum" sz="quarter" idx="4"/>
          </p:nvPr>
        </p:nvSpPr>
        <p:spPr/>
        <p:txBody>
          <a:bodyPr/>
          <a:lstStyle/>
          <a:p>
            <a:fld id="{48D82B17-3AA5-DB4E-A79B-C818A6AD8FB8}" type="slidenum">
              <a:rPr lang="en-CN" smtClean="0"/>
              <a:pPr/>
              <a:t>8</a:t>
            </a:fld>
            <a:endParaRPr lang="en-CN" dirty="0"/>
          </a:p>
        </p:txBody>
      </p:sp>
      <p:sp>
        <p:nvSpPr>
          <p:cNvPr id="6" name="文本框 5">
            <a:extLst>
              <a:ext uri="{FF2B5EF4-FFF2-40B4-BE49-F238E27FC236}">
                <a16:creationId xmlns:a16="http://schemas.microsoft.com/office/drawing/2014/main" id="{57324679-B449-4C40-AF60-D27293A56072}"/>
              </a:ext>
            </a:extLst>
          </p:cNvPr>
          <p:cNvSpPr txBox="1"/>
          <p:nvPr/>
        </p:nvSpPr>
        <p:spPr>
          <a:xfrm>
            <a:off x="986170" y="2199306"/>
            <a:ext cx="10507626" cy="2947025"/>
          </a:xfrm>
          <a:prstGeom prst="rect">
            <a:avLst/>
          </a:prstGeom>
          <a:noFill/>
        </p:spPr>
        <p:txBody>
          <a:bodyPr wrap="square">
            <a:spAutoFit/>
          </a:bodyPr>
          <a:lstStyle/>
          <a:p>
            <a:pPr>
              <a:lnSpc>
                <a:spcPct val="150000"/>
              </a:lnSpc>
            </a:pPr>
            <a:r>
              <a:rPr lang="en-US" altLang="zh-CN" b="1" dirty="0"/>
              <a:t>Wyckoff representation + Transformer</a:t>
            </a:r>
            <a:r>
              <a:rPr lang="zh-CN" altLang="en-US" dirty="0"/>
              <a:t>：</a:t>
            </a:r>
            <a:r>
              <a:rPr lang="en-US" altLang="zh-CN" dirty="0" err="1"/>
              <a:t>WyFormer</a:t>
            </a:r>
            <a:r>
              <a:rPr lang="zh-CN" altLang="en-US" dirty="0"/>
              <a:t>； </a:t>
            </a:r>
            <a:endParaRPr lang="en-US" altLang="zh-CN" dirty="0"/>
          </a:p>
          <a:p>
            <a:pPr>
              <a:lnSpc>
                <a:spcPct val="150000"/>
              </a:lnSpc>
            </a:pPr>
            <a:r>
              <a:rPr lang="en-US" altLang="zh-CN" b="1" dirty="0"/>
              <a:t>Wyckoff occupation + discrete diffusion</a:t>
            </a:r>
            <a:r>
              <a:rPr lang="zh-CN" altLang="en-US" dirty="0"/>
              <a:t>：</a:t>
            </a:r>
            <a:r>
              <a:rPr lang="en-US" altLang="zh-CN" dirty="0" err="1"/>
              <a:t>WyckoffDiff</a:t>
            </a:r>
            <a:r>
              <a:rPr lang="zh-CN" altLang="en-US" dirty="0"/>
              <a:t>； </a:t>
            </a:r>
            <a:endParaRPr lang="en-US" altLang="zh-CN" dirty="0"/>
          </a:p>
          <a:p>
            <a:pPr>
              <a:lnSpc>
                <a:spcPct val="150000"/>
              </a:lnSpc>
            </a:pPr>
            <a:r>
              <a:rPr lang="zh-CN" altLang="en-US" b="1" dirty="0"/>
              <a:t>动态 </a:t>
            </a:r>
            <a:r>
              <a:rPr lang="en-US" altLang="zh-CN" b="1" dirty="0"/>
              <a:t>space group + Wyckoff diffusion/jump process</a:t>
            </a:r>
            <a:r>
              <a:rPr lang="zh-CN" altLang="en-US" dirty="0"/>
              <a:t>：</a:t>
            </a:r>
            <a:r>
              <a:rPr lang="en-US" altLang="zh-CN" dirty="0" err="1"/>
              <a:t>DynaCrys</a:t>
            </a:r>
            <a:r>
              <a:rPr lang="zh-CN" altLang="en-US" dirty="0"/>
              <a:t>、</a:t>
            </a:r>
            <a:r>
              <a:rPr lang="en-US" altLang="zh-CN" dirty="0" err="1"/>
              <a:t>SbCD</a:t>
            </a:r>
            <a:r>
              <a:rPr lang="zh-CN" altLang="en-US" dirty="0"/>
              <a:t>； </a:t>
            </a:r>
            <a:endParaRPr lang="en-US" altLang="zh-CN" dirty="0"/>
          </a:p>
          <a:p>
            <a:pPr>
              <a:lnSpc>
                <a:spcPct val="150000"/>
              </a:lnSpc>
            </a:pPr>
            <a:r>
              <a:rPr lang="en-US" altLang="zh-CN" b="1" dirty="0"/>
              <a:t>Wyckoff AR + space-group-equivariant coordinate diffusion</a:t>
            </a:r>
            <a:r>
              <a:rPr lang="zh-CN" altLang="en-US" dirty="0"/>
              <a:t>：</a:t>
            </a:r>
            <a:r>
              <a:rPr lang="en-US" altLang="zh-CN" dirty="0" err="1"/>
              <a:t>SGEquiDiff</a:t>
            </a:r>
            <a:r>
              <a:rPr lang="zh-CN" altLang="en-US" dirty="0"/>
              <a:t>； </a:t>
            </a:r>
            <a:endParaRPr lang="en-US" altLang="zh-CN" dirty="0"/>
          </a:p>
          <a:p>
            <a:pPr>
              <a:lnSpc>
                <a:spcPct val="150000"/>
              </a:lnSpc>
            </a:pPr>
            <a:r>
              <a:rPr lang="zh-CN" altLang="en-US" b="1" dirty="0"/>
              <a:t>全晶体 </a:t>
            </a:r>
            <a:r>
              <a:rPr lang="en-US" altLang="zh-CN" b="1" dirty="0"/>
              <a:t>token + masked parallel decoding</a:t>
            </a:r>
            <a:r>
              <a:rPr lang="zh-CN" altLang="en-US" dirty="0"/>
              <a:t>：</a:t>
            </a:r>
            <a:r>
              <a:rPr lang="en-US" altLang="zh-CN" dirty="0" err="1"/>
              <a:t>MaskGXT</a:t>
            </a:r>
            <a:r>
              <a:rPr lang="zh-CN" altLang="en-US" dirty="0"/>
              <a:t>； </a:t>
            </a:r>
            <a:endParaRPr lang="en-US" altLang="zh-CN" dirty="0"/>
          </a:p>
          <a:p>
            <a:pPr>
              <a:lnSpc>
                <a:spcPct val="150000"/>
              </a:lnSpc>
            </a:pPr>
            <a:r>
              <a:rPr lang="en-US" altLang="zh-CN" b="1" dirty="0"/>
              <a:t>reciprocal-space representation + diffusion/Transformer</a:t>
            </a:r>
            <a:r>
              <a:rPr lang="zh-CN" altLang="en-US" dirty="0"/>
              <a:t>：</a:t>
            </a:r>
            <a:r>
              <a:rPr lang="en-US" altLang="zh-CN" dirty="0"/>
              <a:t>Fourier-space crystal generation</a:t>
            </a:r>
            <a:r>
              <a:rPr lang="zh-CN" altLang="en-US" dirty="0"/>
              <a:t>； </a:t>
            </a:r>
            <a:endParaRPr lang="en-US" altLang="zh-CN" dirty="0"/>
          </a:p>
          <a:p>
            <a:pPr>
              <a:lnSpc>
                <a:spcPct val="150000"/>
              </a:lnSpc>
            </a:pPr>
            <a:r>
              <a:rPr lang="en-US" altLang="zh-CN" b="1" dirty="0"/>
              <a:t>partial occupancy/disordered crystal generation</a:t>
            </a:r>
            <a:r>
              <a:rPr lang="zh-CN" altLang="en-US" dirty="0"/>
              <a:t>：</a:t>
            </a:r>
            <a:r>
              <a:rPr lang="en-US" altLang="zh-CN" dirty="0"/>
              <a:t>Dis-GEN </a:t>
            </a:r>
            <a:r>
              <a:rPr lang="zh-CN" altLang="en-US" dirty="0"/>
              <a:t>等。</a:t>
            </a:r>
          </a:p>
        </p:txBody>
      </p:sp>
    </p:spTree>
    <p:extLst>
      <p:ext uri="{BB962C8B-B14F-4D97-AF65-F5344CB8AC3E}">
        <p14:creationId xmlns:p14="http://schemas.microsoft.com/office/powerpoint/2010/main" val="4256373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8899F2-87C1-B731-2391-24CA998735CC}"/>
              </a:ext>
            </a:extLst>
          </p:cNvPr>
          <p:cNvSpPr>
            <a:spLocks noGrp="1"/>
          </p:cNvSpPr>
          <p:nvPr>
            <p:ph type="title"/>
          </p:nvPr>
        </p:nvSpPr>
        <p:spPr/>
        <p:txBody>
          <a:bodyPr/>
          <a:lstStyle/>
          <a:p>
            <a:r>
              <a:rPr kumimoji="1" lang="en-US" altLang="zh-CN" dirty="0"/>
              <a:t>What</a:t>
            </a:r>
            <a:r>
              <a:rPr kumimoji="1" lang="zh-CN" altLang="en-US" dirty="0"/>
              <a:t> </a:t>
            </a:r>
            <a:r>
              <a:rPr kumimoji="1" lang="en-US" altLang="zh-CN" dirty="0"/>
              <a:t>we</a:t>
            </a:r>
            <a:r>
              <a:rPr kumimoji="1" lang="zh-CN" altLang="en-US" dirty="0"/>
              <a:t> </a:t>
            </a:r>
            <a:r>
              <a:rPr kumimoji="1" lang="en-US" altLang="zh-CN" dirty="0"/>
              <a:t>can</a:t>
            </a:r>
            <a:r>
              <a:rPr kumimoji="1" lang="zh-CN" altLang="en-US" dirty="0"/>
              <a:t> </a:t>
            </a:r>
            <a:r>
              <a:rPr kumimoji="1" lang="en-US" altLang="zh-CN" dirty="0"/>
              <a:t>do</a:t>
            </a:r>
            <a:r>
              <a:rPr kumimoji="1" lang="zh-CN" altLang="en-US" dirty="0"/>
              <a:t>？</a:t>
            </a:r>
          </a:p>
        </p:txBody>
      </p:sp>
      <p:sp>
        <p:nvSpPr>
          <p:cNvPr id="4" name="灯片编号占位符 3">
            <a:extLst>
              <a:ext uri="{FF2B5EF4-FFF2-40B4-BE49-F238E27FC236}">
                <a16:creationId xmlns:a16="http://schemas.microsoft.com/office/drawing/2014/main" id="{28F29EDE-156E-1C43-2949-AA57FCD6044E}"/>
              </a:ext>
            </a:extLst>
          </p:cNvPr>
          <p:cNvSpPr>
            <a:spLocks noGrp="1"/>
          </p:cNvSpPr>
          <p:nvPr>
            <p:ph type="sldNum" sz="quarter" idx="4"/>
          </p:nvPr>
        </p:nvSpPr>
        <p:spPr/>
        <p:txBody>
          <a:bodyPr/>
          <a:lstStyle/>
          <a:p>
            <a:fld id="{48D82B17-3AA5-DB4E-A79B-C818A6AD8FB8}" type="slidenum">
              <a:rPr lang="en-CN" smtClean="0"/>
              <a:pPr/>
              <a:t>9</a:t>
            </a:fld>
            <a:endParaRPr lang="en-CN" dirty="0"/>
          </a:p>
        </p:txBody>
      </p:sp>
      <p:sp>
        <p:nvSpPr>
          <p:cNvPr id="8" name="文本框 7">
            <a:extLst>
              <a:ext uri="{FF2B5EF4-FFF2-40B4-BE49-F238E27FC236}">
                <a16:creationId xmlns:a16="http://schemas.microsoft.com/office/drawing/2014/main" id="{F0611E1C-2DAA-DF61-100E-F61C7280375B}"/>
              </a:ext>
            </a:extLst>
          </p:cNvPr>
          <p:cNvSpPr txBox="1"/>
          <p:nvPr/>
        </p:nvSpPr>
        <p:spPr>
          <a:xfrm>
            <a:off x="5534024" y="1527125"/>
            <a:ext cx="3895726" cy="400110"/>
          </a:xfrm>
          <a:prstGeom prst="rect">
            <a:avLst/>
          </a:prstGeom>
          <a:noFill/>
        </p:spPr>
        <p:txBody>
          <a:bodyPr wrap="square">
            <a:spAutoFit/>
          </a:bodyPr>
          <a:lstStyle/>
          <a:p>
            <a:r>
              <a:rPr lang="en-US" altLang="zh-CN" sz="2000" dirty="0">
                <a:solidFill>
                  <a:srgbClr val="B60007"/>
                </a:solidFill>
              </a:rPr>
              <a:t>Test-Time Scalable Crystal DLM</a:t>
            </a:r>
            <a:endParaRPr lang="zh-CN" altLang="en-US" sz="2000" dirty="0">
              <a:solidFill>
                <a:srgbClr val="B60007"/>
              </a:solidFill>
            </a:endParaRPr>
          </a:p>
        </p:txBody>
      </p:sp>
      <p:sp>
        <p:nvSpPr>
          <p:cNvPr id="10" name="文本框 9">
            <a:extLst>
              <a:ext uri="{FF2B5EF4-FFF2-40B4-BE49-F238E27FC236}">
                <a16:creationId xmlns:a16="http://schemas.microsoft.com/office/drawing/2014/main" id="{72220D60-B21E-C7DB-9A06-9F0F97301CB0}"/>
              </a:ext>
            </a:extLst>
          </p:cNvPr>
          <p:cNvSpPr txBox="1"/>
          <p:nvPr/>
        </p:nvSpPr>
        <p:spPr>
          <a:xfrm>
            <a:off x="833437" y="2933223"/>
            <a:ext cx="2667001" cy="1169551"/>
          </a:xfrm>
          <a:prstGeom prst="rect">
            <a:avLst/>
          </a:prstGeom>
          <a:noFill/>
        </p:spPr>
        <p:txBody>
          <a:bodyPr wrap="square">
            <a:spAutoFit/>
          </a:bodyPr>
          <a:lstStyle/>
          <a:p>
            <a:r>
              <a:rPr lang="zh-CN" altLang="en-US" sz="1400" dirty="0"/>
              <a:t>[MASK, MASK, MASK, ...]</a:t>
            </a:r>
          </a:p>
          <a:p>
            <a:r>
              <a:rPr lang="zh-CN" altLang="en-US" sz="1400" dirty="0"/>
              <a:t>            ↓</a:t>
            </a:r>
          </a:p>
          <a:p>
            <a:r>
              <a:rPr lang="zh-CN" altLang="en-US" sz="1400" dirty="0"/>
              <a:t>       iterative denoising</a:t>
            </a:r>
          </a:p>
          <a:p>
            <a:r>
              <a:rPr lang="zh-CN" altLang="en-US" sz="1400" dirty="0"/>
              <a:t>            ↓</a:t>
            </a:r>
          </a:p>
          <a:p>
            <a:r>
              <a:rPr lang="zh-CN" altLang="en-US" sz="1400" dirty="0"/>
              <a:t>      one Wyckoff structure</a:t>
            </a:r>
          </a:p>
        </p:txBody>
      </p:sp>
      <p:sp>
        <p:nvSpPr>
          <p:cNvPr id="11" name="文本框 10">
            <a:extLst>
              <a:ext uri="{FF2B5EF4-FFF2-40B4-BE49-F238E27FC236}">
                <a16:creationId xmlns:a16="http://schemas.microsoft.com/office/drawing/2014/main" id="{4350F8C8-B298-51AD-230B-25C785073BBC}"/>
              </a:ext>
            </a:extLst>
          </p:cNvPr>
          <p:cNvSpPr txBox="1"/>
          <p:nvPr/>
        </p:nvSpPr>
        <p:spPr>
          <a:xfrm>
            <a:off x="575269" y="2348447"/>
            <a:ext cx="4153894" cy="369332"/>
          </a:xfrm>
          <a:prstGeom prst="rect">
            <a:avLst/>
          </a:prstGeom>
          <a:noFill/>
        </p:spPr>
        <p:txBody>
          <a:bodyPr wrap="none" rtlCol="0">
            <a:spAutoFit/>
          </a:bodyPr>
          <a:lstStyle/>
          <a:p>
            <a:r>
              <a:rPr kumimoji="1" lang="zh-CN" altLang="en-US" dirty="0"/>
              <a:t>普通的</a:t>
            </a:r>
            <a:r>
              <a:rPr lang="en-US" altLang="zh-CN" dirty="0"/>
              <a:t>Wyckoff DLM </a:t>
            </a:r>
            <a:r>
              <a:rPr lang="zh-CN" altLang="en-US" dirty="0"/>
              <a:t>只有一条去噪路径</a:t>
            </a:r>
            <a:endParaRPr kumimoji="1" lang="zh-CN" altLang="en-US" dirty="0"/>
          </a:p>
        </p:txBody>
      </p:sp>
      <p:sp>
        <p:nvSpPr>
          <p:cNvPr id="14" name="文本框 13">
            <a:extLst>
              <a:ext uri="{FF2B5EF4-FFF2-40B4-BE49-F238E27FC236}">
                <a16:creationId xmlns:a16="http://schemas.microsoft.com/office/drawing/2014/main" id="{B490E9E2-9BE0-EAF5-C9ED-58EBB97D8576}"/>
              </a:ext>
            </a:extLst>
          </p:cNvPr>
          <p:cNvSpPr txBox="1"/>
          <p:nvPr/>
        </p:nvSpPr>
        <p:spPr>
          <a:xfrm>
            <a:off x="6096000" y="2348447"/>
            <a:ext cx="2031325" cy="369332"/>
          </a:xfrm>
          <a:prstGeom prst="rect">
            <a:avLst/>
          </a:prstGeom>
          <a:noFill/>
        </p:spPr>
        <p:txBody>
          <a:bodyPr wrap="none" rtlCol="0">
            <a:spAutoFit/>
          </a:bodyPr>
          <a:lstStyle/>
          <a:p>
            <a:r>
              <a:rPr kumimoji="1" lang="zh-CN" altLang="en-US" dirty="0"/>
              <a:t>改成一个搜索过程</a:t>
            </a:r>
          </a:p>
        </p:txBody>
      </p:sp>
      <p:sp>
        <p:nvSpPr>
          <p:cNvPr id="16" name="文本框 15">
            <a:extLst>
              <a:ext uri="{FF2B5EF4-FFF2-40B4-BE49-F238E27FC236}">
                <a16:creationId xmlns:a16="http://schemas.microsoft.com/office/drawing/2014/main" id="{207C72D3-50AC-0386-2BAE-1860FC778C02}"/>
              </a:ext>
            </a:extLst>
          </p:cNvPr>
          <p:cNvSpPr txBox="1"/>
          <p:nvPr/>
        </p:nvSpPr>
        <p:spPr>
          <a:xfrm>
            <a:off x="5253038" y="2933223"/>
            <a:ext cx="6100762" cy="2031325"/>
          </a:xfrm>
          <a:prstGeom prst="rect">
            <a:avLst/>
          </a:prstGeom>
          <a:noFill/>
        </p:spPr>
        <p:txBody>
          <a:bodyPr wrap="square">
            <a:spAutoFit/>
          </a:bodyPr>
          <a:lstStyle/>
          <a:p>
            <a:pPr>
              <a:buNone/>
            </a:pPr>
            <a:r>
              <a:rPr lang="zh-CN" altLang="en-US" dirty="0"/>
              <a:t>每一步不直接接受模型最高概率的 </a:t>
            </a:r>
            <a:r>
              <a:rPr lang="en-US" altLang="zh-CN" dirty="0"/>
              <a:t>token</a:t>
            </a:r>
            <a:r>
              <a:rPr lang="zh-CN" altLang="en-US" dirty="0"/>
              <a:t>，而是：</a:t>
            </a:r>
          </a:p>
          <a:p>
            <a:pPr>
              <a:buFont typeface="+mj-lt"/>
              <a:buAutoNum type="arabicPeriod"/>
            </a:pPr>
            <a:r>
              <a:rPr lang="en-US" altLang="zh-CN" dirty="0"/>
              <a:t>DLM </a:t>
            </a:r>
            <a:r>
              <a:rPr lang="zh-CN" altLang="en-US" dirty="0"/>
              <a:t>提出 </a:t>
            </a:r>
            <a:r>
              <a:rPr lang="en-US" altLang="zh-CN" dirty="0"/>
              <a:t>K </a:t>
            </a:r>
            <a:r>
              <a:rPr lang="zh-CN" altLang="en-US" dirty="0"/>
              <a:t>个可能的 </a:t>
            </a:r>
            <a:r>
              <a:rPr lang="en-US" altLang="zh-CN" dirty="0"/>
              <a:t>partial orbit sets</a:t>
            </a:r>
            <a:r>
              <a:rPr lang="zh-CN" altLang="en-US" dirty="0"/>
              <a:t>； </a:t>
            </a:r>
          </a:p>
          <a:p>
            <a:pPr>
              <a:buFont typeface="+mj-lt"/>
              <a:buAutoNum type="arabicPeriod"/>
            </a:pPr>
            <a:r>
              <a:rPr lang="en-US" altLang="zh-CN" dirty="0"/>
              <a:t>crystallographic grammar </a:t>
            </a:r>
            <a:r>
              <a:rPr lang="zh-CN" altLang="en-US" dirty="0"/>
              <a:t>排除必然无法满足 </a:t>
            </a:r>
            <a:r>
              <a:rPr lang="en-US" altLang="zh-CN" dirty="0"/>
              <a:t>composition</a:t>
            </a:r>
            <a:r>
              <a:rPr lang="zh-CN" altLang="en-US" dirty="0"/>
              <a:t>、</a:t>
            </a:r>
            <a:r>
              <a:rPr lang="en-US" altLang="zh-CN" dirty="0"/>
              <a:t>multiplicity </a:t>
            </a:r>
            <a:r>
              <a:rPr lang="zh-CN" altLang="en-US" dirty="0"/>
              <a:t>或 </a:t>
            </a:r>
            <a:r>
              <a:rPr lang="en-US" altLang="zh-CN" dirty="0"/>
              <a:t>space group </a:t>
            </a:r>
            <a:r>
              <a:rPr lang="zh-CN" altLang="en-US" dirty="0"/>
              <a:t>的分支； </a:t>
            </a:r>
          </a:p>
          <a:p>
            <a:pPr>
              <a:buFont typeface="+mj-lt"/>
              <a:buAutoNum type="arabicPeriod"/>
            </a:pPr>
            <a:r>
              <a:rPr lang="zh-CN" altLang="en-US" dirty="0"/>
              <a:t>一个 </a:t>
            </a:r>
            <a:r>
              <a:rPr lang="en-US" altLang="zh-CN" b="1" dirty="0"/>
              <a:t>process verifier</a:t>
            </a:r>
            <a:r>
              <a:rPr lang="en-US" altLang="zh-CN" dirty="0"/>
              <a:t> </a:t>
            </a:r>
            <a:r>
              <a:rPr lang="zh-CN" altLang="en-US" dirty="0"/>
              <a:t>预测：这个未完成的 </a:t>
            </a:r>
            <a:r>
              <a:rPr lang="en-US" altLang="zh-CN" dirty="0"/>
              <a:t>Wyckoff state</a:t>
            </a:r>
            <a:r>
              <a:rPr lang="zh-CN" altLang="en-US" dirty="0"/>
              <a:t>，最终有多大概率生成低能、稳定、目标性质良好的结构； </a:t>
            </a:r>
          </a:p>
        </p:txBody>
      </p:sp>
    </p:spTree>
    <p:extLst>
      <p:ext uri="{BB962C8B-B14F-4D97-AF65-F5344CB8AC3E}">
        <p14:creationId xmlns:p14="http://schemas.microsoft.com/office/powerpoint/2010/main" val="1543182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0FDAC-5EE9-D110-8D11-E6D80FE7A69C}"/>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07F126B7-41E4-27F6-40A4-634495848143}"/>
              </a:ext>
            </a:extLst>
          </p:cNvPr>
          <p:cNvSpPr>
            <a:spLocks noGrp="1"/>
          </p:cNvSpPr>
          <p:nvPr>
            <p:ph idx="1"/>
          </p:nvPr>
        </p:nvSpPr>
        <p:spPr>
          <a:xfrm>
            <a:off x="838200" y="3649663"/>
            <a:ext cx="10515600" cy="2189163"/>
          </a:xfrm>
        </p:spPr>
        <p:txBody>
          <a:bodyPr/>
          <a:lstStyle/>
          <a:p>
            <a:r>
              <a:rPr lang="en-US" altLang="zh-CN" dirty="0" err="1"/>
              <a:t>WyFormer</a:t>
            </a:r>
            <a:r>
              <a:rPr lang="en-US" altLang="zh-CN" dirty="0"/>
              <a:t> </a:t>
            </a:r>
            <a:r>
              <a:rPr lang="zh-CN" altLang="en-US" dirty="0"/>
              <a:t>中，空间群 </a:t>
            </a:r>
            <a:r>
              <a:rPr lang="en-US" altLang="zh-CN" dirty="0"/>
              <a:t>225 </a:t>
            </a:r>
            <a:r>
              <a:rPr lang="zh-CN" altLang="en-US" dirty="0"/>
              <a:t>的 </a:t>
            </a:r>
            <a:r>
              <a:rPr lang="en-US" altLang="zh-CN" dirty="0"/>
              <a:t>4a </a:t>
            </a:r>
            <a:r>
              <a:rPr lang="zh-CN" altLang="en-US" dirty="0"/>
              <a:t>和 </a:t>
            </a:r>
            <a:r>
              <a:rPr lang="en-US" altLang="zh-CN" dirty="0"/>
              <a:t>4b </a:t>
            </a:r>
            <a:r>
              <a:rPr lang="zh-CN" altLang="en-US" dirty="0"/>
              <a:t>都具有 </a:t>
            </a:r>
            <a:r>
              <a:rPr lang="en-US" altLang="zh-CN" dirty="0"/>
              <a:t>m-3m site symmetry</a:t>
            </a:r>
            <a:r>
              <a:rPr lang="zh-CN" altLang="en-US" dirty="0"/>
              <a:t>，分别用 </a:t>
            </a:r>
            <a:r>
              <a:rPr lang="en-US" altLang="zh-CN" dirty="0"/>
              <a:t>enumeration 0</a:t>
            </a:r>
            <a:r>
              <a:rPr lang="zh-CN" altLang="en-US" dirty="0"/>
              <a:t>、</a:t>
            </a:r>
            <a:r>
              <a:rPr lang="en-US" altLang="zh-CN" dirty="0"/>
              <a:t>1 </a:t>
            </a:r>
            <a:r>
              <a:rPr lang="zh-CN" altLang="en-US" dirty="0"/>
              <a:t>区分。因此：</a:t>
            </a:r>
            <a:endParaRPr lang="en-US" altLang="zh-CN" dirty="0"/>
          </a:p>
          <a:p>
            <a:r>
              <a:rPr kumimoji="1" lang="en-US" altLang="zh-CN" dirty="0"/>
              <a:t>[SG225 + m-3m] [Na] [0]    </a:t>
            </a:r>
            <a:r>
              <a:rPr kumimoji="1" lang="zh-CN" altLang="en-US" dirty="0"/>
              <a:t>对应 </a:t>
            </a:r>
            <a:r>
              <a:rPr kumimoji="1" lang="en-US" altLang="zh-CN" dirty="0"/>
              <a:t>Na </a:t>
            </a:r>
            <a:r>
              <a:rPr kumimoji="1" lang="zh-CN" altLang="en-US" dirty="0"/>
              <a:t>占据 </a:t>
            </a:r>
            <a:r>
              <a:rPr kumimoji="1" lang="en-US" altLang="zh-CN" dirty="0"/>
              <a:t>4a</a:t>
            </a:r>
          </a:p>
          <a:p>
            <a:r>
              <a:rPr kumimoji="1" lang="en-US" altLang="zh-CN" dirty="0"/>
              <a:t>[SG225 + m-3m] [Cl] [1]    </a:t>
            </a:r>
            <a:r>
              <a:rPr kumimoji="1" lang="zh-CN" altLang="en-US" dirty="0"/>
              <a:t>对应 </a:t>
            </a:r>
            <a:r>
              <a:rPr kumimoji="1" lang="en-US" altLang="zh-CN" dirty="0"/>
              <a:t>Cl </a:t>
            </a:r>
            <a:r>
              <a:rPr kumimoji="1" lang="zh-CN" altLang="en-US" dirty="0"/>
              <a:t>占据 </a:t>
            </a:r>
            <a:r>
              <a:rPr kumimoji="1" lang="en-US" altLang="zh-CN" dirty="0"/>
              <a:t>4b</a:t>
            </a:r>
            <a:endParaRPr kumimoji="1" lang="zh-CN" altLang="en-US" dirty="0"/>
          </a:p>
        </p:txBody>
      </p:sp>
      <p:sp>
        <p:nvSpPr>
          <p:cNvPr id="4" name="灯片编号占位符 3">
            <a:extLst>
              <a:ext uri="{FF2B5EF4-FFF2-40B4-BE49-F238E27FC236}">
                <a16:creationId xmlns:a16="http://schemas.microsoft.com/office/drawing/2014/main" id="{9F7CE70A-39E7-A809-D118-F2248F3BF992}"/>
              </a:ext>
            </a:extLst>
          </p:cNvPr>
          <p:cNvSpPr>
            <a:spLocks noGrp="1"/>
          </p:cNvSpPr>
          <p:nvPr>
            <p:ph type="sldNum" sz="quarter" idx="4"/>
          </p:nvPr>
        </p:nvSpPr>
        <p:spPr/>
        <p:txBody>
          <a:bodyPr/>
          <a:lstStyle/>
          <a:p>
            <a:fld id="{48D82B17-3AA5-DB4E-A79B-C818A6AD8FB8}" type="slidenum">
              <a:rPr lang="en-CN" smtClean="0"/>
              <a:pPr/>
              <a:t>10</a:t>
            </a:fld>
            <a:endParaRPr lang="en-CN" dirty="0"/>
          </a:p>
        </p:txBody>
      </p:sp>
      <p:pic>
        <p:nvPicPr>
          <p:cNvPr id="5" name="图片 4">
            <a:extLst>
              <a:ext uri="{FF2B5EF4-FFF2-40B4-BE49-F238E27FC236}">
                <a16:creationId xmlns:a16="http://schemas.microsoft.com/office/drawing/2014/main" id="{8A98D6C1-D232-C8F9-9883-1B0BFB49E9F9}"/>
              </a:ext>
            </a:extLst>
          </p:cNvPr>
          <p:cNvPicPr>
            <a:picLocks noChangeAspect="1"/>
          </p:cNvPicPr>
          <p:nvPr/>
        </p:nvPicPr>
        <p:blipFill>
          <a:blip r:embed="rId2"/>
          <a:stretch/>
        </p:blipFill>
        <p:spPr>
          <a:xfrm>
            <a:off x="533400" y="1837765"/>
            <a:ext cx="10820400" cy="1591235"/>
          </a:xfrm>
          <a:prstGeom prst="rect">
            <a:avLst/>
          </a:prstGeom>
        </p:spPr>
      </p:pic>
      <p:sp>
        <p:nvSpPr>
          <p:cNvPr id="6" name="文本框 5">
            <a:extLst>
              <a:ext uri="{FF2B5EF4-FFF2-40B4-BE49-F238E27FC236}">
                <a16:creationId xmlns:a16="http://schemas.microsoft.com/office/drawing/2014/main" id="{29D2AA46-52AD-B025-DB53-D116E14FCA51}"/>
              </a:ext>
            </a:extLst>
          </p:cNvPr>
          <p:cNvSpPr txBox="1"/>
          <p:nvPr/>
        </p:nvSpPr>
        <p:spPr>
          <a:xfrm>
            <a:off x="3462696" y="5987018"/>
            <a:ext cx="4961808" cy="369332"/>
          </a:xfrm>
          <a:prstGeom prst="rect">
            <a:avLst/>
          </a:prstGeom>
          <a:noFill/>
        </p:spPr>
        <p:txBody>
          <a:bodyPr wrap="none" rtlCol="0">
            <a:spAutoFit/>
          </a:bodyPr>
          <a:lstStyle/>
          <a:p>
            <a:r>
              <a:rPr kumimoji="1" lang="en-US" altLang="zh-CN" dirty="0"/>
              <a:t>Wyckoff</a:t>
            </a:r>
            <a:r>
              <a:rPr kumimoji="1" lang="zh-CN" altLang="en-US" dirty="0"/>
              <a:t> </a:t>
            </a:r>
            <a:r>
              <a:rPr kumimoji="1" lang="en-US" altLang="zh-CN" dirty="0"/>
              <a:t>position = site </a:t>
            </a:r>
            <a:r>
              <a:rPr kumimoji="1" lang="en-US" altLang="zh-CN" dirty="0" err="1"/>
              <a:t>symmetry+enumeration</a:t>
            </a:r>
            <a:endParaRPr kumimoji="1" lang="zh-CN" altLang="en-US" dirty="0"/>
          </a:p>
        </p:txBody>
      </p:sp>
    </p:spTree>
    <p:extLst>
      <p:ext uri="{BB962C8B-B14F-4D97-AF65-F5344CB8AC3E}">
        <p14:creationId xmlns:p14="http://schemas.microsoft.com/office/powerpoint/2010/main" val="418579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9CB58B96-5D6F-9AD6-0FE7-CE6FD902EC4E}"/>
              </a:ext>
            </a:extLst>
          </p:cNvPr>
          <p:cNvGraphicFramePr/>
          <p:nvPr>
            <p:extLst>
              <p:ext uri="{D42A27DB-BD31-4B8C-83A1-F6EECF244321}">
                <p14:modId xmlns:p14="http://schemas.microsoft.com/office/powerpoint/2010/main" val="1039137586"/>
              </p:ext>
            </p:extLst>
          </p:nvPr>
        </p:nvGraphicFramePr>
        <p:xfrm>
          <a:off x="1306100" y="1481076"/>
          <a:ext cx="8677275" cy="4514850"/>
        </p:xfrm>
        <a:graphic>
          <a:graphicData uri="http://schemas.openxmlformats.org/drawingml/2006/table">
            <a:tbl>
              <a:tblPr/>
              <a:tblGrid>
                <a:gridCol w="1409700">
                  <a:extLst>
                    <a:ext uri="{9D8B030D-6E8A-4147-A177-3AD203B41FA5}">
                      <a16:colId xmlns:a16="http://schemas.microsoft.com/office/drawing/2014/main" val="20000"/>
                    </a:ext>
                  </a:extLst>
                </a:gridCol>
                <a:gridCol w="2266950">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gridCol w="895350">
                  <a:extLst>
                    <a:ext uri="{9D8B030D-6E8A-4147-A177-3AD203B41FA5}">
                      <a16:colId xmlns:a16="http://schemas.microsoft.com/office/drawing/2014/main" val="20004"/>
                    </a:ext>
                  </a:extLst>
                </a:gridCol>
              </a:tblGrid>
              <a:tr h="314325">
                <a:tc>
                  <a:txBody>
                    <a:bodyPr/>
                    <a:lstStyle/>
                    <a:p>
                      <a:r>
                        <a:rPr sz="1200" b="1" dirty="0" err="1">
                          <a:solidFill>
                            <a:srgbClr val="FFFFFF"/>
                          </a:solidFill>
                          <a:latin typeface="PingFang SC"/>
                          <a:ea typeface="PingFang SC"/>
                          <a:cs typeface="PingFang SC"/>
                        </a:rPr>
                        <a:t>模型</a:t>
                      </a:r>
                      <a:endParaRPr sz="1200" b="1" dirty="0">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表示 / tokenizer</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生成范式</a:t>
                      </a:r>
                    </a:p>
                  </a:txBody>
                  <a:tcPr marL="76200" marR="66675" marT="47625" marB="47625" anchor="ctr">
                    <a:solidFill>
                      <a:srgbClr val="2D6B5B"/>
                    </a:solidFill>
                  </a:tcPr>
                </a:tc>
                <a:tc>
                  <a:txBody>
                    <a:bodyPr/>
                    <a:lstStyle/>
                    <a:p>
                      <a:r>
                        <a:rPr sz="1200" b="1" dirty="0" err="1">
                          <a:solidFill>
                            <a:srgbClr val="FFFFFF"/>
                          </a:solidFill>
                          <a:latin typeface="PingFang SC"/>
                          <a:ea typeface="PingFang SC"/>
                          <a:cs typeface="PingFang SC"/>
                        </a:rPr>
                        <a:t>条件生成设置</a:t>
                      </a:r>
                      <a:endParaRPr sz="1200" b="1" dirty="0">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直接输出</a:t>
                      </a:r>
                    </a:p>
                  </a:txBody>
                  <a:tcPr marL="76200" marR="66675" marT="47625" marB="47625" anchor="ctr">
                    <a:solidFill>
                      <a:srgbClr val="2D6B5B"/>
                    </a:solidFill>
                  </a:tcPr>
                </a:tc>
                <a:extLst>
                  <a:ext uri="{0D108BD9-81ED-4DB2-BD59-A6C34878D82A}">
                    <a16:rowId xmlns:a16="http://schemas.microsoft.com/office/drawing/2014/main" val="10000"/>
                  </a:ext>
                </a:extLst>
              </a:tr>
              <a:tr h="466725">
                <a:tc>
                  <a:txBody>
                    <a:bodyPr/>
                    <a:lstStyle/>
                    <a:p>
                      <a:r>
                        <a:rPr sz="1125" b="1">
                          <a:solidFill>
                            <a:srgbClr val="17372F"/>
                          </a:solidFill>
                          <a:latin typeface="PingFang SC"/>
                          <a:ea typeface="PingFang SC"/>
                          <a:cs typeface="PingFang SC"/>
                        </a:rPr>
                        <a:t>CrystalFormer</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Wyckoff / 元素字段</a:t>
                      </a:r>
                    </a:p>
                    <a:p>
                      <a:r>
                        <a:rPr sz="1125" b="0">
                          <a:solidFill>
                            <a:srgbClr val="17372F"/>
                          </a:solidFill>
                          <a:latin typeface="PingFang SC"/>
                          <a:ea typeface="PingFang SC"/>
                          <a:cs typeface="PingFang SC"/>
                        </a:rPr>
                        <a:t>连续坐标与晶格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逐位点、逐字段</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空间群、结构补全</a:t>
                      </a:r>
                    </a:p>
                    <a:p>
                      <a:r>
                        <a:rPr sz="1125" b="0">
                          <a:solidFill>
                            <a:srgbClr val="17372F"/>
                          </a:solidFill>
                          <a:latin typeface="PingFang SC"/>
                          <a:ea typeface="PingFang SC"/>
                          <a:cs typeface="PingFang SC"/>
                        </a:rPr>
                        <a:t>性质预测器 + MCMC 引导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1"/>
                  </a:ext>
                </a:extLst>
              </a:tr>
              <a:tr h="466725">
                <a:tc>
                  <a:txBody>
                    <a:bodyPr/>
                    <a:lstStyle/>
                    <a:p>
                      <a:r>
                        <a:rPr sz="1125" b="1">
                          <a:solidFill>
                            <a:srgbClr val="17372F"/>
                          </a:solidFill>
                          <a:latin typeface="PingFang SC"/>
                          <a:ea typeface="PingFang SC"/>
                          <a:cs typeface="PingFang SC"/>
                        </a:rPr>
                        <a:t>Matra-Genoa</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可逆混合字段序列</a:t>
                      </a:r>
                    </a:p>
                    <a:p>
                      <a:r>
                        <a:rPr sz="1125" b="0">
                          <a:solidFill>
                            <a:srgbClr val="17372F"/>
                          </a:solidFill>
                          <a:latin typeface="PingFang SC"/>
                          <a:ea typeface="PingFang SC"/>
                          <a:cs typeface="PingFang SC"/>
                        </a:rPr>
                        <a:t>含自由坐标与晶格</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条件前缀后逐项预测</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稳定性、元素系统</a:t>
                      </a:r>
                    </a:p>
                    <a:p>
                      <a:r>
                        <a:rPr sz="1125" b="0">
                          <a:solidFill>
                            <a:srgbClr val="17372F"/>
                          </a:solidFill>
                          <a:latin typeface="PingFang SC"/>
                          <a:ea typeface="PingFang SC"/>
                          <a:cs typeface="PingFang SC"/>
                        </a:rPr>
                        <a:t>支持空间群 / 位点前缀*</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2"/>
                  </a:ext>
                </a:extLst>
              </a:tr>
              <a:tr h="466725">
                <a:tc>
                  <a:txBody>
                    <a:bodyPr/>
                    <a:lstStyle/>
                    <a:p>
                      <a:r>
                        <a:rPr sz="1125" b="1">
                          <a:solidFill>
                            <a:srgbClr val="17372F"/>
                          </a:solidFill>
                          <a:latin typeface="PingFang SC"/>
                          <a:ea typeface="PingFang SC"/>
                          <a:cs typeface="PingFang SC"/>
                        </a:rPr>
                        <a:t>WyFormer</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元素 + 位点对称 + 编号</a:t>
                      </a:r>
                    </a:p>
                    <a:p>
                      <a:r>
                        <a:rPr sz="1125" b="1">
                          <a:solidFill>
                            <a:srgbClr val="17372F"/>
                          </a:solidFill>
                          <a:latin typeface="PingFang SC"/>
                          <a:ea typeface="PingFang SC"/>
                          <a:cs typeface="PingFang SC"/>
                        </a:rPr>
                        <a:t>复合 orbit 单元，无坐标</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自回归级联</a:t>
                      </a:r>
                    </a:p>
                    <a:p>
                      <a:r>
                        <a:rPr sz="1125" b="1">
                          <a:solidFill>
                            <a:srgbClr val="17372F"/>
                          </a:solidFill>
                          <a:latin typeface="PingFang SC"/>
                          <a:ea typeface="PingFang SC"/>
                          <a:cs typeface="PingFang SC"/>
                        </a:rPr>
                        <a:t>无位置编码 + 集合打乱</a:t>
                      </a:r>
                    </a:p>
                  </a:txBody>
                  <a:tcPr marL="76200" marR="66675" marT="47625" marB="47625" anchor="ctr">
                    <a:solidFill>
                      <a:srgbClr val="F5F8F5"/>
                    </a:solidFill>
                  </a:tcPr>
                </a:tc>
                <a:tc>
                  <a:txBody>
                    <a:bodyPr/>
                    <a:lstStyle/>
                    <a:p>
                      <a:r>
                        <a:rPr sz="1125" b="1" dirty="0" err="1">
                          <a:solidFill>
                            <a:srgbClr val="17372F"/>
                          </a:solidFill>
                          <a:latin typeface="PingFang SC"/>
                          <a:ea typeface="PingFang SC"/>
                          <a:cs typeface="PingFang SC"/>
                        </a:rPr>
                        <a:t>空间群条件</a:t>
                      </a:r>
                      <a:endParaRPr sz="1125" b="1"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原型结构</a:t>
                      </a:r>
                    </a:p>
                    <a:p>
                      <a:r>
                        <a:rPr sz="1125" b="1">
                          <a:solidFill>
                            <a:srgbClr val="17372F"/>
                          </a:solidFill>
                          <a:latin typeface="PingFang SC"/>
                          <a:ea typeface="PingFang SC"/>
                          <a:cs typeface="PingFang SC"/>
                        </a:rPr>
                        <a:t>再补几何</a:t>
                      </a:r>
                    </a:p>
                  </a:txBody>
                  <a:tcPr marL="76200" marR="66675" marT="47625" marB="47625" anchor="ctr">
                    <a:solidFill>
                      <a:srgbClr val="F5F8F5"/>
                    </a:solidFill>
                  </a:tcPr>
                </a:tc>
                <a:extLst>
                  <a:ext uri="{0D108BD9-81ED-4DB2-BD59-A6C34878D82A}">
                    <a16:rowId xmlns:a16="http://schemas.microsoft.com/office/drawing/2014/main" val="10003"/>
                  </a:ext>
                </a:extLst>
              </a:tr>
              <a:tr h="466725">
                <a:tc>
                  <a:txBody>
                    <a:bodyPr/>
                    <a:lstStyle/>
                    <a:p>
                      <a:r>
                        <a:rPr sz="1125" b="1" dirty="0" err="1">
                          <a:solidFill>
                            <a:srgbClr val="17372F"/>
                          </a:solidFill>
                          <a:latin typeface="PingFang SC"/>
                          <a:ea typeface="PingFang SC"/>
                          <a:cs typeface="PingFang SC"/>
                        </a:rPr>
                        <a:t>WyckoffDiff</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Wyckoff 位点 × 元素</a:t>
                      </a:r>
                    </a:p>
                    <a:p>
                      <a:r>
                        <a:rPr sz="1125" b="1">
                          <a:solidFill>
                            <a:srgbClr val="17372F"/>
                          </a:solidFill>
                          <a:latin typeface="PingFang SC"/>
                          <a:ea typeface="PingFang SC"/>
                          <a:cs typeface="PingFang SC"/>
                        </a:rPr>
                        <a:t>占据 / 计数离散变量</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非自回归</a:t>
                      </a:r>
                    </a:p>
                    <a:p>
                      <a:r>
                        <a:rPr sz="1125" b="1">
                          <a:solidFill>
                            <a:srgbClr val="17372F"/>
                          </a:solidFill>
                          <a:latin typeface="PingFang SC"/>
                          <a:ea typeface="PingFang SC"/>
                          <a:cs typeface="PingFang SC"/>
                        </a:rPr>
                        <a:t>D3PM 离散扩散</a:t>
                      </a: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按抽取的空间群去噪</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原型结构</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再补几何</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extLst>
                  <a:ext uri="{0D108BD9-81ED-4DB2-BD59-A6C34878D82A}">
                    <a16:rowId xmlns:a16="http://schemas.microsoft.com/office/drawing/2014/main" val="10004"/>
                  </a:ext>
                </a:extLst>
              </a:tr>
              <a:tr h="466725">
                <a:tc>
                  <a:txBody>
                    <a:bodyPr/>
                    <a:lstStyle/>
                    <a:p>
                      <a:r>
                        <a:rPr sz="1125" b="1">
                          <a:solidFill>
                            <a:srgbClr val="17372F"/>
                          </a:solidFill>
                          <a:latin typeface="PingFang SC"/>
                          <a:ea typeface="PingFang SC"/>
                          <a:cs typeface="PingFang SC"/>
                        </a:rPr>
                        <a:t>SymmCD</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不对称单元、位点对称</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元素、连续坐标与晶格</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离散 + 连续扩散</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空间群输入，按先验采样</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5"/>
                  </a:ext>
                </a:extLst>
              </a:tr>
              <a:tr h="466725">
                <a:tc>
                  <a:txBody>
                    <a:bodyPr/>
                    <a:lstStyle/>
                    <a:p>
                      <a:r>
                        <a:rPr sz="1125" b="1">
                          <a:solidFill>
                            <a:srgbClr val="17372F"/>
                          </a:solidFill>
                          <a:latin typeface="PingFang SC"/>
                          <a:ea typeface="PingFang SC"/>
                          <a:cs typeface="PingFang SC"/>
                        </a:rPr>
                        <a:t>DynaCrys</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动态空间群、无序占据集</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学习的对称</a:t>
                      </a:r>
                      <a:r>
                        <a:rPr sz="1125" b="0" dirty="0">
                          <a:solidFill>
                            <a:srgbClr val="17372F"/>
                          </a:solidFill>
                          <a:latin typeface="PingFang SC"/>
                          <a:ea typeface="PingFang SC"/>
                          <a:cs typeface="PingFang SC"/>
                        </a:rPr>
                        <a:t> codebook</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符号与几何两阶段扩散</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主实验为无条件生成</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几何以自生成</a:t>
                      </a:r>
                      <a:r>
                        <a:rPr lang="en-US" altLang="zh-CN" sz="1125" b="0" dirty="0" err="1">
                          <a:solidFill>
                            <a:srgbClr val="17372F"/>
                          </a:solidFill>
                          <a:latin typeface="PingFang SC"/>
                          <a:ea typeface="PingFang SC"/>
                          <a:cs typeface="PingFang SC"/>
                        </a:rPr>
                        <a:t>prototype</a:t>
                      </a:r>
                      <a:r>
                        <a:rPr sz="1125" b="0" dirty="0" err="1">
                          <a:solidFill>
                            <a:srgbClr val="17372F"/>
                          </a:solidFill>
                          <a:latin typeface="PingFang SC"/>
                          <a:ea typeface="PingFang SC"/>
                          <a:cs typeface="PingFang SC"/>
                        </a:rPr>
                        <a:t>为条件</a:t>
                      </a:r>
                      <a:endParaRPr sz="1125" b="0"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6"/>
                  </a:ext>
                </a:extLst>
              </a:tr>
              <a:tr h="466725">
                <a:tc>
                  <a:txBody>
                    <a:bodyPr/>
                    <a:lstStyle/>
                    <a:p>
                      <a:r>
                        <a:rPr sz="1125" b="1">
                          <a:solidFill>
                            <a:srgbClr val="17372F"/>
                          </a:solidFill>
                          <a:latin typeface="PingFang SC"/>
                          <a:ea typeface="PingFang SC"/>
                          <a:cs typeface="PingFang SC"/>
                        </a:rPr>
                        <a:t>MaskGXT</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逐原子 / 字段 token</a:t>
                      </a:r>
                    </a:p>
                    <a:p>
                      <a:r>
                        <a:rPr sz="1125" b="0">
                          <a:solidFill>
                            <a:srgbClr val="17372F"/>
                          </a:solidFill>
                          <a:latin typeface="PingFang SC"/>
                          <a:ea typeface="PingFang SC"/>
                          <a:cs typeface="PingFang SC"/>
                        </a:rPr>
                        <a:t>几何量化 + 连续精度修正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非自回归掩码生成</a:t>
                      </a:r>
                    </a:p>
                    <a:p>
                      <a:r>
                        <a:rPr sz="1125" b="0">
                          <a:solidFill>
                            <a:srgbClr val="17372F"/>
                          </a:solidFill>
                          <a:latin typeface="PingFang SC"/>
                          <a:ea typeface="PingFang SC"/>
                          <a:cs typeface="PingFang SC"/>
                        </a:rPr>
                        <a:t>按置信度迭代并行解码</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给定化学组成的</a:t>
                      </a:r>
                      <a:r>
                        <a:rPr sz="1125" b="0" dirty="0">
                          <a:solidFill>
                            <a:srgbClr val="17372F"/>
                          </a:solidFill>
                          <a:latin typeface="PingFang SC"/>
                          <a:ea typeface="PingFang SC"/>
                          <a:cs typeface="PingFang SC"/>
                        </a:rPr>
                        <a:t> CSP</a:t>
                      </a:r>
                    </a:p>
                    <a:p>
                      <a:r>
                        <a:rPr sz="1125" b="0" dirty="0" err="1">
                          <a:solidFill>
                            <a:srgbClr val="17372F"/>
                          </a:solidFill>
                          <a:latin typeface="PingFang SC"/>
                          <a:ea typeface="PingFang SC"/>
                          <a:cs typeface="PingFang SC"/>
                        </a:rPr>
                        <a:t>原子类型与数量已知</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7"/>
                  </a:ext>
                </a:extLst>
              </a:tr>
              <a:tr h="466725">
                <a:tc>
                  <a:txBody>
                    <a:bodyPr/>
                    <a:lstStyle/>
                    <a:p>
                      <a:r>
                        <a:rPr sz="1125" b="1">
                          <a:solidFill>
                            <a:srgbClr val="17372F"/>
                          </a:solidFill>
                          <a:latin typeface="PingFang SC"/>
                          <a:ea typeface="PingFang SC"/>
                          <a:cs typeface="PingFang SC"/>
                        </a:rPr>
                        <a:t>WyckoffDiff-</a:t>
                      </a:r>
                    </a:p>
                    <a:p>
                      <a:r>
                        <a:rPr sz="1125" b="1">
                          <a:solidFill>
                            <a:srgbClr val="17372F"/>
                          </a:solidFill>
                          <a:latin typeface="PingFang SC"/>
                          <a:ea typeface="PingFang SC"/>
                          <a:cs typeface="PingFang SC"/>
                        </a:rPr>
                        <a:t>Adaptor（补充）</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沿用占据 / 计数表示</a:t>
                      </a:r>
                    </a:p>
                    <a:p>
                      <a:r>
                        <a:rPr sz="1125" b="0">
                          <a:solidFill>
                            <a:srgbClr val="17372F"/>
                          </a:solidFill>
                          <a:latin typeface="PingFang SC"/>
                          <a:ea typeface="PingFang SC"/>
                          <a:cs typeface="PingFang SC"/>
                        </a:rPr>
                        <a:t>去噪网络加入条件适配器</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条件离散扩散</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空间群</a:t>
                      </a:r>
                      <a:r>
                        <a:rPr sz="1125" b="0" dirty="0">
                          <a:solidFill>
                            <a:srgbClr val="17372F"/>
                          </a:solidFill>
                          <a:latin typeface="PingFang SC"/>
                          <a:ea typeface="PingFang SC"/>
                          <a:cs typeface="PingFang SC"/>
                        </a:rPr>
                        <a:t> + </a:t>
                      </a:r>
                      <a:r>
                        <a:rPr sz="1125" b="0" dirty="0" err="1">
                          <a:solidFill>
                            <a:srgbClr val="17372F"/>
                          </a:solidFill>
                          <a:latin typeface="PingFang SC"/>
                          <a:ea typeface="PingFang SC"/>
                          <a:cs typeface="PingFang SC"/>
                        </a:rPr>
                        <a:t>元素系统</a:t>
                      </a:r>
                      <a:endParaRPr sz="1125" b="0" dirty="0">
                        <a:solidFill>
                          <a:srgbClr val="17372F"/>
                        </a:solidFill>
                        <a:latin typeface="PingFang SC"/>
                        <a:ea typeface="PingFang SC"/>
                        <a:cs typeface="PingFang SC"/>
                      </a:endParaRPr>
                    </a:p>
                    <a:p>
                      <a:r>
                        <a:rPr sz="1125" b="0" dirty="0">
                          <a:solidFill>
                            <a:srgbClr val="17372F"/>
                          </a:solidFill>
                          <a:latin typeface="PingFang SC"/>
                          <a:ea typeface="PingFang SC"/>
                          <a:cs typeface="PingFang SC"/>
                        </a:rPr>
                        <a:t>+ </a:t>
                      </a:r>
                      <a:r>
                        <a:rPr sz="1125" b="0" dirty="0" err="1">
                          <a:solidFill>
                            <a:srgbClr val="17372F"/>
                          </a:solidFill>
                          <a:latin typeface="PingFang SC"/>
                          <a:ea typeface="PingFang SC"/>
                          <a:cs typeface="PingFang SC"/>
                        </a:rPr>
                        <a:t>凸包上方能量条件</a:t>
                      </a:r>
                      <a:endParaRPr sz="1125" b="0"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原型结构</a:t>
                      </a:r>
                    </a:p>
                    <a:p>
                      <a:r>
                        <a:rPr sz="1125" b="0">
                          <a:solidFill>
                            <a:srgbClr val="17372F"/>
                          </a:solidFill>
                          <a:latin typeface="PingFang SC"/>
                          <a:ea typeface="PingFang SC"/>
                          <a:cs typeface="PingFang SC"/>
                        </a:rPr>
                        <a:t>再补几何</a:t>
                      </a:r>
                    </a:p>
                  </a:txBody>
                  <a:tcPr marL="76200" marR="66675" marT="47625" marB="47625" anchor="ctr">
                    <a:solidFill>
                      <a:srgbClr val="EAF0EB"/>
                    </a:solidFill>
                  </a:tcPr>
                </a:tc>
                <a:extLst>
                  <a:ext uri="{0D108BD9-81ED-4DB2-BD59-A6C34878D82A}">
                    <a16:rowId xmlns:a16="http://schemas.microsoft.com/office/drawing/2014/main" val="10008"/>
                  </a:ext>
                </a:extLst>
              </a:tr>
              <a:tr h="466725">
                <a:tc>
                  <a:txBody>
                    <a:bodyPr/>
                    <a:lstStyle/>
                    <a:p>
                      <a:r>
                        <a:rPr sz="1125" b="1">
                          <a:solidFill>
                            <a:srgbClr val="17372F"/>
                          </a:solidFill>
                          <a:latin typeface="PingFang SC"/>
                          <a:ea typeface="PingFang SC"/>
                          <a:cs typeface="PingFang SC"/>
                        </a:rPr>
                        <a:t>CrystalDLM</a:t>
                      </a:r>
                    </a:p>
                    <a:p>
                      <a:r>
                        <a:rPr sz="1125" b="1">
                          <a:solidFill>
                            <a:srgbClr val="17372F"/>
                          </a:solidFill>
                          <a:latin typeface="PingFang SC"/>
                          <a:ea typeface="PingFang SC"/>
                          <a:cs typeface="PingFang SC"/>
                        </a:rPr>
                        <a:t>（边轨道候选）</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位点约束＋边轨道</a:t>
                      </a:r>
                    </a:p>
                    <a:p>
                      <a:r>
                        <a:rPr sz="1125" b="1">
                          <a:solidFill>
                            <a:srgbClr val="17372F"/>
                          </a:solidFill>
                          <a:latin typeface="PingFang SC"/>
                          <a:ea typeface="PingFang SC"/>
                          <a:cs typeface="PingFang SC"/>
                        </a:rPr>
                        <a:t>离散原型、几何分离</a:t>
                      </a: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非自回归扩散</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并行</a:t>
                      </a:r>
                      <a:r>
                        <a:rPr lang="en-US" altLang="zh-CN" sz="1125" b="1" dirty="0" err="1">
                          <a:solidFill>
                            <a:srgbClr val="17372F"/>
                          </a:solidFill>
                          <a:latin typeface="PingFang SC"/>
                          <a:ea typeface="PingFang SC"/>
                          <a:cs typeface="PingFang SC"/>
                        </a:rPr>
                        <a:t>mask</a:t>
                      </a:r>
                      <a:r>
                        <a:rPr sz="1125" b="1" dirty="0" err="1">
                          <a:solidFill>
                            <a:srgbClr val="17372F"/>
                          </a:solidFill>
                          <a:latin typeface="PingFang SC"/>
                          <a:ea typeface="PingFang SC"/>
                          <a:cs typeface="PingFang SC"/>
                        </a:rPr>
                        <a:t>单级去噪</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原型＋指定晶格</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最终应用条件待定</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原型编码</a:t>
                      </a:r>
                      <a:endParaRPr sz="1125" b="1" dirty="0">
                        <a:solidFill>
                          <a:srgbClr val="17372F"/>
                        </a:solidFill>
                        <a:latin typeface="PingFang SC"/>
                        <a:ea typeface="PingFang SC"/>
                        <a:cs typeface="PingFang SC"/>
                      </a:endParaRPr>
                    </a:p>
                    <a:p>
                      <a:r>
                        <a:rPr lang="zh-CN" altLang="en-US" sz="1125" b="1" dirty="0">
                          <a:solidFill>
                            <a:srgbClr val="17372F"/>
                          </a:solidFill>
                          <a:latin typeface="PingFang SC"/>
                          <a:ea typeface="PingFang SC"/>
                          <a:cs typeface="PingFang SC"/>
                        </a:rPr>
                        <a:t>再补几何</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extLst>
                  <a:ext uri="{0D108BD9-81ED-4DB2-BD59-A6C34878D82A}">
                    <a16:rowId xmlns:a16="http://schemas.microsoft.com/office/drawing/2014/main" val="10009"/>
                  </a:ext>
                </a:extLst>
              </a:tr>
            </a:tbl>
          </a:graphicData>
        </a:graphic>
      </p:graphicFrame>
      <p:sp>
        <p:nvSpPr>
          <p:cNvPr id="2" name="TextBox 1">
            <a:extLst>
              <a:ext uri="{FF2B5EF4-FFF2-40B4-BE49-F238E27FC236}">
                <a16:creationId xmlns:a16="http://schemas.microsoft.com/office/drawing/2014/main" id="{F006ADBE-9EC2-71ED-A573-E4126EE5A546}"/>
              </a:ext>
            </a:extLst>
          </p:cNvPr>
          <p:cNvSpPr txBox="1"/>
          <p:nvPr/>
        </p:nvSpPr>
        <p:spPr>
          <a:xfrm>
            <a:off x="2363190" y="676894"/>
            <a:ext cx="1107996" cy="369332"/>
          </a:xfrm>
          <a:prstGeom prst="rect">
            <a:avLst/>
          </a:prstGeom>
          <a:noFill/>
        </p:spPr>
        <p:txBody>
          <a:bodyPr wrap="none" rtlCol="0">
            <a:spAutoFit/>
          </a:bodyPr>
          <a:lstStyle/>
          <a:p>
            <a:r>
              <a:rPr lang="en-001" dirty="0"/>
              <a:t>论文调研</a:t>
            </a:r>
          </a:p>
        </p:txBody>
      </p:sp>
    </p:spTree>
    <p:extLst>
      <p:ext uri="{BB962C8B-B14F-4D97-AF65-F5344CB8AC3E}">
        <p14:creationId xmlns:p14="http://schemas.microsoft.com/office/powerpoint/2010/main" val="3729829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A1EBC1C-0333-27CA-7615-8500237EA192}"/>
              </a:ext>
            </a:extLst>
          </p:cNvPr>
          <p:cNvSpPr txBox="1"/>
          <p:nvPr/>
        </p:nvSpPr>
        <p:spPr>
          <a:xfrm>
            <a:off x="1581593" y="3858259"/>
            <a:ext cx="8604398" cy="2031325"/>
          </a:xfrm>
          <a:prstGeom prst="rect">
            <a:avLst/>
          </a:prstGeom>
          <a:noFill/>
        </p:spPr>
        <p:txBody>
          <a:bodyPr wrap="square">
            <a:spAutoFit/>
          </a:bodyPr>
          <a:lstStyle/>
          <a:p>
            <a:pPr>
              <a:buNone/>
            </a:pPr>
            <a:r>
              <a:rPr lang="zh-CN" altLang="en-US" dirty="0"/>
              <a:t>比如，</a:t>
            </a:r>
            <a:r>
              <a:rPr lang="en-US" altLang="zh-CN" dirty="0"/>
              <a:t>A </a:t>
            </a:r>
            <a:r>
              <a:rPr lang="zh-CN" altLang="en-US" dirty="0"/>
              <a:t>附近有几个属于同一个 </a:t>
            </a:r>
            <a:r>
              <a:rPr lang="en-US" altLang="zh-CN" dirty="0"/>
              <a:t>Wyckoff </a:t>
            </a:r>
            <a:r>
              <a:rPr lang="zh-CN" altLang="en-US" dirty="0"/>
              <a:t>位点的 </a:t>
            </a:r>
            <a:r>
              <a:rPr lang="en-US" altLang="zh-CN" dirty="0"/>
              <a:t>B </a:t>
            </a:r>
            <a:r>
              <a:rPr lang="zh-CN" altLang="en-US" dirty="0"/>
              <a:t>原子：一个在当前晶胞，一个在相邻晶胞。只写“</a:t>
            </a:r>
            <a:r>
              <a:rPr lang="en-US" altLang="zh-CN" dirty="0"/>
              <a:t>A </a:t>
            </a:r>
            <a:r>
              <a:rPr lang="zh-CN" altLang="en-US" dirty="0"/>
              <a:t>连接 </a:t>
            </a:r>
            <a:r>
              <a:rPr lang="en-US" altLang="zh-CN" dirty="0"/>
              <a:t>B </a:t>
            </a:r>
            <a:r>
              <a:rPr lang="zh-CN" altLang="en-US" dirty="0"/>
              <a:t>位点”，还没有指明具体连接谁。操作和平移标签是在给这个邻居“标地址”。晶体学 </a:t>
            </a:r>
            <a:r>
              <a:rPr lang="en-US" altLang="zh-CN" dirty="0"/>
              <a:t>CIF </a:t>
            </a:r>
            <a:r>
              <a:rPr lang="zh-CN" altLang="en-US" dirty="0"/>
              <a:t>的连接记录也采用类似方式，用对称操作编号和晶胞平移标记连接端点。</a:t>
            </a:r>
            <a:endParaRPr lang="en-US" altLang="zh-CN" dirty="0"/>
          </a:p>
          <a:p>
            <a:pPr>
              <a:buNone/>
            </a:pPr>
            <a:r>
              <a:rPr lang="zh-CN" altLang="en-US" dirty="0"/>
              <a:t>我们希望在生成几何之前，就显式给模型提供周期连接关系时，把它们放进 </a:t>
            </a:r>
            <a:r>
              <a:rPr lang="en-US" altLang="zh-CN" dirty="0"/>
              <a:t>tokenizer </a:t>
            </a:r>
            <a:r>
              <a:rPr lang="zh-CN" altLang="en-US" dirty="0"/>
              <a:t>才有明确用途。这里的晶格平移也不是原子需要学习的连续位移，而是整数晶胞编号。</a:t>
            </a:r>
          </a:p>
        </p:txBody>
      </p:sp>
      <p:pic>
        <p:nvPicPr>
          <p:cNvPr id="6" name="图片 5">
            <a:extLst>
              <a:ext uri="{FF2B5EF4-FFF2-40B4-BE49-F238E27FC236}">
                <a16:creationId xmlns:a16="http://schemas.microsoft.com/office/drawing/2014/main" id="{0E39891D-EC84-3CD0-2A79-EC3364F7A66A}"/>
              </a:ext>
            </a:extLst>
          </p:cNvPr>
          <p:cNvPicPr>
            <a:picLocks noChangeAspect="1"/>
          </p:cNvPicPr>
          <p:nvPr/>
        </p:nvPicPr>
        <p:blipFill>
          <a:blip r:embed="rId2"/>
          <a:stretch>
            <a:fillRect/>
          </a:stretch>
        </p:blipFill>
        <p:spPr>
          <a:xfrm>
            <a:off x="1254432" y="1286541"/>
            <a:ext cx="9683135" cy="1483002"/>
          </a:xfrm>
          <a:prstGeom prst="rect">
            <a:avLst/>
          </a:prstGeom>
        </p:spPr>
      </p:pic>
    </p:spTree>
    <p:extLst>
      <p:ext uri="{BB962C8B-B14F-4D97-AF65-F5344CB8AC3E}">
        <p14:creationId xmlns:p14="http://schemas.microsoft.com/office/powerpoint/2010/main" val="3596328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8178518-54DE-B71F-58F1-6DF176EDE599}"/>
              </a:ext>
            </a:extLst>
          </p:cNvPr>
          <p:cNvSpPr>
            <a:spLocks noGrp="1"/>
          </p:cNvSpPr>
          <p:nvPr>
            <p:ph type="sldNum" sz="quarter" idx="4"/>
          </p:nvPr>
        </p:nvSpPr>
        <p:spPr/>
        <p:txBody>
          <a:bodyPr/>
          <a:lstStyle/>
          <a:p>
            <a:fld id="{48D82B17-3AA5-DB4E-A79B-C818A6AD8FB8}" type="slidenum">
              <a:rPr lang="en-CN" smtClean="0"/>
              <a:pPr/>
              <a:t>13</a:t>
            </a:fld>
            <a:endParaRPr lang="en-CN" dirty="0"/>
          </a:p>
        </p:txBody>
      </p:sp>
      <p:graphicFrame>
        <p:nvGraphicFramePr>
          <p:cNvPr id="5" name="表格 4">
            <a:extLst>
              <a:ext uri="{FF2B5EF4-FFF2-40B4-BE49-F238E27FC236}">
                <a16:creationId xmlns:a16="http://schemas.microsoft.com/office/drawing/2014/main" id="{FB2BAF59-2322-C4B2-79CC-1AD661866A88}"/>
              </a:ext>
            </a:extLst>
          </p:cNvPr>
          <p:cNvGraphicFramePr/>
          <p:nvPr/>
        </p:nvGraphicFramePr>
        <p:xfrm>
          <a:off x="762000" y="1543050"/>
          <a:ext cx="10668000" cy="4457700"/>
        </p:xfrm>
        <a:graphic>
          <a:graphicData uri="http://schemas.openxmlformats.org/drawingml/2006/table">
            <a:tbl>
              <a:tblPr/>
              <a:tblGrid>
                <a:gridCol w="26289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3676650">
                  <a:extLst>
                    <a:ext uri="{9D8B030D-6E8A-4147-A177-3AD203B41FA5}">
                      <a16:colId xmlns:a16="http://schemas.microsoft.com/office/drawing/2014/main" val="20003"/>
                    </a:ext>
                  </a:extLst>
                </a:gridCol>
              </a:tblGrid>
              <a:tr h="342900">
                <a:tc>
                  <a:txBody>
                    <a:bodyPr/>
                    <a:lstStyle/>
                    <a:p>
                      <a:r>
                        <a:rPr sz="1350" b="1" dirty="0" err="1">
                          <a:solidFill>
                            <a:srgbClr val="FFFFFF"/>
                          </a:solidFill>
                          <a:latin typeface="PingFang SC"/>
                          <a:ea typeface="PingFang SC"/>
                          <a:cs typeface="PingFang SC"/>
                        </a:rPr>
                        <a:t>方案</a:t>
                      </a:r>
                      <a:endParaRPr sz="1350" b="1" dirty="0">
                        <a:solidFill>
                          <a:srgbClr val="FFFFFF"/>
                        </a:solidFill>
                        <a:latin typeface="PingFang SC"/>
                        <a:ea typeface="PingFang SC"/>
                        <a:cs typeface="PingFang SC"/>
                      </a:endParaRP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分词 / 表示方法</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验证阶段</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结果与判断</a:t>
                      </a:r>
                    </a:p>
                  </a:txBody>
                  <a:tcPr marL="85725" marR="76200" marT="47625" marB="47625" anchor="ctr">
                    <a:solidFill>
                      <a:srgbClr val="2D6B5B"/>
                    </a:solidFill>
                  </a:tcPr>
                </a:tc>
                <a:extLst>
                  <a:ext uri="{0D108BD9-81ED-4DB2-BD59-A6C34878D82A}">
                    <a16:rowId xmlns:a16="http://schemas.microsoft.com/office/drawing/2014/main" val="10000"/>
                  </a:ext>
                </a:extLst>
              </a:tr>
              <a:tr h="514350">
                <a:tc>
                  <a:txBody>
                    <a:bodyPr/>
                    <a:lstStyle/>
                    <a:p>
                      <a:r>
                        <a:rPr sz="1200" b="1">
                          <a:solidFill>
                            <a:srgbClr val="17372F"/>
                          </a:solidFill>
                          <a:latin typeface="PingFang SC"/>
                          <a:ea typeface="PingFang SC"/>
                          <a:cs typeface="PingFang SC"/>
                        </a:rPr>
                        <a:t>1  完整占位配置大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同一元素的整套 WP 占位配置</a:t>
                      </a:r>
                    </a:p>
                    <a:p>
                      <a:r>
                        <a:rPr sz="1200" b="0">
                          <a:solidFill>
                            <a:srgbClr val="17372F"/>
                          </a:solidFill>
                          <a:latin typeface="PingFang SC"/>
                          <a:ea typeface="PingFang SC"/>
                          <a:cs typeface="PingFang SC"/>
                        </a:rPr>
                        <a:t>独立成词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词表计算</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扫描 230 个空间群，部分组合数量爆炸</a:t>
                      </a:r>
                    </a:p>
                    <a:p>
                      <a:r>
                        <a:rPr sz="1200" b="0">
                          <a:solidFill>
                            <a:srgbClr val="17372F"/>
                          </a:solidFill>
                          <a:latin typeface="PingFang SC"/>
                          <a:ea typeface="PingFang SC"/>
                          <a:cs typeface="PingFang SC"/>
                        </a:rPr>
                        <a:t>不采用全覆盖的大词表</a:t>
                      </a:r>
                    </a:p>
                  </a:txBody>
                  <a:tcPr marL="85725" marR="76200" marT="47625" marB="47625" anchor="ctr">
                    <a:solidFill>
                      <a:srgbClr val="F5F8F5"/>
                    </a:solidFill>
                  </a:tcPr>
                </a:tc>
                <a:extLst>
                  <a:ext uri="{0D108BD9-81ED-4DB2-BD59-A6C34878D82A}">
                    <a16:rowId xmlns:a16="http://schemas.microsoft.com/office/drawing/2014/main" val="10001"/>
                  </a:ext>
                </a:extLst>
              </a:tr>
              <a:tr h="514350">
                <a:tc>
                  <a:txBody>
                    <a:bodyPr/>
                    <a:lstStyle/>
                    <a:p>
                      <a:r>
                        <a:rPr sz="1200" b="1">
                          <a:solidFill>
                            <a:srgbClr val="17372F"/>
                          </a:solidFill>
                          <a:latin typeface="PingFang SC"/>
                          <a:ea typeface="PingFang SC"/>
                          <a:cs typeface="PingFang SC"/>
                        </a:rPr>
                        <a:t>2  完整占位的组合式编码</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将各 WP 占位记录组合</a:t>
                      </a:r>
                    </a:p>
                    <a:p>
                      <a:r>
                        <a:rPr sz="1200" b="0">
                          <a:solidFill>
                            <a:srgbClr val="17372F"/>
                          </a:solidFill>
                          <a:latin typeface="PingFang SC"/>
                          <a:ea typeface="PingFang SC"/>
                          <a:cs typeface="PingFang SC"/>
                        </a:rPr>
                        <a:t>编码成完整配置表示</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模型对照</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相同联合解码下，匹配率仅增 0.20 个百分点</a:t>
                      </a:r>
                    </a:p>
                    <a:p>
                      <a:r>
                        <a:rPr sz="1200" b="0">
                          <a:solidFill>
                            <a:srgbClr val="17372F"/>
                          </a:solidFill>
                          <a:latin typeface="PingFang SC"/>
                          <a:ea typeface="PingFang SC"/>
                          <a:cs typeface="PingFang SC"/>
                        </a:rPr>
                        <a:t>未确认预测收益</a:t>
                      </a:r>
                    </a:p>
                  </a:txBody>
                  <a:tcPr marL="85725" marR="76200" marT="47625" marB="47625" anchor="ctr">
                    <a:solidFill>
                      <a:srgbClr val="EAF0EB"/>
                    </a:solidFill>
                  </a:tcPr>
                </a:tc>
                <a:extLst>
                  <a:ext uri="{0D108BD9-81ED-4DB2-BD59-A6C34878D82A}">
                    <a16:rowId xmlns:a16="http://schemas.microsoft.com/office/drawing/2014/main" val="10002"/>
                  </a:ext>
                </a:extLst>
              </a:tr>
              <a:tr h="514350">
                <a:tc>
                  <a:txBody>
                    <a:bodyPr/>
                    <a:lstStyle/>
                    <a:p>
                      <a:r>
                        <a:rPr sz="1200" b="1">
                          <a:solidFill>
                            <a:srgbClr val="17372F"/>
                          </a:solidFill>
                          <a:latin typeface="PingFang SC"/>
                          <a:ea typeface="PingFang SC"/>
                          <a:cs typeface="PingFang SC"/>
                        </a:rPr>
                        <a:t>3  无序 WP 集合合并</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将常共同出现的同元素</a:t>
                      </a:r>
                    </a:p>
                    <a:p>
                      <a:r>
                        <a:rPr sz="1200" b="0">
                          <a:solidFill>
                            <a:srgbClr val="17372F"/>
                          </a:solidFill>
                          <a:latin typeface="PingFang SC"/>
                          <a:ea typeface="PingFang SC"/>
                          <a:cs typeface="PingFang SC"/>
                        </a:rPr>
                        <a:t>WP 轨道合成一个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可逆编码＋模型</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可以压缩，未证明优于简单计数编码</a:t>
                      </a:r>
                    </a:p>
                    <a:p>
                      <a:r>
                        <a:rPr sz="1200" b="0">
                          <a:solidFill>
                            <a:srgbClr val="17372F"/>
                          </a:solidFill>
                          <a:latin typeface="PingFang SC"/>
                          <a:ea typeface="PingFang SC"/>
                          <a:cs typeface="PingFang SC"/>
                        </a:rPr>
                        <a:t>随后调整为计数块方案</a:t>
                      </a:r>
                    </a:p>
                  </a:txBody>
                  <a:tcPr marL="85725" marR="76200" marT="47625" marB="47625" anchor="ctr">
                    <a:solidFill>
                      <a:srgbClr val="F5F8F5"/>
                    </a:solidFill>
                  </a:tcPr>
                </a:tc>
                <a:extLst>
                  <a:ext uri="{0D108BD9-81ED-4DB2-BD59-A6C34878D82A}">
                    <a16:rowId xmlns:a16="http://schemas.microsoft.com/office/drawing/2014/main" val="10003"/>
                  </a:ext>
                </a:extLst>
              </a:tr>
              <a:tr h="514350">
                <a:tc>
                  <a:txBody>
                    <a:bodyPr/>
                    <a:lstStyle/>
                    <a:p>
                      <a:r>
                        <a:rPr sz="1200" b="1">
                          <a:solidFill>
                            <a:srgbClr val="17372F"/>
                          </a:solidFill>
                          <a:latin typeface="PingFang SC"/>
                          <a:ea typeface="PingFang SC"/>
                          <a:cs typeface="PingFang SC"/>
                        </a:rPr>
                        <a:t>4  WP 计数块合并</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先记录 WP 与出现次数</a:t>
                      </a:r>
                    </a:p>
                    <a:p>
                      <a:r>
                        <a:rPr sz="1200" b="0">
                          <a:solidFill>
                            <a:srgbClr val="17372F"/>
                          </a:solidFill>
                          <a:latin typeface="PingFang SC"/>
                          <a:ea typeface="PingFang SC"/>
                          <a:cs typeface="PingFang SC"/>
                        </a:rPr>
                        <a:t>再合并常见的多条计数记录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三种子模型＋测试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测试编码单元减少约 9.6%</a:t>
                      </a:r>
                    </a:p>
                    <a:p>
                      <a:r>
                        <a:rPr sz="1200" b="0">
                          <a:solidFill>
                            <a:srgbClr val="17372F"/>
                          </a:solidFill>
                          <a:latin typeface="PingFang SC"/>
                          <a:ea typeface="PingFang SC"/>
                          <a:cs typeface="PingFang SC"/>
                        </a:rPr>
                        <a:t>预测质量无稳定提升，停止扩大实验</a:t>
                      </a:r>
                    </a:p>
                  </a:txBody>
                  <a:tcPr marL="85725" marR="76200" marT="47625" marB="47625" anchor="ctr">
                    <a:solidFill>
                      <a:srgbClr val="EAF0EB"/>
                    </a:solidFill>
                  </a:tcPr>
                </a:tc>
                <a:extLst>
                  <a:ext uri="{0D108BD9-81ED-4DB2-BD59-A6C34878D82A}">
                    <a16:rowId xmlns:a16="http://schemas.microsoft.com/office/drawing/2014/main" val="10004"/>
                  </a:ext>
                </a:extLst>
              </a:tr>
              <a:tr h="514350">
                <a:tc>
                  <a:txBody>
                    <a:bodyPr/>
                    <a:lstStyle/>
                    <a:p>
                      <a:r>
                        <a:rPr sz="1200" b="1">
                          <a:solidFill>
                            <a:srgbClr val="17372F"/>
                          </a:solidFill>
                          <a:latin typeface="PingFang SC"/>
                          <a:ea typeface="PingFang SC"/>
                          <a:cs typeface="PingFang SC"/>
                        </a:rPr>
                        <a:t>5  重数组合＋WP 分配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先按对称等价原子组的大小汇总</a:t>
                      </a:r>
                    </a:p>
                    <a:p>
                      <a:r>
                        <a:rPr sz="1200" b="0">
                          <a:solidFill>
                            <a:srgbClr val="17372F"/>
                          </a:solidFill>
                          <a:latin typeface="PingFang SC"/>
                          <a:ea typeface="PingFang SC"/>
                          <a:cs typeface="PingFang SC"/>
                        </a:rPr>
                        <a:t>再补充具体 WP 身份</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模型分解＋消融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层级概率形式未优于共同打分</a:t>
                      </a:r>
                    </a:p>
                    <a:p>
                      <a:r>
                        <a:rPr sz="1200" b="0">
                          <a:solidFill>
                            <a:srgbClr val="17372F"/>
                          </a:solidFill>
                          <a:latin typeface="PingFang SC"/>
                          <a:ea typeface="PingFang SC"/>
                          <a:cs typeface="PingFang SC"/>
                        </a:rPr>
                        <a:t>未确认按重数聚合的收益</a:t>
                      </a:r>
                    </a:p>
                  </a:txBody>
                  <a:tcPr marL="85725" marR="76200" marT="47625" marB="47625" anchor="ctr">
                    <a:solidFill>
                      <a:srgbClr val="F5F8F5"/>
                    </a:solidFill>
                  </a:tcPr>
                </a:tc>
                <a:extLst>
                  <a:ext uri="{0D108BD9-81ED-4DB2-BD59-A6C34878D82A}">
                    <a16:rowId xmlns:a16="http://schemas.microsoft.com/office/drawing/2014/main" val="10005"/>
                  </a:ext>
                </a:extLst>
              </a:tr>
              <a:tr h="514350">
                <a:tc>
                  <a:txBody>
                    <a:bodyPr/>
                    <a:lstStyle/>
                    <a:p>
                      <a:r>
                        <a:rPr sz="1200" b="1">
                          <a:solidFill>
                            <a:srgbClr val="17372F"/>
                          </a:solidFill>
                          <a:latin typeface="PingFang SC"/>
                          <a:ea typeface="PingFang SC"/>
                          <a:cs typeface="PingFang SC"/>
                        </a:rPr>
                        <a:t>6  位点类型计数＋WP 分配</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先按位点点群类型汇总占位</a:t>
                      </a:r>
                    </a:p>
                    <a:p>
                      <a:r>
                        <a:rPr sz="1200" b="0">
                          <a:solidFill>
                            <a:srgbClr val="17372F"/>
                          </a:solidFill>
                          <a:latin typeface="PingFang SC"/>
                          <a:ea typeface="PingFang SC"/>
                          <a:cs typeface="PingFang SC"/>
                        </a:rPr>
                        <a:t>再补充具体 WP 身份</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编码检查＋模型</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未达到预定的模型收益门槛</a:t>
                      </a:r>
                    </a:p>
                    <a:p>
                      <a:r>
                        <a:rPr sz="1200" b="0">
                          <a:solidFill>
                            <a:srgbClr val="17372F"/>
                          </a:solidFill>
                          <a:latin typeface="PingFang SC"/>
                          <a:ea typeface="PingFang SC"/>
                          <a:cs typeface="PingFang SC"/>
                        </a:rPr>
                        <a:t>停止扩大该分支</a:t>
                      </a:r>
                    </a:p>
                  </a:txBody>
                  <a:tcPr marL="85725" marR="76200" marT="47625" marB="47625" anchor="ctr">
                    <a:solidFill>
                      <a:srgbClr val="EAF0EB"/>
                    </a:solidFill>
                  </a:tcPr>
                </a:tc>
                <a:extLst>
                  <a:ext uri="{0D108BD9-81ED-4DB2-BD59-A6C34878D82A}">
                    <a16:rowId xmlns:a16="http://schemas.microsoft.com/office/drawing/2014/main" val="10006"/>
                  </a:ext>
                </a:extLst>
              </a:tr>
              <a:tr h="514350">
                <a:tc>
                  <a:txBody>
                    <a:bodyPr/>
                    <a:lstStyle/>
                    <a:p>
                      <a:r>
                        <a:rPr sz="1200" b="1">
                          <a:solidFill>
                            <a:srgbClr val="17372F"/>
                          </a:solidFill>
                          <a:latin typeface="PingFang SC"/>
                          <a:ea typeface="PingFang SC"/>
                          <a:cs typeface="PingFang SC"/>
                        </a:rPr>
                        <a:t>7  群–子群 / WP 分裂动作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将子群选择与 WP 分裂</a:t>
                      </a:r>
                    </a:p>
                    <a:p>
                      <a:r>
                        <a:rPr sz="1200" b="0">
                          <a:solidFill>
                            <a:srgbClr val="17372F"/>
                          </a:solidFill>
                          <a:latin typeface="PingFang SC"/>
                          <a:ea typeface="PingFang SC"/>
                          <a:cs typeface="PingFang SC"/>
                        </a:rPr>
                        <a:t>编码为生成动作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仅文献筛查</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已有工作明显覆盖相关思路</a:t>
                      </a:r>
                    </a:p>
                    <a:p>
                      <a:r>
                        <a:rPr sz="1200" b="0">
                          <a:solidFill>
                            <a:srgbClr val="17372F"/>
                          </a:solidFill>
                          <a:latin typeface="PingFang SC"/>
                          <a:ea typeface="PingFang SC"/>
                          <a:cs typeface="PingFang SC"/>
                        </a:rPr>
                        <a:t>未进入实现和训练</a:t>
                      </a:r>
                    </a:p>
                  </a:txBody>
                  <a:tcPr marL="85725" marR="76200" marT="47625" marB="47625" anchor="ctr">
                    <a:solidFill>
                      <a:srgbClr val="F5F8F5"/>
                    </a:solidFill>
                  </a:tcPr>
                </a:tc>
                <a:extLst>
                  <a:ext uri="{0D108BD9-81ED-4DB2-BD59-A6C34878D82A}">
                    <a16:rowId xmlns:a16="http://schemas.microsoft.com/office/drawing/2014/main" val="10007"/>
                  </a:ext>
                </a:extLst>
              </a:tr>
              <a:tr h="514350">
                <a:tc>
                  <a:txBody>
                    <a:bodyPr/>
                    <a:lstStyle/>
                    <a:p>
                      <a:r>
                        <a:rPr sz="1200" b="1">
                          <a:solidFill>
                            <a:srgbClr val="17372F"/>
                          </a:solidFill>
                          <a:latin typeface="PingFang SC"/>
                          <a:ea typeface="PingFang SC"/>
                          <a:cs typeface="PingFang SC"/>
                        </a:rPr>
                        <a:t>8  空间群边轨道 tokenizer</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合并对称等价的邻接关系</a:t>
                      </a:r>
                    </a:p>
                    <a:p>
                      <a:r>
                        <a:rPr sz="1200" b="1">
                          <a:solidFill>
                            <a:srgbClr val="17372F"/>
                          </a:solidFill>
                          <a:latin typeface="PingFang SC"/>
                          <a:ea typeface="PingFang SC"/>
                          <a:cs typeface="PingFang SC"/>
                        </a:rPr>
                        <a:t>离散原型与连续几何分开</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编码＋模型＋去噪</a:t>
                      </a:r>
                    </a:p>
                  </a:txBody>
                  <a:tcPr marL="85725" marR="76200" marT="47625" marB="47625" anchor="ctr">
                    <a:solidFill>
                      <a:srgbClr val="DCECE3"/>
                    </a:solidFill>
                  </a:tcPr>
                </a:tc>
                <a:tc>
                  <a:txBody>
                    <a:bodyPr/>
                    <a:lstStyle/>
                    <a:p>
                      <a:r>
                        <a:rPr sz="1200" b="1" dirty="0" err="1">
                          <a:solidFill>
                            <a:srgbClr val="17372F"/>
                          </a:solidFill>
                          <a:latin typeface="PingFang SC"/>
                          <a:ea typeface="PingFang SC"/>
                          <a:cs typeface="PingFang SC"/>
                        </a:rPr>
                        <a:t>保留为候选，指定</a:t>
                      </a:r>
                      <a:r>
                        <a:rPr sz="1200" b="1" dirty="0">
                          <a:solidFill>
                            <a:srgbClr val="17372F"/>
                          </a:solidFill>
                          <a:latin typeface="PingFang SC"/>
                          <a:ea typeface="PingFang SC"/>
                          <a:cs typeface="PingFang SC"/>
                        </a:rPr>
                        <a:t> ASU </a:t>
                      </a:r>
                      <a:r>
                        <a:rPr sz="1200" b="1" dirty="0" err="1">
                          <a:solidFill>
                            <a:srgbClr val="17372F"/>
                          </a:solidFill>
                          <a:latin typeface="PingFang SC"/>
                          <a:ea typeface="PingFang SC"/>
                          <a:cs typeface="PingFang SC"/>
                        </a:rPr>
                        <a:t>对照下显存少</a:t>
                      </a:r>
                      <a:r>
                        <a:rPr sz="1200" b="1" dirty="0">
                          <a:solidFill>
                            <a:srgbClr val="17372F"/>
                          </a:solidFill>
                          <a:latin typeface="PingFang SC"/>
                          <a:ea typeface="PingFang SC"/>
                          <a:cs typeface="PingFang SC"/>
                        </a:rPr>
                        <a:t> 44.6%</a:t>
                      </a:r>
                    </a:p>
                    <a:p>
                      <a:r>
                        <a:rPr sz="1200" b="1" dirty="0" err="1">
                          <a:solidFill>
                            <a:srgbClr val="17372F"/>
                          </a:solidFill>
                          <a:latin typeface="PingFang SC"/>
                          <a:ea typeface="PingFang SC"/>
                          <a:cs typeface="PingFang SC"/>
                        </a:rPr>
                        <a:t>耗时多</a:t>
                      </a:r>
                      <a:r>
                        <a:rPr sz="1200" b="1" dirty="0">
                          <a:solidFill>
                            <a:srgbClr val="17372F"/>
                          </a:solidFill>
                          <a:latin typeface="PingFang SC"/>
                          <a:ea typeface="PingFang SC"/>
                          <a:cs typeface="PingFang SC"/>
                        </a:rPr>
                        <a:t> 11.7%，</a:t>
                      </a:r>
                      <a:r>
                        <a:rPr sz="1200" b="1" dirty="0" err="1">
                          <a:solidFill>
                            <a:srgbClr val="17372F"/>
                          </a:solidFill>
                          <a:latin typeface="PingFang SC"/>
                          <a:ea typeface="PingFang SC"/>
                          <a:cs typeface="PingFang SC"/>
                        </a:rPr>
                        <a:t>完整生成尚待验证</a:t>
                      </a:r>
                      <a:endParaRPr sz="1200" b="1" dirty="0">
                        <a:solidFill>
                          <a:srgbClr val="17372F"/>
                        </a:solidFill>
                        <a:latin typeface="PingFang SC"/>
                        <a:ea typeface="PingFang SC"/>
                        <a:cs typeface="PingFang SC"/>
                      </a:endParaRPr>
                    </a:p>
                  </a:txBody>
                  <a:tcPr marL="85725" marR="76200" marT="47625" marB="47625" anchor="ctr">
                    <a:solidFill>
                      <a:srgbClr val="DCECE3"/>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60488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10959-5479-9DB5-4290-36E84239D523}"/>
              </a:ext>
            </a:extLst>
          </p:cNvPr>
          <p:cNvSpPr>
            <a:spLocks noGrp="1"/>
          </p:cNvSpPr>
          <p:nvPr>
            <p:ph type="title"/>
          </p:nvPr>
        </p:nvSpPr>
        <p:spPr/>
        <p:txBody>
          <a:bodyPr/>
          <a:lstStyle/>
          <a:p>
            <a:r>
              <a:rPr lang="en-US" dirty="0"/>
              <a:t>F</a:t>
            </a:r>
            <a:r>
              <a:rPr lang="en-001" dirty="0"/>
              <a:t>uture</a:t>
            </a:r>
            <a:r>
              <a:rPr lang="zh-CN" altLang="en-US" dirty="0"/>
              <a:t> </a:t>
            </a:r>
            <a:r>
              <a:rPr lang="en-US" altLang="zh-CN" dirty="0"/>
              <a:t>work</a:t>
            </a:r>
            <a:endParaRPr lang="en-001" dirty="0"/>
          </a:p>
        </p:txBody>
      </p:sp>
      <p:sp>
        <p:nvSpPr>
          <p:cNvPr id="3" name="Content Placeholder 2">
            <a:extLst>
              <a:ext uri="{FF2B5EF4-FFF2-40B4-BE49-F238E27FC236}">
                <a16:creationId xmlns:a16="http://schemas.microsoft.com/office/drawing/2014/main" id="{905FD7B3-2BA1-42F0-2CBF-DE09486E8855}"/>
              </a:ext>
            </a:extLst>
          </p:cNvPr>
          <p:cNvSpPr>
            <a:spLocks noGrp="1"/>
          </p:cNvSpPr>
          <p:nvPr>
            <p:ph idx="1"/>
          </p:nvPr>
        </p:nvSpPr>
        <p:spPr/>
        <p:txBody>
          <a:bodyPr/>
          <a:lstStyle/>
          <a:p>
            <a:r>
              <a:rPr lang="en-001" dirty="0"/>
              <a:t>调研一下是不是真的没有文章做过大模型</a:t>
            </a:r>
            <a:r>
              <a:rPr lang="zh-CN" altLang="en-US" dirty="0"/>
              <a:t>？无条件生成的。</a:t>
            </a:r>
            <a:endParaRPr lang="en-001" dirty="0"/>
          </a:p>
          <a:p>
            <a:r>
              <a:rPr lang="en-001" dirty="0"/>
              <a:t>写一个实际的position位点例子展示出来</a:t>
            </a:r>
          </a:p>
          <a:p>
            <a:r>
              <a:rPr lang="en-001" dirty="0"/>
              <a:t>不同</a:t>
            </a:r>
            <a:r>
              <a:rPr lang="zh-CN" altLang="en-US" dirty="0"/>
              <a:t>空间群中的</a:t>
            </a:r>
            <a:r>
              <a:rPr lang="en-US" altLang="zh-CN" dirty="0" err="1"/>
              <a:t>postion</a:t>
            </a:r>
            <a:r>
              <a:rPr lang="zh-CN" altLang="en-US" dirty="0"/>
              <a:t>的交叉表示</a:t>
            </a:r>
            <a:endParaRPr lang="en-US" altLang="zh-CN" dirty="0"/>
          </a:p>
          <a:p>
            <a:r>
              <a:rPr lang="zh-CN" altLang="en-US" dirty="0"/>
              <a:t>大的</a:t>
            </a:r>
            <a:r>
              <a:rPr lang="en-US" altLang="zh-CN" dirty="0"/>
              <a:t>foundation</a:t>
            </a:r>
            <a:r>
              <a:rPr lang="zh-CN" altLang="en-US" dirty="0"/>
              <a:t> </a:t>
            </a:r>
            <a:r>
              <a:rPr lang="en-US" altLang="zh-CN" dirty="0"/>
              <a:t>model</a:t>
            </a:r>
          </a:p>
          <a:p>
            <a:r>
              <a:rPr lang="en-US" dirty="0" err="1"/>
              <a:t>怎么样说明可以复用</a:t>
            </a:r>
            <a:endParaRPr lang="en-001" dirty="0"/>
          </a:p>
        </p:txBody>
      </p:sp>
      <p:sp>
        <p:nvSpPr>
          <p:cNvPr id="4" name="Slide Number Placeholder 3">
            <a:extLst>
              <a:ext uri="{FF2B5EF4-FFF2-40B4-BE49-F238E27FC236}">
                <a16:creationId xmlns:a16="http://schemas.microsoft.com/office/drawing/2014/main" id="{E5FF5520-B6B0-371D-FC54-F7A5B1C3809A}"/>
              </a:ext>
            </a:extLst>
          </p:cNvPr>
          <p:cNvSpPr>
            <a:spLocks noGrp="1"/>
          </p:cNvSpPr>
          <p:nvPr>
            <p:ph type="sldNum" sz="quarter" idx="4"/>
          </p:nvPr>
        </p:nvSpPr>
        <p:spPr/>
        <p:txBody>
          <a:bodyPr/>
          <a:lstStyle/>
          <a:p>
            <a:fld id="{48D82B17-3AA5-DB4E-A79B-C818A6AD8FB8}" type="slidenum">
              <a:rPr lang="en-CN" smtClean="0"/>
              <a:pPr/>
              <a:t>14</a:t>
            </a:fld>
            <a:endParaRPr lang="en-CN" dirty="0"/>
          </a:p>
        </p:txBody>
      </p:sp>
    </p:spTree>
    <p:extLst>
      <p:ext uri="{BB962C8B-B14F-4D97-AF65-F5344CB8AC3E}">
        <p14:creationId xmlns:p14="http://schemas.microsoft.com/office/powerpoint/2010/main" val="394682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232F-5131-4D23-2EF0-4B44163AD72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27333822"/>
      </p:ext>
    </p:extLst>
  </p:cSld>
  <p:clrMapOvr>
    <a:masterClrMapping/>
  </p:clrMapOvr>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5757BDF-7A07-4A03-85D8-62FE4877F3AA}"/>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材料基础模型：已有先例与本项目问题</a:t>
            </a:r>
          </a:p>
        </p:txBody>
      </p:sp>
      <p:sp>
        <p:nvSpPr>
          <p:cNvPr id="2" name="text-1">
            <a:extLst xmlns:a="http://schemas.openxmlformats.org/drawingml/2006/main">
              <a:ext uri="{FF2B5EF4-FFF2-40B4-BE49-F238E27FC236}">
                <a16:creationId xmlns:a16="http://schemas.microsoft.com/office/drawing/2014/main" id="{677FCF0E-83A9-4BF4-A758-B410178DBFB3}"/>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调研范围：公开论文与官方代码，截至 2026-09-14</a:t>
            </a:r>
          </a:p>
        </p:txBody>
      </p:sp>
      <p:sp>
        <p:nvSpPr>
          <p:cNvPr id="3" name="text-2">
            <a:extLst xmlns:a="http://schemas.openxmlformats.org/drawingml/2006/main">
              <a:ext uri="{FF2B5EF4-FFF2-40B4-BE49-F238E27FC236}">
                <a16:creationId xmlns:a16="http://schemas.microsoft.com/office/drawing/2014/main" id="{3701A0E3-49D2-4C2A-BE68-2FF16922CD95}"/>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16</a:t>
            </a:r>
          </a:p>
        </p:txBody>
      </p:sp>
      <p:sp>
        <p:nvSpPr>
          <p:cNvPr id="4" name="text-3">
            <a:extLst xmlns:a="http://schemas.openxmlformats.org/drawingml/2006/main">
              <a:ext uri="{FF2B5EF4-FFF2-40B4-BE49-F238E27FC236}">
                <a16:creationId xmlns:a16="http://schemas.microsoft.com/office/drawing/2014/main" id="{29B7829B-2F11-4191-8081-A762CFBA09AE}"/>
              </a:ext>
            </a:extLst>
          </p:cNvPr>
          <p:cNvSpPr>
            <a:spLocks xmlns:a="http://schemas.openxmlformats.org/drawingml/2006/main" noGrp="1"/>
          </p:cNvSpPr>
          <p:nvPr/>
        </p:nvSpPr>
        <p:spPr>
          <a:xfrm xmlns:a="http://schemas.openxmlformats.org/drawingml/2006/main">
            <a:off x="781050" y="2047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72F"/>
                </a:solidFill>
                <a:latin typeface="PingFang SC"/>
                <a:ea typeface="PingFang SC"/>
                <a:cs typeface="PingFang SC"/>
              </a:defRPr>
            </a:pPr>
            <a:r>
              <a:rPr sz="2400" b="1">
                <a:solidFill>
                  <a:srgbClr val="17372F"/>
                </a:solidFill>
                <a:latin typeface="PingFang SC"/>
                <a:ea typeface="PingFang SC"/>
                <a:cs typeface="PingFang SC"/>
              </a:rPr>
              <a:t>已有材料 / 科学基础模型，且与老师设想有直接交集</a:t>
            </a:r>
          </a:p>
        </p:txBody>
      </p:sp>
      <p:sp>
        <p:nvSpPr>
          <p:cNvPr id="5" name="text-4">
            <a:extLst xmlns:a="http://schemas.openxmlformats.org/drawingml/2006/main">
              <a:ext uri="{FF2B5EF4-FFF2-40B4-BE49-F238E27FC236}">
                <a16:creationId xmlns:a16="http://schemas.microsoft.com/office/drawing/2014/main" id="{3DFF8A2B-7E65-4CE0-99E2-3C149FB42970}"/>
              </a:ext>
            </a:extLst>
          </p:cNvPr>
          <p:cNvSpPr>
            <a:spLocks xmlns:a="http://schemas.openxmlformats.org/drawingml/2006/main" noGrp="1"/>
          </p:cNvSpPr>
          <p:nvPr/>
        </p:nvSpPr>
        <p:spPr>
          <a:xfrm xmlns:a="http://schemas.openxmlformats.org/drawingml/2006/main">
            <a:off x="781050" y="2838450"/>
            <a:ext cx="105727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NatureLM：科学实体统一成序列，混合纯文本与配对数据</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LLaMat：材料文献与 CIF 参与训练，再适配多种任务</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ALM：结构与文本混合任务，语言模型连接晶体扩散生成器</a:t>
            </a:r>
          </a:p>
        </p:txBody>
      </p:sp>
      <p:sp>
        <p:nvSpPr>
          <p:cNvPr id="6" name="text-5">
            <a:extLst xmlns:a="http://schemas.openxmlformats.org/drawingml/2006/main">
              <a:ext uri="{FF2B5EF4-FFF2-40B4-BE49-F238E27FC236}">
                <a16:creationId xmlns:a16="http://schemas.microsoft.com/office/drawing/2014/main" id="{FFF4E7E8-4A05-4681-BA43-20B9BFEA5DDA}"/>
              </a:ext>
            </a:extLst>
          </p:cNvPr>
          <p:cNvSpPr>
            <a:spLocks xmlns:a="http://schemas.openxmlformats.org/drawingml/2006/main" noGrp="1"/>
          </p:cNvSpPr>
          <p:nvPr/>
        </p:nvSpPr>
        <p:spPr>
          <a:xfrm xmlns:a="http://schemas.openxmlformats.org/drawingml/2006/main">
            <a:off x="781050" y="46863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值得验证的具体问题</a:t>
            </a:r>
          </a:p>
        </p:txBody>
      </p:sp>
      <p:sp>
        <p:nvSpPr>
          <p:cNvPr id="7" name="text-6">
            <a:extLst xmlns:a="http://schemas.openxmlformats.org/drawingml/2006/main">
              <a:ext uri="{FF2B5EF4-FFF2-40B4-BE49-F238E27FC236}">
                <a16:creationId xmlns:a16="http://schemas.microsoft.com/office/drawing/2014/main" id="{2C6D4FC0-0AF9-414E-9516-2C685249C503}"/>
              </a:ext>
            </a:extLst>
          </p:cNvPr>
          <p:cNvSpPr>
            <a:spLocks xmlns:a="http://schemas.openxmlformats.org/drawingml/2006/main" noGrp="1"/>
          </p:cNvSpPr>
          <p:nvPr/>
        </p:nvSpPr>
        <p:spPr>
          <a:xfrm xmlns:a="http://schemas.openxmlformats.org/drawingml/2006/main">
            <a:off x="781050" y="518160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不完整记录如何产生可靠监督？同一模型如何切换输入 / 输出字段？</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边轨道表示是否改善结构补全、条件生成或资源消耗？</a:t>
            </a:r>
          </a:p>
        </p:txBody>
      </p:sp>
      <p:sp>
        <p:nvSpPr>
          <p:cNvPr id="8" name="text-7">
            <a:extLst xmlns:a="http://schemas.openxmlformats.org/drawingml/2006/main">
              <a:ext uri="{FF2B5EF4-FFF2-40B4-BE49-F238E27FC236}">
                <a16:creationId xmlns:a16="http://schemas.microsoft.com/office/drawing/2014/main" id="{3A812C20-24AA-4E16-9499-A9BA8C89360C}"/>
              </a:ext>
            </a:extLst>
          </p:cNvPr>
          <p:cNvSpPr>
            <a:spLocks xmlns:a="http://schemas.openxmlformats.org/drawingml/2006/main" noGrp="1"/>
          </p:cNvSpPr>
          <p:nvPr/>
        </p:nvSpPr>
        <p:spPr>
          <a:xfrm xmlns:a="http://schemas.openxmlformats.org/drawingml/2006/main">
            <a:off x="781050" y="62674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不能把“多条件 + text space + 基础大模型”本身作为尚无人做过的创新点。</a:t>
            </a:r>
          </a:p>
        </p:txBody>
      </p:sp>
    </p:spTree>
    <p:extLst>
      <p:ext uri="{BB962C8B-B14F-4D97-AF65-F5344CB8AC3E}">
        <p14:creationId xmlns:p14="http://schemas.microsoft.com/office/powerpoint/2010/main" val="11068649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B1078C9-D281-4ABA-A850-2F87684EA561}"/>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最相关先例：统一程度与缺失数据证据</a:t>
            </a:r>
          </a:p>
        </p:txBody>
      </p:sp>
      <p:sp>
        <p:nvSpPr>
          <p:cNvPr id="2" name="text-1">
            <a:extLst xmlns:a="http://schemas.openxmlformats.org/drawingml/2006/main">
              <a:ext uri="{FF2B5EF4-FFF2-40B4-BE49-F238E27FC236}">
                <a16:creationId xmlns:a16="http://schemas.microsoft.com/office/drawing/2014/main" id="{04E16324-8509-4C09-806B-A063FDC0898D}"/>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“统一表示”“统一参数”“不完整样本训练”需要分别判断</a:t>
            </a:r>
          </a:p>
        </p:txBody>
      </p:sp>
      <p:sp>
        <p:nvSpPr>
          <p:cNvPr id="3" name="text-2">
            <a:extLst xmlns:a="http://schemas.openxmlformats.org/drawingml/2006/main">
              <a:ext uri="{FF2B5EF4-FFF2-40B4-BE49-F238E27FC236}">
                <a16:creationId xmlns:a16="http://schemas.microsoft.com/office/drawing/2014/main" id="{CAF7EC33-DCB4-46AE-889F-96E7BA54FF9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17</a:t>
            </a:r>
          </a:p>
        </p:txBody>
      </p:sp>
      <p:graphicFrame>
        <p:nvGraphicFramePr>
          <p:cNvPr id="9" name=""/>
          <p:cNvGraphicFramePr/>
          <p:nvPr/>
        </p:nvGraphicFramePr>
        <p:xfrm>
          <a:off xmlns:a="http://schemas.openxmlformats.org/drawingml/2006/main" x="762000" y="1885950"/>
          <a:ext xmlns:a="http://schemas.openxmlformats.org/drawingml/2006/main" cx="10668000" cy="4000500"/>
        </p:xfrm>
        <a:graphic xmlns:a="http://schemas.openxmlformats.org/drawingml/2006/main">
          <a:graphicData uri="http://schemas.openxmlformats.org/drawingml/2006/table">
            <a:tbl>
              <a:tblPr firstRow="0" bandRow="0"/>
              <a:tblGrid>
                <a:gridCol w="1905000"/>
                <a:gridCol w="2714625"/>
                <a:gridCol w="3190875"/>
                <a:gridCol w="2857500"/>
              </a:tblGrid>
              <a:tr h="400050">
                <a:tc>
                  <a:txBody>
                    <a:bodyPr>
                      <a:noAutofit/>
                    </a:bodyPr>
                    <a:lstStyle/>
                    <a:p>
                      <a:r>
                        <a:rPr sz="1500" b="1">
                          <a:solidFill>
                            <a:srgbClr val="FFFFFF"/>
                          </a:solidFill>
                          <a:latin typeface="PingFang SC"/>
                          <a:ea typeface="PingFang SC"/>
                          <a:cs typeface="PingFang SC"/>
                        </a:rPr>
                        <a:t>工作</a:t>
                      </a:r>
                    </a:p>
                  </a:txBody>
                  <a:tcPr marL="114300" marR="95250" marT="76200" marB="66675" anchor="ctr">
                    <a:solidFill>
                      <a:srgbClr val="2D6B5B"/>
                    </a:solidFill>
                  </a:tcPr>
                </a:tc>
                <a:tc>
                  <a:txBody>
                    <a:bodyPr>
                      <a:noAutofit/>
                    </a:bodyPr>
                    <a:lstStyle/>
                    <a:p>
                      <a:r>
                        <a:rPr sz="1500" b="1">
                          <a:solidFill>
                            <a:srgbClr val="FFFFFF"/>
                          </a:solidFill>
                          <a:latin typeface="PingFang SC"/>
                          <a:ea typeface="PingFang SC"/>
                          <a:cs typeface="PingFang SC"/>
                        </a:rPr>
                        <a:t>统一了什么</a:t>
                      </a:r>
                    </a:p>
                  </a:txBody>
                  <a:tcPr marL="114300" marR="95250" marT="76200" marB="66675" anchor="ctr">
                    <a:solidFill>
                      <a:srgbClr val="2D6B5B"/>
                    </a:solidFill>
                  </a:tcPr>
                </a:tc>
                <a:tc>
                  <a:txBody>
                    <a:bodyPr>
                      <a:noAutofit/>
                    </a:bodyPr>
                    <a:lstStyle/>
                    <a:p>
                      <a:r>
                        <a:rPr sz="1500" b="1">
                          <a:solidFill>
                            <a:srgbClr val="FFFFFF"/>
                          </a:solidFill>
                          <a:latin typeface="PingFang SC"/>
                          <a:ea typeface="PingFang SC"/>
                          <a:cs typeface="PingFang SC"/>
                        </a:rPr>
                        <a:t>不完整数据的实际证据</a:t>
                      </a:r>
                    </a:p>
                  </a:txBody>
                  <a:tcPr marL="114300" marR="95250" marT="76200" marB="66675" anchor="ctr">
                    <a:solidFill>
                      <a:srgbClr val="2D6B5B"/>
                    </a:solidFill>
                  </a:tcPr>
                </a:tc>
                <a:tc>
                  <a:txBody>
                    <a:bodyPr>
                      <a:noAutofit/>
                    </a:bodyPr>
                    <a:lstStyle/>
                    <a:p>
                      <a:r>
                        <a:rPr sz="1500" b="1">
                          <a:solidFill>
                            <a:srgbClr val="FFFFFF"/>
                          </a:solidFill>
                          <a:latin typeface="PingFang SC"/>
                          <a:ea typeface="PingFang SC"/>
                          <a:cs typeface="PingFang SC"/>
                        </a:rPr>
                        <a:t>与本项目的边界</a:t>
                      </a:r>
                    </a:p>
                  </a:txBody>
                  <a:tcPr marL="114300" marR="95250" marT="76200" marB="66675" anchor="ctr">
                    <a:solidFill>
                      <a:srgbClr val="2D6B5B"/>
                    </a:solidFill>
                  </a:tcPr>
                </a:tc>
              </a:tr>
              <a:tr h="600075">
                <a:tc>
                  <a:txBody>
                    <a:bodyPr>
                      <a:noAutofit/>
                    </a:bodyPr>
                    <a:lstStyle/>
                    <a:p>
                      <a:r>
                        <a:rPr sz="1500" b="1">
                          <a:solidFill>
                            <a:srgbClr val="17372F"/>
                          </a:solidFill>
                          <a:latin typeface="PingFang SC"/>
                          <a:ea typeface="PingFang SC"/>
                          <a:cs typeface="PingFang SC"/>
                        </a:rPr>
                        <a:t>NatureLM (2025)</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文本 + 多类科学序列</a:t>
                      </a:r>
                    </a:p>
                    <a:p>
                      <a:r>
                        <a:rPr sz="1500" b="0">
                          <a:solidFill>
                            <a:srgbClr val="17372F"/>
                          </a:solidFill>
                          <a:latin typeface="PingFang SC"/>
                          <a:ea typeface="PingFang SC"/>
                          <a:cs typeface="PingFang SC"/>
                        </a:rPr>
                        <a:t>材料组成、空间群、性质</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纯文本 / 单域 / 跨域混训</a:t>
                      </a:r>
                    </a:p>
                    <a:p>
                      <a:r>
                        <a:rPr sz="1500" b="0">
                          <a:solidFill>
                            <a:srgbClr val="17372F"/>
                          </a:solidFill>
                          <a:latin typeface="PingFang SC"/>
                          <a:ea typeface="PingFang SC"/>
                          <a:cs typeface="PingFang SC"/>
                        </a:rPr>
                        <a:t>无需每条都有晶体坐标</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完整晶体由 Mat3D 专门适配</a:t>
                      </a:r>
                    </a:p>
                    <a:p>
                      <a:r>
                        <a:rPr sz="1500" b="0">
                          <a:solidFill>
                            <a:srgbClr val="17372F"/>
                          </a:solidFill>
                          <a:latin typeface="PingFang SC"/>
                          <a:ea typeface="PingFang SC"/>
                          <a:cs typeface="PingFang SC"/>
                        </a:rPr>
                        <a:t>未证明任意字段补全</a:t>
                      </a:r>
                    </a:p>
                  </a:txBody>
                  <a:tcPr marL="114300" marR="95250" marT="76200" marB="66675" anchor="ctr">
                    <a:solidFill>
                      <a:srgbClr val="F7FAF7"/>
                    </a:solidFill>
                  </a:tcPr>
                </a:tc>
              </a:tr>
              <a:tr h="600075">
                <a:tc>
                  <a:txBody>
                    <a:bodyPr>
                      <a:noAutofit/>
                    </a:bodyPr>
                    <a:lstStyle/>
                    <a:p>
                      <a:r>
                        <a:rPr sz="1500" b="1">
                          <a:solidFill>
                            <a:srgbClr val="17372F"/>
                          </a:solidFill>
                          <a:latin typeface="PingFang SC"/>
                          <a:ea typeface="PingFang SC"/>
                          <a:cs typeface="PingFang SC"/>
                        </a:rPr>
                        <a:t>LLaMat (2024/26)</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材料文献 + CIF</a:t>
                      </a:r>
                    </a:p>
                    <a:p>
                      <a:r>
                        <a:rPr sz="1500" b="0">
                          <a:solidFill>
                            <a:srgbClr val="17372F"/>
                          </a:solidFill>
                          <a:latin typeface="PingFang SC"/>
                          <a:ea typeface="PingFang SC"/>
                          <a:cs typeface="PingFang SC"/>
                        </a:rPr>
                        <a:t>领域预训练、任务适配</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文献不要求配对 CIF</a:t>
                      </a:r>
                    </a:p>
                    <a:p>
                      <a:r>
                        <a:rPr sz="1500" b="0">
                          <a:solidFill>
                            <a:srgbClr val="17372F"/>
                          </a:solidFill>
                          <a:latin typeface="PingFang SC"/>
                          <a:ea typeface="PingFang SC"/>
                          <a:cs typeface="PingFang SC"/>
                        </a:rPr>
                        <a:t>结构预训练不要求性质标签</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Chat / CIF 为适配分支</a:t>
                      </a:r>
                    </a:p>
                    <a:p>
                      <a:r>
                        <a:rPr sz="1500" b="0">
                          <a:solidFill>
                            <a:srgbClr val="17372F"/>
                          </a:solidFill>
                          <a:latin typeface="PingFang SC"/>
                          <a:ea typeface="PingFang SC"/>
                          <a:cs typeface="PingFang SC"/>
                        </a:rPr>
                        <a:t>并非单一任意任务 checkpoint</a:t>
                      </a:r>
                    </a:p>
                  </a:txBody>
                  <a:tcPr marL="114300" marR="95250" marT="76200" marB="66675" anchor="ctr">
                    <a:solidFill>
                      <a:srgbClr val="EDF3EE"/>
                    </a:solidFill>
                  </a:tcPr>
                </a:tc>
              </a:tr>
              <a:tr h="600075">
                <a:tc>
                  <a:txBody>
                    <a:bodyPr>
                      <a:noAutofit/>
                    </a:bodyPr>
                    <a:lstStyle/>
                    <a:p>
                      <a:r>
                        <a:rPr sz="1500" b="1">
                          <a:solidFill>
                            <a:srgbClr val="17372F"/>
                          </a:solidFill>
                          <a:latin typeface="PingFang SC"/>
                          <a:ea typeface="PingFang SC"/>
                          <a:cs typeface="PingFang SC"/>
                        </a:rPr>
                        <a:t>ALM (2026)</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3D soft tokens + 文本</a:t>
                      </a:r>
                    </a:p>
                    <a:p>
                      <a:r>
                        <a:rPr sz="1500" b="0">
                          <a:solidFill>
                            <a:srgbClr val="17372F"/>
                          </a:solidFill>
                          <a:latin typeface="PingFang SC"/>
                          <a:ea typeface="PingFang SC"/>
                          <a:cs typeface="PingFang SC"/>
                        </a:rPr>
                        <a:t>LLM + diffusion decoder</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理解阶段混合结构任务</a:t>
                      </a:r>
                    </a:p>
                    <a:p>
                      <a:r>
                        <a:rPr sz="1500" b="0">
                          <a:solidFill>
                            <a:srgbClr val="17372F"/>
                          </a:solidFill>
                          <a:latin typeface="PingFang SC"/>
                          <a:ea typeface="PingFang SC"/>
                          <a:cs typeface="PingFang SC"/>
                        </a:rPr>
                        <a:t>与纯文本任务</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Core / Edit / Gen 分阶段</a:t>
                      </a:r>
                    </a:p>
                    <a:p>
                      <a:r>
                        <a:rPr sz="1500" b="0">
                          <a:solidFill>
                            <a:srgbClr val="17372F"/>
                          </a:solidFill>
                          <a:latin typeface="PingFang SC"/>
                          <a:ea typeface="PingFang SC"/>
                          <a:cs typeface="PingFang SC"/>
                        </a:rPr>
                        <a:t>并非纯离散文本 DLM</a:t>
                      </a:r>
                    </a:p>
                  </a:txBody>
                  <a:tcPr marL="114300" marR="95250" marT="76200" marB="66675" anchor="ctr">
                    <a:solidFill>
                      <a:srgbClr val="F7FAF7"/>
                    </a:solidFill>
                  </a:tcPr>
                </a:tc>
              </a:tr>
              <a:tr h="600075">
                <a:tc>
                  <a:txBody>
                    <a:bodyPr>
                      <a:noAutofit/>
                    </a:bodyPr>
                    <a:lstStyle/>
                    <a:p>
                      <a:r>
                        <a:rPr sz="1500" b="1">
                          <a:solidFill>
                            <a:srgbClr val="17372F"/>
                          </a:solidFill>
                          <a:latin typeface="PingFang SC"/>
                          <a:ea typeface="PingFang SC"/>
                          <a:cs typeface="PingFang SC"/>
                        </a:rPr>
                        <a:t>MatterChat (2026)</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结构编码器 + LLM</a:t>
                      </a:r>
                    </a:p>
                    <a:p>
                      <a:r>
                        <a:rPr sz="1500" b="0">
                          <a:solidFill>
                            <a:srgbClr val="17372F"/>
                          </a:solidFill>
                          <a:latin typeface="PingFang SC"/>
                          <a:ea typeface="PingFang SC"/>
                          <a:cs typeface="PingFang SC"/>
                        </a:rPr>
                        <a:t>描述、分类、数值预测</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研究数据均有晶体结构</a:t>
                      </a:r>
                    </a:p>
                    <a:p>
                      <a:r>
                        <a:rPr sz="1500" b="0">
                          <a:solidFill>
                            <a:srgbClr val="17372F"/>
                          </a:solidFill>
                          <a:latin typeface="PingFang SC"/>
                          <a:ea typeface="PingFang SC"/>
                          <a:cs typeface="PingFang SC"/>
                        </a:rPr>
                        <a:t>未证明无结构记录混训</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多任务预测</a:t>
                      </a:r>
                    </a:p>
                    <a:p>
                      <a:r>
                        <a:rPr sz="1500" b="0">
                          <a:solidFill>
                            <a:srgbClr val="17372F"/>
                          </a:solidFill>
                          <a:latin typeface="PingFang SC"/>
                          <a:ea typeface="PingFang SC"/>
                          <a:cs typeface="PingFang SC"/>
                        </a:rPr>
                        <a:t>未展示晶体生成</a:t>
                      </a:r>
                    </a:p>
                  </a:txBody>
                  <a:tcPr marL="114300" marR="95250" marT="76200" marB="66675" anchor="ctr">
                    <a:solidFill>
                      <a:srgbClr val="EDF3EE"/>
                    </a:solidFill>
                  </a:tcPr>
                </a:tc>
              </a:tr>
              <a:tr h="600075">
                <a:tc>
                  <a:txBody>
                    <a:bodyPr>
                      <a:noAutofit/>
                    </a:bodyPr>
                    <a:lstStyle/>
                    <a:p>
                      <a:r>
                        <a:rPr sz="1500" b="1">
                          <a:solidFill>
                            <a:srgbClr val="17372F"/>
                          </a:solidFill>
                          <a:latin typeface="PingFang SC"/>
                          <a:ea typeface="PingFang SC"/>
                          <a:cs typeface="PingFang SC"/>
                        </a:rPr>
                        <a:t>MultiMat (2023/25)</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结构、文本、DOS</a:t>
                      </a:r>
                    </a:p>
                    <a:p>
                      <a:r>
                        <a:rPr sz="1500" b="0">
                          <a:solidFill>
                            <a:srgbClr val="17372F"/>
                          </a:solidFill>
                          <a:latin typeface="PingFang SC"/>
                          <a:ea typeface="PingFang SC"/>
                          <a:cs typeface="PingFang SC"/>
                        </a:rPr>
                        <a:t>与电荷密度的表征对齐</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缺 DOS / 电荷密度可训练</a:t>
                      </a:r>
                    </a:p>
                    <a:p>
                      <a:r>
                        <a:rPr sz="1500" b="0">
                          <a:solidFill>
                            <a:srgbClr val="17372F"/>
                          </a:solidFill>
                          <a:latin typeface="PingFang SC"/>
                          <a:ea typeface="PingFang SC"/>
                          <a:cs typeface="PingFang SC"/>
                        </a:rPr>
                        <a:t>对应缺失损失置零</a:t>
                      </a:r>
                    </a:p>
                  </a:txBody>
                  <a:tcPr marL="114300" marR="95250" marT="76200" marB="66675" anchor="ctr">
                    <a:solidFill>
                      <a:srgbClr val="F7FAF7"/>
                    </a:solidFill>
                  </a:tcPr>
                </a:tc>
                <a:tc>
                  <a:txBody>
                    <a:bodyPr>
                      <a:noAutofit/>
                    </a:bodyPr>
                    <a:lstStyle/>
                    <a:p>
                      <a:r>
                        <a:rPr sz="1500" b="0">
                          <a:solidFill>
                            <a:srgbClr val="17372F"/>
                          </a:solidFill>
                          <a:latin typeface="PingFang SC"/>
                          <a:ea typeface="PingFang SC"/>
                          <a:cs typeface="PingFang SC"/>
                        </a:rPr>
                        <a:t>实验以结构为基础</a:t>
                      </a:r>
                    </a:p>
                    <a:p>
                      <a:r>
                        <a:rPr sz="1500" b="0">
                          <a:solidFill>
                            <a:srgbClr val="17372F"/>
                          </a:solidFill>
                          <a:latin typeface="PingFang SC"/>
                          <a:ea typeface="PingFang SC"/>
                          <a:cs typeface="PingFang SC"/>
                        </a:rPr>
                        <a:t>主要是预测与检索</a:t>
                      </a:r>
                    </a:p>
                  </a:txBody>
                  <a:tcPr marL="114300" marR="95250" marT="76200" marB="66675" anchor="ctr">
                    <a:solidFill>
                      <a:srgbClr val="F7FAF7"/>
                    </a:solidFill>
                  </a:tcPr>
                </a:tc>
              </a:tr>
              <a:tr h="600075">
                <a:tc>
                  <a:txBody>
                    <a:bodyPr>
                      <a:noAutofit/>
                    </a:bodyPr>
                    <a:lstStyle/>
                    <a:p>
                      <a:r>
                        <a:rPr sz="1500" b="1">
                          <a:solidFill>
                            <a:srgbClr val="17372F"/>
                          </a:solidFill>
                          <a:latin typeface="PingFang SC"/>
                          <a:ea typeface="PingFang SC"/>
                          <a:cs typeface="PingFang SC"/>
                        </a:rPr>
                        <a:t>MatBind (2026)</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结构、pXRD、DOS</a:t>
                      </a:r>
                    </a:p>
                    <a:p>
                      <a:r>
                        <a:rPr sz="1500" b="0">
                          <a:solidFill>
                            <a:srgbClr val="17372F"/>
                          </a:solidFill>
                          <a:latin typeface="PingFang SC"/>
                          <a:ea typeface="PingFang SC"/>
                          <a:cs typeface="PingFang SC"/>
                        </a:rPr>
                        <a:t>文本的表征对齐</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DOS / 文本可缺</a:t>
                      </a:r>
                    </a:p>
                    <a:p>
                      <a:r>
                        <a:rPr sz="1500" b="0">
                          <a:solidFill>
                            <a:srgbClr val="17372F"/>
                          </a:solidFill>
                          <a:latin typeface="PingFang SC"/>
                          <a:ea typeface="PingFang SC"/>
                          <a:cs typeface="PingFang SC"/>
                        </a:rPr>
                        <a:t>结构和 pXRD 全部存在</a:t>
                      </a:r>
                    </a:p>
                  </a:txBody>
                  <a:tcPr marL="114300" marR="95250" marT="76200" marB="66675" anchor="ctr">
                    <a:solidFill>
                      <a:srgbClr val="EDF3EE"/>
                    </a:solidFill>
                  </a:tcPr>
                </a:tc>
                <a:tc>
                  <a:txBody>
                    <a:bodyPr>
                      <a:noAutofit/>
                    </a:bodyPr>
                    <a:lstStyle/>
                    <a:p>
                      <a:r>
                        <a:rPr sz="1500" b="0">
                          <a:solidFill>
                            <a:srgbClr val="17372F"/>
                          </a:solidFill>
                          <a:latin typeface="PingFang SC"/>
                          <a:ea typeface="PingFang SC"/>
                          <a:cs typeface="PingFang SC"/>
                        </a:rPr>
                        <a:t>结构为对齐锚点</a:t>
                      </a:r>
                    </a:p>
                    <a:p>
                      <a:r>
                        <a:rPr sz="1500" b="0">
                          <a:solidFill>
                            <a:srgbClr val="17372F"/>
                          </a:solidFill>
                          <a:latin typeface="PingFang SC"/>
                          <a:ea typeface="PingFang SC"/>
                          <a:cs typeface="PingFang SC"/>
                        </a:rPr>
                        <a:t>检索不等于生成</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B64B7A66-B090-461F-BE09-16D4BD264E85}"/>
              </a:ext>
            </a:extLst>
          </p:cNvPr>
          <p:cNvSpPr>
            <a:spLocks xmlns:a="http://schemas.openxmlformats.org/drawingml/2006/main" noGrp="1"/>
          </p:cNvSpPr>
          <p:nvPr/>
        </p:nvSpPr>
        <p:spPr>
          <a:xfrm xmlns:a="http://schemas.openxmlformats.org/drawingml/2006/main">
            <a:off x="781050" y="60007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日期写预印本首发 / 已核实期刊年份。ALM、MatBind 按所读预印本报告，逐篇来源见备注。</a:t>
            </a:r>
          </a:p>
        </p:txBody>
      </p:sp>
    </p:spTree>
    <p:extLst>
      <p:ext uri="{BB962C8B-B14F-4D97-AF65-F5344CB8AC3E}">
        <p14:creationId xmlns:p14="http://schemas.microsoft.com/office/powerpoint/2010/main" val="17660801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75FE0D3-380C-46AC-9F4F-29A0F94781D8}"/>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NatureLM：与“都放进 text space”直接相关</a:t>
            </a:r>
          </a:p>
        </p:txBody>
      </p:sp>
      <p:sp>
        <p:nvSpPr>
          <p:cNvPr id="2" name="text-1">
            <a:extLst xmlns:a="http://schemas.openxmlformats.org/drawingml/2006/main">
              <a:ext uri="{FF2B5EF4-FFF2-40B4-BE49-F238E27FC236}">
                <a16:creationId xmlns:a16="http://schemas.microsoft.com/office/drawing/2014/main" id="{90217D48-9832-4358-9C59-FF0F84D950EE}"/>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1B / 8B / 46.7B 参数模型；单域与跨域数据混训，材料性质也写成文本</a:t>
            </a:r>
          </a:p>
        </p:txBody>
      </p:sp>
      <p:sp>
        <p:nvSpPr>
          <p:cNvPr id="3" name="text-2">
            <a:extLst xmlns:a="http://schemas.openxmlformats.org/drawingml/2006/main">
              <a:ext uri="{FF2B5EF4-FFF2-40B4-BE49-F238E27FC236}">
                <a16:creationId xmlns:a16="http://schemas.microsoft.com/office/drawing/2014/main" id="{8EE40651-6997-4CF2-9603-FA03CDB19AF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18</a:t>
            </a:r>
          </a:p>
        </p:txBody>
      </p:sp>
      <p:graphicFrame>
        <p:nvGraphicFramePr>
          <p:cNvPr id="11" name=""/>
          <p:cNvGraphicFramePr/>
          <p:nvPr/>
        </p:nvGraphicFramePr>
        <p:xfrm>
          <a:off xmlns:a="http://schemas.openxmlformats.org/drawingml/2006/main" x="762000" y="188595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noAutofit/>
                    </a:bodyPr>
                    <a:lstStyle/>
                    <a:p>
                      <a:r>
                        <a:rPr sz="1800" b="1">
                          <a:solidFill>
                            <a:srgbClr val="FFFFFF"/>
                          </a:solidFill>
                          <a:latin typeface="PingFang SC"/>
                          <a:ea typeface="PingFang SC"/>
                          <a:cs typeface="PingFang SC"/>
                        </a:rPr>
                        <a:t>数据 / 阶段</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论文实际做法</a:t>
                      </a:r>
                    </a:p>
                  </a:txBody>
                  <a:tcPr marL="114300" marR="95250" marT="76200" marB="66675" anchor="ctr">
                    <a:solidFill>
                      <a:srgbClr val="2D6B5B"/>
                    </a:solidFill>
                  </a:tcPr>
                </a:tc>
              </a:tr>
              <a:tr h="609600">
                <a:tc>
                  <a:txBody>
                    <a:bodyPr>
                      <a:noAutofit/>
                    </a:bodyPr>
                    <a:lstStyle/>
                    <a:p>
                      <a:r>
                        <a:rPr sz="1800" b="1">
                          <a:solidFill>
                            <a:srgbClr val="17372F"/>
                          </a:solidFill>
                          <a:latin typeface="PingFang SC"/>
                          <a:ea typeface="PingFang SC"/>
                          <a:cs typeface="PingFang SC"/>
                        </a:rPr>
                        <a:t>统一科学序列</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文本、分子、蛋白、DNA/RNA、材料共享序列建模框架</a:t>
                      </a:r>
                    </a:p>
                  </a:txBody>
                  <a:tcPr marL="114300" marR="95250" marT="76200" marB="66675" anchor="ctr">
                    <a:solidFill>
                      <a:srgbClr val="F7FAF7"/>
                    </a:solidFill>
                  </a:tcPr>
                </a:tc>
              </a:tr>
              <a:tr h="609600">
                <a:tc>
                  <a:txBody>
                    <a:bodyPr>
                      <a:noAutofit/>
                    </a:bodyPr>
                    <a:lstStyle/>
                    <a:p>
                      <a:r>
                        <a:rPr sz="1800" b="1">
                          <a:solidFill>
                            <a:srgbClr val="17372F"/>
                          </a:solidFill>
                          <a:latin typeface="PingFang SC"/>
                          <a:ea typeface="PingFang SC"/>
                          <a:cs typeface="PingFang SC"/>
                        </a:rPr>
                        <a:t>材料基本表示</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元素按晶胞计数展开，再接空间群 token</a:t>
                      </a:r>
                    </a:p>
                  </a:txBody>
                  <a:tcPr marL="114300" marR="95250" marT="76200" marB="66675" anchor="ctr">
                    <a:solidFill>
                      <a:srgbClr val="EDF3EE"/>
                    </a:solidFill>
                  </a:tcPr>
                </a:tc>
              </a:tr>
              <a:tr h="628650">
                <a:tc>
                  <a:txBody>
                    <a:bodyPr>
                      <a:noAutofit/>
                    </a:bodyPr>
                    <a:lstStyle/>
                    <a:p>
                      <a:r>
                        <a:rPr sz="1800" b="1">
                          <a:solidFill>
                            <a:srgbClr val="17372F"/>
                          </a:solidFill>
                          <a:latin typeface="PingFang SC"/>
                          <a:ea typeface="PingFang SC"/>
                          <a:cs typeface="PingFang SC"/>
                        </a:rPr>
                        <a:t>建立跨模态联系</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材料带隙、凸包上方能量等属性转换为文本，与材料序列配对</a:t>
                      </a:r>
                    </a:p>
                  </a:txBody>
                  <a:tcPr marL="114300" marR="95250" marT="76200" marB="66675" anchor="ctr">
                    <a:solidFill>
                      <a:srgbClr val="F7FAF7"/>
                    </a:solidFill>
                  </a:tcPr>
                </a:tc>
              </a:tr>
              <a:tr h="609600">
                <a:tc>
                  <a:txBody>
                    <a:bodyPr>
                      <a:noAutofit/>
                    </a:bodyPr>
                    <a:lstStyle/>
                    <a:p>
                      <a:r>
                        <a:rPr sz="1800" b="1">
                          <a:solidFill>
                            <a:srgbClr val="17372F"/>
                          </a:solidFill>
                          <a:latin typeface="PingFang SC"/>
                          <a:ea typeface="PingFang SC"/>
                          <a:cs typeface="PingFang SC"/>
                        </a:rPr>
                        <a:t>完整 3D 晶体</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Mat3D 另行微调，输入组成 / 空间群，输出晶格和分数坐标</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D9B78059-A1EA-46C7-852D-2350877A3882}"/>
              </a:ext>
            </a:extLst>
          </p:cNvPr>
          <p:cNvSpPr>
            <a:spLocks xmlns:a="http://schemas.openxmlformats.org/drawingml/2006/main" noGrp="1"/>
          </p:cNvSpPr>
          <p:nvPr/>
        </p:nvSpPr>
        <p:spPr>
          <a:xfrm xmlns:a="http://schemas.openxmlformats.org/drawingml/2006/main">
            <a:off x="781050" y="4953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D6B5B"/>
                </a:solidFill>
                <a:latin typeface="PingFang SC"/>
                <a:ea typeface="PingFang SC"/>
                <a:cs typeface="PingFang SC"/>
              </a:defRPr>
            </a:pPr>
            <a:r>
              <a:rPr sz="1725" b="1">
                <a:solidFill>
                  <a:srgbClr val="2D6B5B"/>
                </a:solidFill>
                <a:latin typeface="PingFang SC"/>
                <a:ea typeface="PingFang SC"/>
                <a:cs typeface="PingFang SC"/>
              </a:rPr>
              <a:t>形式示例（按论文语法改写）</a:t>
            </a:r>
          </a:p>
        </p:txBody>
      </p:sp>
      <p:sp>
        <p:nvSpPr>
          <p:cNvPr id="6" name="text-4">
            <a:extLst xmlns:a="http://schemas.openxmlformats.org/drawingml/2006/main">
              <a:ext uri="{FF2B5EF4-FFF2-40B4-BE49-F238E27FC236}">
                <a16:creationId xmlns:a16="http://schemas.microsoft.com/office/drawing/2014/main" id="{FB6213DB-19D5-442E-AE1D-7F1FBB157366}"/>
              </a:ext>
            </a:extLst>
          </p:cNvPr>
          <p:cNvSpPr>
            <a:spLocks xmlns:a="http://schemas.openxmlformats.org/drawingml/2006/main" noGrp="1"/>
          </p:cNvSpPr>
          <p:nvPr/>
        </p:nvSpPr>
        <p:spPr>
          <a:xfrm xmlns:a="http://schemas.openxmlformats.org/drawingml/2006/main">
            <a:off x="781050" y="5381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&lt;material&gt; Li Li Li Li O O O O O O O O &lt;sg225&gt; &lt;/material&gt;</a:t>
            </a:r>
          </a:p>
        </p:txBody>
      </p:sp>
      <p:sp>
        <p:nvSpPr>
          <p:cNvPr id="7" name="text-5">
            <a:extLst xmlns:a="http://schemas.openxmlformats.org/drawingml/2006/main">
              <a:ext uri="{FF2B5EF4-FFF2-40B4-BE49-F238E27FC236}">
                <a16:creationId xmlns:a16="http://schemas.microsoft.com/office/drawing/2014/main" id="{4B0D5379-6907-440C-AF2E-CD3847FE9205}"/>
              </a:ext>
            </a:extLst>
          </p:cNvPr>
          <p:cNvSpPr>
            <a:spLocks xmlns:a="http://schemas.openxmlformats.org/drawingml/2006/main" noGrp="1"/>
          </p:cNvSpPr>
          <p:nvPr/>
        </p:nvSpPr>
        <p:spPr>
          <a:xfrm xmlns:a="http://schemas.openxmlformats.org/drawingml/2006/main">
            <a:off x="781050" y="60007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意义：混合科学 / 文本语料已有直接先例。边界：主材料序列本身不含完整几何，3D 能力另行适配。</a:t>
            </a:r>
          </a:p>
        </p:txBody>
      </p:sp>
    </p:spTree>
    <p:extLst>
      <p:ext uri="{BB962C8B-B14F-4D97-AF65-F5344CB8AC3E}">
        <p14:creationId xmlns:p14="http://schemas.microsoft.com/office/powerpoint/2010/main" val="128505466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288A42E-CBA9-4BDA-B488-E3718ED900C8}"/>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ALM：无结构文本也参与同一理解模型训练</a:t>
            </a:r>
          </a:p>
        </p:txBody>
      </p:sp>
      <p:sp>
        <p:nvSpPr>
          <p:cNvPr id="2" name="text-1">
            <a:extLst xmlns:a="http://schemas.openxmlformats.org/drawingml/2006/main">
              <a:ext uri="{FF2B5EF4-FFF2-40B4-BE49-F238E27FC236}">
                <a16:creationId xmlns:a16="http://schemas.microsoft.com/office/drawing/2014/main" id="{214BF83A-DFF0-44B0-BBF0-351E2E6C1E81}"/>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结构编码器提供 soft tokens，Qwen3-8B 处理语言，MatterGen 解码晶体</a:t>
            </a:r>
          </a:p>
        </p:txBody>
      </p:sp>
      <p:sp>
        <p:nvSpPr>
          <p:cNvPr id="3" name="text-2">
            <a:extLst xmlns:a="http://schemas.openxmlformats.org/drawingml/2006/main">
              <a:ext uri="{FF2B5EF4-FFF2-40B4-BE49-F238E27FC236}">
                <a16:creationId xmlns:a16="http://schemas.microsoft.com/office/drawing/2014/main" id="{7AA73909-2BBC-489E-BA3B-75825B6C961F}"/>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19</a:t>
            </a:r>
          </a:p>
        </p:txBody>
      </p:sp>
      <p:graphicFrame>
        <p:nvGraphicFramePr>
          <p:cNvPr id="10" name=""/>
          <p:cNvGraphicFramePr/>
          <p:nvPr/>
        </p:nvGraphicFramePr>
        <p:xfrm>
          <a:off xmlns:a="http://schemas.openxmlformats.org/drawingml/2006/main" x="762000" y="1885950"/>
          <a:ext xmlns:a="http://schemas.openxmlformats.org/drawingml/2006/main" cx="10668000" cy="3248025"/>
        </p:xfrm>
        <a:graphic xmlns:a="http://schemas.openxmlformats.org/drawingml/2006/main">
          <a:graphicData uri="http://schemas.openxmlformats.org/drawingml/2006/table">
            <a:tbl>
              <a:tblPr firstRow="0" bandRow="0"/>
              <a:tblGrid>
                <a:gridCol w="2476500"/>
                <a:gridCol w="6429375"/>
                <a:gridCol w="1762125"/>
              </a:tblGrid>
              <a:tr h="390525">
                <a:tc>
                  <a:txBody>
                    <a:bodyPr>
                      <a:noAutofit/>
                    </a:bodyPr>
                    <a:lstStyle/>
                    <a:p>
                      <a:r>
                        <a:rPr sz="1725" b="1">
                          <a:solidFill>
                            <a:srgbClr val="FFFFFF"/>
                          </a:solidFill>
                          <a:latin typeface="PingFang SC"/>
                          <a:ea typeface="PingFang SC"/>
                          <a:cs typeface="PingFang SC"/>
                        </a:rPr>
                        <a:t>训练桶</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输入与目标</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采样比例</a:t>
                      </a:r>
                    </a:p>
                  </a:txBody>
                  <a:tcPr marL="114300" marR="95250" marT="76200" marB="66675" anchor="ctr">
                    <a:solidFill>
                      <a:srgbClr val="2D6B5B"/>
                    </a:solidFill>
                  </a:tcPr>
                </a:tc>
              </a:tr>
              <a:tr h="571500">
                <a:tc>
                  <a:txBody>
                    <a:bodyPr>
                      <a:noAutofit/>
                    </a:bodyPr>
                    <a:lstStyle/>
                    <a:p>
                      <a:r>
                        <a:rPr sz="1725" b="1">
                          <a:solidFill>
                            <a:srgbClr val="17372F"/>
                          </a:solidFill>
                          <a:latin typeface="PingFang SC"/>
                          <a:ea typeface="PingFang SC"/>
                          <a:cs typeface="PingFang SC"/>
                        </a:rPr>
                        <a:t>describe</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结构 + 问题，输出结构描述 / 应用叙述</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40%</a:t>
                      </a:r>
                    </a:p>
                  </a:txBody>
                  <a:tcPr marL="114300" marR="95250" marT="76200" marB="66675" anchor="ctr">
                    <a:solidFill>
                      <a:srgbClr val="F7FAF7"/>
                    </a:solidFill>
                  </a:tcPr>
                </a:tc>
              </a:tr>
              <a:tr h="571500">
                <a:tc>
                  <a:txBody>
                    <a:bodyPr>
                      <a:noAutofit/>
                    </a:bodyPr>
                    <a:lstStyle/>
                    <a:p>
                      <a:r>
                        <a:rPr sz="1725" b="1">
                          <a:solidFill>
                            <a:srgbClr val="17372F"/>
                          </a:solidFill>
                          <a:latin typeface="PingFang SC"/>
                          <a:ea typeface="PingFang SC"/>
                          <a:cs typeface="PingFang SC"/>
                        </a:rPr>
                        <a:t>property_apps</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结构 + 性质问题，输出数值 / 文本</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40%</a:t>
                      </a:r>
                    </a:p>
                  </a:txBody>
                  <a:tcPr marL="114300" marR="95250" marT="76200" marB="66675" anchor="ctr">
                    <a:solidFill>
                      <a:srgbClr val="EDF3EE"/>
                    </a:solidFill>
                  </a:tcPr>
                </a:tc>
              </a:tr>
              <a:tr h="571500">
                <a:tc>
                  <a:txBody>
                    <a:bodyPr>
                      <a:noAutofit/>
                    </a:bodyPr>
                    <a:lstStyle/>
                    <a:p>
                      <a:r>
                        <a:rPr sz="1725" b="1">
                          <a:solidFill>
                            <a:srgbClr val="17372F"/>
                          </a:solidFill>
                          <a:latin typeface="PingFang SC"/>
                          <a:ea typeface="PingFang SC"/>
                          <a:cs typeface="PingFang SC"/>
                        </a:rPr>
                        <a:t>arxiv</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标题与类别，输出摘要</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14%</a:t>
                      </a:r>
                    </a:p>
                  </a:txBody>
                  <a:tcPr marL="114300" marR="95250" marT="76200" marB="66675" anchor="ctr">
                    <a:solidFill>
                      <a:srgbClr val="F7FAF7"/>
                    </a:solidFill>
                  </a:tcPr>
                </a:tc>
              </a:tr>
              <a:tr h="571500">
                <a:tc>
                  <a:txBody>
                    <a:bodyPr>
                      <a:noAutofit/>
                    </a:bodyPr>
                    <a:lstStyle/>
                    <a:p>
                      <a:r>
                        <a:rPr sz="1725" b="1">
                          <a:solidFill>
                            <a:srgbClr val="17372F"/>
                          </a:solidFill>
                          <a:latin typeface="PingFang SC"/>
                          <a:ea typeface="PingFang SC"/>
                          <a:cs typeface="PingFang SC"/>
                        </a:rPr>
                        <a:t>camel</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化学 / 物理纯文本问答</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4%</a:t>
                      </a:r>
                    </a:p>
                  </a:txBody>
                  <a:tcPr marL="114300" marR="95250" marT="76200" marB="66675" anchor="ctr">
                    <a:solidFill>
                      <a:srgbClr val="EDF3EE"/>
                    </a:solidFill>
                  </a:tcPr>
                </a:tc>
              </a:tr>
              <a:tr h="571500">
                <a:tc>
                  <a:txBody>
                    <a:bodyPr>
                      <a:noAutofit/>
                    </a:bodyPr>
                    <a:lstStyle/>
                    <a:p>
                      <a:r>
                        <a:rPr sz="1725" b="1">
                          <a:solidFill>
                            <a:srgbClr val="17372F"/>
                          </a:solidFill>
                          <a:latin typeface="PingFang SC"/>
                          <a:ea typeface="PingFang SC"/>
                          <a:cs typeface="PingFang SC"/>
                        </a:rPr>
                        <a:t>mascqa</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纯文本科学选择题</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2%</a:t>
                      </a:r>
                    </a:p>
                  </a:txBody>
                  <a:tcPr marL="114300" marR="9525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D7426A35-1295-4518-AF6B-78089EFAFAFC}"/>
              </a:ext>
            </a:extLst>
          </p:cNvPr>
          <p:cNvSpPr>
            <a:spLocks xmlns:a="http://schemas.openxmlformats.org/drawingml/2006/main" noGrp="1"/>
          </p:cNvSpPr>
          <p:nvPr/>
        </p:nvSpPr>
        <p:spPr>
          <a:xfrm xmlns:a="http://schemas.openxmlformats.org/drawingml/2006/main">
            <a:off x="781050" y="53435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72F"/>
                </a:solidFill>
                <a:latin typeface="PingFang SC"/>
                <a:ea typeface="PingFang SC"/>
                <a:cs typeface="PingFang SC"/>
              </a:defRPr>
            </a:pPr>
            <a:r>
              <a:rPr sz="2100" b="1">
                <a:solidFill>
                  <a:srgbClr val="17372F"/>
                </a:solidFill>
                <a:latin typeface="PingFang SC"/>
                <a:ea typeface="PingFang SC"/>
                <a:cs typeface="PingFang SC"/>
              </a:rPr>
              <a:t>这是“结构任务 + 纯文本任务混训”的明确证据。</a:t>
            </a:r>
          </a:p>
        </p:txBody>
      </p:sp>
      <p:sp>
        <p:nvSpPr>
          <p:cNvPr id="6" name="text-4">
            <a:extLst xmlns:a="http://schemas.openxmlformats.org/drawingml/2006/main">
              <a:ext uri="{FF2B5EF4-FFF2-40B4-BE49-F238E27FC236}">
                <a16:creationId xmlns:a16="http://schemas.microsoft.com/office/drawing/2014/main" id="{60489CA2-F745-4233-B11B-87EB548D3054}"/>
              </a:ext>
            </a:extLst>
          </p:cNvPr>
          <p:cNvSpPr>
            <a:spLocks xmlns:a="http://schemas.openxmlformats.org/drawingml/2006/main" noGrp="1"/>
          </p:cNvSpPr>
          <p:nvPr/>
        </p:nvSpPr>
        <p:spPr>
          <a:xfrm xmlns:a="http://schemas.openxmlformats.org/drawingml/2006/main">
            <a:off x="781050" y="58769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比例来自理解阶段 Appendix B.1 / Table 15。生成另有训练阶段与 Edit / Gen 变体；不代表任意缺失字段都已解决。</a:t>
            </a:r>
          </a:p>
        </p:txBody>
      </p:sp>
    </p:spTree>
    <p:extLst>
      <p:ext uri="{BB962C8B-B14F-4D97-AF65-F5344CB8AC3E}">
        <p14:creationId xmlns:p14="http://schemas.microsoft.com/office/powerpoint/2010/main" val="85856977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D3594D1-C1C6-48A2-92BE-BE9F2F256C29}"/>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其他直接相关工作</a:t>
            </a:r>
          </a:p>
        </p:txBody>
      </p:sp>
      <p:sp>
        <p:nvSpPr>
          <p:cNvPr id="2" name="text-1">
            <a:extLst xmlns:a="http://schemas.openxmlformats.org/drawingml/2006/main">
              <a:ext uri="{FF2B5EF4-FFF2-40B4-BE49-F238E27FC236}">
                <a16:creationId xmlns:a16="http://schemas.microsoft.com/office/drawing/2014/main" id="{5F948596-F6EA-47C9-A6F6-A990C1191407}"/>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这些先例分别覆盖性质条件、对称表示或文本引导生成</a:t>
            </a:r>
          </a:p>
        </p:txBody>
      </p:sp>
      <p:sp>
        <p:nvSpPr>
          <p:cNvPr id="3" name="text-2">
            <a:extLst xmlns:a="http://schemas.openxmlformats.org/drawingml/2006/main">
              <a:ext uri="{FF2B5EF4-FFF2-40B4-BE49-F238E27FC236}">
                <a16:creationId xmlns:a16="http://schemas.microsoft.com/office/drawing/2014/main" id="{F294ECBC-5F08-46E0-B615-D2BC3238077A}"/>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20</a:t>
            </a:r>
          </a:p>
        </p:txBody>
      </p:sp>
      <p:graphicFrame>
        <p:nvGraphicFramePr>
          <p:cNvPr id="9" name=""/>
          <p:cNvGraphicFramePr/>
          <p:nvPr/>
        </p:nvGraphicFramePr>
        <p:xfrm>
          <a:off xmlns:a="http://schemas.openxmlformats.org/drawingml/2006/main" x="762000" y="1905000"/>
          <a:ext xmlns:a="http://schemas.openxmlformats.org/drawingml/2006/main" cx="10668000" cy="3476625"/>
        </p:xfrm>
        <a:graphic xmlns:a="http://schemas.openxmlformats.org/drawingml/2006/main">
          <a:graphicData uri="http://schemas.openxmlformats.org/drawingml/2006/table">
            <a:tbl>
              <a:tblPr firstRow="0" bandRow="0"/>
              <a:tblGrid>
                <a:gridCol w="2333625"/>
                <a:gridCol w="3810000"/>
                <a:gridCol w="4524375"/>
              </a:tblGrid>
              <a:tr h="428625">
                <a:tc>
                  <a:txBody>
                    <a:bodyPr>
                      <a:noAutofit/>
                    </a:bodyPr>
                    <a:lstStyle/>
                    <a:p>
                      <a:r>
                        <a:rPr sz="1725" b="1">
                          <a:solidFill>
                            <a:srgbClr val="FFFFFF"/>
                          </a:solidFill>
                          <a:latin typeface="PingFang SC"/>
                          <a:ea typeface="PingFang SC"/>
                          <a:cs typeface="PingFang SC"/>
                        </a:rPr>
                        <a:t>工作</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已覆盖能力</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不能从中推出的结论</a:t>
                      </a:r>
                    </a:p>
                  </a:txBody>
                  <a:tcPr marL="114300" marR="95250" marT="76200" marB="66675" anchor="ctr">
                    <a:solidFill>
                      <a:srgbClr val="2D6B5B"/>
                    </a:solidFill>
                  </a:tcPr>
                </a:tc>
              </a:tr>
              <a:tr h="762000">
                <a:tc>
                  <a:txBody>
                    <a:bodyPr>
                      <a:noAutofit/>
                    </a:bodyPr>
                    <a:lstStyle/>
                    <a:p>
                      <a:r>
                        <a:rPr sz="1725" b="1">
                          <a:solidFill>
                            <a:srgbClr val="17372F"/>
                          </a:solidFill>
                          <a:latin typeface="PingFang SC"/>
                          <a:ea typeface="PingFang SC"/>
                          <a:cs typeface="PingFang SC"/>
                        </a:rPr>
                        <a:t>AtomGPT (2024)</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文本化结构做性质预测</a:t>
                      </a:r>
                    </a:p>
                    <a:p>
                      <a:r>
                        <a:rPr sz="1725" b="0">
                          <a:solidFill>
                            <a:srgbClr val="17372F"/>
                          </a:solidFill>
                          <a:latin typeface="PingFang SC"/>
                          <a:ea typeface="PingFang SC"/>
                          <a:cs typeface="PingFang SC"/>
                        </a:rPr>
                        <a:t>性质 / 组成条件生成结构</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正向 GPT-2 回归器、逆向 Mistral 分别训练</a:t>
                      </a:r>
                    </a:p>
                    <a:p>
                      <a:r>
                        <a:rPr sz="1725" b="0">
                          <a:solidFill>
                            <a:srgbClr val="17372F"/>
                          </a:solidFill>
                          <a:latin typeface="PingFang SC"/>
                          <a:ea typeface="PingFang SC"/>
                          <a:cs typeface="PingFang SC"/>
                        </a:rPr>
                        <a:t>不能写成一个通用多任务 checkpoint</a:t>
                      </a:r>
                    </a:p>
                  </a:txBody>
                  <a:tcPr marL="114300" marR="95250" marT="76200" marB="66675" anchor="ctr">
                    <a:solidFill>
                      <a:srgbClr val="F7FAF7"/>
                    </a:solidFill>
                  </a:tcPr>
                </a:tc>
              </a:tr>
              <a:tr h="762000">
                <a:tc>
                  <a:txBody>
                    <a:bodyPr>
                      <a:noAutofit/>
                    </a:bodyPr>
                    <a:lstStyle/>
                    <a:p>
                      <a:r>
                        <a:rPr sz="1725" b="1">
                          <a:solidFill>
                            <a:srgbClr val="17372F"/>
                          </a:solidFill>
                          <a:latin typeface="PingFang SC"/>
                          <a:ea typeface="PingFang SC"/>
                          <a:cs typeface="PingFang SC"/>
                        </a:rPr>
                        <a:t>CrystaLLM-π (2025)</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无性质标签 CIF 预训练</a:t>
                      </a:r>
                    </a:p>
                    <a:p>
                      <a:r>
                        <a:rPr sz="1725" b="0">
                          <a:solidFill>
                            <a:srgbClr val="17372F"/>
                          </a:solidFill>
                          <a:latin typeface="PingFang SC"/>
                          <a:ea typeface="PingFang SC"/>
                          <a:cs typeface="PingFang SC"/>
                        </a:rPr>
                        <a:t>再用性质 / XRD 条件生成</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连续条件编码进入注意力</a:t>
                      </a:r>
                    </a:p>
                    <a:p>
                      <a:r>
                        <a:rPr sz="1725" b="0">
                          <a:solidFill>
                            <a:srgbClr val="17372F"/>
                          </a:solidFill>
                          <a:latin typeface="PingFang SC"/>
                          <a:ea typeface="PingFang SC"/>
                          <a:cs typeface="PingFang SC"/>
                        </a:rPr>
                        <a:t>并非所有条件都做普通文本 token</a:t>
                      </a:r>
                    </a:p>
                  </a:txBody>
                  <a:tcPr marL="114300" marR="95250" marT="76200" marB="66675" anchor="ctr">
                    <a:solidFill>
                      <a:srgbClr val="EDF3EE"/>
                    </a:solidFill>
                  </a:tcPr>
                </a:tc>
              </a:tr>
              <a:tr h="762000">
                <a:tc>
                  <a:txBody>
                    <a:bodyPr>
                      <a:noAutofit/>
                    </a:bodyPr>
                    <a:lstStyle/>
                    <a:p>
                      <a:r>
                        <a:rPr sz="1725" b="1">
                          <a:solidFill>
                            <a:srgbClr val="17372F"/>
                          </a:solidFill>
                          <a:latin typeface="PingFang SC"/>
                          <a:ea typeface="PingFang SC"/>
                          <a:cs typeface="PingFang SC"/>
                        </a:rPr>
                        <a:t>CLOUD / SCOPE (2026)</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空间群生成元 + WP + 组成</a:t>
                      </a:r>
                    </a:p>
                    <a:p>
                      <a:r>
                        <a:rPr sz="1725" b="0">
                          <a:solidFill>
                            <a:srgbClr val="17372F"/>
                          </a:solidFill>
                          <a:latin typeface="PingFang SC"/>
                          <a:ea typeface="PingFang SC"/>
                          <a:cs typeface="PingFang SC"/>
                        </a:rPr>
                        <a:t>无标签 masked 预训练，再预测性质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对称字符串 + 基础表征已有先例</a:t>
                      </a:r>
                    </a:p>
                    <a:p>
                      <a:r>
                        <a:rPr sz="1725" b="0">
                          <a:solidFill>
                            <a:srgbClr val="17372F"/>
                          </a:solidFill>
                          <a:latin typeface="PingFang SC"/>
                          <a:ea typeface="PingFang SC"/>
                          <a:cs typeface="PingFang SC"/>
                        </a:rPr>
                        <a:t>未展示任意文本条件晶体生成</a:t>
                      </a:r>
                    </a:p>
                  </a:txBody>
                  <a:tcPr marL="114300" marR="95250" marT="76200" marB="66675" anchor="ctr">
                    <a:solidFill>
                      <a:srgbClr val="F7FAF7"/>
                    </a:solidFill>
                  </a:tcPr>
                </a:tc>
              </a:tr>
              <a:tr h="762000">
                <a:tc>
                  <a:txBody>
                    <a:bodyPr>
                      <a:noAutofit/>
                    </a:bodyPr>
                    <a:lstStyle/>
                    <a:p>
                      <a:r>
                        <a:rPr sz="1725" b="1">
                          <a:solidFill>
                            <a:srgbClr val="17372F"/>
                          </a:solidFill>
                          <a:latin typeface="PingFang SC"/>
                          <a:ea typeface="PingFang SC"/>
                          <a:cs typeface="PingFang SC"/>
                        </a:rPr>
                        <a:t>Chameleon (2025)</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Crystal CLIP 对齐文本 / 结构</a:t>
                      </a:r>
                    </a:p>
                    <a:p>
                      <a:r>
                        <a:rPr sz="1725" b="0">
                          <a:solidFill>
                            <a:srgbClr val="17372F"/>
                          </a:solidFill>
                          <a:latin typeface="PingFang SC"/>
                          <a:ea typeface="PingFang SC"/>
                          <a:cs typeface="PingFang SC"/>
                        </a:rPr>
                        <a:t>文本条件扩散生成晶体</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文本引导 diffusion 已有先例</a:t>
                      </a:r>
                    </a:p>
                    <a:p>
                      <a:r>
                        <a:rPr sz="1725" b="0">
                          <a:solidFill>
                            <a:srgbClr val="17372F"/>
                          </a:solidFill>
                          <a:latin typeface="PingFang SC"/>
                          <a:ea typeface="PingFang SC"/>
                          <a:cs typeface="PingFang SC"/>
                        </a:rPr>
                        <a:t>不等于通用预测 / 生成统一训练</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01B177EE-E5BD-41E3-83A2-3456A6578E26}"/>
              </a:ext>
            </a:extLst>
          </p:cNvPr>
          <p:cNvSpPr>
            <a:spLocks xmlns:a="http://schemas.openxmlformats.org/drawingml/2006/main" noGrp="1"/>
          </p:cNvSpPr>
          <p:nvPr/>
        </p:nvSpPr>
        <p:spPr>
          <a:xfrm xmlns:a="http://schemas.openxmlformats.org/drawingml/2006/main">
            <a:off x="781050" y="60007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更早的 Gruver et al. (2024) 已展示 LLM 晶体文本生成、部分结构补全和文本条件生成。</a:t>
            </a:r>
          </a:p>
        </p:txBody>
      </p:sp>
    </p:spTree>
    <p:extLst>
      <p:ext uri="{BB962C8B-B14F-4D97-AF65-F5344CB8AC3E}">
        <p14:creationId xmlns:p14="http://schemas.microsoft.com/office/powerpoint/2010/main" val="77821789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4C806E7-36EB-4394-8F3A-838AE56EF7D4}"/>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不完整数据如何参与训练</a:t>
            </a:r>
          </a:p>
        </p:txBody>
      </p:sp>
      <p:sp>
        <p:nvSpPr>
          <p:cNvPr id="2" name="text-1">
            <a:extLst xmlns:a="http://schemas.openxmlformats.org/drawingml/2006/main">
              <a:ext uri="{FF2B5EF4-FFF2-40B4-BE49-F238E27FC236}">
                <a16:creationId xmlns:a16="http://schemas.microsoft.com/office/drawing/2014/main" id="{103D94F8-0C3F-402E-915D-EC93927592B9}"/>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拟议训练组织：一条记录只监督实际观测到的内容</a:t>
            </a:r>
          </a:p>
        </p:txBody>
      </p:sp>
      <p:sp>
        <p:nvSpPr>
          <p:cNvPr id="3" name="text-2">
            <a:extLst xmlns:a="http://schemas.openxmlformats.org/drawingml/2006/main">
              <a:ext uri="{FF2B5EF4-FFF2-40B4-BE49-F238E27FC236}">
                <a16:creationId xmlns:a16="http://schemas.microsoft.com/office/drawing/2014/main" id="{261BFC16-CD25-4A4B-AC2D-A5DE683BC599}"/>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21</a:t>
            </a:r>
          </a:p>
        </p:txBody>
      </p:sp>
      <p:graphicFrame>
        <p:nvGraphicFramePr>
          <p:cNvPr id="11" name=""/>
          <p:cNvGraphicFramePr/>
          <p:nvPr/>
        </p:nvGraphicFramePr>
        <p:xfrm>
          <a:off xmlns:a="http://schemas.openxmlformats.org/drawingml/2006/main" x="762000" y="1905000"/>
          <a:ext xmlns:a="http://schemas.openxmlformats.org/drawingml/2006/main" cx="10668000" cy="3105150"/>
        </p:xfrm>
        <a:graphic xmlns:a="http://schemas.openxmlformats.org/drawingml/2006/main">
          <a:graphicData uri="http://schemas.openxmlformats.org/drawingml/2006/table">
            <a:tbl>
              <a:tblPr firstRow="0" bandRow="0"/>
              <a:tblGrid>
                <a:gridCol w="3095625"/>
                <a:gridCol w="3952875"/>
                <a:gridCol w="3619500"/>
              </a:tblGrid>
              <a:tr h="400050">
                <a:tc>
                  <a:txBody>
                    <a:bodyPr>
                      <a:noAutofit/>
                    </a:bodyPr>
                    <a:lstStyle/>
                    <a:p>
                      <a:r>
                        <a:rPr sz="1725" b="1">
                          <a:solidFill>
                            <a:srgbClr val="FFFFFF"/>
                          </a:solidFill>
                          <a:latin typeface="PingFang SC"/>
                          <a:ea typeface="PingFang SC"/>
                          <a:cs typeface="PingFang SC"/>
                        </a:rPr>
                        <a:t>手头有什么</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可构造的训练任务</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没有的字段怎么处理</a:t>
                      </a:r>
                    </a:p>
                  </a:txBody>
                  <a:tcPr marL="114300" marR="95250" marT="76200" marB="66675" anchor="ctr">
                    <a:solidFill>
                      <a:srgbClr val="2D6B5B"/>
                    </a:solidFill>
                  </a:tcPr>
                </a:tc>
              </a:tr>
              <a:tr h="676275">
                <a:tc>
                  <a:txBody>
                    <a:bodyPr>
                      <a:noAutofit/>
                    </a:bodyPr>
                    <a:lstStyle/>
                    <a:p>
                      <a:r>
                        <a:rPr sz="1725" b="1">
                          <a:solidFill>
                            <a:srgbClr val="17372F"/>
                          </a:solidFill>
                          <a:latin typeface="PingFang SC"/>
                          <a:ea typeface="PingFang SC"/>
                          <a:cs typeface="PingFang SC"/>
                        </a:rPr>
                        <a:t>组成 + 性质，没有结构</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组成预测已知性质</a:t>
                      </a:r>
                    </a:p>
                    <a:p>
                      <a:r>
                        <a:rPr sz="1725" b="0">
                          <a:solidFill>
                            <a:srgbClr val="17372F"/>
                          </a:solidFill>
                          <a:latin typeface="PingFang SC"/>
                          <a:ea typeface="PingFang SC"/>
                          <a:cs typeface="PingFang SC"/>
                        </a:rPr>
                        <a:t>或以性质为条件补全组成</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不计算晶体结构监督</a:t>
                      </a:r>
                    </a:p>
                  </a:txBody>
                  <a:tcPr marL="114300" marR="95250" marT="76200" marB="66675" anchor="ctr">
                    <a:solidFill>
                      <a:srgbClr val="F7FAF7"/>
                    </a:solidFill>
                  </a:tcPr>
                </a:tc>
              </a:tr>
              <a:tr h="676275">
                <a:tc>
                  <a:txBody>
                    <a:bodyPr>
                      <a:noAutofit/>
                    </a:bodyPr>
                    <a:lstStyle/>
                    <a:p>
                      <a:r>
                        <a:rPr sz="1725" b="1">
                          <a:solidFill>
                            <a:srgbClr val="17372F"/>
                          </a:solidFill>
                          <a:latin typeface="PingFang SC"/>
                          <a:ea typeface="PingFang SC"/>
                          <a:cs typeface="PingFang SC"/>
                        </a:rPr>
                        <a:t>结构，没有性质标签</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结构 token 自监督重建</a:t>
                      </a:r>
                    </a:p>
                    <a:p>
                      <a:r>
                        <a:rPr sz="1725" b="0">
                          <a:solidFill>
                            <a:srgbClr val="17372F"/>
                          </a:solidFill>
                          <a:latin typeface="PingFang SC"/>
                          <a:ea typeface="PingFang SC"/>
                          <a:cs typeface="PingFang SC"/>
                        </a:rPr>
                        <a:t>或组成 / 部分位点条件补全</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不把未知能量写成 0</a:t>
                      </a:r>
                    </a:p>
                  </a:txBody>
                  <a:tcPr marL="114300" marR="95250" marT="76200" marB="66675" anchor="ctr">
                    <a:solidFill>
                      <a:srgbClr val="EDF3EE"/>
                    </a:solidFill>
                  </a:tcPr>
                </a:tc>
              </a:tr>
              <a:tr h="676275">
                <a:tc>
                  <a:txBody>
                    <a:bodyPr>
                      <a:noAutofit/>
                    </a:bodyPr>
                    <a:lstStyle/>
                    <a:p>
                      <a:r>
                        <a:rPr sz="1725" b="1">
                          <a:solidFill>
                            <a:srgbClr val="17372F"/>
                          </a:solidFill>
                          <a:latin typeface="PingFang SC"/>
                          <a:ea typeface="PingFang SC"/>
                          <a:cs typeface="PingFang SC"/>
                        </a:rPr>
                        <a:t>组成 + 结构 + 部分性质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随机选择已知字段作条件</a:t>
                      </a:r>
                    </a:p>
                    <a:p>
                      <a:r>
                        <a:rPr sz="1725" b="0">
                          <a:solidFill>
                            <a:srgbClr val="17372F"/>
                          </a:solidFill>
                          <a:latin typeface="PingFang SC"/>
                          <a:ea typeface="PingFang SC"/>
                          <a:cs typeface="PingFang SC"/>
                        </a:rPr>
                        <a:t>其余已知字段作预测目标</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只在有真值的目标上算损失</a:t>
                      </a:r>
                    </a:p>
                  </a:txBody>
                  <a:tcPr marL="114300" marR="95250" marT="76200" marB="66675" anchor="ctr">
                    <a:solidFill>
                      <a:srgbClr val="F7FAF7"/>
                    </a:solidFill>
                  </a:tcPr>
                </a:tc>
              </a:tr>
              <a:tr h="676275">
                <a:tc>
                  <a:txBody>
                    <a:bodyPr>
                      <a:noAutofit/>
                    </a:bodyPr>
                    <a:lstStyle/>
                    <a:p>
                      <a:r>
                        <a:rPr sz="1725" b="1">
                          <a:solidFill>
                            <a:srgbClr val="17372F"/>
                          </a:solidFill>
                          <a:latin typeface="PingFang SC"/>
                          <a:ea typeface="PingFang SC"/>
                          <a:cs typeface="PingFang SC"/>
                        </a:rPr>
                        <a:t>只有材料文本</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文本 span 重建 / 问答</a:t>
                      </a:r>
                    </a:p>
                    <a:p>
                      <a:r>
                        <a:rPr sz="1725" b="0">
                          <a:solidFill>
                            <a:srgbClr val="17372F"/>
                          </a:solidFill>
                          <a:latin typeface="PingFang SC"/>
                          <a:ea typeface="PingFang SC"/>
                          <a:cs typeface="PingFang SC"/>
                        </a:rPr>
                        <a:t>保留材料语言知识</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需要配对数据建立文本与结构联系</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99466CF9-2600-4FA2-9CDC-B0F60F7A3450}"/>
              </a:ext>
            </a:extLst>
          </p:cNvPr>
          <p:cNvSpPr>
            <a:spLocks xmlns:a="http://schemas.openxmlformats.org/drawingml/2006/main" noGrp="1"/>
          </p:cNvSpPr>
          <p:nvPr/>
        </p:nvSpPr>
        <p:spPr>
          <a:xfrm xmlns:a="http://schemas.openxmlformats.org/drawingml/2006/main">
            <a:off x="781050" y="52768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观测缺失 ≠ 训练时遮盖</a:t>
            </a:r>
          </a:p>
        </p:txBody>
      </p:sp>
      <p:sp>
        <p:nvSpPr>
          <p:cNvPr id="6" name="text-4">
            <a:extLst xmlns:a="http://schemas.openxmlformats.org/drawingml/2006/main">
              <a:ext uri="{FF2B5EF4-FFF2-40B4-BE49-F238E27FC236}">
                <a16:creationId xmlns:a16="http://schemas.microsoft.com/office/drawing/2014/main" id="{483534C5-E64B-4880-8E90-60AB3ED96C2B}"/>
              </a:ext>
            </a:extLst>
          </p:cNvPr>
          <p:cNvSpPr>
            <a:spLocks xmlns:a="http://schemas.openxmlformats.org/drawingml/2006/main" noGrp="1"/>
          </p:cNvSpPr>
          <p:nvPr/>
        </p:nvSpPr>
        <p:spPr>
          <a:xfrm xmlns:a="http://schemas.openxmlformats.org/drawingml/2006/main">
            <a:off x="781050" y="5734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72F"/>
                </a:solidFill>
                <a:latin typeface="PingFang SC"/>
                <a:ea typeface="PingFang SC"/>
                <a:cs typeface="PingFang SC"/>
              </a:defRPr>
            </a:pPr>
            <a:r>
              <a:rPr sz="1725" b="0">
                <a:solidFill>
                  <a:srgbClr val="17372F"/>
                </a:solidFill>
                <a:latin typeface="PingFang SC"/>
                <a:ea typeface="PingFang SC"/>
                <a:cs typeface="PingFang SC"/>
              </a:rPr>
              <a:t>[ABSENT]：数据库没提供，无真值监督    [MASK]：已知值被遮住，有真值可学</a:t>
            </a:r>
          </a:p>
        </p:txBody>
      </p:sp>
      <p:sp>
        <p:nvSpPr>
          <p:cNvPr id="7" name="text-5">
            <a:extLst xmlns:a="http://schemas.openxmlformats.org/drawingml/2006/main">
              <a:ext uri="{FF2B5EF4-FFF2-40B4-BE49-F238E27FC236}">
                <a16:creationId xmlns:a16="http://schemas.microsoft.com/office/drawing/2014/main" id="{C2A7C0BF-47B3-45B8-86A5-4E43CC05BAE5}"/>
              </a:ext>
            </a:extLst>
          </p:cNvPr>
          <p:cNvSpPr>
            <a:spLocks xmlns:a="http://schemas.openxmlformats.org/drawingml/2006/main" noGrp="1"/>
          </p:cNvSpPr>
          <p:nvPr/>
        </p:nvSpPr>
        <p:spPr>
          <a:xfrm xmlns:a="http://schemas.openxmlformats.org/drawingml/2006/main">
            <a:off x="781050" y="62388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能把数据编码成文本，只解决输入形式；单位、测量条件、材料身份和跨字段配对仍决定能否学到有效关系。</a:t>
            </a:r>
          </a:p>
        </p:txBody>
      </p:sp>
    </p:spTree>
    <p:extLst>
      <p:ext uri="{BB962C8B-B14F-4D97-AF65-F5344CB8AC3E}">
        <p14:creationId xmlns:p14="http://schemas.microsoft.com/office/powerpoint/2010/main" val="109430290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8CCCBCF-E264-4F60-AD0D-74B4F1141D76}"/>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可检验的研究差异</a:t>
            </a:r>
          </a:p>
        </p:txBody>
      </p:sp>
      <p:sp>
        <p:nvSpPr>
          <p:cNvPr id="2" name="text-1">
            <a:extLst xmlns:a="http://schemas.openxmlformats.org/drawingml/2006/main">
              <a:ext uri="{FF2B5EF4-FFF2-40B4-BE49-F238E27FC236}">
                <a16:creationId xmlns:a16="http://schemas.microsoft.com/office/drawing/2014/main" id="{F2BB5193-AF5E-4D7D-8D2E-7C062074F782}"/>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“多任务晶体基础模型”是目标，收益需要对照实验建立</a:t>
            </a:r>
          </a:p>
        </p:txBody>
      </p:sp>
      <p:sp>
        <p:nvSpPr>
          <p:cNvPr id="3" name="text-2">
            <a:extLst xmlns:a="http://schemas.openxmlformats.org/drawingml/2006/main">
              <a:ext uri="{FF2B5EF4-FFF2-40B4-BE49-F238E27FC236}">
                <a16:creationId xmlns:a16="http://schemas.microsoft.com/office/drawing/2014/main" id="{2AD5EF42-9A3E-4481-81E5-BF26EA9F8BA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22</a:t>
            </a:r>
          </a:p>
        </p:txBody>
      </p:sp>
      <p:graphicFrame>
        <p:nvGraphicFramePr>
          <p:cNvPr id="10" name=""/>
          <p:cNvGraphicFramePr/>
          <p:nvPr/>
        </p:nvGraphicFramePr>
        <p:xfrm>
          <a:off xmlns:a="http://schemas.openxmlformats.org/drawingml/2006/main" x="762000" y="1885950"/>
          <a:ext xmlns:a="http://schemas.openxmlformats.org/drawingml/2006/main" cx="10668000" cy="3105150"/>
        </p:xfrm>
        <a:graphic xmlns:a="http://schemas.openxmlformats.org/drawingml/2006/main">
          <a:graphicData uri="http://schemas.openxmlformats.org/drawingml/2006/table">
            <a:tbl>
              <a:tblPr firstRow="0" bandRow="0"/>
              <a:tblGrid>
                <a:gridCol w="2952750"/>
                <a:gridCol w="4333875"/>
                <a:gridCol w="3381375"/>
              </a:tblGrid>
              <a:tr h="400050">
                <a:tc>
                  <a:txBody>
                    <a:bodyPr>
                      <a:noAutofit/>
                    </a:bodyPr>
                    <a:lstStyle/>
                    <a:p>
                      <a:r>
                        <a:rPr sz="1725" b="1">
                          <a:solidFill>
                            <a:srgbClr val="FFFFFF"/>
                          </a:solidFill>
                          <a:latin typeface="PingFang SC"/>
                          <a:ea typeface="PingFang SC"/>
                          <a:cs typeface="PingFang SC"/>
                        </a:rPr>
                        <a:t>待检验的问题</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最小对照</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关键评价</a:t>
                      </a:r>
                    </a:p>
                  </a:txBody>
                  <a:tcPr marL="114300" marR="95250" marT="76200" marB="66675" anchor="ctr">
                    <a:solidFill>
                      <a:srgbClr val="2D6B5B"/>
                    </a:solidFill>
                  </a:tcPr>
                </a:tc>
              </a:tr>
              <a:tr h="676275">
                <a:tc>
                  <a:txBody>
                    <a:bodyPr>
                      <a:noAutofit/>
                    </a:bodyPr>
                    <a:lstStyle/>
                    <a:p>
                      <a:r>
                        <a:rPr sz="1725" b="1">
                          <a:solidFill>
                            <a:srgbClr val="17372F"/>
                          </a:solidFill>
                          <a:latin typeface="PingFang SC"/>
                          <a:ea typeface="PingFang SC"/>
                          <a:cs typeface="PingFang SC"/>
                        </a:rPr>
                        <a:t>不完整记录是否有用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仅完整样本 vs 加入不完整样本</a:t>
                      </a:r>
                    </a:p>
                    <a:p>
                      <a:r>
                        <a:rPr sz="1725" b="0">
                          <a:solidFill>
                            <a:srgbClr val="17372F"/>
                          </a:solidFill>
                          <a:latin typeface="PingFang SC"/>
                          <a:ea typeface="PingFang SC"/>
                          <a:cs typeface="PingFang SC"/>
                        </a:rPr>
                        <a:t>控制训练预算与数据重复</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性质 MAE、结构补全、低标签迁移</a:t>
                      </a:r>
                    </a:p>
                  </a:txBody>
                  <a:tcPr marL="114300" marR="95250" marT="76200" marB="66675" anchor="ctr">
                    <a:solidFill>
                      <a:srgbClr val="F7FAF7"/>
                    </a:solidFill>
                  </a:tcPr>
                </a:tc>
              </a:tr>
              <a:tr h="676275">
                <a:tc>
                  <a:txBody>
                    <a:bodyPr>
                      <a:noAutofit/>
                    </a:bodyPr>
                    <a:lstStyle/>
                    <a:p>
                      <a:r>
                        <a:rPr sz="1725" b="1">
                          <a:solidFill>
                            <a:srgbClr val="17372F"/>
                          </a:solidFill>
                          <a:latin typeface="PingFang SC"/>
                          <a:ea typeface="PingFang SC"/>
                          <a:cs typeface="PingFang SC"/>
                        </a:rPr>
                        <a:t>边轨道是否有用</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CIF / WP-only / 边轨道</a:t>
                      </a:r>
                    </a:p>
                    <a:p>
                      <a:r>
                        <a:rPr sz="1725" b="0">
                          <a:solidFill>
                            <a:srgbClr val="17372F"/>
                          </a:solidFill>
                          <a:latin typeface="PingFang SC"/>
                          <a:ea typeface="PingFang SC"/>
                          <a:cs typeface="PingFang SC"/>
                        </a:rPr>
                        <a:t>保持模型、训练集与条件一致</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合法性、目标命中率、显存与吞吐</a:t>
                      </a:r>
                    </a:p>
                  </a:txBody>
                  <a:tcPr marL="114300" marR="95250" marT="76200" marB="66675" anchor="ctr">
                    <a:solidFill>
                      <a:srgbClr val="EDF3EE"/>
                    </a:solidFill>
                  </a:tcPr>
                </a:tc>
              </a:tr>
              <a:tr h="676275">
                <a:tc>
                  <a:txBody>
                    <a:bodyPr>
                      <a:noAutofit/>
                    </a:bodyPr>
                    <a:lstStyle/>
                    <a:p>
                      <a:r>
                        <a:rPr sz="1725" b="1">
                          <a:solidFill>
                            <a:srgbClr val="17372F"/>
                          </a:solidFill>
                          <a:latin typeface="PingFang SC"/>
                          <a:ea typeface="PingFang SC"/>
                          <a:cs typeface="PingFang SC"/>
                        </a:rPr>
                        <a:t>非自回归是否有用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相同表示的 AR vs masked / DLM</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有效结构 / 秒、采样步数、生成质量</a:t>
                      </a:r>
                    </a:p>
                  </a:txBody>
                  <a:tcPr marL="114300" marR="95250" marT="76200" marB="66675" anchor="ctr">
                    <a:solidFill>
                      <a:srgbClr val="F7FAF7"/>
                    </a:solidFill>
                  </a:tcPr>
                </a:tc>
              </a:tr>
              <a:tr h="676275">
                <a:tc>
                  <a:txBody>
                    <a:bodyPr>
                      <a:noAutofit/>
                    </a:bodyPr>
                    <a:lstStyle/>
                    <a:p>
                      <a:r>
                        <a:rPr sz="1725" b="1">
                          <a:solidFill>
                            <a:srgbClr val="17372F"/>
                          </a:solidFill>
                          <a:latin typeface="PingFang SC"/>
                          <a:ea typeface="PingFang SC"/>
                          <a:cs typeface="PingFang SC"/>
                        </a:rPr>
                        <a:t>共享模型是否可复用</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单任务模型 vs 共享模型</a:t>
                      </a:r>
                    </a:p>
                    <a:p>
                      <a:r>
                        <a:rPr sz="1725" b="0">
                          <a:solidFill>
                            <a:srgbClr val="17372F"/>
                          </a:solidFill>
                          <a:latin typeface="PingFang SC"/>
                          <a:ea typeface="PingFang SC"/>
                          <a:cs typeface="PingFang SC"/>
                        </a:rPr>
                        <a:t>留出条件组合 / 性质 / 原型</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负迁移、组合泛化、少样本适配</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317DA763-B642-49AE-BCDD-4AF91DAA1AD8}"/>
              </a:ext>
            </a:extLst>
          </p:cNvPr>
          <p:cNvSpPr>
            <a:spLocks xmlns:a="http://schemas.openxmlformats.org/drawingml/2006/main" noGrp="1"/>
          </p:cNvSpPr>
          <p:nvPr/>
        </p:nvSpPr>
        <p:spPr>
          <a:xfrm xmlns:a="http://schemas.openxmlformats.org/drawingml/2006/main">
            <a:off x="781050" y="53340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72F"/>
                </a:solidFill>
                <a:latin typeface="PingFang SC"/>
                <a:ea typeface="PingFang SC"/>
                <a:cs typeface="PingFang SC"/>
              </a:defRPr>
            </a:pPr>
            <a:r>
              <a:rPr sz="2025" b="1">
                <a:solidFill>
                  <a:srgbClr val="17372F"/>
                </a:solidFill>
                <a:latin typeface="PingFang SC"/>
                <a:ea typeface="PingFang SC"/>
                <a:cs typeface="PingFang SC"/>
              </a:rPr>
              <a:t>研究主张应具体到：数据利用机制 + 表示 + 学习目标带来的收益。</a:t>
            </a:r>
          </a:p>
        </p:txBody>
      </p:sp>
      <p:sp>
        <p:nvSpPr>
          <p:cNvPr id="6" name="text-4">
            <a:extLst xmlns:a="http://schemas.openxmlformats.org/drawingml/2006/main">
              <a:ext uri="{FF2B5EF4-FFF2-40B4-BE49-F238E27FC236}">
                <a16:creationId xmlns:a16="http://schemas.microsoft.com/office/drawing/2014/main" id="{3FE4DA6D-9C48-4E82-B718-D520D195926D}"/>
              </a:ext>
            </a:extLst>
          </p:cNvPr>
          <p:cNvSpPr>
            <a:spLocks xmlns:a="http://schemas.openxmlformats.org/drawingml/2006/main" noGrp="1"/>
          </p:cNvSpPr>
          <p:nvPr/>
        </p:nvSpPr>
        <p:spPr>
          <a:xfrm xmlns:a="http://schemas.openxmlformats.org/drawingml/2006/main">
            <a:off x="781050" y="61626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目前边轨道候选已做可逆编码与单级条件几何去噪；离散生成、多步反向采样和新材料稳定性仍待验证。</a:t>
            </a:r>
          </a:p>
        </p:txBody>
      </p:sp>
    </p:spTree>
    <p:extLst>
      <p:ext uri="{BB962C8B-B14F-4D97-AF65-F5344CB8AC3E}">
        <p14:creationId xmlns:p14="http://schemas.microsoft.com/office/powerpoint/2010/main" val="5579862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34A1E10-7519-4247-B38C-F63249D7701F}"/>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Wyckoff 4a：以 NaCl 为例</a:t>
            </a:r>
          </a:p>
        </p:txBody>
      </p:sp>
      <p:sp>
        <p:nvSpPr>
          <p:cNvPr id="2" name="text-1">
            <a:extLst xmlns:a="http://schemas.openxmlformats.org/drawingml/2006/main">
              <a:ext uri="{FF2B5EF4-FFF2-40B4-BE49-F238E27FC236}">
                <a16:creationId xmlns:a16="http://schemas.microsoft.com/office/drawing/2014/main" id="{A3036024-5C66-45B6-9F56-F6ADC022A1E6}"/>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空间群 #225，Fm−3m，标准立方常规晶胞，分数坐标取模 1</a:t>
            </a:r>
          </a:p>
        </p:txBody>
      </p:sp>
      <p:sp>
        <p:nvSpPr>
          <p:cNvPr id="3" name="text-2">
            <a:extLst xmlns:a="http://schemas.openxmlformats.org/drawingml/2006/main">
              <a:ext uri="{FF2B5EF4-FFF2-40B4-BE49-F238E27FC236}">
                <a16:creationId xmlns:a16="http://schemas.microsoft.com/office/drawing/2014/main" id="{627012FB-21E7-4958-8B27-9873FB68C87C}"/>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23</a:t>
            </a:r>
          </a:p>
        </p:txBody>
      </p:sp>
      <p:sp>
        <p:nvSpPr>
          <p:cNvPr id="4" name="text-3">
            <a:extLst xmlns:a="http://schemas.openxmlformats.org/drawingml/2006/main">
              <a:ext uri="{FF2B5EF4-FFF2-40B4-BE49-F238E27FC236}">
                <a16:creationId xmlns:a16="http://schemas.microsoft.com/office/drawing/2014/main" id="{53FDFD58-73F4-4B06-8ED4-25503FA391D8}"/>
              </a:ext>
            </a:extLst>
          </p:cNvPr>
          <p:cNvSpPr>
            <a:spLocks xmlns:a="http://schemas.openxmlformats.org/drawingml/2006/main" noGrp="1"/>
          </p:cNvSpPr>
          <p:nvPr/>
        </p:nvSpPr>
        <p:spPr>
          <a:xfrm xmlns:a="http://schemas.openxmlformats.org/drawingml/2006/main">
            <a:off x="876300" y="1924050"/>
            <a:ext cx="1428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2D6B5B"/>
                </a:solidFill>
                <a:latin typeface="PingFang SC"/>
                <a:ea typeface="PingFang SC"/>
                <a:cs typeface="PingFang SC"/>
              </a:defRPr>
            </a:pPr>
            <a:r>
              <a:rPr sz="7050" b="1">
                <a:solidFill>
                  <a:srgbClr val="2D6B5B"/>
                </a:solidFill>
                <a:latin typeface="PingFang SC"/>
                <a:ea typeface="PingFang SC"/>
                <a:cs typeface="PingFang SC"/>
              </a:rPr>
              <a:t>4</a:t>
            </a:r>
          </a:p>
        </p:txBody>
      </p:sp>
      <p:sp>
        <p:nvSpPr>
          <p:cNvPr id="5" name="text-4">
            <a:extLst xmlns:a="http://schemas.openxmlformats.org/drawingml/2006/main">
              <a:ext uri="{FF2B5EF4-FFF2-40B4-BE49-F238E27FC236}">
                <a16:creationId xmlns:a16="http://schemas.microsoft.com/office/drawing/2014/main" id="{D02465D7-2D80-4A01-9E46-0EF2041024EE}"/>
              </a:ext>
            </a:extLst>
          </p:cNvPr>
          <p:cNvSpPr>
            <a:spLocks xmlns:a="http://schemas.openxmlformats.org/drawingml/2006/main" noGrp="1"/>
          </p:cNvSpPr>
          <p:nvPr/>
        </p:nvSpPr>
        <p:spPr>
          <a:xfrm xmlns:a="http://schemas.openxmlformats.org/drawingml/2006/main">
            <a:off x="2457450" y="2114550"/>
            <a:ext cx="352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每个常规晶胞内</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有 4 个对称等价位置</a:t>
            </a:r>
          </a:p>
        </p:txBody>
      </p:sp>
      <p:sp>
        <p:nvSpPr>
          <p:cNvPr id="6" name="text-5">
            <a:extLst xmlns:a="http://schemas.openxmlformats.org/drawingml/2006/main">
              <a:ext uri="{FF2B5EF4-FFF2-40B4-BE49-F238E27FC236}">
                <a16:creationId xmlns:a16="http://schemas.microsoft.com/office/drawing/2014/main" id="{1D91007B-85F0-4223-B45E-F9D697686BE9}"/>
              </a:ext>
            </a:extLst>
          </p:cNvPr>
          <p:cNvSpPr>
            <a:spLocks xmlns:a="http://schemas.openxmlformats.org/drawingml/2006/main" noGrp="1"/>
          </p:cNvSpPr>
          <p:nvPr/>
        </p:nvSpPr>
        <p:spPr>
          <a:xfrm xmlns:a="http://schemas.openxmlformats.org/drawingml/2006/main">
            <a:off x="6381750" y="1924050"/>
            <a:ext cx="114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2D6B5B"/>
                </a:solidFill>
                <a:latin typeface="PingFang SC"/>
                <a:ea typeface="PingFang SC"/>
                <a:cs typeface="PingFang SC"/>
              </a:defRPr>
            </a:pPr>
            <a:r>
              <a:rPr sz="7050" b="1">
                <a:solidFill>
                  <a:srgbClr val="2D6B5B"/>
                </a:solidFill>
                <a:latin typeface="PingFang SC"/>
                <a:ea typeface="PingFang SC"/>
                <a:cs typeface="PingFang SC"/>
              </a:rPr>
              <a:t>a</a:t>
            </a:r>
          </a:p>
        </p:txBody>
      </p:sp>
      <p:sp>
        <p:nvSpPr>
          <p:cNvPr id="7" name="text-6">
            <a:extLst xmlns:a="http://schemas.openxmlformats.org/drawingml/2006/main">
              <a:ext uri="{FF2B5EF4-FFF2-40B4-BE49-F238E27FC236}">
                <a16:creationId xmlns:a16="http://schemas.microsoft.com/office/drawing/2014/main" id="{6F361439-8524-48F3-AFF6-7F98B15985B0}"/>
              </a:ext>
            </a:extLst>
          </p:cNvPr>
          <p:cNvSpPr>
            <a:spLocks xmlns:a="http://schemas.openxmlformats.org/drawingml/2006/main" noGrp="1"/>
          </p:cNvSpPr>
          <p:nvPr/>
        </p:nvSpPr>
        <p:spPr>
          <a:xfrm xmlns:a="http://schemas.openxmlformats.org/drawingml/2006/main">
            <a:off x="7810500" y="2114550"/>
            <a:ext cx="3667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该空间群 WP 表里的字母标签</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不是元素，也不是全局位置编号</a:t>
            </a:r>
          </a:p>
        </p:txBody>
      </p:sp>
      <p:graphicFrame>
        <p:nvGraphicFramePr>
          <p:cNvPr id="18" name=""/>
          <p:cNvGraphicFramePr/>
          <p:nvPr/>
        </p:nvGraphicFramePr>
        <p:xfrm>
          <a:off xmlns:a="http://schemas.openxmlformats.org/drawingml/2006/main" x="762000" y="3333750"/>
          <a:ext xmlns:a="http://schemas.openxmlformats.org/drawingml/2006/main" cx="10668000" cy="1752600"/>
        </p:xfrm>
        <a:graphic xmlns:a="http://schemas.openxmlformats.org/drawingml/2006/main">
          <a:graphicData uri="http://schemas.openxmlformats.org/drawingml/2006/table">
            <a:tbl>
              <a:tblPr firstRow="0" bandRow="0"/>
              <a:tblGrid>
                <a:gridCol w="2190750"/>
                <a:gridCol w="2428875"/>
                <a:gridCol w="6048375"/>
              </a:tblGrid>
              <a:tr h="419100">
                <a:tc>
                  <a:txBody>
                    <a:bodyPr>
                      <a:noAutofit/>
                    </a:bodyPr>
                    <a:lstStyle/>
                    <a:p>
                      <a:r>
                        <a:rPr sz="1875" b="1">
                          <a:solidFill>
                            <a:srgbClr val="FFFFFF"/>
                          </a:solidFill>
                          <a:latin typeface="PingFang SC"/>
                          <a:ea typeface="PingFang SC"/>
                          <a:cs typeface="PingFang SC"/>
                        </a:rPr>
                        <a:t>占位</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代表点</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展开后的全部位置</a:t>
                      </a:r>
                    </a:p>
                  </a:txBody>
                  <a:tcPr marL="114300" marR="95250" marT="76200" marB="66675" anchor="ctr">
                    <a:solidFill>
                      <a:srgbClr val="2D6B5B"/>
                    </a:solidFill>
                  </a:tcPr>
                </a:tc>
              </a:tr>
              <a:tr h="666750">
                <a:tc>
                  <a:txBody>
                    <a:bodyPr>
                      <a:noAutofit/>
                    </a:bodyPr>
                    <a:lstStyle/>
                    <a:p>
                      <a:r>
                        <a:rPr sz="1875" b="1">
                          <a:solidFill>
                            <a:srgbClr val="17372F"/>
                          </a:solidFill>
                          <a:latin typeface="PingFang SC"/>
                          <a:ea typeface="PingFang SC"/>
                          <a:cs typeface="PingFang SC"/>
                        </a:rPr>
                        <a:t>Na：4a</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(0, 0, 0)</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(0,0,0)   (0,½,½)   (½,0,½)   (½,½,0)</a:t>
                      </a:r>
                    </a:p>
                  </a:txBody>
                  <a:tcPr marL="114300" marR="95250" marT="76200" marB="66675" anchor="ctr">
                    <a:solidFill>
                      <a:srgbClr val="F7FAF7"/>
                    </a:solidFill>
                  </a:tcPr>
                </a:tc>
              </a:tr>
              <a:tr h="666750">
                <a:tc>
                  <a:txBody>
                    <a:bodyPr>
                      <a:noAutofit/>
                    </a:bodyPr>
                    <a:lstStyle/>
                    <a:p>
                      <a:r>
                        <a:rPr sz="1875" b="1">
                          <a:solidFill>
                            <a:srgbClr val="17372F"/>
                          </a:solidFill>
                          <a:latin typeface="PingFang SC"/>
                          <a:ea typeface="PingFang SC"/>
                          <a:cs typeface="PingFang SC"/>
                        </a:rPr>
                        <a:t>Cl：4b</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(½, ½, ½)</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(½,½,½)   (½,0,0)   (0,½,0)   (0,0,½)</a:t>
                      </a:r>
                    </a:p>
                  </a:txBody>
                  <a:tcPr marL="114300" marR="95250" marT="76200" marB="66675" anchor="ctr">
                    <a:solidFill>
                      <a:srgbClr val="EDF3EE"/>
                    </a:solidFill>
                  </a:tcPr>
                </a:tc>
              </a:tr>
            </a:tbl>
          </a:graphicData>
        </a:graphic>
      </p:graphicFrame>
      <p:sp>
        <p:nvSpPr>
          <p:cNvPr id="9" name="text-7">
            <a:extLst xmlns:a="http://schemas.openxmlformats.org/drawingml/2006/main">
              <a:ext uri="{FF2B5EF4-FFF2-40B4-BE49-F238E27FC236}">
                <a16:creationId xmlns:a16="http://schemas.microsoft.com/office/drawing/2014/main" id="{1229BE67-84F0-4199-86DF-43B13306D514}"/>
              </a:ext>
            </a:extLst>
          </p:cNvPr>
          <p:cNvSpPr>
            <a:spLocks xmlns:a="http://schemas.openxmlformats.org/drawingml/2006/main" noGrp="1"/>
          </p:cNvSpPr>
          <p:nvPr/>
        </p:nvSpPr>
        <p:spPr>
          <a:xfrm xmlns:a="http://schemas.openxmlformats.org/drawingml/2006/main">
            <a:off x="781050" y="54102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72F"/>
                </a:solidFill>
                <a:latin typeface="PingFang SC"/>
                <a:ea typeface="PingFang SC"/>
                <a:cs typeface="PingFang SC"/>
              </a:defRPr>
            </a:pPr>
            <a:r>
              <a:rPr sz="2100" b="1">
                <a:solidFill>
                  <a:srgbClr val="17372F"/>
                </a:solidFill>
                <a:latin typeface="PingFang SC"/>
                <a:ea typeface="PingFang SC"/>
                <a:cs typeface="PingFang SC"/>
              </a:rPr>
              <a:t>两个独立位点轨道，展开后是 8 个原子 = 4 个 NaCl。</a:t>
            </a:r>
          </a:p>
        </p:txBody>
      </p:sp>
      <p:sp>
        <p:nvSpPr>
          <p:cNvPr id="10" name="text-8">
            <a:extLst xmlns:a="http://schemas.openxmlformats.org/drawingml/2006/main">
              <a:ext uri="{FF2B5EF4-FFF2-40B4-BE49-F238E27FC236}">
                <a16:creationId xmlns:a16="http://schemas.microsoft.com/office/drawing/2014/main" id="{069578E4-896B-427C-ADA4-B2254BB60DE3}"/>
              </a:ext>
            </a:extLst>
          </p:cNvPr>
          <p:cNvSpPr>
            <a:spLocks xmlns:a="http://schemas.openxmlformats.org/drawingml/2006/main" noGrp="1"/>
          </p:cNvSpPr>
          <p:nvPr/>
        </p:nvSpPr>
        <p:spPr>
          <a:xfrm xmlns:a="http://schemas.openxmlformats.org/drawingml/2006/main">
            <a:off x="781050" y="60293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4a 与 4b 的 site symmetry 都是 m−3m，自由坐标数为 0。4 表示位置重数，和 Na 的 6 配位不同。</a:t>
            </a:r>
          </a:p>
        </p:txBody>
      </p:sp>
    </p:spTree>
    <p:extLst>
      <p:ext uri="{BB962C8B-B14F-4D97-AF65-F5344CB8AC3E}">
        <p14:creationId xmlns:p14="http://schemas.microsoft.com/office/powerpoint/2010/main" val="18772271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0ADB56F-0600-4E4C-8951-48E61283EBEB}"/>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Wyckoff 位置也可以带自由参数</a:t>
            </a:r>
          </a:p>
        </p:txBody>
      </p:sp>
      <p:sp>
        <p:nvSpPr>
          <p:cNvPr id="2" name="text-1">
            <a:extLst xmlns:a="http://schemas.openxmlformats.org/drawingml/2006/main">
              <a:ext uri="{FF2B5EF4-FFF2-40B4-BE49-F238E27FC236}">
                <a16:creationId xmlns:a16="http://schemas.microsoft.com/office/drawing/2014/main" id="{A8859DEA-2127-4656-B2F9-304210708432}"/>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字母确定允许的位置族，连续参数决定具体落点</a:t>
            </a:r>
          </a:p>
        </p:txBody>
      </p:sp>
      <p:sp>
        <p:nvSpPr>
          <p:cNvPr id="3" name="text-2">
            <a:extLst xmlns:a="http://schemas.openxmlformats.org/drawingml/2006/main">
              <a:ext uri="{FF2B5EF4-FFF2-40B4-BE49-F238E27FC236}">
                <a16:creationId xmlns:a16="http://schemas.microsoft.com/office/drawing/2014/main" id="{9A33128F-B5A4-4C81-8480-7A2603765DF9}"/>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24</a:t>
            </a:r>
          </a:p>
        </p:txBody>
      </p:sp>
      <p:sp>
        <p:nvSpPr>
          <p:cNvPr id="4" name="text-3">
            <a:extLst xmlns:a="http://schemas.openxmlformats.org/drawingml/2006/main">
              <a:ext uri="{FF2B5EF4-FFF2-40B4-BE49-F238E27FC236}">
                <a16:creationId xmlns:a16="http://schemas.microsoft.com/office/drawing/2014/main" id="{2655DEE3-8569-4DF9-819A-30CC9D624238}"/>
              </a:ext>
            </a:extLst>
          </p:cNvPr>
          <p:cNvSpPr>
            <a:spLocks xmlns:a="http://schemas.openxmlformats.org/drawingml/2006/main" noGrp="1"/>
          </p:cNvSpPr>
          <p:nvPr/>
        </p:nvSpPr>
        <p:spPr>
          <a:xfrm xmlns:a="http://schemas.openxmlformats.org/drawingml/2006/main">
            <a:off x="781050" y="19335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D6B5B"/>
                </a:solidFill>
                <a:latin typeface="PingFang SC"/>
                <a:ea typeface="PingFang SC"/>
                <a:cs typeface="PingFang SC"/>
              </a:defRPr>
            </a:pPr>
            <a:r>
              <a:rPr sz="2175" b="1">
                <a:solidFill>
                  <a:srgbClr val="2D6B5B"/>
                </a:solidFill>
                <a:latin typeface="PingFang SC"/>
                <a:ea typeface="PingFang SC"/>
                <a:cs typeface="PingFang SC"/>
              </a:rPr>
              <a:t>#62 Pnma，4c：两个自由参数 x、z</a:t>
            </a:r>
          </a:p>
        </p:txBody>
      </p:sp>
      <p:graphicFrame>
        <p:nvGraphicFramePr>
          <p:cNvPr id="13" name=""/>
          <p:cNvGraphicFramePr/>
          <p:nvPr/>
        </p:nvGraphicFramePr>
        <p:xfrm>
          <a:off xmlns:a="http://schemas.openxmlformats.org/drawingml/2006/main" x="762000" y="2524125"/>
          <a:ext xmlns:a="http://schemas.openxmlformats.org/drawingml/2006/main" cx="10668000" cy="1733550"/>
        </p:xfrm>
        <a:graphic xmlns:a="http://schemas.openxmlformats.org/drawingml/2006/main">
          <a:graphicData uri="http://schemas.openxmlformats.org/drawingml/2006/table">
            <a:tbl>
              <a:tblPr firstRow="0" bandRow="0"/>
              <a:tblGrid>
                <a:gridCol w="3143250"/>
                <a:gridCol w="7524750"/>
              </a:tblGrid>
              <a:tr h="400050">
                <a:tc>
                  <a:txBody>
                    <a:bodyPr>
                      <a:noAutofit/>
                    </a:bodyPr>
                    <a:lstStyle/>
                    <a:p>
                      <a:r>
                        <a:rPr sz="1725" b="1">
                          <a:solidFill>
                            <a:srgbClr val="FFFFFF"/>
                          </a:solidFill>
                          <a:latin typeface="PingFang SC"/>
                          <a:ea typeface="PingFang SC"/>
                          <a:cs typeface="PingFang SC"/>
                        </a:rPr>
                        <a:t>代表点</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同一轨道的另外 3 个位置</a:t>
                      </a:r>
                    </a:p>
                  </a:txBody>
                  <a:tcPr marL="114300" marR="95250" marT="76200" marB="66675" anchor="ctr">
                    <a:solidFill>
                      <a:srgbClr val="2D6B5B"/>
                    </a:solidFill>
                  </a:tcPr>
                </a:tc>
              </a:tr>
              <a:tr h="666750">
                <a:tc>
                  <a:txBody>
                    <a:bodyPr>
                      <a:noAutofit/>
                    </a:bodyPr>
                    <a:lstStyle/>
                    <a:p>
                      <a:r>
                        <a:rPr sz="1725" b="1">
                          <a:solidFill>
                            <a:srgbClr val="17372F"/>
                          </a:solidFill>
                          <a:latin typeface="PingFang SC"/>
                          <a:ea typeface="PingFang SC"/>
                          <a:cs typeface="PingFang SC"/>
                        </a:rPr>
                        <a:t>(x, ¼, z)</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(½−x, ¾, ½+z)    (−x, ¾, −z)    (½+x, ¼, ½−z)</a:t>
                      </a:r>
                    </a:p>
                  </a:txBody>
                  <a:tcPr marL="114300" marR="95250" marT="76200" marB="66675" anchor="ctr">
                    <a:solidFill>
                      <a:srgbClr val="F7FAF7"/>
                    </a:solidFill>
                  </a:tcPr>
                </a:tc>
              </a:tr>
              <a:tr h="666750">
                <a:tc>
                  <a:txBody>
                    <a:bodyPr>
                      <a:noAutofit/>
                    </a:bodyPr>
                    <a:lstStyle/>
                    <a:p>
                      <a:r>
                        <a:rPr sz="1725" b="1">
                          <a:solidFill>
                            <a:srgbClr val="17372F"/>
                          </a:solidFill>
                          <a:latin typeface="PingFang SC"/>
                          <a:ea typeface="PingFang SC"/>
                          <a:cs typeface="PingFang SC"/>
                        </a:rPr>
                        <a:t>取 x=0.10, z=0.20</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(0.40,0.75,0.70)   (0.90,0.75,0.80)   (0.60,0.25,0.30)</a:t>
                      </a:r>
                    </a:p>
                  </a:txBody>
                  <a:tcPr marL="114300" marR="95250" marT="76200" marB="66675" anchor="ctr">
                    <a:solidFill>
                      <a:srgbClr val="EDF3EE"/>
                    </a:solidFill>
                  </a:tcPr>
                </a:tc>
              </a:tr>
            </a:tbl>
          </a:graphicData>
        </a:graphic>
      </p:graphicFrame>
      <p:sp>
        <p:nvSpPr>
          <p:cNvPr id="6" name="text-4">
            <a:extLst xmlns:a="http://schemas.openxmlformats.org/drawingml/2006/main">
              <a:ext uri="{FF2B5EF4-FFF2-40B4-BE49-F238E27FC236}">
                <a16:creationId xmlns:a16="http://schemas.microsoft.com/office/drawing/2014/main" id="{91B643BF-1EAD-4A9F-803B-844F15149672}"/>
              </a:ext>
            </a:extLst>
          </p:cNvPr>
          <p:cNvSpPr>
            <a:spLocks xmlns:a="http://schemas.openxmlformats.org/drawingml/2006/main" noGrp="1"/>
          </p:cNvSpPr>
          <p:nvPr/>
        </p:nvSpPr>
        <p:spPr>
          <a:xfrm xmlns:a="http://schemas.openxmlformats.org/drawingml/2006/main">
            <a:off x="781050" y="45910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D6B5B"/>
                </a:solidFill>
                <a:latin typeface="PingFang SC"/>
                <a:ea typeface="PingFang SC"/>
                <a:cs typeface="PingFang SC"/>
              </a:defRPr>
            </a:pPr>
            <a:r>
              <a:rPr sz="2175" b="1">
                <a:solidFill>
                  <a:srgbClr val="2D6B5B"/>
                </a:solidFill>
                <a:latin typeface="PingFang SC"/>
                <a:ea typeface="PingFang SC"/>
                <a:cs typeface="PingFang SC"/>
              </a:rPr>
              <a:t>#139 I4/mmm，KrF₂ 中的 F 占据 4e</a:t>
            </a:r>
          </a:p>
        </p:txBody>
      </p:sp>
      <p:sp>
        <p:nvSpPr>
          <p:cNvPr id="7" name="text-5">
            <a:extLst xmlns:a="http://schemas.openxmlformats.org/drawingml/2006/main">
              <a:ext uri="{FF2B5EF4-FFF2-40B4-BE49-F238E27FC236}">
                <a16:creationId xmlns:a16="http://schemas.microsoft.com/office/drawing/2014/main" id="{F20CF1F5-9D99-4969-A7FE-9972FC6630FC}"/>
              </a:ext>
            </a:extLst>
          </p:cNvPr>
          <p:cNvSpPr>
            <a:spLocks xmlns:a="http://schemas.openxmlformats.org/drawingml/2006/main" noGrp="1"/>
          </p:cNvSpPr>
          <p:nvPr/>
        </p:nvSpPr>
        <p:spPr>
          <a:xfrm xmlns:a="http://schemas.openxmlformats.org/drawingml/2006/main">
            <a:off x="781050" y="50958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标准代表 (0,0,z) 只有 1 个自由参数。实际 mp-30009：z = 0.290407。</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本地编码选择等价代表 (½,½,0.790407)，属于同一个 4e 轨道。</a:t>
            </a:r>
          </a:p>
        </p:txBody>
      </p:sp>
      <p:sp>
        <p:nvSpPr>
          <p:cNvPr id="8" name="text-6">
            <a:extLst xmlns:a="http://schemas.openxmlformats.org/drawingml/2006/main">
              <a:ext uri="{FF2B5EF4-FFF2-40B4-BE49-F238E27FC236}">
                <a16:creationId xmlns:a16="http://schemas.microsoft.com/office/drawing/2014/main" id="{9A054834-41CF-4184-BA93-A3DA8A822595}"/>
              </a:ext>
            </a:extLst>
          </p:cNvPr>
          <p:cNvSpPr>
            <a:spLocks xmlns:a="http://schemas.openxmlformats.org/drawingml/2006/main" noGrp="1"/>
          </p:cNvSpPr>
          <p:nvPr/>
        </p:nvSpPr>
        <p:spPr>
          <a:xfrm xmlns:a="http://schemas.openxmlformats.org/drawingml/2006/main">
            <a:off x="781050" y="62388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Pnma 的数值仅用于展开演示，不宣称某个真实材料。KrF₂ 数值来自已保存结构；4c 的 site symmetry 为 .m.。</a:t>
            </a:r>
          </a:p>
        </p:txBody>
      </p:sp>
    </p:spTree>
    <p:extLst>
      <p:ext uri="{BB962C8B-B14F-4D97-AF65-F5344CB8AC3E}">
        <p14:creationId xmlns:p14="http://schemas.microsoft.com/office/powerpoint/2010/main" val="202664234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3FEFCFA-2DBB-4B0E-AA33-261E80309D99}"/>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不同空间群里的“4a”并不相同</a:t>
            </a:r>
          </a:p>
        </p:txBody>
      </p:sp>
      <p:sp>
        <p:nvSpPr>
          <p:cNvPr id="2" name="text-1">
            <a:extLst xmlns:a="http://schemas.openxmlformats.org/drawingml/2006/main">
              <a:ext uri="{FF2B5EF4-FFF2-40B4-BE49-F238E27FC236}">
                <a16:creationId xmlns:a16="http://schemas.microsoft.com/office/drawing/2014/main" id="{039EB987-B2D9-477C-8AA8-B568777C760B}"/>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都写 4a，只保证本表中重数为 4；局部对称与可动范围可以完全不同</a:t>
            </a:r>
          </a:p>
        </p:txBody>
      </p:sp>
      <p:sp>
        <p:nvSpPr>
          <p:cNvPr id="3" name="text-2">
            <a:extLst xmlns:a="http://schemas.openxmlformats.org/drawingml/2006/main">
              <a:ext uri="{FF2B5EF4-FFF2-40B4-BE49-F238E27FC236}">
                <a16:creationId xmlns:a16="http://schemas.microsoft.com/office/drawing/2014/main" id="{6D87EACB-4B09-4F8C-AB40-E85D2219FBA6}"/>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25</a:t>
            </a:r>
          </a:p>
        </p:txBody>
      </p:sp>
      <p:graphicFrame>
        <p:nvGraphicFramePr>
          <p:cNvPr id="10" name=""/>
          <p:cNvGraphicFramePr/>
          <p:nvPr/>
        </p:nvGraphicFramePr>
        <p:xfrm>
          <a:off xmlns:a="http://schemas.openxmlformats.org/drawingml/2006/main" x="762000" y="1885950"/>
          <a:ext xmlns:a="http://schemas.openxmlformats.org/drawingml/2006/main" cx="10668000" cy="2905125"/>
        </p:xfrm>
        <a:graphic xmlns:a="http://schemas.openxmlformats.org/drawingml/2006/main">
          <a:graphicData uri="http://schemas.openxmlformats.org/drawingml/2006/table">
            <a:tbl>
              <a:tblPr firstRow="0" bandRow="0"/>
              <a:tblGrid>
                <a:gridCol w="3190875"/>
                <a:gridCol w="1000125"/>
                <a:gridCol w="2667000"/>
                <a:gridCol w="2286000"/>
                <a:gridCol w="1524000"/>
              </a:tblGrid>
              <a:tr h="466725">
                <a:tc>
                  <a:txBody>
                    <a:bodyPr>
                      <a:noAutofit/>
                    </a:bodyPr>
                    <a:lstStyle/>
                    <a:p>
                      <a:r>
                        <a:rPr sz="1875" b="1">
                          <a:solidFill>
                            <a:srgbClr val="FFFFFF"/>
                          </a:solidFill>
                          <a:latin typeface="PingFang SC"/>
                          <a:ea typeface="PingFang SC"/>
                          <a:cs typeface="PingFang SC"/>
                        </a:rPr>
                        <a:t>空间群 / 设置</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WP</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代表坐标</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site symmetry</a:t>
                      </a:r>
                    </a:p>
                  </a:txBody>
                  <a:tcPr marL="114300" marR="95250" marT="76200" marB="66675" anchor="ctr">
                    <a:solidFill>
                      <a:srgbClr val="2D6B5B"/>
                    </a:solidFill>
                  </a:tcPr>
                </a:tc>
                <a:tc>
                  <a:txBody>
                    <a:bodyPr>
                      <a:noAutofit/>
                    </a:bodyPr>
                    <a:lstStyle/>
                    <a:p>
                      <a:r>
                        <a:rPr sz="1875" b="1">
                          <a:solidFill>
                            <a:srgbClr val="FFFFFF"/>
                          </a:solidFill>
                          <a:latin typeface="PingFang SC"/>
                          <a:ea typeface="PingFang SC"/>
                          <a:cs typeface="PingFang SC"/>
                        </a:rPr>
                        <a:t>自由参数数</a:t>
                      </a:r>
                    </a:p>
                  </a:txBody>
                  <a:tcPr marL="114300" marR="95250" marT="76200" marB="66675" anchor="ctr">
                    <a:solidFill>
                      <a:srgbClr val="2D6B5B"/>
                    </a:solidFill>
                  </a:tcPr>
                </a:tc>
              </a:tr>
              <a:tr h="609600">
                <a:tc>
                  <a:txBody>
                    <a:bodyPr>
                      <a:noAutofit/>
                    </a:bodyPr>
                    <a:lstStyle/>
                    <a:p>
                      <a:r>
                        <a:rPr sz="1875" b="1">
                          <a:solidFill>
                            <a:srgbClr val="17372F"/>
                          </a:solidFill>
                          <a:latin typeface="PingFang SC"/>
                          <a:ea typeface="PingFang SC"/>
                          <a:cs typeface="PingFang SC"/>
                        </a:rPr>
                        <a:t>#225  Fm−3m</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4a</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(0,0,0)</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m−3m</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a:t>
                      </a:r>
                    </a:p>
                  </a:txBody>
                  <a:tcPr marL="114300" marR="95250" marT="76200" marB="66675" anchor="ctr">
                    <a:solidFill>
                      <a:srgbClr val="F7FAF7"/>
                    </a:solidFill>
                  </a:tcPr>
                </a:tc>
              </a:tr>
              <a:tr h="609600">
                <a:tc>
                  <a:txBody>
                    <a:bodyPr>
                      <a:noAutofit/>
                    </a:bodyPr>
                    <a:lstStyle/>
                    <a:p>
                      <a:r>
                        <a:rPr sz="1875" b="1">
                          <a:solidFill>
                            <a:srgbClr val="17372F"/>
                          </a:solidFill>
                          <a:latin typeface="PingFang SC"/>
                          <a:ea typeface="PingFang SC"/>
                          <a:cs typeface="PingFang SC"/>
                        </a:rPr>
                        <a:t>#216  F−43m</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4a</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(0,0,0)</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−43m</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0</a:t>
                      </a:r>
                    </a:p>
                  </a:txBody>
                  <a:tcPr marL="114300" marR="95250" marT="76200" marB="66675" anchor="ctr">
                    <a:solidFill>
                      <a:srgbClr val="EDF3EE"/>
                    </a:solidFill>
                  </a:tcPr>
                </a:tc>
              </a:tr>
              <a:tr h="609600">
                <a:tc>
                  <a:txBody>
                    <a:bodyPr>
                      <a:noAutofit/>
                    </a:bodyPr>
                    <a:lstStyle/>
                    <a:p>
                      <a:r>
                        <a:rPr sz="1875" b="1">
                          <a:solidFill>
                            <a:srgbClr val="17372F"/>
                          </a:solidFill>
                          <a:latin typeface="PingFang SC"/>
                          <a:ea typeface="PingFang SC"/>
                          <a:cs typeface="PingFang SC"/>
                        </a:rPr>
                        <a:t>#62  Pnma</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4a</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(0,0,0)</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−1</a:t>
                      </a:r>
                    </a:p>
                  </a:txBody>
                  <a:tcPr marL="114300" marR="95250" marT="76200" marB="66675" anchor="ctr">
                    <a:solidFill>
                      <a:srgbClr val="F7FAF7"/>
                    </a:solidFill>
                  </a:tcPr>
                </a:tc>
                <a:tc>
                  <a:txBody>
                    <a:bodyPr>
                      <a:noAutofit/>
                    </a:bodyPr>
                    <a:lstStyle/>
                    <a:p>
                      <a:r>
                        <a:rPr sz="1875" b="0">
                          <a:solidFill>
                            <a:srgbClr val="17372F"/>
                          </a:solidFill>
                          <a:latin typeface="PingFang SC"/>
                          <a:ea typeface="PingFang SC"/>
                          <a:cs typeface="PingFang SC"/>
                        </a:rPr>
                        <a:t>0</a:t>
                      </a:r>
                    </a:p>
                  </a:txBody>
                  <a:tcPr marL="114300" marR="95250" marT="76200" marB="66675" anchor="ctr">
                    <a:solidFill>
                      <a:srgbClr val="F7FAF7"/>
                    </a:solidFill>
                  </a:tcPr>
                </a:tc>
              </a:tr>
              <a:tr h="609600">
                <a:tc>
                  <a:txBody>
                    <a:bodyPr>
                      <a:noAutofit/>
                    </a:bodyPr>
                    <a:lstStyle/>
                    <a:p>
                      <a:r>
                        <a:rPr sz="1875" b="1">
                          <a:solidFill>
                            <a:srgbClr val="17372F"/>
                          </a:solidFill>
                          <a:latin typeface="PingFang SC"/>
                          <a:ea typeface="PingFang SC"/>
                          <a:cs typeface="PingFang SC"/>
                        </a:rPr>
                        <a:t>#19  P2₁2₁2₁</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4a</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(x,y,z)</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1</a:t>
                      </a:r>
                    </a:p>
                  </a:txBody>
                  <a:tcPr marL="114300" marR="95250" marT="76200" marB="66675" anchor="ctr">
                    <a:solidFill>
                      <a:srgbClr val="EDF3EE"/>
                    </a:solidFill>
                  </a:tcPr>
                </a:tc>
                <a:tc>
                  <a:txBody>
                    <a:bodyPr>
                      <a:noAutofit/>
                    </a:bodyPr>
                    <a:lstStyle/>
                    <a:p>
                      <a:r>
                        <a:rPr sz="1875" b="0">
                          <a:solidFill>
                            <a:srgbClr val="17372F"/>
                          </a:solidFill>
                          <a:latin typeface="PingFang SC"/>
                          <a:ea typeface="PingFang SC"/>
                          <a:cs typeface="PingFang SC"/>
                        </a:rPr>
                        <a:t>3</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F0A25A15-3552-4755-8000-B623524BBE9F}"/>
              </a:ext>
            </a:extLst>
          </p:cNvPr>
          <p:cNvSpPr>
            <a:spLocks xmlns:a="http://schemas.openxmlformats.org/drawingml/2006/main" noGrp="1"/>
          </p:cNvSpPr>
          <p:nvPr/>
        </p:nvSpPr>
        <p:spPr>
          <a:xfrm xmlns:a="http://schemas.openxmlformats.org/drawingml/2006/main">
            <a:off x="781050" y="5067300"/>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#225 与 #216 的 4a 甚至具有相同的 4 个坐标，</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但整个晶体允许的空间群操作不同，位点对称也不同。</a:t>
            </a:r>
          </a:p>
        </p:txBody>
      </p:sp>
      <p:sp>
        <p:nvSpPr>
          <p:cNvPr id="6" name="text-4">
            <a:extLst xmlns:a="http://schemas.openxmlformats.org/drawingml/2006/main">
              <a:ext uri="{FF2B5EF4-FFF2-40B4-BE49-F238E27FC236}">
                <a16:creationId xmlns:a16="http://schemas.microsoft.com/office/drawing/2014/main" id="{9214180D-C767-4881-817F-10AE6F03A8B1}"/>
              </a:ext>
            </a:extLst>
          </p:cNvPr>
          <p:cNvSpPr>
            <a:spLocks xmlns:a="http://schemas.openxmlformats.org/drawingml/2006/main" noGrp="1"/>
          </p:cNvSpPr>
          <p:nvPr/>
        </p:nvSpPr>
        <p:spPr>
          <a:xfrm xmlns:a="http://schemas.openxmlformats.org/drawingml/2006/main">
            <a:off x="781050" y="62198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另一个同标签例子：#216 的 4c 固定在 (¼,¼,¼)；#62 的 4c 是 (x,¼,z)，有两个自由参数。</a:t>
            </a:r>
          </a:p>
        </p:txBody>
      </p:sp>
    </p:spTree>
    <p:extLst>
      <p:ext uri="{BB962C8B-B14F-4D97-AF65-F5344CB8AC3E}">
        <p14:creationId xmlns:p14="http://schemas.microsoft.com/office/powerpoint/2010/main" val="19833600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9843709-3E2D-46A3-A9A0-F6B364F22D2D}"/>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跨空间群复用：共享特征，保留身份</a:t>
            </a:r>
          </a:p>
        </p:txBody>
      </p:sp>
      <p:sp>
        <p:nvSpPr>
          <p:cNvPr id="2" name="text-1">
            <a:extLst xmlns:a="http://schemas.openxmlformats.org/drawingml/2006/main">
              <a:ext uri="{FF2B5EF4-FFF2-40B4-BE49-F238E27FC236}">
                <a16:creationId xmlns:a16="http://schemas.microsoft.com/office/drawing/2014/main" id="{834FF758-3D41-44B8-8E35-059D3D14C588}"/>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site symmetry 可以共享表征，完整 WP 身份仍需要空间群与设置</a:t>
            </a:r>
          </a:p>
        </p:txBody>
      </p:sp>
      <p:sp>
        <p:nvSpPr>
          <p:cNvPr id="3" name="text-2">
            <a:extLst xmlns:a="http://schemas.openxmlformats.org/drawingml/2006/main">
              <a:ext uri="{FF2B5EF4-FFF2-40B4-BE49-F238E27FC236}">
                <a16:creationId xmlns:a16="http://schemas.microsoft.com/office/drawing/2014/main" id="{7DC364B4-CA3D-44C6-B56D-BDFA9D966F4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26</a:t>
            </a:r>
          </a:p>
        </p:txBody>
      </p:sp>
      <p:graphicFrame>
        <p:nvGraphicFramePr>
          <p:cNvPr id="11" name=""/>
          <p:cNvGraphicFramePr/>
          <p:nvPr/>
        </p:nvGraphicFramePr>
        <p:xfrm>
          <a:off xmlns:a="http://schemas.openxmlformats.org/drawingml/2006/main" x="762000" y="1943100"/>
          <a:ext xmlns:a="http://schemas.openxmlformats.org/drawingml/2006/main" cx="10668000" cy="2667000"/>
        </p:xfrm>
        <a:graphic xmlns:a="http://schemas.openxmlformats.org/drawingml/2006/main">
          <a:graphicData uri="http://schemas.openxmlformats.org/drawingml/2006/table">
            <a:tbl>
              <a:tblPr firstRow="0" bandRow="0"/>
              <a:tblGrid>
                <a:gridCol w="3048000"/>
                <a:gridCol w="3333750"/>
                <a:gridCol w="4286250"/>
              </a:tblGrid>
              <a:tr h="438150">
                <a:tc>
                  <a:txBody>
                    <a:bodyPr>
                      <a:noAutofit/>
                    </a:bodyPr>
                    <a:lstStyle/>
                    <a:p>
                      <a:r>
                        <a:rPr sz="1800" b="1">
                          <a:solidFill>
                            <a:srgbClr val="FFFFFF"/>
                          </a:solidFill>
                          <a:latin typeface="PingFang SC"/>
                          <a:ea typeface="PingFang SC"/>
                          <a:cs typeface="PingFang SC"/>
                        </a:rPr>
                        <a:t>例子</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可以复用的信息</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必须继续区分的信息</a:t>
                      </a:r>
                    </a:p>
                  </a:txBody>
                  <a:tcPr marL="114300" marR="95250" marT="76200" marB="66675" anchor="ctr">
                    <a:solidFill>
                      <a:srgbClr val="2D6B5B"/>
                    </a:solidFill>
                  </a:tcPr>
                </a:tc>
              </a:tr>
              <a:tr h="742950">
                <a:tc>
                  <a:txBody>
                    <a:bodyPr>
                      <a:noAutofit/>
                    </a:bodyPr>
                    <a:lstStyle/>
                    <a:p>
                      <a:r>
                        <a:rPr sz="1800" b="1">
                          <a:solidFill>
                            <a:srgbClr val="17372F"/>
                          </a:solidFill>
                          <a:latin typeface="PingFang SC"/>
                          <a:ea typeface="PingFang SC"/>
                          <a:cs typeface="PingFang SC"/>
                        </a:rPr>
                        <a:t>#225：4a 与 4b</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同为 m−3m</a:t>
                      </a:r>
                    </a:p>
                    <a:p>
                      <a:r>
                        <a:rPr sz="1800" b="0">
                          <a:solidFill>
                            <a:srgbClr val="17372F"/>
                          </a:solidFill>
                          <a:latin typeface="PingFang SC"/>
                          <a:ea typeface="PingFang SC"/>
                          <a:cs typeface="PingFang SC"/>
                        </a:rPr>
                        <a:t>重数 4，自由度 0</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代表点 (0,0,0) 与 (½,½,½)</a:t>
                      </a:r>
                    </a:p>
                    <a:p>
                      <a:r>
                        <a:rPr sz="1800" b="0">
                          <a:solidFill>
                            <a:srgbClr val="17372F"/>
                          </a:solidFill>
                          <a:latin typeface="PingFang SC"/>
                          <a:ea typeface="PingFang SC"/>
                          <a:cs typeface="PingFang SC"/>
                        </a:rPr>
                        <a:t>同一空间群内也不是同一 WP</a:t>
                      </a:r>
                    </a:p>
                  </a:txBody>
                  <a:tcPr marL="114300" marR="95250" marT="76200" marB="66675" anchor="ctr">
                    <a:solidFill>
                      <a:srgbClr val="F7FAF7"/>
                    </a:solidFill>
                  </a:tcPr>
                </a:tc>
              </a:tr>
              <a:tr h="742950">
                <a:tc>
                  <a:txBody>
                    <a:bodyPr>
                      <a:noAutofit/>
                    </a:bodyPr>
                    <a:lstStyle/>
                    <a:p>
                      <a:r>
                        <a:rPr sz="1800" b="1">
                          <a:solidFill>
                            <a:srgbClr val="17372F"/>
                          </a:solidFill>
                          <a:latin typeface="PingFang SC"/>
                          <a:ea typeface="PingFang SC"/>
                          <a:cs typeface="PingFang SC"/>
                        </a:rPr>
                        <a:t>#221：1a 与 #225：4a</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原点处均为 m−3m</a:t>
                      </a:r>
                    </a:p>
                    <a:p>
                      <a:r>
                        <a:rPr sz="1800" b="0">
                          <a:solidFill>
                            <a:srgbClr val="17372F"/>
                          </a:solidFill>
                          <a:latin typeface="PingFang SC"/>
                          <a:ea typeface="PingFang SC"/>
                          <a:cs typeface="PingFang SC"/>
                        </a:rPr>
                        <a:t>自由度均为 0</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P 与 F 晶格不同，重数 1 与 4</a:t>
                      </a:r>
                    </a:p>
                    <a:p>
                      <a:r>
                        <a:rPr sz="1800" b="0">
                          <a:solidFill>
                            <a:srgbClr val="17372F"/>
                          </a:solidFill>
                          <a:latin typeface="PingFang SC"/>
                          <a:ea typeface="PingFang SC"/>
                          <a:cs typeface="PingFang SC"/>
                        </a:rPr>
                        <a:t>全局操作表不同</a:t>
                      </a:r>
                    </a:p>
                  </a:txBody>
                  <a:tcPr marL="114300" marR="95250" marT="76200" marB="66675" anchor="ctr">
                    <a:solidFill>
                      <a:srgbClr val="EDF3EE"/>
                    </a:solidFill>
                  </a:tcPr>
                </a:tc>
              </a:tr>
              <a:tr h="742950">
                <a:tc>
                  <a:txBody>
                    <a:bodyPr>
                      <a:noAutofit/>
                    </a:bodyPr>
                    <a:lstStyle/>
                    <a:p>
                      <a:r>
                        <a:rPr sz="1800" b="1">
                          <a:solidFill>
                            <a:srgbClr val="17372F"/>
                          </a:solidFill>
                          <a:latin typeface="PingFang SC"/>
                          <a:ea typeface="PingFang SC"/>
                          <a:cs typeface="PingFang SC"/>
                        </a:rPr>
                        <a:t>#216：4a 与 #225：4a</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相同代表点与 F-格点坐标</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位点对称 −43m 与 m−3m</a:t>
                      </a:r>
                    </a:p>
                    <a:p>
                      <a:r>
                        <a:rPr sz="1800" b="0">
                          <a:solidFill>
                            <a:srgbClr val="17372F"/>
                          </a:solidFill>
                          <a:latin typeface="PingFang SC"/>
                          <a:ea typeface="PingFang SC"/>
                          <a:cs typeface="PingFang SC"/>
                        </a:rPr>
                        <a:t>不能因字符串相同而合并身份</a:t>
                      </a:r>
                    </a:p>
                  </a:txBody>
                  <a:tcPr marL="114300" marR="9525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86DDEF8D-03E8-4E65-BAF7-64CBBE563FCF}"/>
              </a:ext>
            </a:extLst>
          </p:cNvPr>
          <p:cNvSpPr>
            <a:spLocks xmlns:a="http://schemas.openxmlformats.org/drawingml/2006/main" noGrp="1"/>
          </p:cNvSpPr>
          <p:nvPr/>
        </p:nvSpPr>
        <p:spPr>
          <a:xfrm xmlns:a="http://schemas.openxmlformats.org/drawingml/2006/main">
            <a:off x="781050" y="49911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D6B5B"/>
                </a:solidFill>
                <a:latin typeface="PingFang SC"/>
                <a:ea typeface="PingFang SC"/>
                <a:cs typeface="PingFang SC"/>
              </a:defRPr>
            </a:pPr>
            <a:r>
              <a:rPr sz="1950" b="1">
                <a:solidFill>
                  <a:srgbClr val="2D6B5B"/>
                </a:solidFill>
                <a:latin typeface="PingFang SC"/>
                <a:ea typeface="PingFang SC"/>
                <a:cs typeface="PingFang SC"/>
              </a:rPr>
              <a:t>建议接口：</a:t>
            </a:r>
          </a:p>
        </p:txBody>
      </p:sp>
      <p:sp>
        <p:nvSpPr>
          <p:cNvPr id="6" name="text-4">
            <a:extLst xmlns:a="http://schemas.openxmlformats.org/drawingml/2006/main">
              <a:ext uri="{FF2B5EF4-FFF2-40B4-BE49-F238E27FC236}">
                <a16:creationId xmlns:a16="http://schemas.microsoft.com/office/drawing/2014/main" id="{7229DD5D-DFF5-4062-94ED-97D7F03F0A2B}"/>
              </a:ext>
            </a:extLst>
          </p:cNvPr>
          <p:cNvSpPr>
            <a:spLocks xmlns:a="http://schemas.openxmlformats.org/drawingml/2006/main" noGrp="1"/>
          </p:cNvSpPr>
          <p:nvPr/>
        </p:nvSpPr>
        <p:spPr>
          <a:xfrm xmlns:a="http://schemas.openxmlformats.org/drawingml/2006/main">
            <a:off x="781050" y="54673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(元素，共享对称特征，自由度) + (空间群 / Hall 设置，WP 身份)</a:t>
            </a:r>
          </a:p>
        </p:txBody>
      </p:sp>
      <p:sp>
        <p:nvSpPr>
          <p:cNvPr id="7" name="text-5">
            <a:extLst xmlns:a="http://schemas.openxmlformats.org/drawingml/2006/main">
              <a:ext uri="{FF2B5EF4-FFF2-40B4-BE49-F238E27FC236}">
                <a16:creationId xmlns:a16="http://schemas.microsoft.com/office/drawing/2014/main" id="{05B52726-951C-40AE-9CCC-CDCCBAD8AAC8}"/>
              </a:ext>
            </a:extLst>
          </p:cNvPr>
          <p:cNvSpPr>
            <a:spLocks xmlns:a="http://schemas.openxmlformats.org/drawingml/2006/main" noGrp="1"/>
          </p:cNvSpPr>
          <p:nvPr/>
        </p:nvSpPr>
        <p:spPr>
          <a:xfrm xmlns:a="http://schemas.openxmlformats.org/drawingml/2006/main">
            <a:off x="781050" y="60674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共享的是参数和特征。解码时仍需 compatibility map，恢复合法重数、允许坐标与具体对称操作。</a:t>
            </a:r>
          </a:p>
        </p:txBody>
      </p:sp>
    </p:spTree>
    <p:extLst>
      <p:ext uri="{BB962C8B-B14F-4D97-AF65-F5344CB8AC3E}">
        <p14:creationId xmlns:p14="http://schemas.microsoft.com/office/powerpoint/2010/main" val="149190442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B422AF4-6C45-4654-946D-C7F9A11527BB}"/>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边轨道 tokenizer：四类组件</a:t>
            </a:r>
          </a:p>
        </p:txBody>
      </p:sp>
      <p:sp>
        <p:nvSpPr>
          <p:cNvPr id="2" name="text-1">
            <a:extLst xmlns:a="http://schemas.openxmlformats.org/drawingml/2006/main">
              <a:ext uri="{FF2B5EF4-FFF2-40B4-BE49-F238E27FC236}">
                <a16:creationId xmlns:a16="http://schemas.microsoft.com/office/drawing/2014/main" id="{FB453C06-96A0-4BEB-8653-1CED460CD542}"/>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把结构拆成离散 prototype 与连续 geometry，连接本身也做对称合并</a:t>
            </a:r>
          </a:p>
        </p:txBody>
      </p:sp>
      <p:sp>
        <p:nvSpPr>
          <p:cNvPr id="3" name="text-2">
            <a:extLst xmlns:a="http://schemas.openxmlformats.org/drawingml/2006/main">
              <a:ext uri="{FF2B5EF4-FFF2-40B4-BE49-F238E27FC236}">
                <a16:creationId xmlns:a16="http://schemas.microsoft.com/office/drawing/2014/main" id="{FC26A0B3-3C54-4D66-AC53-1F72684D968C}"/>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27</a:t>
            </a:r>
          </a:p>
        </p:txBody>
      </p:sp>
      <p:graphicFrame>
        <p:nvGraphicFramePr>
          <p:cNvPr id="10" name=""/>
          <p:cNvGraphicFramePr/>
          <p:nvPr/>
        </p:nvGraphicFramePr>
        <p:xfrm>
          <a:off xmlns:a="http://schemas.openxmlformats.org/drawingml/2006/main" x="762000" y="1905000"/>
          <a:ext xmlns:a="http://schemas.openxmlformats.org/drawingml/2006/main" cx="10668000" cy="3371850"/>
        </p:xfrm>
        <a:graphic xmlns:a="http://schemas.openxmlformats.org/drawingml/2006/main">
          <a:graphicData uri="http://schemas.openxmlformats.org/drawingml/2006/table">
            <a:tbl>
              <a:tblPr firstRow="0" bandRow="0"/>
              <a:tblGrid>
                <a:gridCol w="2143125"/>
                <a:gridCol w="4191000"/>
                <a:gridCol w="4333875"/>
              </a:tblGrid>
              <a:tr h="438150">
                <a:tc>
                  <a:txBody>
                    <a:bodyPr>
                      <a:noAutofit/>
                    </a:bodyPr>
                    <a:lstStyle/>
                    <a:p>
                      <a:r>
                        <a:rPr sz="1800" b="1">
                          <a:solidFill>
                            <a:srgbClr val="FFFFFF"/>
                          </a:solidFill>
                          <a:latin typeface="PingFang SC"/>
                          <a:ea typeface="PingFang SC"/>
                          <a:cs typeface="PingFang SC"/>
                        </a:rPr>
                        <a:t>组件</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当前实际存什么</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用途</a:t>
                      </a:r>
                    </a:p>
                  </a:txBody>
                  <a:tcPr marL="114300" marR="95250" marT="76200" marB="66675" anchor="ctr">
                    <a:solidFill>
                      <a:srgbClr val="2D6B5B"/>
                    </a:solidFill>
                  </a:tcPr>
                </a:tc>
              </a:tr>
              <a:tr h="733425">
                <a:tc>
                  <a:txBody>
                    <a:bodyPr>
                      <a:noAutofit/>
                    </a:bodyPr>
                    <a:lstStyle/>
                    <a:p>
                      <a:r>
                        <a:rPr sz="1800" b="1">
                          <a:solidFill>
                            <a:srgbClr val="17372F"/>
                          </a:solidFill>
                          <a:latin typeface="PingFang SC"/>
                          <a:ea typeface="PingFang SC"/>
                          <a:cs typeface="PingFang SC"/>
                        </a:rPr>
                        <a:t>全局操作表</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space_group、hall_number</a:t>
                      </a:r>
                    </a:p>
                    <a:p>
                      <a:r>
                        <a:rPr sz="1800" b="0">
                          <a:solidFill>
                            <a:srgbClr val="17372F"/>
                          </a:solidFill>
                          <a:latin typeface="PingFang SC"/>
                          <a:ea typeface="PingFang SC"/>
                          <a:cs typeface="PingFang SC"/>
                        </a:rPr>
                        <a:t>Seitz 操作 (R, t)</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明确坐标设置</a:t>
                      </a:r>
                    </a:p>
                    <a:p>
                      <a:r>
                        <a:rPr sz="1800" b="0">
                          <a:solidFill>
                            <a:srgbClr val="17372F"/>
                          </a:solidFill>
                          <a:latin typeface="PingFang SC"/>
                          <a:ea typeface="PingFang SC"/>
                          <a:cs typeface="PingFang SC"/>
                        </a:rPr>
                        <a:t>按操作编号找到旋转 / 分数平移</a:t>
                      </a:r>
                    </a:p>
                  </a:txBody>
                  <a:tcPr marL="114300" marR="95250" marT="76200" marB="66675" anchor="ctr">
                    <a:solidFill>
                      <a:srgbClr val="F7FAF7"/>
                    </a:solidFill>
                  </a:tcPr>
                </a:tc>
              </a:tr>
              <a:tr h="733425">
                <a:tc>
                  <a:txBody>
                    <a:bodyPr>
                      <a:noAutofit/>
                    </a:bodyPr>
                    <a:lstStyle/>
                    <a:p>
                      <a:r>
                        <a:rPr sz="1800" b="1">
                          <a:solidFill>
                            <a:srgbClr val="17372F"/>
                          </a:solidFill>
                          <a:latin typeface="PingFang SC"/>
                          <a:ea typeface="PingFang SC"/>
                          <a:cs typeface="PingFang SC"/>
                        </a:rPr>
                        <a:t>位点轨道</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元素 Z、WP 字母</a:t>
                      </a:r>
                    </a:p>
                    <a:p>
                      <a:r>
                        <a:rPr sz="1800" b="0">
                          <a:solidFill>
                            <a:srgbClr val="17372F"/>
                          </a:solidFill>
                          <a:latin typeface="PingFang SC"/>
                          <a:ea typeface="PingFang SC"/>
                          <a:cs typeface="PingFang SC"/>
                        </a:rPr>
                        <a:t>仿射稳定子 (g, image)、dof</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确定哪些坐标可以变化</a:t>
                      </a:r>
                    </a:p>
                    <a:p>
                      <a:r>
                        <a:rPr sz="1800" b="0">
                          <a:solidFill>
                            <a:srgbClr val="17372F"/>
                          </a:solidFill>
                          <a:latin typeface="PingFang SC"/>
                          <a:ea typeface="PingFang SC"/>
                          <a:cs typeface="PingFang SC"/>
                        </a:rPr>
                        <a:t>代表位点展开成全部等价原子</a:t>
                      </a:r>
                    </a:p>
                  </a:txBody>
                  <a:tcPr marL="114300" marR="95250" marT="76200" marB="66675" anchor="ctr">
                    <a:solidFill>
                      <a:srgbClr val="EDF3EE"/>
                    </a:solidFill>
                  </a:tcPr>
                </a:tc>
              </a:tr>
              <a:tr h="733425">
                <a:tc>
                  <a:txBody>
                    <a:bodyPr>
                      <a:noAutofit/>
                    </a:bodyPr>
                    <a:lstStyle/>
                    <a:p>
                      <a:r>
                        <a:rPr sz="1800" b="1">
                          <a:solidFill>
                            <a:srgbClr val="17372F"/>
                          </a:solidFill>
                          <a:latin typeface="PingFang SC"/>
                          <a:ea typeface="PingFang SC"/>
                          <a:cs typeface="PingFang SC"/>
                        </a:rPr>
                        <a:t>边轨道</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[i, j, g, nₓ, nᵧ, n_z]</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说明连接哪个位点的哪个对称像</a:t>
                      </a:r>
                    </a:p>
                    <a:p>
                      <a:r>
                        <a:rPr sz="1800" b="0">
                          <a:solidFill>
                            <a:srgbClr val="17372F"/>
                          </a:solidFill>
                          <a:latin typeface="PingFang SC"/>
                          <a:ea typeface="PingFang SC"/>
                          <a:cs typeface="PingFang SC"/>
                        </a:rPr>
                        <a:t>以及哪个周期晶胞</a:t>
                      </a:r>
                    </a:p>
                  </a:txBody>
                  <a:tcPr marL="114300" marR="95250" marT="76200" marB="66675" anchor="ctr">
                    <a:solidFill>
                      <a:srgbClr val="F7FAF7"/>
                    </a:solidFill>
                  </a:tcPr>
                </a:tc>
              </a:tr>
              <a:tr h="733425">
                <a:tc>
                  <a:txBody>
                    <a:bodyPr>
                      <a:noAutofit/>
                    </a:bodyPr>
                    <a:lstStyle/>
                    <a:p>
                      <a:r>
                        <a:rPr sz="1800" b="1">
                          <a:solidFill>
                            <a:srgbClr val="17372F"/>
                          </a:solidFill>
                          <a:latin typeface="PingFang SC"/>
                          <a:ea typeface="PingFang SC"/>
                          <a:cs typeface="PingFang SC"/>
                        </a:rPr>
                        <a:t>独立几何载荷</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晶格矩阵 lattice</a:t>
                      </a:r>
                    </a:p>
                    <a:p>
                      <a:r>
                        <a:rPr sz="1800" b="0">
                          <a:solidFill>
                            <a:srgbClr val="17372F"/>
                          </a:solidFill>
                          <a:latin typeface="PingFang SC"/>
                          <a:ea typeface="PingFang SC"/>
                          <a:cs typeface="PingFang SC"/>
                        </a:rPr>
                        <a:t>各位点 free_vectors</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给出晶胞形状 / 大小和自由坐标</a:t>
                      </a:r>
                    </a:p>
                    <a:p>
                      <a:r>
                        <a:rPr sz="1800" b="0">
                          <a:solidFill>
                            <a:srgbClr val="17372F"/>
                          </a:solidFill>
                          <a:latin typeface="PingFang SC"/>
                          <a:ea typeface="PingFang SC"/>
                          <a:cs typeface="PingFang SC"/>
                        </a:rPr>
                        <a:t>与 prototype 合起来恢复实际结构</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1350519B-F4B2-4DE3-BEC6-740B71C856F1}"/>
              </a:ext>
            </a:extLst>
          </p:cNvPr>
          <p:cNvSpPr>
            <a:spLocks xmlns:a="http://schemas.openxmlformats.org/drawingml/2006/main" noGrp="1"/>
          </p:cNvSpPr>
          <p:nvPr/>
        </p:nvSpPr>
        <p:spPr>
          <a:xfrm xmlns:a="http://schemas.openxmlformats.org/drawingml/2006/main">
            <a:off x="781050" y="55626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72F"/>
                </a:solidFill>
                <a:latin typeface="PingFang SC"/>
                <a:ea typeface="PingFang SC"/>
                <a:cs typeface="PingFang SC"/>
              </a:defRPr>
            </a:pPr>
            <a:r>
              <a:rPr sz="2100" b="1">
                <a:solidFill>
                  <a:srgbClr val="17372F"/>
                </a:solidFill>
                <a:latin typeface="PingFang SC"/>
                <a:ea typeface="PingFang SC"/>
                <a:cs typeface="PingFang SC"/>
              </a:rPr>
              <a:t>结构 = 全局规则 + 位点轨道 + 边轨道 + 几何载荷</a:t>
            </a:r>
          </a:p>
        </p:txBody>
      </p:sp>
      <p:sp>
        <p:nvSpPr>
          <p:cNvPr id="6" name="text-4">
            <a:extLst xmlns:a="http://schemas.openxmlformats.org/drawingml/2006/main">
              <a:ext uri="{FF2B5EF4-FFF2-40B4-BE49-F238E27FC236}">
                <a16:creationId xmlns:a16="http://schemas.microsoft.com/office/drawing/2014/main" id="{E386389B-A557-41DF-AB47-D882C3D8164B}"/>
              </a:ext>
            </a:extLst>
          </p:cNvPr>
          <p:cNvSpPr>
            <a:spLocks xmlns:a="http://schemas.openxmlformats.org/drawingml/2006/main" noGrp="1"/>
          </p:cNvSpPr>
          <p:nvPr/>
        </p:nvSpPr>
        <p:spPr>
          <a:xfrm xmlns:a="http://schemas.openxmlformats.org/drawingml/2006/main">
            <a:off x="781050" y="62103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稳定子显式记录 WP 对应约束以便解码；固定设置与代表点后可查表导出。edge record 尚非训练好的词表 token。</a:t>
            </a:r>
          </a:p>
        </p:txBody>
      </p:sp>
    </p:spTree>
    <p:extLst>
      <p:ext uri="{BB962C8B-B14F-4D97-AF65-F5344CB8AC3E}">
        <p14:creationId xmlns:p14="http://schemas.microsoft.com/office/powerpoint/2010/main" val="119053051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558D1DA-25DD-4E57-922F-80D19E4005D3}"/>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真实编码示例：KrF₂，mp-30009</a:t>
            </a:r>
          </a:p>
        </p:txBody>
      </p:sp>
      <p:sp>
        <p:nvSpPr>
          <p:cNvPr id="2" name="text-1">
            <a:extLst xmlns:a="http://schemas.openxmlformats.org/drawingml/2006/main">
              <a:ext uri="{FF2B5EF4-FFF2-40B4-BE49-F238E27FC236}">
                <a16:creationId xmlns:a16="http://schemas.microsoft.com/office/drawing/2014/main" id="{C41F3F0A-E23C-40A4-9AFF-81418ADCD9A3}"/>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空间群 #139，Hall #424；以下保留真实字段和值，长列表作省略</a:t>
            </a:r>
          </a:p>
        </p:txBody>
      </p:sp>
      <p:sp>
        <p:nvSpPr>
          <p:cNvPr id="3" name="text-2">
            <a:extLst xmlns:a="http://schemas.openxmlformats.org/drawingml/2006/main">
              <a:ext uri="{FF2B5EF4-FFF2-40B4-BE49-F238E27FC236}">
                <a16:creationId xmlns:a16="http://schemas.microsoft.com/office/drawing/2014/main" id="{D68E9731-68B6-4AA1-BA0A-3D6ED5F037FC}"/>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28</a:t>
            </a:r>
          </a:p>
        </p:txBody>
      </p:sp>
      <p:sp>
        <p:nvSpPr>
          <p:cNvPr id="4" name="text-3">
            <a:extLst xmlns:a="http://schemas.openxmlformats.org/drawingml/2006/main">
              <a:ext uri="{FF2B5EF4-FFF2-40B4-BE49-F238E27FC236}">
                <a16:creationId xmlns:a16="http://schemas.microsoft.com/office/drawing/2014/main" id="{BD729F7B-C7C6-4A90-8A60-6DE460F1843F}"/>
              </a:ext>
            </a:extLst>
          </p:cNvPr>
          <p:cNvSpPr>
            <a:spLocks xmlns:a="http://schemas.openxmlformats.org/drawingml/2006/main" noGrp="1"/>
          </p:cNvSpPr>
          <p:nvPr/>
        </p:nvSpPr>
        <p:spPr>
          <a:xfrm xmlns:a="http://schemas.openxmlformats.org/drawingml/2006/main">
            <a:off x="781050" y="19145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离散 prototype</a:t>
            </a:r>
          </a:p>
        </p:txBody>
      </p:sp>
      <p:sp>
        <p:nvSpPr>
          <p:cNvPr id="5" name="text-4">
            <a:extLst xmlns:a="http://schemas.openxmlformats.org/drawingml/2006/main">
              <a:ext uri="{FF2B5EF4-FFF2-40B4-BE49-F238E27FC236}">
                <a16:creationId xmlns:a16="http://schemas.microsoft.com/office/drawing/2014/main" id="{A9B939B9-77DF-4619-9F45-4580433C60F6}"/>
              </a:ext>
            </a:extLst>
          </p:cNvPr>
          <p:cNvSpPr>
            <a:spLocks xmlns:a="http://schemas.openxmlformats.org/drawingml/2006/main" noGrp="1"/>
          </p:cNvSpPr>
          <p:nvPr/>
        </p:nvSpPr>
        <p:spPr>
          <a:xfrm xmlns:a="http://schemas.openxmlformats.org/drawingml/2006/main">
            <a:off x="781050" y="2486025"/>
            <a:ext cx="5476875"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space_group: 139</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hall_number: 424</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operations: [32 个操作，平移用分数]</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nodes:</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0: Z=36, wyckoff_letter="a", dof=0</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stabilizer=[16 条 (operation,image)]</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1: Z=9,  wyckoff_letter="e", dof=1</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stabilizer=[8 条 (operation,image)]</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edge_tokens: [</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  [0,1,16,-1,-1,-1], … 共 7 条</a:t>
            </a:r>
          </a:p>
          <a:p xmlns:a="http://schemas.openxmlformats.org/drawingml/2006/main">
            <a:pPr>
              <a:defRPr sz="1650" b="0">
                <a:solidFill>
                  <a:srgbClr val="17372F"/>
                </a:solidFill>
                <a:latin typeface="PingFang SC"/>
                <a:ea typeface="PingFang SC"/>
                <a:cs typeface="PingFang SC"/>
              </a:defRPr>
            </a:pPr>
            <a:r>
              <a:rPr sz="1650" b="0">
                <a:solidFill>
                  <a:srgbClr val="17372F"/>
                </a:solidFill>
                <a:latin typeface="PingFang SC"/>
                <a:ea typeface="PingFang SC"/>
                <a:cs typeface="PingFang SC"/>
              </a:rPr>
              <a:t>]</a:t>
            </a:r>
          </a:p>
        </p:txBody>
      </p:sp>
      <p:sp>
        <p:nvSpPr>
          <p:cNvPr id="6" name="text-5">
            <a:extLst xmlns:a="http://schemas.openxmlformats.org/drawingml/2006/main">
              <a:ext uri="{FF2B5EF4-FFF2-40B4-BE49-F238E27FC236}">
                <a16:creationId xmlns:a16="http://schemas.microsoft.com/office/drawing/2014/main" id="{76540B8C-283F-4EA5-997C-439A52DF925B}"/>
              </a:ext>
            </a:extLst>
          </p:cNvPr>
          <p:cNvSpPr>
            <a:spLocks xmlns:a="http://schemas.openxmlformats.org/drawingml/2006/main" noGrp="1"/>
          </p:cNvSpPr>
          <p:nvPr/>
        </p:nvSpPr>
        <p:spPr>
          <a:xfrm xmlns:a="http://schemas.openxmlformats.org/drawingml/2006/main">
            <a:off x="6610350" y="1914525"/>
            <a:ext cx="4819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连续 geometry</a:t>
            </a:r>
          </a:p>
        </p:txBody>
      </p:sp>
      <p:sp>
        <p:nvSpPr>
          <p:cNvPr id="7" name="text-6">
            <a:extLst xmlns:a="http://schemas.openxmlformats.org/drawingml/2006/main">
              <a:ext uri="{FF2B5EF4-FFF2-40B4-BE49-F238E27FC236}">
                <a16:creationId xmlns:a16="http://schemas.microsoft.com/office/drawing/2014/main" id="{AC817758-ACC8-4E12-9EEF-A2C949159D63}"/>
              </a:ext>
            </a:extLst>
          </p:cNvPr>
          <p:cNvSpPr>
            <a:spLocks xmlns:a="http://schemas.openxmlformats.org/drawingml/2006/main" noGrp="1"/>
          </p:cNvSpPr>
          <p:nvPr/>
        </p:nvSpPr>
        <p:spPr>
          <a:xfrm xmlns:a="http://schemas.openxmlformats.org/drawingml/2006/main">
            <a:off x="6610350" y="2486025"/>
            <a:ext cx="4819650"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lattice:</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[4.383300, 0, 0]</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[0, 4.383300, 0]</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[0, 0, 6.668202]  Å</a:t>
            </a:r>
          </a:p>
          <a:p xmlns:a="http://schemas.openxmlformats.org/drawingml/2006/main">
            <a:r>
              <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free_vectors:</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[0, 0, 0]</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  [0, 0, 0.790407]</a:t>
            </a:r>
          </a:p>
        </p:txBody>
      </p:sp>
      <p:sp>
        <p:nvSpPr>
          <p:cNvPr id="8" name="text-7">
            <a:extLst xmlns:a="http://schemas.openxmlformats.org/drawingml/2006/main">
              <a:ext uri="{FF2B5EF4-FFF2-40B4-BE49-F238E27FC236}">
                <a16:creationId xmlns:a16="http://schemas.microsoft.com/office/drawing/2014/main" id="{253DFAA0-A84B-4DFB-A617-D62AB5AD91B9}"/>
              </a:ext>
            </a:extLst>
          </p:cNvPr>
          <p:cNvSpPr>
            <a:spLocks xmlns:a="http://schemas.openxmlformats.org/drawingml/2006/main" noGrp="1"/>
          </p:cNvSpPr>
          <p:nvPr/>
        </p:nvSpPr>
        <p:spPr>
          <a:xfrm xmlns:a="http://schemas.openxmlformats.org/drawingml/2006/main">
            <a:off x="6610350" y="5257800"/>
            <a:ext cx="4819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72F"/>
                </a:solidFill>
                <a:latin typeface="PingFang SC"/>
                <a:ea typeface="PingFang SC"/>
                <a:cs typeface="PingFang SC"/>
              </a:defRPr>
            </a:pPr>
            <a:r>
              <a:rPr sz="1725" b="0">
                <a:solidFill>
                  <a:srgbClr val="17372F"/>
                </a:solidFill>
                <a:latin typeface="PingFang SC"/>
                <a:ea typeface="PingFang SC"/>
                <a:cs typeface="PingFang SC"/>
              </a:rPr>
              <a:t>代表点 q = b + P u</a:t>
            </a:r>
          </a:p>
          <a:p xmlns:a="http://schemas.openxmlformats.org/drawingml/2006/main">
            <a:pPr>
              <a:defRPr sz="1725" b="0">
                <a:solidFill>
                  <a:srgbClr val="17372F"/>
                </a:solidFill>
                <a:latin typeface="PingFang SC"/>
                <a:ea typeface="PingFang SC"/>
                <a:cs typeface="PingFang SC"/>
              </a:defRPr>
            </a:pPr>
            <a:r>
              <a:rPr sz="1725" b="0">
                <a:solidFill>
                  <a:srgbClr val="17372F"/>
                </a:solidFill>
                <a:latin typeface="PingFang SC"/>
                <a:ea typeface="PingFang SC"/>
                <a:cs typeface="PingFang SC"/>
              </a:rPr>
              <a:t>Kr: (0,0,0)    F: (½,½,0.790407)</a:t>
            </a:r>
          </a:p>
        </p:txBody>
      </p:sp>
      <p:sp>
        <p:nvSpPr>
          <p:cNvPr id="9" name="text-8">
            <a:extLst xmlns:a="http://schemas.openxmlformats.org/drawingml/2006/main">
              <a:ext uri="{FF2B5EF4-FFF2-40B4-BE49-F238E27FC236}">
                <a16:creationId xmlns:a16="http://schemas.microsoft.com/office/drawing/2014/main" id="{D690F84A-0C75-4A10-84F0-D0144C6F3B45}"/>
              </a:ext>
            </a:extLst>
          </p:cNvPr>
          <p:cNvSpPr>
            <a:spLocks xmlns:a="http://schemas.openxmlformats.org/drawingml/2006/main" noGrp="1"/>
          </p:cNvSpPr>
          <p:nvPr/>
        </p:nvSpPr>
        <p:spPr>
          <a:xfrm xmlns:a="http://schemas.openxmlformats.org/drawingml/2006/main">
            <a:off x="781050" y="62579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prototype 的分数用整数分子 / 分母保存，没有自由坐标或晶格浮点数。free_vectors 用三维容器存储有效自由度。</a:t>
            </a:r>
          </a:p>
        </p:txBody>
      </p:sp>
    </p:spTree>
    <p:extLst>
      <p:ext uri="{BB962C8B-B14F-4D97-AF65-F5344CB8AC3E}">
        <p14:creationId xmlns:p14="http://schemas.microsoft.com/office/powerpoint/2010/main" val="146527707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6340659-B10F-4768-8C1B-C4C8B1114BB1}"/>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一条边的地址如何解码</a:t>
            </a:r>
          </a:p>
        </p:txBody>
      </p:sp>
      <p:sp>
        <p:nvSpPr>
          <p:cNvPr id="2" name="text-1">
            <a:extLst xmlns:a="http://schemas.openxmlformats.org/drawingml/2006/main">
              <a:ext uri="{FF2B5EF4-FFF2-40B4-BE49-F238E27FC236}">
                <a16:creationId xmlns:a16="http://schemas.microsoft.com/office/drawing/2014/main" id="{28A9D57B-9F1C-4B53-A045-F917B1E55F73}"/>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实际记录 [0, 1, 16, −1, −1, −1]：Kr 代表点连接到一个 F 对称像</a:t>
            </a:r>
          </a:p>
        </p:txBody>
      </p:sp>
      <p:sp>
        <p:nvSpPr>
          <p:cNvPr id="3" name="text-2">
            <a:extLst xmlns:a="http://schemas.openxmlformats.org/drawingml/2006/main">
              <a:ext uri="{FF2B5EF4-FFF2-40B4-BE49-F238E27FC236}">
                <a16:creationId xmlns:a16="http://schemas.microsoft.com/office/drawing/2014/main" id="{EE1CD23A-6082-4355-9F9F-E4F39583C219}"/>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29</a:t>
            </a:r>
          </a:p>
        </p:txBody>
      </p:sp>
      <p:graphicFrame>
        <p:nvGraphicFramePr>
          <p:cNvPr id="12" name=""/>
          <p:cNvGraphicFramePr/>
          <p:nvPr/>
        </p:nvGraphicFramePr>
        <p:xfrm>
          <a:off xmlns:a="http://schemas.openxmlformats.org/drawingml/2006/main" x="762000" y="1828800"/>
          <a:ext xmlns:a="http://schemas.openxmlformats.org/drawingml/2006/main" cx="10668000" cy="2409825"/>
        </p:xfrm>
        <a:graphic xmlns:a="http://schemas.openxmlformats.org/drawingml/2006/main">
          <a:graphicData uri="http://schemas.openxmlformats.org/drawingml/2006/table">
            <a:tbl>
              <a:tblPr firstRow="0" bandRow="0"/>
              <a:tblGrid>
                <a:gridCol w="3048000"/>
                <a:gridCol w="7620000"/>
              </a:tblGrid>
              <a:tr h="390525">
                <a:tc>
                  <a:txBody>
                    <a:bodyPr>
                      <a:noAutofit/>
                    </a:bodyPr>
                    <a:lstStyle/>
                    <a:p>
                      <a:r>
                        <a:rPr sz="1800" b="1">
                          <a:solidFill>
                            <a:srgbClr val="FFFFFF"/>
                          </a:solidFill>
                          <a:latin typeface="PingFang SC"/>
                          <a:ea typeface="PingFang SC"/>
                          <a:cs typeface="PingFang SC"/>
                        </a:rPr>
                        <a:t>字段</a:t>
                      </a:r>
                    </a:p>
                  </a:txBody>
                  <a:tcPr marL="114300" marR="95250" marT="76200" marB="66675" anchor="ctr">
                    <a:solidFill>
                      <a:srgbClr val="2D6B5B"/>
                    </a:solidFill>
                  </a:tcPr>
                </a:tc>
                <a:tc>
                  <a:txBody>
                    <a:bodyPr>
                      <a:noAutofit/>
                    </a:bodyPr>
                    <a:lstStyle/>
                    <a:p>
                      <a:r>
                        <a:rPr sz="1800" b="1">
                          <a:solidFill>
                            <a:srgbClr val="FFFFFF"/>
                          </a:solidFill>
                          <a:latin typeface="PingFang SC"/>
                          <a:ea typeface="PingFang SC"/>
                          <a:cs typeface="PingFang SC"/>
                        </a:rPr>
                        <a:t>实际含义</a:t>
                      </a:r>
                    </a:p>
                  </a:txBody>
                  <a:tcPr marL="114300" marR="95250" marT="76200" marB="66675" anchor="ctr">
                    <a:solidFill>
                      <a:srgbClr val="2D6B5B"/>
                    </a:solidFill>
                  </a:tcPr>
                </a:tc>
              </a:tr>
              <a:tr h="504825">
                <a:tc>
                  <a:txBody>
                    <a:bodyPr>
                      <a:noAutofit/>
                    </a:bodyPr>
                    <a:lstStyle/>
                    <a:p>
                      <a:r>
                        <a:rPr sz="1800" b="1">
                          <a:solidFill>
                            <a:srgbClr val="17372F"/>
                          </a:solidFill>
                          <a:latin typeface="PingFang SC"/>
                          <a:ea typeface="PingFang SC"/>
                          <a:cs typeface="PingFang SC"/>
                        </a:rPr>
                        <a:t>i = 0</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源位点 Kr，q₀ = (0,0,0)</a:t>
                      </a:r>
                    </a:p>
                  </a:txBody>
                  <a:tcPr marL="114300" marR="95250" marT="76200" marB="66675" anchor="ctr">
                    <a:solidFill>
                      <a:srgbClr val="F7FAF7"/>
                    </a:solidFill>
                  </a:tcPr>
                </a:tc>
              </a:tr>
              <a:tr h="504825">
                <a:tc>
                  <a:txBody>
                    <a:bodyPr>
                      <a:noAutofit/>
                    </a:bodyPr>
                    <a:lstStyle/>
                    <a:p>
                      <a:r>
                        <a:rPr sz="1800" b="1">
                          <a:solidFill>
                            <a:srgbClr val="17372F"/>
                          </a:solidFill>
                          <a:latin typeface="PingFang SC"/>
                          <a:ea typeface="PingFang SC"/>
                          <a:cs typeface="PingFang SC"/>
                        </a:rPr>
                        <a:t>j = 1</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目标位点 F，q₁ = (½,½,0.790407)</a:t>
                      </a:r>
                    </a:p>
                  </a:txBody>
                  <a:tcPr marL="114300" marR="95250" marT="76200" marB="66675" anchor="ctr">
                    <a:solidFill>
                      <a:srgbClr val="EDF3EE"/>
                    </a:solidFill>
                  </a:tcPr>
                </a:tc>
              </a:tr>
              <a:tr h="504825">
                <a:tc>
                  <a:txBody>
                    <a:bodyPr>
                      <a:noAutofit/>
                    </a:bodyPr>
                    <a:lstStyle/>
                    <a:p>
                      <a:r>
                        <a:rPr sz="1800" b="1">
                          <a:solidFill>
                            <a:srgbClr val="17372F"/>
                          </a:solidFill>
                          <a:latin typeface="PingFang SC"/>
                          <a:ea typeface="PingFang SC"/>
                          <a:cs typeface="PingFang SC"/>
                        </a:rPr>
                        <a:t>g = 16</a:t>
                      </a:r>
                    </a:p>
                  </a:txBody>
                  <a:tcPr marL="114300" marR="95250" marT="76200" marB="66675" anchor="ctr">
                    <a:solidFill>
                      <a:srgbClr val="F7FAF7"/>
                    </a:solidFill>
                  </a:tcPr>
                </a:tc>
                <a:tc>
                  <a:txBody>
                    <a:bodyPr>
                      <a:noAutofit/>
                    </a:bodyPr>
                    <a:lstStyle/>
                    <a:p>
                      <a:r>
                        <a:rPr sz="1800" b="0">
                          <a:solidFill>
                            <a:srgbClr val="17372F"/>
                          </a:solidFill>
                          <a:latin typeface="PingFang SC"/>
                          <a:ea typeface="PingFang SC"/>
                          <a:cs typeface="PingFang SC"/>
                        </a:rPr>
                        <a:t>当前操作表第 16 项（从 0 编号）：R = I，t = (½,½,½)</a:t>
                      </a:r>
                    </a:p>
                  </a:txBody>
                  <a:tcPr marL="114300" marR="95250" marT="76200" marB="66675" anchor="ctr">
                    <a:solidFill>
                      <a:srgbClr val="F7FAF7"/>
                    </a:solidFill>
                  </a:tcPr>
                </a:tc>
              </a:tr>
              <a:tr h="504825">
                <a:tc>
                  <a:txBody>
                    <a:bodyPr>
                      <a:noAutofit/>
                    </a:bodyPr>
                    <a:lstStyle/>
                    <a:p>
                      <a:r>
                        <a:rPr sz="1800" b="1">
                          <a:solidFill>
                            <a:srgbClr val="17372F"/>
                          </a:solidFill>
                          <a:latin typeface="PingFang SC"/>
                          <a:ea typeface="PingFang SC"/>
                          <a:cs typeface="PingFang SC"/>
                        </a:rPr>
                        <a:t>n = (−1,−1,−1)</a:t>
                      </a:r>
                    </a:p>
                  </a:txBody>
                  <a:tcPr marL="114300" marR="95250" marT="76200" marB="66675" anchor="ctr">
                    <a:solidFill>
                      <a:srgbClr val="EDF3EE"/>
                    </a:solidFill>
                  </a:tcPr>
                </a:tc>
                <a:tc>
                  <a:txBody>
                    <a:bodyPr>
                      <a:noAutofit/>
                    </a:bodyPr>
                    <a:lstStyle/>
                    <a:p>
                      <a:r>
                        <a:rPr sz="1800" b="0">
                          <a:solidFill>
                            <a:srgbClr val="17372F"/>
                          </a:solidFill>
                          <a:latin typeface="PingFang SC"/>
                          <a:ea typeface="PingFang SC"/>
                          <a:cs typeface="PingFang SC"/>
                        </a:rPr>
                        <a:t>目标像所在晶胞的整数平移，单位为晶格基矢</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F75C3A85-5FF0-4C2F-9A03-7CE82EE2921A}"/>
              </a:ext>
            </a:extLst>
          </p:cNvPr>
          <p:cNvSpPr>
            <a:spLocks xmlns:a="http://schemas.openxmlformats.org/drawingml/2006/main" noGrp="1"/>
          </p:cNvSpPr>
          <p:nvPr/>
        </p:nvSpPr>
        <p:spPr>
          <a:xfrm xmlns:a="http://schemas.openxmlformats.org/drawingml/2006/main">
            <a:off x="781050" y="45434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72F"/>
                </a:solidFill>
                <a:latin typeface="PingFang SC"/>
                <a:ea typeface="PingFang SC"/>
                <a:cs typeface="PingFang SC"/>
              </a:defRPr>
            </a:pPr>
            <a:r>
              <a:rPr sz="2325" b="1">
                <a:solidFill>
                  <a:srgbClr val="17372F"/>
                </a:solidFill>
                <a:latin typeface="PingFang SC"/>
                <a:ea typeface="PingFang SC"/>
                <a:cs typeface="PingFang SC"/>
              </a:rPr>
              <a:t>端点 = R₁₆ q₁ + t₁₆ + n = (0, 0, 0.290407)</a:t>
            </a:r>
          </a:p>
        </p:txBody>
      </p:sp>
      <p:sp>
        <p:nvSpPr>
          <p:cNvPr id="6" name="text-4">
            <a:extLst xmlns:a="http://schemas.openxmlformats.org/drawingml/2006/main">
              <a:ext uri="{FF2B5EF4-FFF2-40B4-BE49-F238E27FC236}">
                <a16:creationId xmlns:a16="http://schemas.microsoft.com/office/drawing/2014/main" id="{D7EFCB11-D9E8-421C-8C1A-99E553721BE5}"/>
              </a:ext>
            </a:extLst>
          </p:cNvPr>
          <p:cNvSpPr>
            <a:spLocks xmlns:a="http://schemas.openxmlformats.org/drawingml/2006/main" noGrp="1"/>
          </p:cNvSpPr>
          <p:nvPr/>
        </p:nvSpPr>
        <p:spPr>
          <a:xfrm xmlns:a="http://schemas.openxmlformats.org/drawingml/2006/main">
            <a:off x="781050" y="51054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距离 = 0.290407 × 6.668202 Å = 1.93649 Å</a:t>
            </a:r>
          </a:p>
        </p:txBody>
      </p:sp>
      <p:sp>
        <p:nvSpPr>
          <p:cNvPr id="7" name="text-5">
            <a:extLst xmlns:a="http://schemas.openxmlformats.org/drawingml/2006/main">
              <a:ext uri="{FF2B5EF4-FFF2-40B4-BE49-F238E27FC236}">
                <a16:creationId xmlns:a16="http://schemas.microsoft.com/office/drawing/2014/main" id="{6428D9EA-4A95-45BB-8111-896CB6CCF0C5}"/>
              </a:ext>
            </a:extLst>
          </p:cNvPr>
          <p:cNvSpPr>
            <a:spLocks xmlns:a="http://schemas.openxmlformats.org/drawingml/2006/main" noGrp="1"/>
          </p:cNvSpPr>
          <p:nvPr/>
        </p:nvSpPr>
        <p:spPr>
          <a:xfrm xmlns:a="http://schemas.openxmlformats.org/drawingml/2006/main">
            <a:off x="781050" y="57340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若只把 g 改成 0，端点变成 (−½,−½,−0.209593)，距离约 3.40000 Å。WP 相同，邻居地址不同。</a:t>
            </a:r>
          </a:p>
        </p:txBody>
      </p:sp>
      <p:sp>
        <p:nvSpPr>
          <p:cNvPr id="8" name="text-6">
            <a:extLst xmlns:a="http://schemas.openxmlformats.org/drawingml/2006/main">
              <a:ext uri="{FF2B5EF4-FFF2-40B4-BE49-F238E27FC236}">
                <a16:creationId xmlns:a16="http://schemas.microsoft.com/office/drawing/2014/main" id="{9D6D940F-8A09-40FB-9D82-8D742A0561AB}"/>
              </a:ext>
            </a:extLst>
          </p:cNvPr>
          <p:cNvSpPr>
            <a:spLocks xmlns:a="http://schemas.openxmlformats.org/drawingml/2006/main" noGrp="1"/>
          </p:cNvSpPr>
          <p:nvPr/>
        </p:nvSpPr>
        <p:spPr>
          <a:xfrm xmlns:a="http://schemas.openxmlformats.org/drawingml/2006/main">
            <a:off x="781050" y="61817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g=16 是本份 operations 列表的局部编号，不是跨空间群通用 token。n 是整数晶胞编号，不是连续位移。</a:t>
            </a:r>
          </a:p>
        </p:txBody>
      </p:sp>
    </p:spTree>
    <p:extLst>
      <p:ext uri="{BB962C8B-B14F-4D97-AF65-F5344CB8AC3E}">
        <p14:creationId xmlns:p14="http://schemas.microsoft.com/office/powerpoint/2010/main" val="166187722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464B352-BCF1-43D6-991D-9CF1073B7822}"/>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7 条边轨道记录如何恢复 44 条周期边</a:t>
            </a:r>
          </a:p>
        </p:txBody>
      </p:sp>
      <p:sp>
        <p:nvSpPr>
          <p:cNvPr id="2" name="text-1">
            <a:extLst xmlns:a="http://schemas.openxmlformats.org/drawingml/2006/main">
              <a:ext uri="{FF2B5EF4-FFF2-40B4-BE49-F238E27FC236}">
                <a16:creationId xmlns:a16="http://schemas.microsoft.com/office/drawing/2014/main" id="{447BA794-43AE-4A38-A701-B890FDAE96C5}"/>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KrF₂ 的 4.5 Å 周期近邻图；这是实际编解码结果，不是生成模型的采样结果</a:t>
            </a:r>
          </a:p>
        </p:txBody>
      </p:sp>
      <p:sp>
        <p:nvSpPr>
          <p:cNvPr id="3" name="text-2">
            <a:extLst xmlns:a="http://schemas.openxmlformats.org/drawingml/2006/main">
              <a:ext uri="{FF2B5EF4-FFF2-40B4-BE49-F238E27FC236}">
                <a16:creationId xmlns:a16="http://schemas.microsoft.com/office/drawing/2014/main" id="{24C685AD-3B05-4FF8-8DBB-B84B3E6F9C28}"/>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30</a:t>
            </a:r>
          </a:p>
        </p:txBody>
      </p:sp>
      <p:graphicFrame>
        <p:nvGraphicFramePr>
          <p:cNvPr id="10" name=""/>
          <p:cNvGraphicFramePr/>
          <p:nvPr/>
        </p:nvGraphicFramePr>
        <p:xfrm>
          <a:off xmlns:a="http://schemas.openxmlformats.org/drawingml/2006/main" x="762000" y="1847850"/>
          <a:ext xmlns:a="http://schemas.openxmlformats.org/drawingml/2006/main" cx="10668000" cy="3352800"/>
        </p:xfrm>
        <a:graphic xmlns:a="http://schemas.openxmlformats.org/drawingml/2006/main">
          <a:graphicData uri="http://schemas.openxmlformats.org/drawingml/2006/table">
            <a:tbl>
              <a:tblPr firstRow="0" bandRow="0"/>
              <a:tblGrid>
                <a:gridCol w="2857500"/>
                <a:gridCol w="4905375"/>
                <a:gridCol w="2905125"/>
              </a:tblGrid>
              <a:tr h="419100">
                <a:tc>
                  <a:txBody>
                    <a:bodyPr>
                      <a:noAutofit/>
                    </a:bodyPr>
                    <a:lstStyle/>
                    <a:p>
                      <a:r>
                        <a:rPr sz="1725" b="1">
                          <a:solidFill>
                            <a:srgbClr val="FFFFFF"/>
                          </a:solidFill>
                          <a:latin typeface="PingFang SC"/>
                          <a:ea typeface="PingFang SC"/>
                          <a:cs typeface="PingFang SC"/>
                        </a:rPr>
                        <a:t>源 / 目标轨道</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[i, j, g, nₓ, nᵧ, n_z]</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恢复的无向周期边数</a:t>
                      </a:r>
                    </a:p>
                  </a:txBody>
                  <a:tcPr marL="114300" marR="95250" marT="76200" marB="66675" anchor="ctr">
                    <a:solidFill>
                      <a:srgbClr val="2D6B5B"/>
                    </a:solidFill>
                  </a:tcPr>
                </a:tc>
              </a:tr>
              <a:tr h="419100">
                <a:tc>
                  <a:txBody>
                    <a:bodyPr>
                      <a:noAutofit/>
                    </a:bodyPr>
                    <a:lstStyle/>
                    <a:p>
                      <a:r>
                        <a:rPr sz="1725" b="1">
                          <a:solidFill>
                            <a:srgbClr val="17372F"/>
                          </a:solidFill>
                          <a:latin typeface="PingFang SC"/>
                          <a:ea typeface="PingFang SC"/>
                          <a:cs typeface="PingFang SC"/>
                        </a:rPr>
                        <a:t>Kr / Kr</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[0, 0, 0, −1, 0, 0]</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4</a:t>
                      </a:r>
                    </a:p>
                  </a:txBody>
                  <a:tcPr marL="114300" marR="95250" marT="76200" marB="66675" anchor="ctr">
                    <a:solidFill>
                      <a:srgbClr val="F7FAF7"/>
                    </a:solidFill>
                  </a:tcPr>
                </a:tc>
              </a:tr>
              <a:tr h="419100">
                <a:tc>
                  <a:txBody>
                    <a:bodyPr>
                      <a:noAutofit/>
                    </a:bodyPr>
                    <a:lstStyle/>
                    <a:p>
                      <a:r>
                        <a:rPr sz="1725" b="1">
                          <a:solidFill>
                            <a:srgbClr val="17372F"/>
                          </a:solidFill>
                          <a:latin typeface="PingFang SC"/>
                          <a:ea typeface="PingFang SC"/>
                          <a:cs typeface="PingFang SC"/>
                        </a:rPr>
                        <a:t>Kr / F</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[0, 1, 0, −1, −1, −1]</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16</a:t>
                      </a:r>
                    </a:p>
                  </a:txBody>
                  <a:tcPr marL="114300" marR="95250" marT="76200" marB="66675" anchor="ctr">
                    <a:solidFill>
                      <a:srgbClr val="EDF3EE"/>
                    </a:solidFill>
                  </a:tcPr>
                </a:tc>
              </a:tr>
              <a:tr h="419100">
                <a:tc>
                  <a:txBody>
                    <a:bodyPr>
                      <a:noAutofit/>
                    </a:bodyPr>
                    <a:lstStyle/>
                    <a:p>
                      <a:r>
                        <a:rPr sz="1725" b="1">
                          <a:solidFill>
                            <a:srgbClr val="17372F"/>
                          </a:solidFill>
                          <a:latin typeface="PingFang SC"/>
                          <a:ea typeface="PingFang SC"/>
                          <a:cs typeface="PingFang SC"/>
                        </a:rPr>
                        <a:t>Kr / F</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[0, 1, 16, −1, −1, −1]</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4</a:t>
                      </a:r>
                    </a:p>
                  </a:txBody>
                  <a:tcPr marL="114300" marR="95250" marT="76200" marB="66675" anchor="ctr">
                    <a:solidFill>
                      <a:srgbClr val="F7FAF7"/>
                    </a:solidFill>
                  </a:tcPr>
                </a:tc>
              </a:tr>
              <a:tr h="419100">
                <a:tc>
                  <a:txBody>
                    <a:bodyPr>
                      <a:noAutofit/>
                    </a:bodyPr>
                    <a:lstStyle/>
                    <a:p>
                      <a:r>
                        <a:rPr sz="1725" b="1">
                          <a:solidFill>
                            <a:srgbClr val="17372F"/>
                          </a:solidFill>
                          <a:latin typeface="PingFang SC"/>
                          <a:ea typeface="PingFang SC"/>
                          <a:cs typeface="PingFang SC"/>
                        </a:rPr>
                        <a:t>F / F</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[1, 1, 0, −1, 0, 0]</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8</a:t>
                      </a:r>
                    </a:p>
                  </a:txBody>
                  <a:tcPr marL="114300" marR="95250" marT="76200" marB="66675" anchor="ctr">
                    <a:solidFill>
                      <a:srgbClr val="EDF3EE"/>
                    </a:solidFill>
                  </a:tcPr>
                </a:tc>
              </a:tr>
              <a:tr h="419100">
                <a:tc>
                  <a:txBody>
                    <a:bodyPr>
                      <a:noAutofit/>
                    </a:bodyPr>
                    <a:lstStyle/>
                    <a:p>
                      <a:r>
                        <a:rPr sz="1725" b="1">
                          <a:solidFill>
                            <a:srgbClr val="17372F"/>
                          </a:solidFill>
                          <a:latin typeface="PingFang SC"/>
                          <a:ea typeface="PingFang SC"/>
                          <a:cs typeface="PingFang SC"/>
                        </a:rPr>
                        <a:t>F / F</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[1, 1, 1, 1, 1, 1]</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2</a:t>
                      </a:r>
                    </a:p>
                  </a:txBody>
                  <a:tcPr marL="114300" marR="95250" marT="76200" marB="66675" anchor="ctr">
                    <a:solidFill>
                      <a:srgbClr val="F7FAF7"/>
                    </a:solidFill>
                  </a:tcPr>
                </a:tc>
              </a:tr>
              <a:tr h="419100">
                <a:tc>
                  <a:txBody>
                    <a:bodyPr>
                      <a:noAutofit/>
                    </a:bodyPr>
                    <a:lstStyle/>
                    <a:p>
                      <a:r>
                        <a:rPr sz="1725" b="1">
                          <a:solidFill>
                            <a:srgbClr val="17372F"/>
                          </a:solidFill>
                          <a:latin typeface="PingFang SC"/>
                          <a:ea typeface="PingFang SC"/>
                          <a:cs typeface="PingFang SC"/>
                        </a:rPr>
                        <a:t>F / F</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[1, 1, 1, 1, 1, 2]</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2</a:t>
                      </a:r>
                    </a:p>
                  </a:txBody>
                  <a:tcPr marL="114300" marR="95250" marT="76200" marB="66675" anchor="ctr">
                    <a:solidFill>
                      <a:srgbClr val="EDF3EE"/>
                    </a:solidFill>
                  </a:tcPr>
                </a:tc>
              </a:tr>
              <a:tr h="419100">
                <a:tc>
                  <a:txBody>
                    <a:bodyPr>
                      <a:noAutofit/>
                    </a:bodyPr>
                    <a:lstStyle/>
                    <a:p>
                      <a:r>
                        <a:rPr sz="1725" b="1">
                          <a:solidFill>
                            <a:srgbClr val="17372F"/>
                          </a:solidFill>
                          <a:latin typeface="PingFang SC"/>
                          <a:ea typeface="PingFang SC"/>
                          <a:cs typeface="PingFang SC"/>
                        </a:rPr>
                        <a:t>F / F</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[1, 1, 17, 0, 0, 1]</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8</a:t>
                      </a:r>
                    </a:p>
                  </a:txBody>
                  <a:tcPr marL="114300" marR="9525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05344A1B-8C73-471E-B99E-055E26BAABA6}"/>
              </a:ext>
            </a:extLst>
          </p:cNvPr>
          <p:cNvSpPr>
            <a:spLocks xmlns:a="http://schemas.openxmlformats.org/drawingml/2006/main" noGrp="1"/>
          </p:cNvSpPr>
          <p:nvPr/>
        </p:nvSpPr>
        <p:spPr>
          <a:xfrm xmlns:a="http://schemas.openxmlformats.org/drawingml/2006/main">
            <a:off x="781050" y="5419725"/>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编码：对称等价边归为一组，保留代表地址。</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解码：对代表边施加群操作，去重得到 44 条无向边。</a:t>
            </a:r>
          </a:p>
        </p:txBody>
      </p:sp>
      <p:sp>
        <p:nvSpPr>
          <p:cNvPr id="6" name="text-4">
            <a:extLst xmlns:a="http://schemas.openxmlformats.org/drawingml/2006/main">
              <a:ext uri="{FF2B5EF4-FFF2-40B4-BE49-F238E27FC236}">
                <a16:creationId xmlns:a16="http://schemas.microsoft.com/office/drawing/2014/main" id="{DAB5A366-5F69-4905-9AF0-9F5081E3FDE2}"/>
              </a:ext>
            </a:extLst>
          </p:cNvPr>
          <p:cNvSpPr>
            <a:spLocks xmlns:a="http://schemas.openxmlformats.org/drawingml/2006/main" noGrp="1"/>
          </p:cNvSpPr>
          <p:nvPr/>
        </p:nvSpPr>
        <p:spPr>
          <a:xfrm xmlns:a="http://schemas.openxmlformats.org/drawingml/2006/main">
            <a:off x="781050" y="63055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若为消息传递显式加反向边，则为 88 条有向邻接。44/7 不是总 token 压缩比；近邻边不全是化学键。</a:t>
            </a:r>
          </a:p>
        </p:txBody>
      </p:sp>
    </p:spTree>
    <p:extLst>
      <p:ext uri="{BB962C8B-B14F-4D97-AF65-F5344CB8AC3E}">
        <p14:creationId xmlns:p14="http://schemas.microsoft.com/office/powerpoint/2010/main" val="7975510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4EE9CDA-9A40-44B3-96DA-2E95A9D1DC96}"/>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接入多任务 text space 的形式</a:t>
            </a:r>
          </a:p>
        </p:txBody>
      </p:sp>
      <p:sp>
        <p:nvSpPr>
          <p:cNvPr id="2" name="text-1">
            <a:extLst xmlns:a="http://schemas.openxmlformats.org/drawingml/2006/main">
              <a:ext uri="{FF2B5EF4-FFF2-40B4-BE49-F238E27FC236}">
                <a16:creationId xmlns:a16="http://schemas.microsoft.com/office/drawing/2014/main" id="{168A3B5C-00BA-4A35-8212-34EC26CA49A3}"/>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下列标签是拟议接口，不是当前 tokenizer 已实现的语言模型词表</a:t>
            </a:r>
          </a:p>
        </p:txBody>
      </p:sp>
      <p:sp>
        <p:nvSpPr>
          <p:cNvPr id="3" name="text-2">
            <a:extLst xmlns:a="http://schemas.openxmlformats.org/drawingml/2006/main">
              <a:ext uri="{FF2B5EF4-FFF2-40B4-BE49-F238E27FC236}">
                <a16:creationId xmlns:a16="http://schemas.microsoft.com/office/drawing/2014/main" id="{FE70DBF5-E199-4D6D-AD33-865D49315710}"/>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31</a:t>
            </a:r>
          </a:p>
        </p:txBody>
      </p:sp>
      <p:sp>
        <p:nvSpPr>
          <p:cNvPr id="4" name="text-3">
            <a:extLst xmlns:a="http://schemas.openxmlformats.org/drawingml/2006/main">
              <a:ext uri="{FF2B5EF4-FFF2-40B4-BE49-F238E27FC236}">
                <a16:creationId xmlns:a16="http://schemas.microsoft.com/office/drawing/2014/main" id="{6130F892-7F72-4B10-8B5B-0752A38E4C22}"/>
              </a:ext>
            </a:extLst>
          </p:cNvPr>
          <p:cNvSpPr>
            <a:spLocks xmlns:a="http://schemas.openxmlformats.org/drawingml/2006/main" noGrp="1"/>
          </p:cNvSpPr>
          <p:nvPr/>
        </p:nvSpPr>
        <p:spPr>
          <a:xfrm xmlns:a="http://schemas.openxmlformats.org/drawingml/2006/main">
            <a:off x="781050" y="200977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&lt;task&gt; structure_completion &lt;/task&gt;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&lt;observed&gt; composition, symmetry, partial_structure &lt;/observed&gt;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&lt;composition&gt; Kr:1 F:2 &lt;/composition&gt;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&lt;symmetry&gt; space_group=139 hall_number=424 &lt;/symmetry&gt;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&lt;prototype&gt; nodes=[…] edge_tokens=[…] &lt;/prototype&gt;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&lt;geometry&gt; lattice=[…] free_vectors=[MASK] &lt;/geometry&gt;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&lt;property name="formation_energy_per_atom" unit="eV/atom"&gt;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  [ABSENT]</a:t>
            </a:r>
          </a:p>
          <a:p xmlns:a="http://schemas.openxmlformats.org/drawingml/2006/main">
            <a:pPr>
              <a:defRPr sz="1875" b="0">
                <a:solidFill>
                  <a:srgbClr val="17372F"/>
                </a:solidFill>
                <a:latin typeface="PingFang SC"/>
                <a:ea typeface="PingFang SC"/>
                <a:cs typeface="PingFang SC"/>
              </a:defRPr>
            </a:pPr>
            <a:r>
              <a:rPr sz="1875" b="0">
                <a:solidFill>
                  <a:srgbClr val="17372F"/>
                </a:solidFill>
                <a:latin typeface="PingFang SC"/>
                <a:ea typeface="PingFang SC"/>
                <a:cs typeface="PingFang SC"/>
              </a:rPr>
              <a:t>&lt;/property&gt;</a:t>
            </a:r>
          </a:p>
        </p:txBody>
      </p:sp>
      <p:sp>
        <p:nvSpPr>
          <p:cNvPr id="5" name="text-4">
            <a:extLst xmlns:a="http://schemas.openxmlformats.org/drawingml/2006/main">
              <a:ext uri="{FF2B5EF4-FFF2-40B4-BE49-F238E27FC236}">
                <a16:creationId xmlns:a16="http://schemas.microsoft.com/office/drawing/2014/main" id="{B12B9D53-97F2-4DDB-98AC-A5866367D828}"/>
              </a:ext>
            </a:extLst>
          </p:cNvPr>
          <p:cNvSpPr>
            <a:spLocks xmlns:a="http://schemas.openxmlformats.org/drawingml/2006/main" noGrp="1"/>
          </p:cNvSpPr>
          <p:nvPr/>
        </p:nvSpPr>
        <p:spPr>
          <a:xfrm xmlns:a="http://schemas.openxmlformats.org/drawingml/2006/main">
            <a:off x="781050" y="50958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72F"/>
                </a:solidFill>
                <a:latin typeface="PingFang SC"/>
                <a:ea typeface="PingFang SC"/>
                <a:cs typeface="PingFang SC"/>
              </a:defRPr>
            </a:pPr>
            <a:r>
              <a:rPr sz="2100" b="1">
                <a:solidFill>
                  <a:srgbClr val="17372F"/>
                </a:solidFill>
                <a:latin typeface="PingFang SC"/>
                <a:ea typeface="PingFang SC"/>
                <a:cs typeface="PingFang SC"/>
              </a:rPr>
              <a:t>切换任务就是改变“哪些字段可见，哪些字段需要预测”。</a:t>
            </a:r>
          </a:p>
        </p:txBody>
      </p:sp>
      <p:sp>
        <p:nvSpPr>
          <p:cNvPr id="6" name="text-5">
            <a:extLst xmlns:a="http://schemas.openxmlformats.org/drawingml/2006/main">
              <a:ext uri="{FF2B5EF4-FFF2-40B4-BE49-F238E27FC236}">
                <a16:creationId xmlns:a16="http://schemas.microsoft.com/office/drawing/2014/main" id="{1AEF0DEB-7E80-4C72-B57A-9D96D1111C53}"/>
              </a:ext>
            </a:extLst>
          </p:cNvPr>
          <p:cNvSpPr>
            <a:spLocks xmlns:a="http://schemas.openxmlformats.org/drawingml/2006/main" noGrp="1"/>
          </p:cNvSpPr>
          <p:nvPr/>
        </p:nvSpPr>
        <p:spPr>
          <a:xfrm xmlns:a="http://schemas.openxmlformats.org/drawingml/2006/main">
            <a:off x="781050" y="56197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只有性质 / 文本的记录不附加伪造结构；完整结构记录可做结构补全。</a:t>
            </a:r>
          </a:p>
          <a:p xmlns:a="http://schemas.openxmlformats.org/drawingml/2006/main">
            <a:pPr>
              <a:defRPr sz="1800" b="0">
                <a:solidFill>
                  <a:srgbClr val="17372F"/>
                </a:solidFill>
                <a:latin typeface="PingFang SC"/>
                <a:ea typeface="PingFang SC"/>
                <a:cs typeface="PingFang SC"/>
              </a:defRPr>
            </a:pPr>
            <a:r>
              <a:rPr sz="1800" b="0">
                <a:solidFill>
                  <a:srgbClr val="17372F"/>
                </a:solidFill>
                <a:latin typeface="PingFang SC"/>
                <a:ea typeface="PingFang SC"/>
                <a:cs typeface="PingFang SC"/>
              </a:rPr>
              <a:t>若需全离散 DLM，连续几何的量化或独立解码仍需选择并验证。</a:t>
            </a:r>
          </a:p>
        </p:txBody>
      </p:sp>
    </p:spTree>
    <p:extLst>
      <p:ext uri="{BB962C8B-B14F-4D97-AF65-F5344CB8AC3E}">
        <p14:creationId xmlns:p14="http://schemas.microsoft.com/office/powerpoint/2010/main" val="97986693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65C0D6D-37CD-4EA1-953E-B251F154EBFC}"/>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主要文献入口</a:t>
            </a:r>
          </a:p>
        </p:txBody>
      </p:sp>
      <p:sp>
        <p:nvSpPr>
          <p:cNvPr id="2" name="text-1">
            <a:extLst xmlns:a="http://schemas.openxmlformats.org/drawingml/2006/main">
              <a:ext uri="{FF2B5EF4-FFF2-40B4-BE49-F238E27FC236}">
                <a16:creationId xmlns:a16="http://schemas.microsoft.com/office/drawing/2014/main" id="{43C940BD-179A-4610-9D53-0AB2172901E9}"/>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新增页的结论按论文方法与实验范围整理，具体定位见各页备注</a:t>
            </a:r>
          </a:p>
        </p:txBody>
      </p:sp>
      <p:sp>
        <p:nvSpPr>
          <p:cNvPr id="3" name="text-2">
            <a:extLst xmlns:a="http://schemas.openxmlformats.org/drawingml/2006/main">
              <a:ext uri="{FF2B5EF4-FFF2-40B4-BE49-F238E27FC236}">
                <a16:creationId xmlns:a16="http://schemas.microsoft.com/office/drawing/2014/main" id="{E7CBF710-2ADD-433F-88F7-E0FFA83FFBC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32</a:t>
            </a:r>
          </a:p>
        </p:txBody>
      </p:sp>
      <p:graphicFrame>
        <p:nvGraphicFramePr>
          <p:cNvPr id="9" name=""/>
          <p:cNvGraphicFramePr/>
          <p:nvPr/>
        </p:nvGraphicFramePr>
        <p:xfrm>
          <a:off xmlns:a="http://schemas.openxmlformats.org/drawingml/2006/main" x="762000" y="1876425"/>
          <a:ext xmlns:a="http://schemas.openxmlformats.org/drawingml/2006/main" cx="10668000" cy="3781425"/>
        </p:xfrm>
        <a:graphic xmlns:a="http://schemas.openxmlformats.org/drawingml/2006/main">
          <a:graphicData uri="http://schemas.openxmlformats.org/drawingml/2006/table">
            <a:tbl>
              <a:tblPr firstRow="0" bandRow="0"/>
              <a:tblGrid>
                <a:gridCol w="3143250"/>
                <a:gridCol w="4000500"/>
                <a:gridCol w="3524250"/>
              </a:tblGrid>
              <a:tr h="409575">
                <a:tc>
                  <a:txBody>
                    <a:bodyPr>
                      <a:noAutofit/>
                    </a:bodyPr>
                    <a:lstStyle/>
                    <a:p>
                      <a:r>
                        <a:rPr sz="1575" b="1">
                          <a:solidFill>
                            <a:srgbClr val="FFFFFF"/>
                          </a:solidFill>
                          <a:latin typeface="PingFang SC"/>
                          <a:ea typeface="PingFang SC"/>
                          <a:cs typeface="PingFang SC"/>
                        </a:rPr>
                        <a:t>论文</a:t>
                      </a:r>
                    </a:p>
                  </a:txBody>
                  <a:tcPr marL="114300" marR="95250" marT="76200" marB="66675" anchor="ctr">
                    <a:solidFill>
                      <a:srgbClr val="2D6B5B"/>
                    </a:solidFill>
                  </a:tcPr>
                </a:tc>
                <a:tc>
                  <a:txBody>
                    <a:bodyPr>
                      <a:noAutofit/>
                    </a:bodyPr>
                    <a:lstStyle/>
                    <a:p>
                      <a:r>
                        <a:rPr sz="1575" b="1">
                          <a:solidFill>
                            <a:srgbClr val="FFFFFF"/>
                          </a:solidFill>
                          <a:latin typeface="PingFang SC"/>
                          <a:ea typeface="PingFang SC"/>
                          <a:cs typeface="PingFang SC"/>
                        </a:rPr>
                        <a:t>可检索标识</a:t>
                      </a:r>
                    </a:p>
                  </a:txBody>
                  <a:tcPr marL="114300" marR="95250" marT="76200" marB="66675" anchor="ctr">
                    <a:solidFill>
                      <a:srgbClr val="2D6B5B"/>
                    </a:solidFill>
                  </a:tcPr>
                </a:tc>
                <a:tc>
                  <a:txBody>
                    <a:bodyPr>
                      <a:noAutofit/>
                    </a:bodyPr>
                    <a:lstStyle/>
                    <a:p>
                      <a:r>
                        <a:rPr sz="1575" b="1">
                          <a:solidFill>
                            <a:srgbClr val="FFFFFF"/>
                          </a:solidFill>
                          <a:latin typeface="PingFang SC"/>
                          <a:ea typeface="PingFang SC"/>
                          <a:cs typeface="PingFang SC"/>
                        </a:rPr>
                        <a:t>本次核对重点</a:t>
                      </a:r>
                    </a:p>
                  </a:txBody>
                  <a:tcPr marL="114300" marR="95250" marT="76200" marB="66675" anchor="ctr">
                    <a:solidFill>
                      <a:srgbClr val="2D6B5B"/>
                    </a:solidFill>
                  </a:tcPr>
                </a:tc>
              </a:tr>
              <a:tr h="561975">
                <a:tc>
                  <a:txBody>
                    <a:bodyPr>
                      <a:noAutofit/>
                    </a:bodyPr>
                    <a:lstStyle/>
                    <a:p>
                      <a:r>
                        <a:rPr sz="1575" b="1">
                          <a:solidFill>
                            <a:srgbClr val="17372F"/>
                          </a:solidFill>
                          <a:latin typeface="PingFang SC"/>
                          <a:ea typeface="PingFang SC"/>
                          <a:cs typeface="PingFang SC"/>
                        </a:rPr>
                        <a:t>NatureLM (2025)</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arXiv:2502.07527v2</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统一科学序列；§2.1、§5、§8.3</a:t>
                      </a:r>
                    </a:p>
                  </a:txBody>
                  <a:tcPr marL="114300" marR="95250" marT="76200" marB="66675" anchor="ctr">
                    <a:solidFill>
                      <a:srgbClr val="F7FAF7"/>
                    </a:solidFill>
                  </a:tcPr>
                </a:tc>
              </a:tr>
              <a:tr h="561975">
                <a:tc>
                  <a:txBody>
                    <a:bodyPr>
                      <a:noAutofit/>
                    </a:bodyPr>
                    <a:lstStyle/>
                    <a:p>
                      <a:r>
                        <a:rPr sz="1575" b="1">
                          <a:solidFill>
                            <a:srgbClr val="17372F"/>
                          </a:solidFill>
                          <a:latin typeface="PingFang SC"/>
                          <a:ea typeface="PingFang SC"/>
                          <a:cs typeface="PingFang SC"/>
                        </a:rPr>
                        <a:t>LLaMat (2026)</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doi:10.1038/s42256-026-01199-8</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材料文献 + CIF；预训练 / 适配分支</a:t>
                      </a:r>
                    </a:p>
                  </a:txBody>
                  <a:tcPr marL="114300" marR="95250" marT="76200" marB="66675" anchor="ctr">
                    <a:solidFill>
                      <a:srgbClr val="EDF3EE"/>
                    </a:solidFill>
                  </a:tcPr>
                </a:tc>
              </a:tr>
              <a:tr h="561975">
                <a:tc>
                  <a:txBody>
                    <a:bodyPr>
                      <a:noAutofit/>
                    </a:bodyPr>
                    <a:lstStyle/>
                    <a:p>
                      <a:r>
                        <a:rPr sz="1575" b="1">
                          <a:solidFill>
                            <a:srgbClr val="17372F"/>
                          </a:solidFill>
                          <a:latin typeface="PingFang SC"/>
                          <a:ea typeface="PingFang SC"/>
                          <a:cs typeface="PingFang SC"/>
                        </a:rPr>
                        <a:t>ALM (2026，预印本)</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arXiv:2606.21395v1</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§2；Appendix B.1 / B.2 的训练混合</a:t>
                      </a:r>
                    </a:p>
                  </a:txBody>
                  <a:tcPr marL="114300" marR="95250" marT="76200" marB="66675" anchor="ctr">
                    <a:solidFill>
                      <a:srgbClr val="F7FAF7"/>
                    </a:solidFill>
                  </a:tcPr>
                </a:tc>
              </a:tr>
              <a:tr h="561975">
                <a:tc>
                  <a:txBody>
                    <a:bodyPr>
                      <a:noAutofit/>
                    </a:bodyPr>
                    <a:lstStyle/>
                    <a:p>
                      <a:r>
                        <a:rPr sz="1575" b="1">
                          <a:solidFill>
                            <a:srgbClr val="17372F"/>
                          </a:solidFill>
                          <a:latin typeface="PingFang SC"/>
                          <a:ea typeface="PingFang SC"/>
                          <a:cs typeface="PingFang SC"/>
                        </a:rPr>
                        <a:t>MatterChat (2026)</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doi:10.1038/s42256-026-01214-y</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多任务结构理解与性质预测</a:t>
                      </a:r>
                    </a:p>
                  </a:txBody>
                  <a:tcPr marL="114300" marR="95250" marT="76200" marB="66675" anchor="ctr">
                    <a:solidFill>
                      <a:srgbClr val="EDF3EE"/>
                    </a:solidFill>
                  </a:tcPr>
                </a:tc>
              </a:tr>
              <a:tr h="561975">
                <a:tc>
                  <a:txBody>
                    <a:bodyPr>
                      <a:noAutofit/>
                    </a:bodyPr>
                    <a:lstStyle/>
                    <a:p>
                      <a:r>
                        <a:rPr sz="1575" b="1">
                          <a:solidFill>
                            <a:srgbClr val="17372F"/>
                          </a:solidFill>
                          <a:latin typeface="PingFang SC"/>
                          <a:ea typeface="PingFang SC"/>
                          <a:cs typeface="PingFang SC"/>
                        </a:rPr>
                        <a:t>MultiMat (2023/2025)</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arXiv:2312.00111v3</a:t>
                      </a:r>
                    </a:p>
                  </a:txBody>
                  <a:tcPr marL="114300" marR="95250" marT="76200" marB="66675" anchor="ctr">
                    <a:solidFill>
                      <a:srgbClr val="F7FAF7"/>
                    </a:solidFill>
                  </a:tcPr>
                </a:tc>
                <a:tc>
                  <a:txBody>
                    <a:bodyPr>
                      <a:noAutofit/>
                    </a:bodyPr>
                    <a:lstStyle/>
                    <a:p>
                      <a:r>
                        <a:rPr sz="1575" b="0">
                          <a:solidFill>
                            <a:srgbClr val="17372F"/>
                          </a:solidFill>
                          <a:latin typeface="PingFang SC"/>
                          <a:ea typeface="PingFang SC"/>
                          <a:cs typeface="PingFang SC"/>
                        </a:rPr>
                        <a:t>§IV.2：缺失模态的损失处理</a:t>
                      </a:r>
                    </a:p>
                  </a:txBody>
                  <a:tcPr marL="114300" marR="95250" marT="76200" marB="66675" anchor="ctr">
                    <a:solidFill>
                      <a:srgbClr val="F7FAF7"/>
                    </a:solidFill>
                  </a:tcPr>
                </a:tc>
              </a:tr>
              <a:tr h="561975">
                <a:tc>
                  <a:txBody>
                    <a:bodyPr>
                      <a:noAutofit/>
                    </a:bodyPr>
                    <a:lstStyle/>
                    <a:p>
                      <a:r>
                        <a:rPr sz="1575" b="1">
                          <a:solidFill>
                            <a:srgbClr val="17372F"/>
                          </a:solidFill>
                          <a:latin typeface="PingFang SC"/>
                          <a:ea typeface="PingFang SC"/>
                          <a:cs typeface="PingFang SC"/>
                        </a:rPr>
                        <a:t>MatBind (2026，预印本)</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arXiv:2607.08470v1</a:t>
                      </a:r>
                    </a:p>
                  </a:txBody>
                  <a:tcPr marL="114300" marR="95250" marT="76200" marB="66675" anchor="ctr">
                    <a:solidFill>
                      <a:srgbClr val="EDF3EE"/>
                    </a:solidFill>
                  </a:tcPr>
                </a:tc>
                <a:tc>
                  <a:txBody>
                    <a:bodyPr>
                      <a:noAutofit/>
                    </a:bodyPr>
                    <a:lstStyle/>
                    <a:p>
                      <a:r>
                        <a:rPr sz="1575" b="0">
                          <a:solidFill>
                            <a:srgbClr val="17372F"/>
                          </a:solidFill>
                          <a:latin typeface="PingFang SC"/>
                          <a:ea typeface="PingFang SC"/>
                          <a:cs typeface="PingFang SC"/>
                        </a:rPr>
                        <a:t>§5：结构锚定的多模态对齐</a:t>
                      </a:r>
                    </a:p>
                  </a:txBody>
                  <a:tcPr marL="114300" marR="9525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FA0C4CD2-A941-4806-A352-4717BDDFBA0E}"/>
              </a:ext>
            </a:extLst>
          </p:cNvPr>
          <p:cNvSpPr>
            <a:spLocks xmlns:a="http://schemas.openxmlformats.org/drawingml/2006/main" noGrp="1"/>
          </p:cNvSpPr>
          <p:nvPr/>
        </p:nvSpPr>
        <p:spPr>
          <a:xfrm xmlns:a="http://schemas.openxmlformats.org/drawingml/2006/main">
            <a:off x="781050" y="60864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检索包括材料基础模型、异构 / 缺失模态、统一文本序列、条件生成与预测。AI 辅助检索与整理，未做穷尽性排除。</a:t>
            </a:r>
          </a:p>
        </p:txBody>
      </p:sp>
    </p:spTree>
    <p:extLst>
      <p:ext uri="{BB962C8B-B14F-4D97-AF65-F5344CB8AC3E}">
        <p14:creationId xmlns:p14="http://schemas.microsoft.com/office/powerpoint/2010/main" val="59516692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36FC2ED-96D9-45E2-9C51-CBD11B595E93}"/>
              </a:ext>
            </a:extLst>
          </p:cNvPr>
          <p:cNvSpPr>
            <a:spLocks xmlns:a="http://schemas.openxmlformats.org/drawingml/2006/main" noGrp="1"/>
          </p:cNvSpPr>
          <p:nvPr/>
        </p:nvSpPr>
        <p:spPr>
          <a:xfrm xmlns:a="http://schemas.openxmlformats.org/drawingml/2006/main">
            <a:off x="762000" y="5429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60000"/>
                </a:solidFill>
                <a:latin typeface="PingFang SC"/>
                <a:ea typeface="PingFang SC"/>
                <a:cs typeface="PingFang SC"/>
              </a:defRPr>
            </a:pPr>
            <a:r>
              <a:rPr sz="2925" b="1">
                <a:solidFill>
                  <a:srgbClr val="B60000"/>
                </a:solidFill>
                <a:latin typeface="PingFang SC"/>
                <a:ea typeface="PingFang SC"/>
                <a:cs typeface="PingFang SC"/>
              </a:rPr>
              <a:t>补充文献与编码证据</a:t>
            </a:r>
          </a:p>
        </p:txBody>
      </p:sp>
      <p:sp>
        <p:nvSpPr>
          <p:cNvPr id="2" name="text-1">
            <a:extLst xmlns:a="http://schemas.openxmlformats.org/drawingml/2006/main">
              <a:ext uri="{FF2B5EF4-FFF2-40B4-BE49-F238E27FC236}">
                <a16:creationId xmlns:a16="http://schemas.microsoft.com/office/drawing/2014/main" id="{D3E629B3-76FA-4922-9A6B-C60CC2E980C1}"/>
              </a:ext>
            </a:extLst>
          </p:cNvPr>
          <p:cNvSpPr>
            <a:spLocks xmlns:a="http://schemas.openxmlformats.org/drawingml/2006/main" noGrp="1"/>
          </p:cNvSpPr>
          <p:nvPr/>
        </p:nvSpPr>
        <p:spPr>
          <a:xfrm xmlns:a="http://schemas.openxmlformats.org/drawingml/2006/main">
            <a:off x="781050" y="1257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65F"/>
                </a:solidFill>
                <a:latin typeface="PingFang SC"/>
                <a:ea typeface="PingFang SC"/>
                <a:cs typeface="PingFang SC"/>
              </a:defRPr>
            </a:pPr>
            <a:r>
              <a:rPr sz="1650" b="0">
                <a:solidFill>
                  <a:srgbClr val="56665F"/>
                </a:solidFill>
                <a:latin typeface="PingFang SC"/>
                <a:ea typeface="PingFang SC"/>
                <a:cs typeface="PingFang SC"/>
              </a:rPr>
              <a:t>论文原始来源 + 晶体学定义 + 可复算的本地实例</a:t>
            </a:r>
          </a:p>
        </p:txBody>
      </p:sp>
      <p:sp>
        <p:nvSpPr>
          <p:cNvPr id="3" name="text-2">
            <a:extLst xmlns:a="http://schemas.openxmlformats.org/drawingml/2006/main">
              <a:ext uri="{FF2B5EF4-FFF2-40B4-BE49-F238E27FC236}">
                <a16:creationId xmlns:a16="http://schemas.microsoft.com/office/drawing/2014/main" id="{F9B37E8D-0575-4C49-9335-F94BC32FC656}"/>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33</a:t>
            </a:r>
          </a:p>
        </p:txBody>
      </p:sp>
      <p:graphicFrame>
        <p:nvGraphicFramePr>
          <p:cNvPr id="10" name=""/>
          <p:cNvGraphicFramePr/>
          <p:nvPr/>
        </p:nvGraphicFramePr>
        <p:xfrm>
          <a:off xmlns:a="http://schemas.openxmlformats.org/drawingml/2006/main" x="762000" y="1924050"/>
          <a:ext xmlns:a="http://schemas.openxmlformats.org/drawingml/2006/main" cx="10668000" cy="3409950"/>
        </p:xfrm>
        <a:graphic xmlns:a="http://schemas.openxmlformats.org/drawingml/2006/main">
          <a:graphicData uri="http://schemas.openxmlformats.org/drawingml/2006/table">
            <a:tbl>
              <a:tblPr firstRow="0" bandRow="0"/>
              <a:tblGrid>
                <a:gridCol w="3048000"/>
                <a:gridCol w="7620000"/>
              </a:tblGrid>
              <a:tr h="419100">
                <a:tc>
                  <a:txBody>
                    <a:bodyPr>
                      <a:noAutofit/>
                    </a:bodyPr>
                    <a:lstStyle/>
                    <a:p>
                      <a:r>
                        <a:rPr sz="1725" b="1">
                          <a:solidFill>
                            <a:srgbClr val="FFFFFF"/>
                          </a:solidFill>
                          <a:latin typeface="PingFang SC"/>
                          <a:ea typeface="PingFang SC"/>
                          <a:cs typeface="PingFang SC"/>
                        </a:rPr>
                        <a:t>内容</a:t>
                      </a:r>
                    </a:p>
                  </a:txBody>
                  <a:tcPr marL="114300" marR="95250" marT="76200" marB="66675" anchor="ctr">
                    <a:solidFill>
                      <a:srgbClr val="2D6B5B"/>
                    </a:solidFill>
                  </a:tcPr>
                </a:tc>
                <a:tc>
                  <a:txBody>
                    <a:bodyPr>
                      <a:noAutofit/>
                    </a:bodyPr>
                    <a:lstStyle/>
                    <a:p>
                      <a:r>
                        <a:rPr sz="1725" b="1">
                          <a:solidFill>
                            <a:srgbClr val="FFFFFF"/>
                          </a:solidFill>
                          <a:latin typeface="PingFang SC"/>
                          <a:ea typeface="PingFang SC"/>
                          <a:cs typeface="PingFang SC"/>
                        </a:rPr>
                        <a:t>入口</a:t>
                      </a:r>
                    </a:p>
                  </a:txBody>
                  <a:tcPr marL="114300" marR="95250" marT="76200" marB="66675" anchor="ctr">
                    <a:solidFill>
                      <a:srgbClr val="2D6B5B"/>
                    </a:solidFill>
                  </a:tcPr>
                </a:tc>
              </a:tr>
              <a:tr h="504825">
                <a:tc>
                  <a:txBody>
                    <a:bodyPr>
                      <a:noAutofit/>
                    </a:bodyPr>
                    <a:lstStyle/>
                    <a:p>
                      <a:r>
                        <a:rPr sz="1725" b="1">
                          <a:solidFill>
                            <a:srgbClr val="17372F"/>
                          </a:solidFill>
                          <a:latin typeface="PingFang SC"/>
                          <a:ea typeface="PingFang SC"/>
                          <a:cs typeface="PingFang SC"/>
                        </a:rPr>
                        <a:t>AtomGPT / CrystaLLM-π</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arXiv:2405.03680；arXiv:2511.21299</a:t>
                      </a:r>
                    </a:p>
                  </a:txBody>
                  <a:tcPr marL="114300" marR="95250" marT="76200" marB="66675" anchor="ctr">
                    <a:solidFill>
                      <a:srgbClr val="F7FAF7"/>
                    </a:solidFill>
                  </a:tcPr>
                </a:tc>
              </a:tr>
              <a:tr h="638175">
                <a:tc>
                  <a:txBody>
                    <a:bodyPr>
                      <a:noAutofit/>
                    </a:bodyPr>
                    <a:lstStyle/>
                    <a:p>
                      <a:r>
                        <a:rPr sz="1725" b="1">
                          <a:solidFill>
                            <a:srgbClr val="17372F"/>
                          </a:solidFill>
                          <a:latin typeface="PingFang SC"/>
                          <a:ea typeface="PingFang SC"/>
                          <a:cs typeface="PingFang SC"/>
                        </a:rPr>
                        <a:t>CLOUD / Chameleon</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doi:10.1038/s41467-026-70467-3</a:t>
                      </a:r>
                    </a:p>
                    <a:p>
                      <a:r>
                        <a:rPr sz="1725" b="0">
                          <a:solidFill>
                            <a:srgbClr val="17372F"/>
                          </a:solidFill>
                          <a:latin typeface="PingFang SC"/>
                          <a:ea typeface="PingFang SC"/>
                          <a:cs typeface="PingFang SC"/>
                        </a:rPr>
                        <a:t>doi:10.1038/s41467-025-59636-y</a:t>
                      </a:r>
                    </a:p>
                  </a:txBody>
                  <a:tcPr marL="114300" marR="95250" marT="76200" marB="66675" anchor="ctr">
                    <a:solidFill>
                      <a:srgbClr val="EDF3EE"/>
                    </a:solidFill>
                  </a:tcPr>
                </a:tc>
              </a:tr>
              <a:tr h="609600">
                <a:tc>
                  <a:txBody>
                    <a:bodyPr>
                      <a:noAutofit/>
                    </a:bodyPr>
                    <a:lstStyle/>
                    <a:p>
                      <a:r>
                        <a:rPr sz="1725" b="1">
                          <a:solidFill>
                            <a:srgbClr val="17372F"/>
                          </a:solidFill>
                          <a:latin typeface="PingFang SC"/>
                          <a:ea typeface="PingFang SC"/>
                          <a:cs typeface="PingFang SC"/>
                        </a:rPr>
                        <a:t>Wyckoff 定义与坐标表</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IUCr：dictionary.iucr.org/Wyckoff_position</a:t>
                      </a:r>
                    </a:p>
                    <a:p>
                      <a:r>
                        <a:rPr sz="1725" b="0">
                          <a:solidFill>
                            <a:srgbClr val="17372F"/>
                          </a:solidFill>
                          <a:latin typeface="PingFang SC"/>
                          <a:ea typeface="PingFang SC"/>
                          <a:cs typeface="PingFang SC"/>
                        </a:rPr>
                        <a:t>PyXtal：pyxtal/database/wyckoff_list.csv</a:t>
                      </a:r>
                    </a:p>
                  </a:txBody>
                  <a:tcPr marL="114300" marR="95250" marT="76200" marB="66675" anchor="ctr">
                    <a:solidFill>
                      <a:srgbClr val="F7FAF7"/>
                    </a:solidFill>
                  </a:tcPr>
                </a:tc>
              </a:tr>
              <a:tr h="619125">
                <a:tc>
                  <a:txBody>
                    <a:bodyPr>
                      <a:noAutofit/>
                    </a:bodyPr>
                    <a:lstStyle/>
                    <a:p>
                      <a:r>
                        <a:rPr sz="1725" b="1">
                          <a:solidFill>
                            <a:srgbClr val="17372F"/>
                          </a:solidFill>
                          <a:latin typeface="PingFang SC"/>
                          <a:ea typeface="PingFang SC"/>
                          <a:cs typeface="PingFang SC"/>
                        </a:rPr>
                        <a:t>KrF₂ 编解码实例</a:t>
                      </a:r>
                    </a:p>
                  </a:txBody>
                  <a:tcPr marL="114300" marR="95250" marT="76200" marB="66675" anchor="ctr">
                    <a:solidFill>
                      <a:srgbClr val="EDF3EE"/>
                    </a:solidFill>
                  </a:tcPr>
                </a:tc>
                <a:tc>
                  <a:txBody>
                    <a:bodyPr>
                      <a:noAutofit/>
                    </a:bodyPr>
                    <a:lstStyle/>
                    <a:p>
                      <a:r>
                        <a:rPr sz="1725" b="0">
                          <a:solidFill>
                            <a:srgbClr val="17372F"/>
                          </a:solidFill>
                          <a:latin typeface="PingFang SC"/>
                          <a:ea typeface="PingFang SC"/>
                          <a:cs typeface="PingFang SC"/>
                        </a:rPr>
                        <a:t>work/edge_orbit_release/examples/mp-30009.*.json</a:t>
                      </a:r>
                    </a:p>
                    <a:p>
                      <a:r>
                        <a:rPr sz="1725" b="0">
                          <a:solidFill>
                            <a:srgbClr val="17372F"/>
                          </a:solidFill>
                          <a:latin typeface="PingFang SC"/>
                          <a:ea typeface="PingFang SC"/>
                          <a:cs typeface="PingFang SC"/>
                        </a:rPr>
                        <a:t>work/edge_orbit_release/codec/discrete_graph_prototype.py</a:t>
                      </a:r>
                    </a:p>
                  </a:txBody>
                  <a:tcPr marL="114300" marR="95250" marT="76200" marB="66675" anchor="ctr">
                    <a:solidFill>
                      <a:srgbClr val="EDF3EE"/>
                    </a:solidFill>
                  </a:tcPr>
                </a:tc>
              </a:tr>
              <a:tr h="619125">
                <a:tc>
                  <a:txBody>
                    <a:bodyPr>
                      <a:noAutofit/>
                    </a:bodyPr>
                    <a:lstStyle/>
                    <a:p>
                      <a:r>
                        <a:rPr sz="1725" b="1">
                          <a:solidFill>
                            <a:srgbClr val="17372F"/>
                          </a:solidFill>
                          <a:latin typeface="PingFang SC"/>
                          <a:ea typeface="PingFang SC"/>
                          <a:cs typeface="PingFang SC"/>
                        </a:rPr>
                        <a:t>候选方法与现有验证</a:t>
                      </a:r>
                    </a:p>
                  </a:txBody>
                  <a:tcPr marL="114300" marR="95250" marT="76200" marB="66675" anchor="ctr">
                    <a:solidFill>
                      <a:srgbClr val="F7FAF7"/>
                    </a:solidFill>
                  </a:tcPr>
                </a:tc>
                <a:tc>
                  <a:txBody>
                    <a:bodyPr>
                      <a:noAutofit/>
                    </a:bodyPr>
                    <a:lstStyle/>
                    <a:p>
                      <a:r>
                        <a:rPr sz="1725" b="0">
                          <a:solidFill>
                            <a:srgbClr val="17372F"/>
                          </a:solidFill>
                          <a:latin typeface="PingFang SC"/>
                          <a:ea typeface="PingFang SC"/>
                          <a:cs typeface="PingFang SC"/>
                        </a:rPr>
                        <a:t>research/edge_orbit_tokenizer_proposal.md</a:t>
                      </a:r>
                    </a:p>
                    <a:p>
                      <a:r>
                        <a:rPr sz="1725" b="0">
                          <a:solidFill>
                            <a:srgbClr val="17372F"/>
                          </a:solidFill>
                          <a:latin typeface="PingFang SC"/>
                          <a:ea typeface="PingFang SC"/>
                          <a:cs typeface="PingFang SC"/>
                        </a:rPr>
                        <a:t>experiments/wyckoff_tokenizer_search/ASU_CONTROL_RESULTS.md</a:t>
                      </a:r>
                    </a:p>
                  </a:txBody>
                  <a:tcPr marL="114300" marR="9525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3902385F-3A3F-49BD-9FD9-EF3FF79AD3F6}"/>
              </a:ext>
            </a:extLst>
          </p:cNvPr>
          <p:cNvSpPr>
            <a:spLocks xmlns:a="http://schemas.openxmlformats.org/drawingml/2006/main" noGrp="1"/>
          </p:cNvSpPr>
          <p:nvPr/>
        </p:nvSpPr>
        <p:spPr>
          <a:xfrm xmlns:a="http://schemas.openxmlformats.org/drawingml/2006/main">
            <a:off x="781050" y="56388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72F"/>
                </a:solidFill>
                <a:latin typeface="PingFang SC"/>
                <a:ea typeface="PingFang SC"/>
                <a:cs typeface="PingFang SC"/>
              </a:defRPr>
            </a:pPr>
            <a:r>
              <a:rPr sz="2025" b="1">
                <a:solidFill>
                  <a:srgbClr val="17372F"/>
                </a:solidFill>
                <a:latin typeface="PingFang SC"/>
                <a:ea typeface="PingFang SC"/>
                <a:cs typeface="PingFang SC"/>
              </a:rPr>
              <a:t>边轨道的生成能力仍需通过完整采样与材料性质验证。</a:t>
            </a:r>
          </a:p>
        </p:txBody>
      </p:sp>
      <p:sp>
        <p:nvSpPr>
          <p:cNvPr id="6" name="text-4">
            <a:extLst xmlns:a="http://schemas.openxmlformats.org/drawingml/2006/main">
              <a:ext uri="{FF2B5EF4-FFF2-40B4-BE49-F238E27FC236}">
                <a16:creationId xmlns:a16="http://schemas.microsoft.com/office/drawing/2014/main" id="{49412AEB-C215-458C-947C-27B3D4D74DED}"/>
              </a:ext>
            </a:extLst>
          </p:cNvPr>
          <p:cNvSpPr>
            <a:spLocks xmlns:a="http://schemas.openxmlformats.org/drawingml/2006/main" noGrp="1"/>
          </p:cNvSpPr>
          <p:nvPr/>
        </p:nvSpPr>
        <p:spPr>
          <a:xfrm xmlns:a="http://schemas.openxmlformats.org/drawingml/2006/main">
            <a:off x="781050" y="62103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65F"/>
                </a:solidFill>
                <a:latin typeface="PingFang SC"/>
                <a:ea typeface="PingFang SC"/>
                <a:cs typeface="PingFang SC"/>
              </a:defRPr>
            </a:pPr>
            <a:r>
              <a:rPr sz="1275" b="0">
                <a:solidFill>
                  <a:srgbClr val="56665F"/>
                </a:solidFill>
                <a:latin typeface="PingFang SC"/>
                <a:ea typeface="PingFang SC"/>
                <a:cs typeface="PingFang SC"/>
              </a:rPr>
              <a:t>ASU、Wyckoff 约束、周期平移图都有先例；候选贡献需限定到具体编码与任务收益。</a:t>
            </a:r>
          </a:p>
        </p:txBody>
      </p:sp>
    </p:spTree>
    <p:extLst>
      <p:ext uri="{BB962C8B-B14F-4D97-AF65-F5344CB8AC3E}">
        <p14:creationId xmlns:p14="http://schemas.microsoft.com/office/powerpoint/2010/main" val="728211812"/>
      </p:ext>
    </p:extLst>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ityUHK_PPT_template_202501.potx" id="{7F2BEBF3-9CF0-CB46-AABF-BF87BD277522}" vid="{2EBB819F-E8BA-6E4B-8B83-50690D0D30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主题​​</Template>
  <TotalTime>8199</TotalTime>
  <Words>1926</Words>
  <Application>Microsoft Macintosh PowerPoint</Application>
  <PresentationFormat>Widescreen</PresentationFormat>
  <Paragraphs>251</Paragraphs>
  <Slides>33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-apple-system</vt:lpstr>
      <vt:lpstr>PingFang SC</vt:lpstr>
      <vt:lpstr>Aptos</vt:lpstr>
      <vt:lpstr>Arial</vt:lpstr>
      <vt:lpstr>Cambria Math</vt:lpstr>
      <vt:lpstr>Office 主题​​</vt:lpstr>
      <vt:lpstr>Crystal DLM</vt:lpstr>
      <vt:lpstr>Outline</vt:lpstr>
      <vt:lpstr>Our work</vt:lpstr>
      <vt:lpstr>Matra-Genoa</vt:lpstr>
      <vt:lpstr>WyFormer</vt:lpstr>
      <vt:lpstr>MaskGXT</vt:lpstr>
      <vt:lpstr>DynaCrys</vt:lpstr>
      <vt:lpstr>Related Work</vt:lpstr>
      <vt:lpstr>What we can do？</vt:lpstr>
      <vt:lpstr>PowerPoint Presentation</vt:lpstr>
      <vt:lpstr>PowerPoint Presentation</vt:lpstr>
      <vt:lpstr>PowerPoint Presentation</vt:lpstr>
      <vt:lpstr>PowerPoint Presentation</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铖 桂</dc:creator>
  <cp:lastModifiedBy>Mr. GUI Cheng</cp:lastModifiedBy>
  <cp:revision>12</cp:revision>
  <dcterms:created xsi:type="dcterms:W3CDTF">2026-09-01T11:44:28Z</dcterms:created>
  <dcterms:modified xsi:type="dcterms:W3CDTF">2026-09-12T04:58:46Z</dcterms:modified>
</cp:coreProperties>
</file>