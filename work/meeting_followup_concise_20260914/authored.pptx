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780e6ce42949fc" /><Relationship Type="http://schemas.openxmlformats.org/officeDocument/2006/relationships/extended-properties" Target="/docProps/app.xml" Id="Re8571260474d4a63" /><Relationship Type="http://schemas.openxmlformats.org/officeDocument/2006/relationships/officeDocument" Target="/ppt/presentation.xml" Id="Ra86ce4f189e5471c" /></Relationships>
</file>

<file path=ppt/presentation.xml><?xml version="1.0" encoding="utf-8"?>
<p:presentation xmlns:p="http://schemas.openxmlformats.org/presentationml/2006/main">
  <p:sldMasterIdLst>
    <p:sldMasterId xmlns:r="http://schemas.openxmlformats.org/officeDocument/2006/relationships" id="2147483648" r:id="Rc494a5c5b8a6462c"/>
  </p:sldMasterIdLst>
  <p:notesMasterIdLst>
    <p:notesMasterId xmlns:r="http://schemas.openxmlformats.org/officeDocument/2006/relationships" r:id="R8a1990cae34043b3"/>
  </p:notesMasterIdLst>
  <p:sldIdLst>
    <p:sldId xmlns:r="http://schemas.openxmlformats.org/officeDocument/2006/relationships" id="256" r:id="Rb2e5df0e472846a6"/>
    <p:sldId xmlns:r="http://schemas.openxmlformats.org/officeDocument/2006/relationships" id="257" r:id="R91931373d8f14363"/>
    <p:sldId xmlns:r="http://schemas.openxmlformats.org/officeDocument/2006/relationships" id="258" r:id="Rdcf24ce79c6e4ca0"/>
    <p:sldId xmlns:r="http://schemas.openxmlformats.org/officeDocument/2006/relationships" id="259" r:id="R8a545463e23e4aee"/>
    <p:sldId xmlns:r="http://schemas.openxmlformats.org/officeDocument/2006/relationships" id="260" r:id="R481f70dda5e54475"/>
    <p:sldId xmlns:r="http://schemas.openxmlformats.org/officeDocument/2006/relationships" id="261" r:id="Rd8a8620328e249f9"/>
    <p:sldId xmlns:r="http://schemas.openxmlformats.org/officeDocument/2006/relationships" id="262" r:id="R6e3404d8a9fd4471"/>
    <p:sldId xmlns:r="http://schemas.openxmlformats.org/officeDocument/2006/relationships" id="263" r:id="R2d6ddd48da3d4959"/>
    <p:sldId xmlns:r="http://schemas.openxmlformats.org/officeDocument/2006/relationships" id="264" r:id="Rfa7b60072d534929"/>
    <p:sldId xmlns:r="http://schemas.openxmlformats.org/officeDocument/2006/relationships" id="265" r:id="R2e2ccf34752a4c6f"/>
    <p:sldId xmlns:r="http://schemas.openxmlformats.org/officeDocument/2006/relationships" id="266" r:id="R14aaa0ddaf5a4ad3"/>
    <p:sldId xmlns:r="http://schemas.openxmlformats.org/officeDocument/2006/relationships" id="267" r:id="Rd27fec7e0b38400b"/>
    <p:sldId xmlns:r="http://schemas.openxmlformats.org/officeDocument/2006/relationships" id="268" r:id="R6d350a8f98694d9a"/>
    <p:sldId xmlns:r="http://schemas.openxmlformats.org/officeDocument/2006/relationships" id="269" r:id="R9143a54d45a44110"/>
    <p:sldId xmlns:r="http://schemas.openxmlformats.org/officeDocument/2006/relationships" id="270" r:id="Rbc349a79722c473a"/>
    <p:sldId xmlns:r="http://schemas.openxmlformats.org/officeDocument/2006/relationships" id="271" r:id="Re0204d39567e4815"/>
    <p:sldId xmlns:r="http://schemas.openxmlformats.org/officeDocument/2006/relationships" id="272" r:id="R712fb13f0005462f"/>
    <p:sldId xmlns:r="http://schemas.openxmlformats.org/officeDocument/2006/relationships" id="273" r:id="R6b58384ce6c6483b"/>
    <p:sldId xmlns:r="http://schemas.openxmlformats.org/officeDocument/2006/relationships" id="274" r:id="Rad8f6617a9594a47"/>
    <p:sldId xmlns:r="http://schemas.openxmlformats.org/officeDocument/2006/relationships" id="275" r:id="Re5c498138cc74cc9"/>
    <p:sldId xmlns:r="http://schemas.openxmlformats.org/officeDocument/2006/relationships" id="276" r:id="Rccc7b0314579443e"/>
    <p:sldId xmlns:r="http://schemas.openxmlformats.org/officeDocument/2006/relationships" id="277" r:id="R532922bf0acf47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8d3393e95d643d8" /><Relationship Type="http://schemas.openxmlformats.org/officeDocument/2006/relationships/slideMaster" Target="/ppt/slideMasters/slideMaster1.xml" Id="Rc494a5c5b8a6462c" /><Relationship Type="http://schemas.openxmlformats.org/officeDocument/2006/relationships/notesMaster" Target="/ppt/notesMasters/notesMaster1.xml" Id="R8a1990cae34043b3" /><Relationship Type="http://schemas.openxmlformats.org/officeDocument/2006/relationships/presProps" Target="/ppt/presProps.xml" Id="R5546a6d839ee472a" /><Relationship Type="http://schemas.openxmlformats.org/officeDocument/2006/relationships/viewProps" Target="/ppt/viewProps.xml" Id="R961190d518714294" /><Relationship Type="http://schemas.openxmlformats.org/officeDocument/2006/relationships/tableStyles" Target="/ppt/tableStyles.xml" Id="Rde63b8dc08fe4b1f" /><Relationship Type="http://schemas.openxmlformats.org/officeDocument/2006/relationships/slide" Target="/ppt/slides/slide1.xml" Id="Rb2e5df0e472846a6" /><Relationship Type="http://schemas.openxmlformats.org/officeDocument/2006/relationships/slide" Target="/ppt/slides/slide2.xml" Id="R91931373d8f14363" /><Relationship Type="http://schemas.openxmlformats.org/officeDocument/2006/relationships/slide" Target="/ppt/slides/slide3.xml" Id="Rdcf24ce79c6e4ca0" /><Relationship Type="http://schemas.openxmlformats.org/officeDocument/2006/relationships/slide" Target="/ppt/slides/slide4.xml" Id="R8a545463e23e4aee" /><Relationship Type="http://schemas.openxmlformats.org/officeDocument/2006/relationships/slide" Target="/ppt/slides/slide5.xml" Id="R481f70dda5e54475" /><Relationship Type="http://schemas.openxmlformats.org/officeDocument/2006/relationships/slide" Target="/ppt/slides/slide6.xml" Id="Rd8a8620328e249f9" /><Relationship Type="http://schemas.openxmlformats.org/officeDocument/2006/relationships/slide" Target="/ppt/slides/slide7.xml" Id="R6e3404d8a9fd4471" /><Relationship Type="http://schemas.openxmlformats.org/officeDocument/2006/relationships/slide" Target="/ppt/slides/slide8.xml" Id="R2d6ddd48da3d4959" /><Relationship Type="http://schemas.openxmlformats.org/officeDocument/2006/relationships/slide" Target="/ppt/slides/slide9.xml" Id="Rfa7b60072d534929" /><Relationship Type="http://schemas.openxmlformats.org/officeDocument/2006/relationships/slide" Target="/ppt/slides/slide10.xml" Id="R2e2ccf34752a4c6f" /><Relationship Type="http://schemas.openxmlformats.org/officeDocument/2006/relationships/slide" Target="/ppt/slides/slide11.xml" Id="R14aaa0ddaf5a4ad3" /><Relationship Type="http://schemas.openxmlformats.org/officeDocument/2006/relationships/slide" Target="/ppt/slides/slide12.xml" Id="Rd27fec7e0b38400b" /><Relationship Type="http://schemas.openxmlformats.org/officeDocument/2006/relationships/slide" Target="/ppt/slides/slide13.xml" Id="R6d350a8f98694d9a" /><Relationship Type="http://schemas.openxmlformats.org/officeDocument/2006/relationships/slide" Target="/ppt/slides/slide14.xml" Id="R9143a54d45a44110" /><Relationship Type="http://schemas.openxmlformats.org/officeDocument/2006/relationships/slide" Target="/ppt/slides/slide15.xml" Id="Rbc349a79722c473a" /><Relationship Type="http://schemas.openxmlformats.org/officeDocument/2006/relationships/slide" Target="/ppt/slides/slide16.xml" Id="Re0204d39567e4815" /><Relationship Type="http://schemas.openxmlformats.org/officeDocument/2006/relationships/slide" Target="/ppt/slides/slide17.xml" Id="R712fb13f0005462f" /><Relationship Type="http://schemas.openxmlformats.org/officeDocument/2006/relationships/slide" Target="/ppt/slides/slide18.xml" Id="R6b58384ce6c6483b" /><Relationship Type="http://schemas.openxmlformats.org/officeDocument/2006/relationships/slide" Target="/ppt/slides/slide19.xml" Id="Rad8f6617a9594a47" /><Relationship Type="http://schemas.openxmlformats.org/officeDocument/2006/relationships/slide" Target="/ppt/slides/slide20.xml" Id="Re5c498138cc74cc9" /><Relationship Type="http://schemas.openxmlformats.org/officeDocument/2006/relationships/slide" Target="/ppt/slides/slide21.xml" Id="Rccc7b0314579443e" /><Relationship Type="http://schemas.openxmlformats.org/officeDocument/2006/relationships/slide" Target="/ppt/slides/slide22.xml" Id="R532922bf0acf47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511d636b644a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de578b997949e0" /><Relationship Type="http://schemas.openxmlformats.org/officeDocument/2006/relationships/notesMaster" Target="/ppt/notesMasters/notesMaster1.xml" Id="R7693b6e5ab1f4d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08a9b82f324d53" /><Relationship Type="http://schemas.openxmlformats.org/officeDocument/2006/relationships/notesMaster" Target="/ppt/notesMasters/notesMaster1.xml" Id="R9cff5486585541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4729056e3d4cf1" /><Relationship Type="http://schemas.openxmlformats.org/officeDocument/2006/relationships/notesMaster" Target="/ppt/notesMasters/notesMaster1.xml" Id="R26b4c844da9847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b22a76ac8a409d" /><Relationship Type="http://schemas.openxmlformats.org/officeDocument/2006/relationships/notesMaster" Target="/ppt/notesMasters/notesMaster1.xml" Id="Rbc76dcb999c147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91f3e9d24749a8" /><Relationship Type="http://schemas.openxmlformats.org/officeDocument/2006/relationships/notesMaster" Target="/ppt/notesMasters/notesMaster1.xml" Id="R911b2a95cbbe49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be3c4d5ef34dbe" /><Relationship Type="http://schemas.openxmlformats.org/officeDocument/2006/relationships/notesMaster" Target="/ppt/notesMasters/notesMaster1.xml" Id="R3837d30cd9a640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15c1e1a2e34a9c" /><Relationship Type="http://schemas.openxmlformats.org/officeDocument/2006/relationships/notesMaster" Target="/ppt/notesMasters/notesMaster1.xml" Id="R3a652220ea0342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99f5b524114452" /><Relationship Type="http://schemas.openxmlformats.org/officeDocument/2006/relationships/notesMaster" Target="/ppt/notesMasters/notesMaster1.xml" Id="R5956e4b6ac174d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a8f684b9c34cd2" /><Relationship Type="http://schemas.openxmlformats.org/officeDocument/2006/relationships/notesMaster" Target="/ppt/notesMasters/notesMaster1.xml" Id="R606401446d2c46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c7252bc90d403f" /><Relationship Type="http://schemas.openxmlformats.org/officeDocument/2006/relationships/notesMaster" Target="/ppt/notesMasters/notesMaster1.xml" Id="R2460e2c5764c44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9ce9fce4fd4393" /><Relationship Type="http://schemas.openxmlformats.org/officeDocument/2006/relationships/notesMaster" Target="/ppt/notesMasters/notesMaster1.xml" Id="Rd179ba67e21f44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feb2dd77ae4644" /><Relationship Type="http://schemas.openxmlformats.org/officeDocument/2006/relationships/notesMaster" Target="/ppt/notesMasters/notesMaster1.xml" Id="R46d2378522e649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a6d317095b843e0" /><Relationship Type="http://schemas.openxmlformats.org/officeDocument/2006/relationships/notesMaster" Target="/ppt/notesMasters/notesMaster1.xml" Id="R5a9783a2a27f48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91d5a99304456b" /><Relationship Type="http://schemas.openxmlformats.org/officeDocument/2006/relationships/notesMaster" Target="/ppt/notesMasters/notesMaster1.xml" Id="R1d0b89cfc4e74d6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97d495293144b9" /><Relationship Type="http://schemas.openxmlformats.org/officeDocument/2006/relationships/notesMaster" Target="/ppt/notesMasters/notesMaster1.xml" Id="R2df735781c7649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b46c6beee34c06" /><Relationship Type="http://schemas.openxmlformats.org/officeDocument/2006/relationships/notesMaster" Target="/ppt/notesMasters/notesMaster1.xml" Id="Rd2a666065b7349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56975ca835406c" /><Relationship Type="http://schemas.openxmlformats.org/officeDocument/2006/relationships/notesMaster" Target="/ppt/notesMasters/notesMaster1.xml" Id="R313dfd407c2749a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5d4fb0feb7a4452" /><Relationship Type="http://schemas.openxmlformats.org/officeDocument/2006/relationships/notesMaster" Target="/ppt/notesMasters/notesMaster1.xml" Id="R4448d6bc3262465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ebf0e8d6807439e" /><Relationship Type="http://schemas.openxmlformats.org/officeDocument/2006/relationships/notesMaster" Target="/ppt/notesMasters/notesMaster1.xml" Id="Rcc7e29a9550049b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fa88c711df4da5" /><Relationship Type="http://schemas.openxmlformats.org/officeDocument/2006/relationships/notesMaster" Target="/ppt/notesMasters/notesMaster1.xml" Id="R52890c75269440c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69e8eb2fdf44535" /><Relationship Type="http://schemas.openxmlformats.org/officeDocument/2006/relationships/notesMaster" Target="/ppt/notesMasters/notesMaster1.xml" Id="Rc4f197b394e7470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c7abb60e71b450b" /><Relationship Type="http://schemas.openxmlformats.org/officeDocument/2006/relationships/notesMaster" Target="/ppt/notesMasters/notesMaster1.xml" Id="Rd264e4397b834b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我理解的我们想做的工作有两个方向：一个是、、是找一个更好的</a:t>
            </a:r>
            <a:r>
              <a:t>tokenizer</a:t>
            </a:r>
            <a:r>
              <a:t>，来描述</a:t>
            </a:r>
            <a:r>
              <a:t>crystallographic</a:t>
            </a:r>
            <a:r>
              <a:t>。在生成和训练的时候，最好是都做到能够</a:t>
            </a:r>
            <a:r>
              <a:t>disorder</a:t>
            </a:r>
            <a:r>
              <a:t>的一个状态。</a:t>
            </a:r>
            <a:br/>
            <a:br/>
            <a:r>
              <a:t>还有一个就是</a:t>
            </a:r>
            <a:r>
              <a:rPr sz="1000">
                <a:solidFill>
                  <a:srgbClr val="B60007"/>
                </a:solidFill>
                <a:latin typeface="+mn-lt"/>
                <a:ea typeface="+mn-lt"/>
                <a:cs typeface="+mn-lt"/>
              </a:rPr>
              <a:t>WyFormer</a:t>
            </a:r>
            <a:r>
              <a:rPr sz="1000">
                <a:solidFill>
                  <a:srgbClr val="B60007"/>
                </a:solidFill>
                <a:latin typeface="+mn-lt"/>
                <a:ea typeface="+mn-lt"/>
                <a:cs typeface="+mn-lt"/>
              </a:rPr>
              <a:t> </a:t>
            </a:r>
            <a:r>
              <a:rPr sz="1000">
                <a:solidFill>
                  <a:srgbClr val="B60007"/>
                </a:solidFill>
                <a:latin typeface="+mn-lt"/>
                <a:ea typeface="+mn-lt"/>
                <a:cs typeface="+mn-lt"/>
              </a:rPr>
              <a:t>representation+masked</a:t>
            </a:r>
            <a:r>
              <a:rPr sz="1000">
                <a:solidFill>
                  <a:srgbClr val="B60007"/>
                </a:solidFill>
                <a:latin typeface="+mn-lt"/>
                <a:ea typeface="+mn-lt"/>
                <a:cs typeface="+mn-lt"/>
              </a:rPr>
              <a:t>/discrete diffusion</a:t>
            </a:r>
            <a:r>
              <a:rPr sz="1000">
                <a:solidFill>
                  <a:srgbClr val="B60007"/>
                </a:solidFill>
                <a:latin typeface="+mn-lt"/>
                <a:ea typeface="+mn-lt"/>
                <a:cs typeface="+mn-lt"/>
              </a:rPr>
              <a:t>？</a:t>
            </a:r>
          </a:p>
          <a:p xmlns:a="http://schemas.openxmlformats.org/drawingml/2006/main">
            <a:pPr marL="0" marR="0" lvl="0" indent="0" algn="l" defTabSz="914400">
              <a:lnSpc>
                <a:spcPct val="100000"/>
              </a:lnSpc>
              <a:spcBef>
                <a:spcPts val="0"/>
              </a:spcBef>
              <a:spcAft>
                <a:spcPts val="0"/>
              </a:spcAft>
              <a:buClrTx/>
              <a:buSzTx/>
              <a:buFontTx/>
              <a:buNone/>
            </a:pPr>
            <a:br/>
            <a:r>
              <a:t>不过您那天又说如果</a:t>
            </a:r>
            <a:r>
              <a:t>vocabulary</a:t>
            </a:r>
            <a:r>
              <a:t>比较难搞就直接用</a:t>
            </a:r>
            <a:r>
              <a:t>WyFormer</a:t>
            </a:r>
            <a:r>
              <a:t>的</a:t>
            </a:r>
            <a:r>
              <a:t>tokenizer</a:t>
            </a:r>
            <a:r>
              <a:t>也行，然后我就觉得是不是</a:t>
            </a:r>
            <a:r>
              <a:t>BPE</a:t>
            </a:r>
            <a:r>
              <a:t>的加入也可以单独作为一个点。</a:t>
            </a:r>
            <a:br/>
            <a:br/>
            <a:endParaRPr/>
          </a:p>
          <a:p xmlns:a="http://schemas.openxmlformats.org/drawingml/2006/main">
            <a:pPr marL="0" marR="0" lvl="0" indent="0" algn="l" defTabSz="914400">
              <a:lnSpc>
                <a:spcPct val="100000"/>
              </a:lnSpc>
              <a:spcBef>
                <a:spcPts val="0"/>
              </a:spcBef>
              <a:spcAft>
                <a:spcPts val="0"/>
              </a:spcAft>
              <a:buClrTx/>
              <a:buSzTx/>
              <a:buFontTx/>
              <a:buNone/>
            </a:pPr>
            <a:r>
              <a:t>所以我就去调研了一下这几个方向的内容</a:t>
            </a:r>
            <a:endParaRPr/>
          </a:p>
          <a:p xmlns:a="http://schemas.openxmlformats.org/drawingml/2006/main">
            <a:pPr marL="0" marR="0" lvl="0" indent="0" algn="l" defTabSz="914400">
              <a:lnSpc>
                <a:spcPct val="100000"/>
              </a:lnSpc>
              <a:spcBef>
                <a:spcPts val="0"/>
              </a:spcBef>
              <a:spcAft>
                <a:spcPts val="0"/>
              </a:spcAft>
              <a:buClrTx/>
              <a:buSzTx/>
              <a:buFontTx/>
              <a:buNone/>
            </a:pPr>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 </a:t>
            </a:r>
            <a:r>
              <a:t>年的 </a:t>
            </a:r>
            <a:r>
              <a:rPr b="1"/>
              <a:t>Matra-Genoa</a:t>
            </a:r>
            <a:r>
              <a:t> </a:t>
            </a:r>
            <a:r>
              <a:t>已经做了一件非常接近的事情：它指出 </a:t>
            </a:r>
            <a:r>
              <a:t>230 </a:t>
            </a:r>
            <a:r>
              <a:t>个空间群一共有 </a:t>
            </a:r>
            <a:r>
              <a:t>1,731 </a:t>
            </a:r>
            <a:r>
              <a:t>个 </a:t>
            </a:r>
            <a:r>
              <a:t>Wyckoff positions</a:t>
            </a:r>
            <a:r>
              <a:t>，但有些 </a:t>
            </a:r>
            <a:r>
              <a:t>positions </a:t>
            </a:r>
            <a:r>
              <a:t>在不同空间群中描述相同的代数 </a:t>
            </a:r>
            <a:r>
              <a:t>orbit</a:t>
            </a:r>
            <a:r>
              <a:t>，因此将其合并为 </a:t>
            </a:r>
            <a:r>
              <a:rPr b="1"/>
              <a:t>990 </a:t>
            </a:r>
            <a:r>
              <a:rPr b="1"/>
              <a:t>个共享的 </a:t>
            </a:r>
            <a:r>
              <a:rPr b="1"/>
              <a:t>unique Wyckoff orbit representations</a:t>
            </a:r>
            <a:r>
              <a:t>，然后使用自回归 </a:t>
            </a:r>
            <a:r>
              <a:t>Transformer </a:t>
            </a:r>
            <a:r>
              <a:t>进行生成</a:t>
            </a:r>
            <a:br/>
            <a:br/>
            <a:r>
              <a:t>他们已经做了一种晶体结构的可逆化表达设计，而且扩展到了</a:t>
            </a:r>
            <a:r>
              <a:rPr b="1"/>
              <a:t>晶胞尺寸这个参数</a:t>
            </a:r>
            <a:r>
              <a:t>了：：</a:t>
            </a:r>
            <a:r>
              <a:rPr sz="1200" b="0" i="0">
                <a:solidFill>
                  <a:schemeClr val="tx1"/>
                </a:solidFill>
                <a:latin typeface="+mn-lt"/>
                <a:ea typeface="+mn-lt"/>
                <a:cs typeface="+mn-lt"/>
              </a:rPr>
              <a:t>(</a:t>
            </a:r>
            <a:r>
              <a:rPr sz="1200" b="0" i="0">
                <a:solidFill>
                  <a:schemeClr val="tx1"/>
                </a:solidFill>
                <a:latin typeface="+mn-lt"/>
                <a:ea typeface="+mn-lt"/>
                <a:cs typeface="+mn-lt"/>
              </a:rPr>
              <a:t>i</a:t>
            </a:r>
            <a:r>
              <a:rPr sz="1200" b="0" i="0">
                <a:solidFill>
                  <a:schemeClr val="tx1"/>
                </a:solidFill>
                <a:latin typeface="+mn-lt"/>
                <a:ea typeface="+mn-lt"/>
                <a:cs typeface="+mn-lt"/>
              </a:rPr>
              <a:t>) </a:t>
            </a:r>
            <a:r>
              <a:rPr sz="1200" b="0" i="0">
                <a:solidFill>
                  <a:schemeClr val="tx1"/>
                </a:solidFill>
                <a:latin typeface="+mn-lt"/>
                <a:ea typeface="+mn-lt"/>
                <a:cs typeface="+mn-lt"/>
              </a:rPr>
              <a:t>空间群；</a:t>
            </a:r>
            <a:r>
              <a:rPr sz="1200" b="0" i="0">
                <a:solidFill>
                  <a:schemeClr val="tx1"/>
                </a:solidFill>
                <a:latin typeface="+mn-lt"/>
                <a:ea typeface="+mn-lt"/>
                <a:cs typeface="+mn-lt"/>
              </a:rPr>
              <a:t>(ii) </a:t>
            </a:r>
            <a:r>
              <a:rPr sz="1200" b="0" i="0">
                <a:solidFill>
                  <a:schemeClr val="tx1"/>
                </a:solidFill>
                <a:latin typeface="+mn-lt"/>
                <a:ea typeface="+mn-lt"/>
                <a:cs typeface="+mn-lt"/>
              </a:rPr>
              <a:t>一组魏科夫位置及其对应的化学元素；</a:t>
            </a:r>
            <a:r>
              <a:rPr sz="1200" b="0" i="0">
                <a:solidFill>
                  <a:schemeClr val="tx1"/>
                </a:solidFill>
                <a:latin typeface="+mn-lt"/>
                <a:ea typeface="+mn-lt"/>
                <a:cs typeface="+mn-lt"/>
              </a:rPr>
              <a:t>(iii) </a:t>
            </a:r>
            <a:r>
              <a:rPr sz="1200" b="0" i="0">
                <a:solidFill>
                  <a:schemeClr val="tx1"/>
                </a:solidFill>
                <a:latin typeface="+mn-lt"/>
                <a:ea typeface="+mn-lt"/>
                <a:cs typeface="+mn-lt"/>
              </a:rPr>
              <a:t>魏科夫位置所需的自由参数；以及最后的 </a:t>
            </a:r>
            <a:r>
              <a:rPr sz="1200" b="0" i="0">
                <a:solidFill>
                  <a:schemeClr val="tx1"/>
                </a:solidFill>
                <a:latin typeface="+mn-lt"/>
                <a:ea typeface="+mn-lt"/>
                <a:cs typeface="+mn-lt"/>
              </a:rPr>
              <a:t>(iv) </a:t>
            </a:r>
            <a:r>
              <a:rPr sz="1200" b="0" i="0">
                <a:solidFill>
                  <a:schemeClr val="tx1"/>
                </a:solidFill>
                <a:latin typeface="+mn-lt"/>
                <a:ea typeface="+mn-lt"/>
                <a:cs typeface="+mn-lt"/>
              </a:rPr>
              <a:t>晶胞尺寸（</a:t>
            </a:r>
            <a:r>
              <a:rPr sz="1200" b="0" i="0">
                <a:solidFill>
                  <a:schemeClr val="tx1"/>
                </a:solidFill>
                <a:latin typeface="+mn-lt"/>
                <a:ea typeface="+mn-lt"/>
                <a:cs typeface="+mn-lt"/>
              </a:rPr>
              <a:t>a</a:t>
            </a:r>
            <a:r>
              <a:rPr sz="1200" b="0" i="0">
                <a:solidFill>
                  <a:schemeClr val="tx1"/>
                </a:solidFill>
                <a:latin typeface="+mn-lt"/>
                <a:ea typeface="+mn-lt"/>
                <a:cs typeface="+mn-lt"/>
              </a:rPr>
              <a:t>、</a:t>
            </a:r>
            <a:r>
              <a:rPr sz="1200" b="0" i="0">
                <a:solidFill>
                  <a:schemeClr val="tx1"/>
                </a:solidFill>
                <a:latin typeface="+mn-lt"/>
                <a:ea typeface="+mn-lt"/>
                <a:cs typeface="+mn-lt"/>
              </a:rPr>
              <a:t>b</a:t>
            </a:r>
            <a:r>
              <a:rPr sz="1200" b="0" i="0">
                <a:solidFill>
                  <a:schemeClr val="tx1"/>
                </a:solidFill>
                <a:latin typeface="+mn-lt"/>
                <a:ea typeface="+mn-lt"/>
                <a:cs typeface="+mn-lt"/>
              </a:rPr>
              <a:t>、</a:t>
            </a:r>
            <a:r>
              <a:rPr sz="1200" b="0" i="0">
                <a:solidFill>
                  <a:schemeClr val="tx1"/>
                </a:solidFill>
                <a:latin typeface="+mn-lt"/>
                <a:ea typeface="+mn-lt"/>
                <a:cs typeface="+mn-lt"/>
              </a:rPr>
              <a:t>c</a:t>
            </a:r>
            <a:r>
              <a:rPr sz="1200" b="0" i="0">
                <a:solidFill>
                  <a:schemeClr val="tx1"/>
                </a:solidFill>
                <a:latin typeface="+mn-lt"/>
                <a:ea typeface="+mn-lt"/>
                <a:cs typeface="+mn-lt"/>
              </a:rPr>
              <a:t>、</a:t>
            </a:r>
            <a:r>
              <a:rPr sz="1200" b="0" i="0">
                <a:solidFill>
                  <a:schemeClr val="tx1"/>
                </a:solidFill>
                <a:latin typeface="+mn-lt"/>
                <a:ea typeface="+mn-lt"/>
                <a:cs typeface="+mn-lt"/>
              </a:rPr>
              <a:t>α</a:t>
            </a:r>
            <a:r>
              <a:rPr sz="1200" b="0" i="0">
                <a:solidFill>
                  <a:schemeClr val="tx1"/>
                </a:solidFill>
                <a:latin typeface="+mn-lt"/>
                <a:ea typeface="+mn-lt"/>
                <a:cs typeface="+mn-lt"/>
              </a:rPr>
              <a:t>、</a:t>
            </a:r>
            <a:r>
              <a:rPr sz="1200" b="0" i="0">
                <a:solidFill>
                  <a:schemeClr val="tx1"/>
                </a:solidFill>
                <a:latin typeface="+mn-lt"/>
                <a:ea typeface="+mn-lt"/>
                <a:cs typeface="+mn-lt"/>
              </a:rPr>
              <a:t>β</a:t>
            </a:r>
            <a:r>
              <a:rPr sz="1200" b="0" i="0">
                <a:solidFill>
                  <a:schemeClr val="tx1"/>
                </a:solidFill>
                <a:latin typeface="+mn-lt"/>
                <a:ea typeface="+mn-lt"/>
                <a:cs typeface="+mn-lt"/>
              </a:rPr>
              <a:t>、</a:t>
            </a:r>
            <a:r>
              <a:rPr sz="1200" b="0" i="0">
                <a:solidFill>
                  <a:schemeClr val="tx1"/>
                </a:solidFill>
                <a:latin typeface="+mn-lt"/>
                <a:ea typeface="+mn-lt"/>
                <a:cs typeface="+mn-lt"/>
              </a:rPr>
              <a:t>γ</a:t>
            </a:r>
            <a:r>
              <a:rPr sz="1200" b="0" i="0">
                <a:solidFill>
                  <a:schemeClr val="tx1"/>
                </a:solidFill>
                <a:latin typeface="+mn-lt"/>
                <a:ea typeface="+mn-lt"/>
                <a:cs typeface="+mn-lt"/>
              </a:rPr>
              <a:t>）。</a:t>
            </a:r>
            <a:r>
              <a:rPr sz="1200" b="0" i="0">
                <a:solidFill>
                  <a:schemeClr val="tx1"/>
                </a:solidFill>
                <a:latin typeface="+mn-lt"/>
                <a:ea typeface="+mn-lt"/>
                <a:cs typeface="+mn-lt"/>
              </a:rPr>
              <a:t>魏科夫位置通过将给定空间群对称变换下的等价位点映射到单个位点，将一组等价点（轨道）约化为一个点。</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然后之前我想的是老师你提到的</a:t>
            </a:r>
            <a:r>
              <a:t>BPE</a:t>
            </a:r>
            <a:r>
              <a:t>，如果只是单独压缩每个晶体内部的</a:t>
            </a:r>
            <a:r>
              <a:t>position</a:t>
            </a:r>
            <a:r>
              <a:t>表达，这篇文章有提到，所以单个晶体内的表达去压缩可能效果不是很好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MaskGXT</a:t>
            </a:r>
            <a:r>
              <a:t>。它采取了另一条路线：不是先生成一个 </a:t>
            </a:r>
            <a:r>
              <a:t>Wyckoff protostructure</a:t>
            </a:r>
            <a:r>
              <a:t>，再补全几何，而是把整个 </a:t>
            </a:r>
            <a:r>
              <a:t>CSP </a:t>
            </a:r>
            <a:r>
              <a:t>输出离散化为 </a:t>
            </a:r>
            <a:r>
              <a:t>token</a:t>
            </a:r>
            <a:r>
              <a:t>，包括 </a:t>
            </a:r>
            <a:r>
              <a:t>space group</a:t>
            </a:r>
            <a:r>
              <a:t>、</a:t>
            </a:r>
            <a:r>
              <a:t>lattice</a:t>
            </a:r>
            <a:r>
              <a:t>、</a:t>
            </a:r>
            <a:r>
              <a:t>fractional coordinates </a:t>
            </a:r>
            <a:r>
              <a:t>和 </a:t>
            </a:r>
            <a:r>
              <a:t>Wyckoff labels</a:t>
            </a:r>
            <a:r>
              <a:t>。训练时随机 </a:t>
            </a:r>
            <a:r>
              <a:t>mask </a:t>
            </a:r>
            <a:r>
              <a:t>一部分 </a:t>
            </a:r>
            <a:r>
              <a:t>token</a:t>
            </a:r>
            <a:r>
              <a:t>，让双向 </a:t>
            </a:r>
            <a:r>
              <a:t>Transformer </a:t>
            </a:r>
            <a:r>
              <a:t>同时恢复它们；采样时则从 </a:t>
            </a:r>
            <a:r>
              <a:t>fully masked sequence </a:t>
            </a:r>
            <a:r>
              <a:t>开始，逐轮保留高置信度预测，并重新 </a:t>
            </a:r>
            <a:r>
              <a:t>mask </a:t>
            </a:r>
            <a:r>
              <a:t>其余位置。</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DynaCrys</a:t>
            </a:r>
            <a:r>
              <a:t>。过去很多 </a:t>
            </a:r>
            <a:r>
              <a:t>symmetry-aware crystal generator </a:t>
            </a:r>
            <a:r>
              <a:t>会先确定一个空间群，然后在固定空间群下生成 </a:t>
            </a:r>
            <a:r>
              <a:t>Wyckoff positions </a:t>
            </a:r>
            <a:r>
              <a:t>或原子坐标。</a:t>
            </a:r>
            <a:r>
              <a:t>DynaCrys</a:t>
            </a:r>
            <a:r>
              <a:t> </a:t>
            </a:r>
            <a:r>
              <a:t>是把空间群本身也放进 </a:t>
            </a:r>
            <a:r>
              <a:t>diffusion state</a:t>
            </a:r>
            <a:r>
              <a:t>。它首先在 </a:t>
            </a:r>
            <a:r>
              <a:t>symbolic stage </a:t>
            </a:r>
            <a:r>
              <a:t>中联合更新空间群、</a:t>
            </a:r>
            <a:r>
              <a:t>Wyckoff occupations </a:t>
            </a:r>
            <a:r>
              <a:t>和元素，得到 </a:t>
            </a:r>
            <a:r>
              <a:t>protostructure </a:t>
            </a:r>
            <a:r>
              <a:t>之后，再用 </a:t>
            </a:r>
            <a:r>
              <a:t>geometry diffusion </a:t>
            </a:r>
            <a:r>
              <a:t>生成 </a:t>
            </a:r>
            <a:r>
              <a:t>lattice </a:t>
            </a:r>
            <a:r>
              <a:t>和自由 </a:t>
            </a:r>
            <a:r>
              <a:t>Wyckoff coordinates</a:t>
            </a:r>
            <a:r>
              <a:t>。</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还没有想的很清楚，不过就是结合我之前的工作，我看他们现在都是只用</a:t>
            </a:r>
            <a:r>
              <a:t>ehull</a:t>
            </a:r>
            <a:r>
              <a:t>数据库里面的东西直接去说一个</a:t>
            </a:r>
            <a:r>
              <a:t>SUN</a:t>
            </a:r>
            <a:r>
              <a:t>指标，在材料上面来说不是很可靠，而且也都是静态的一个未弛豫的结构，所以我姐和一些资料就想到了</a:t>
            </a:r>
            <a:r>
              <a:t>test-time</a:t>
            </a:r>
            <a:r>
              <a:t> </a:t>
            </a:r>
            <a:r>
              <a:t>scaling</a:t>
            </a:r>
            <a:r>
              <a:t>这种方法，就是边做部分的</a:t>
            </a:r>
            <a:r>
              <a:t>denoising</a:t>
            </a:r>
            <a:r>
              <a:t>一边用快速的</a:t>
            </a:r>
            <a:r>
              <a:t>MLIP</a:t>
            </a:r>
            <a:r>
              <a:t>做能量和声子筛查，不过这块只是个初步设想。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Targeted search current to 2026-09-14. These three papers are the closest examples selected from the fuller survey. No claim of exhaustive prior-art exclusion. LLaMat has Chat/CIF adaptations; NatureLM-Mat3D is separately adapted; ALM Core/Edit/Gen are staged variants.</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LLaMat: A family of large language models for materials research with insights into model adaptability in continued pretraining. Nature Machine Intelligence 8, 435–448 (2026). https://doi.org/10.1038/s42256-026-01199-8 . Methods checked against preprint https://arxiv.org/html/2412.09560v1 §4.1.2, §4.2.1–4.2.3. Journal metadata and preprint methods are distinguished.</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CrystalDLM training organization, not an implemented experiment. A naturally absent target has no supervised label. Randomly masked observed fields do have ground truth. Cross-field learning still needs paired data. Distinguish formation energy, total energy and hull energy, units, computation/measurement conditions, and polymorph identity.</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MultiMat: Multimodal Learning for Materials. https://arxiv.org/html/2312.00111v3 — §IV.2, missing-entry loss masking. Published as Multimodal foundation models for material property prediction and discovery, Newton (2025). Official code https://github.com/vmoro1/multimat . Crystal/text available for every material in the studied dataset; DOS/charge density partially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rock-salt assignment with full occupancy. Conventional fcc cell contains four NaCl formula units; primitive cell contains one. Wyckoff multiplicity is per conventional cell. Letter a is local to the WP table for the specified space group and setting. All listed coordinates are fractional and reduced modulo 1.</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Pnma numerical example is illustrative, not a measured structure. SG139 4e standard representative (0,0,z) at z=.290407 is equivalent to the stored mp-30009 representative (.5,.5,.790407). WP family parameters are fractional coordinates. Changes must avoid special values that change orbit multiplicity.</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examples use standard settings. Site symmetries: SG225 4a m-3m, SG216 4a -43m, SG62 4a -1, SG19 4a 1. SG225 and SG216 4a coordinate sets coincide but their site symmetries differ. SG216 4c fixed (.25,.25,.25) versus SG62 4c (x,.25,z). Shared features may be reused while retaining SG/Hall and WP identity.</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Kazeev et al. Wyckoff Transformer: Generation of Symmetric Crystals. https://arxiv.org/abs/2503.02407v4 . Local prior analysis research/model_comparison.md. Oriented site-symmetry and enumeration require the space-group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codec fields: global space_group/hall_number/operations; nodes with Z, wyckoff_letter, affine stabilizer (operation,image) and dof; edge_tokens as [i,j,g,nx,ny,nz]; geometry with lattice and free_vectors. Site stabilizers explicitly encode allowed representative coordinates and can be derived from WP/setting/representative. The current codec is not a trained LM vocabulary.</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a:p xmlns:a="http://schemas.openxmlformats.org/drawingml/2006/main">
            <a:r>
              <a:t/>
            </a:r>
          </a:p>
          <a:p xmlns:a="http://schemas.openxmlformats.org/drawingml/2006/main">
            <a:r>
              <a:t>Representation prior art: SLICES https://doi.org/10.1038/s41467-023-42870-7 ; SLICES-PLUS https://arxiv.org/abs/2410.22828 ; coGN https://doi.org/10.1039/D4DD00018H . Previously audited in research/notes/ and research/edge_orbit_tokenizer_proposal.md. This supplement does not re-audit every prior-art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Recomputed local example in work/meeting_followup_20260914/example_verified.json. g=16 has R=I and t=(.5,.5,.5). Source Kr q0=(0,0,0), target F representative q1=(.5,.5,.790407), lattice diag(4.383300,4.383300,6.668202) Å. Endpoint (0,0,.290407), separation 1.93649 Å. Seven orbits recover 44 undirected periodic edges, or 88 directed entries after explicit reverse expansion. Grouping sizes [4,16,4,8,2,2,8]. 44/7 is not whole-payload token compression. Fixed abstract connectivity need not remain the same cutoff graph if geometry changes. Multi-step generation remains unimplemented.</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198fca7c1e4f4d" /><Relationship Type="http://schemas.openxmlformats.org/officeDocument/2006/relationships/image" Target="/ppt/media/image.png" Id="R27ed949eb06b43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94cabe31f94cf5" /><Relationship Type="http://schemas.openxmlformats.org/officeDocument/2006/relationships/image" Target="/ppt/media/image2.png" Id="R58c695dee8a247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c9ed8a525d4629" /><Relationship Type="http://schemas.openxmlformats.org/officeDocument/2006/relationships/image" Target="/ppt/media/image3.png" Id="R8ff046cfbab344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a2fa67af76431f" /><Relationship Type="http://schemas.openxmlformats.org/officeDocument/2006/relationships/image" Target="/ppt/media/image3.png" Id="Rd335fee1051d4a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202bcbca334e2d" /><Relationship Type="http://schemas.openxmlformats.org/officeDocument/2006/relationships/image" Target="/ppt/media/image3.png" Id="R366bd4cb6e7445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72a49283dc042dc" /><Relationship Type="http://schemas.openxmlformats.org/officeDocument/2006/relationships/image" Target="/ppt/media/image3.png" Id="R45a3e1f5c19b4a6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45164feefba405f" /><Relationship Type="http://schemas.openxmlformats.org/officeDocument/2006/relationships/image" Target="/ppt/media/image3.png" Id="R69c3391c58e64ec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46311e6bba64f93" /><Relationship Type="http://schemas.openxmlformats.org/officeDocument/2006/relationships/image" Target="/ppt/media/image4.png" Id="Rd2b3a6a9f6de4b2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07706d3150f4995" /></Relationships>
</file>

<file path=ppt/slideLayouts/slideLayout1.xml><?xml version="1.0" encoding="utf-8"?>
<p:sldLayout xmlns:p="http://schemas.openxmlformats.org/presentationml/2006/main" type="secHead" preserve="1">
  <p:cSld name="节标题">
    <p:bg>
      <p:bgPr>
        <a:blipFill xmlns:a="http://schemas.openxmlformats.org/drawingml/2006/main" rotWithShape="1">
          <a:blip xmlns:r="http://schemas.openxmlformats.org/officeDocument/2006/relationships" r:embed="R27ed949eb06b4359">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F5E9A1-8520-5146-239F-0FA97511B65B}"/>
              </a:ext>
            </a:extLst>
          </p:cNvPr>
          <p:cNvSpPr>
            <a:spLocks xmlns:a="http://schemas.openxmlformats.org/drawingml/2006/main" noGrp="1"/>
          </p:cNvSpPr>
          <p:nvPr>
            <p:ph type="title" idx="0" hasCustomPrompt="1"/>
          </p:nvPr>
        </p:nvSpPr>
        <p:spPr>
          <a:xfrm xmlns:a="http://schemas.openxmlformats.org/drawingml/2006/main">
            <a:off x="831850" y="1709738"/>
            <a:ext cx="10515600" cy="2852737"/>
          </a:xfrm>
        </p:spPr>
        <p:txBody>
          <a:bodyPr xmlns:a="http://schemas.openxmlformats.org/drawingml/2006/main" anchor="b">
            <a:normAutofit/>
          </a:bodyPr>
          <a:lstStyle xmlns:a="http://schemas.openxmlformats.org/drawingml/2006/main">
            <a:lvl1pPr>
              <a:buNone/>
              <a:defRPr sz="4800" b="1">
                <a:solidFill>
                  <a:srgbClr val="B60007"/>
                </a:solidFill>
              </a:defRPr>
            </a:lvl1pPr>
          </a:lstStyle>
          <a:p xmlns:a="http://schemas.openxmlformats.org/drawingml/2006/main">
            <a:r>
              <a:t>Presentation Title</a:t>
            </a:r>
          </a:p>
        </p:txBody>
      </p:sp>
      <p:sp>
        <p:nvSpPr>
          <p:cNvPr id="3" name="Text Placeholder 2">
            <a:extLst xmlns:a="http://schemas.openxmlformats.org/drawingml/2006/main">
              <a:ext uri="{FF2B5EF4-FFF2-40B4-BE49-F238E27FC236}">
                <a16:creationId xmlns:a16="http://schemas.microsoft.com/office/drawing/2014/main" id="{4EE82710-E1E4-466F-30AE-69A71966AE2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单击此处编辑母版文本样式</a:t>
            </a:r>
          </a:p>
        </p:txBody>
      </p:sp>
    </p:spTree>
  </p:cSld>
</p:sldLayout>
</file>

<file path=ppt/slideLayouts/slideLayout2.xml><?xml version="1.0" encoding="utf-8"?>
<p:sldLayout xmlns:p="http://schemas.openxmlformats.org/presentationml/2006/main" type="title" preserve="1">
  <p:cSld name="标题幻灯片">
    <p:bg>
      <p:bgPr>
        <a:blipFill xmlns:a="http://schemas.openxmlformats.org/drawingml/2006/main" rotWithShape="1">
          <a:blip xmlns:r="http://schemas.openxmlformats.org/officeDocument/2006/relationships" r:embed="R58c695dee8a247eb">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FA7141-DFF9-E7CA-A95A-620E50267A56}"/>
              </a:ext>
            </a:extLst>
          </p:cNvPr>
          <p:cNvSpPr>
            <a:spLocks xmlns:a="http://schemas.openxmlformats.org/drawingml/2006/main" noGrp="1"/>
          </p:cNvSpPr>
          <p:nvPr>
            <p:ph type="ctrTitle" idx="0" hasCustomPrompt="1"/>
          </p:nvPr>
        </p:nvSpPr>
        <p:spPr>
          <a:xfrm xmlns:a="http://schemas.openxmlformats.org/drawingml/2006/main">
            <a:off x="1524000" y="1122363"/>
            <a:ext cx="9144000" cy="2387600"/>
          </a:xfrm>
        </p:spPr>
        <p:txBody>
          <a:bodyPr xmlns:a="http://schemas.openxmlformats.org/drawingml/2006/main" anchor="b">
            <a:normAutofit/>
          </a:bodyPr>
          <a:lstStyle xmlns:a="http://schemas.openxmlformats.org/drawingml/2006/main">
            <a:lvl1pPr algn="l">
              <a:buNone/>
              <a:defRPr sz="5400" b="1">
                <a:solidFill>
                  <a:srgbClr val="B60007"/>
                </a:solidFill>
              </a:defRPr>
            </a:lvl1pPr>
          </a:lstStyle>
          <a:p xmlns:a="http://schemas.openxmlformats.org/drawingml/2006/main">
            <a:r>
              <a:t>Presentation Title</a:t>
            </a:r>
          </a:p>
        </p:txBody>
      </p:sp>
      <p:sp>
        <p:nvSpPr>
          <p:cNvPr id="3" name="Subtitle 2">
            <a:extLst xmlns:a="http://schemas.openxmlformats.org/drawingml/2006/main">
              <a:ext uri="{FF2B5EF4-FFF2-40B4-BE49-F238E27FC236}">
                <a16:creationId xmlns:a16="http://schemas.microsoft.com/office/drawing/2014/main" id="{05641A52-A17E-07B5-1692-6E5DC631A28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endParaRPr/>
          </a:p>
        </p:txBody>
      </p:sp>
    </p:spTree>
  </p:cSld>
</p:sldLayout>
</file>

<file path=ppt/slideLayouts/slideLayout3.xml><?xml version="1.0" encoding="utf-8"?>
<p:sldLayout xmlns:p="http://schemas.openxmlformats.org/presentationml/2006/main" type="obj" preserve="1">
  <p:cSld name="标题和内容">
    <p:bg>
      <p:bgPr>
        <a:blipFill xmlns:a="http://schemas.openxmlformats.org/drawingml/2006/main" rotWithShape="1">
          <a:blip xmlns:r="http://schemas.openxmlformats.org/officeDocument/2006/relationships" r:embed="R8ff046cfbab344b7">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79DD4F-0AF3-F7C8-6C26-A700CF76F533}"/>
              </a:ext>
            </a:extLst>
          </p:cNvPr>
          <p:cNvSpPr>
            <a:spLocks xmlns:a="http://schemas.openxmlformats.org/drawingml/2006/main" noGrp="1"/>
          </p:cNvSpPr>
          <p:nvPr>
            <p:ph type="title" idx="0"/>
          </p:nvPr>
        </p:nvSpPr>
        <p:spPr>
          <a:xfrm xmlns:a="http://schemas.openxmlformats.org/drawingml/2006/main">
            <a:off x="838200" y="365125"/>
            <a:ext cx="8417312" cy="1325563"/>
          </a:xfrm>
        </p:spPr>
        <p:txBody>
          <a:bodyPr xmlns:a="http://schemas.openxmlformats.org/drawingml/2006/main"/>
          <a:lstStyle xmlns:a="http://schemas.openxmlformats.org/drawingml/2006/main">
            <a:lvl1pPr>
              <a:buNone/>
              <a:defRPr b="1">
                <a:solidFill>
                  <a:srgbClr val="B60007"/>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A187A4B2-E3CB-CD7E-B61C-DB90D5C43BB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Slide Number Placeholder 3">
            <a:extLst xmlns:a="http://schemas.openxmlformats.org/drawingml/2006/main">
              <a:ext uri="{FF2B5EF4-FFF2-40B4-BE49-F238E27FC236}">
                <a16:creationId xmlns:a16="http://schemas.microsoft.com/office/drawing/2014/main" id="{5A500D57-1613-E8EB-F6FF-C1AF5144441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slideLayout4.xml><?xml version="1.0" encoding="utf-8"?>
<p:sldLayout xmlns:p="http://schemas.openxmlformats.org/presentationml/2006/main" type="twoObj" preserve="1">
  <p:cSld name="两栏内容">
    <p:bg>
      <p:bgPr>
        <a:blipFill xmlns:a="http://schemas.openxmlformats.org/drawingml/2006/main" rotWithShape="1">
          <a:blip xmlns:r="http://schemas.openxmlformats.org/officeDocument/2006/relationships" r:embed="Rd335fee1051d4a53">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2CBD4C-653E-6CF0-91A1-8D087DAE2717}"/>
              </a:ext>
            </a:extLst>
          </p:cNvPr>
          <p:cNvSpPr>
            <a:spLocks xmlns:a="http://schemas.openxmlformats.org/drawingml/2006/main" noGrp="1"/>
          </p:cNvSpPr>
          <p:nvPr>
            <p:ph type="title" idx="0"/>
          </p:nvPr>
        </p:nvSpPr>
        <p:spPr>
          <a:xfrm xmlns:a="http://schemas.openxmlformats.org/drawingml/2006/main">
            <a:off x="838201" y="365125"/>
            <a:ext cx="8406160" cy="1325563"/>
          </a:xfrm>
        </p:spPr>
        <p:txBody>
          <a:bodyPr xmlns:a="http://schemas.openxmlformats.org/drawingml/2006/main"/>
          <a:lstStyle xmlns:a="http://schemas.openxmlformats.org/drawingml/2006/main">
            <a:lvl1pPr>
              <a:buNone/>
              <a:defRPr b="1">
                <a:solidFill>
                  <a:srgbClr val="B60007"/>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26605617-0FE6-1513-7E9C-B0470E5FC505}"/>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Content Placeholder 3">
            <a:extLst xmlns:a="http://schemas.openxmlformats.org/drawingml/2006/main">
              <a:ext uri="{FF2B5EF4-FFF2-40B4-BE49-F238E27FC236}">
                <a16:creationId xmlns:a16="http://schemas.microsoft.com/office/drawing/2014/main" id="{00B2526F-CC14-905B-B4F8-3DA58013D78A}"/>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5" name="Slide Number Placeholder 3">
            <a:extLst xmlns:a="http://schemas.openxmlformats.org/drawingml/2006/main">
              <a:ext uri="{FF2B5EF4-FFF2-40B4-BE49-F238E27FC236}">
                <a16:creationId xmlns:a16="http://schemas.microsoft.com/office/drawing/2014/main" id="{671BA4A5-63AD-67A0-D23D-D9DF7698117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slideLayout5.xml><?xml version="1.0" encoding="utf-8"?>
<p:sldLayout xmlns:p="http://schemas.openxmlformats.org/presentationml/2006/main" type="blank" preserve="1">
  <p:cSld name="空白">
    <p:bg>
      <p:bgPr>
        <a:blipFill xmlns:a="http://schemas.openxmlformats.org/drawingml/2006/main" rotWithShape="1">
          <a:blip xmlns:r="http://schemas.openxmlformats.org/officeDocument/2006/relationships" r:embed="R366bd4cb6e744573">
            <a:lum/>
          </a:blip>
          <a:srcRect l="0" t="0" r="0" b="0"/>
          <a:stretch>
            <a:fillRect l="0" t="0" r="0" b="0"/>
          </a:stretch>
        </a:blipFill>
      </p:bgPr>
    </p:bg>
    <p:spTree>
      <p:nvGrpSpPr>
        <p:cNvPr id="1" name=""/>
        <p:cNvGrpSpPr/>
        <p:nvPr/>
      </p:nvGrpSpPr>
      <p:grpSpPr>
        <a:xfrm xmlns:a="http://schemas.openxmlformats.org/drawingml/2006/main"/>
      </p:grpSpPr>
      <p:sp>
        <p:nvSpPr>
          <p:cNvPr id="2" name="Slide Number Placeholder 3">
            <a:extLst xmlns:a="http://schemas.openxmlformats.org/drawingml/2006/main">
              <a:ext uri="{FF2B5EF4-FFF2-40B4-BE49-F238E27FC236}">
                <a16:creationId xmlns:a16="http://schemas.microsoft.com/office/drawing/2014/main" id="{9CC3666C-BC10-00D8-077D-FD477333DF2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slideLayout6.xml><?xml version="1.0" encoding="utf-8"?>
<p:sldLayout xmlns:p="http://schemas.openxmlformats.org/presentationml/2006/main" type="objTx" preserve="1">
  <p:cSld name="内容与标题">
    <p:bg>
      <p:bgPr>
        <a:blipFill xmlns:a="http://schemas.openxmlformats.org/drawingml/2006/main" rotWithShape="1">
          <a:blip xmlns:r="http://schemas.openxmlformats.org/officeDocument/2006/relationships" r:embed="R45a3e1f5c19b4a63">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1AA3B4-DA5B-C327-0769-E9EBF774653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1EE14E74-BCFC-0E95-9CE3-070A751A14FA}"/>
              </a:ext>
            </a:extLst>
          </p:cNvPr>
          <p:cNvSpPr>
            <a:spLocks xmlns:a="http://schemas.openxmlformats.org/drawingml/2006/main" noGrp="1"/>
          </p:cNvSpPr>
          <p:nvPr>
            <p:ph idx="1"/>
          </p:nvPr>
        </p:nvSpPr>
        <p:spPr>
          <a:xfrm xmlns:a="http://schemas.openxmlformats.org/drawingml/2006/main">
            <a:off x="5183188" y="2049462"/>
            <a:ext cx="6172200" cy="3811588"/>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Text Placeholder 3">
            <a:extLst xmlns:a="http://schemas.openxmlformats.org/drawingml/2006/main">
              <a:ext uri="{FF2B5EF4-FFF2-40B4-BE49-F238E27FC236}">
                <a16:creationId xmlns:a16="http://schemas.microsoft.com/office/drawing/2014/main" id="{6D5A0A65-1AC3-F886-E086-2AEEE968DBED}"/>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Slide Number Placeholder 3">
            <a:extLst xmlns:a="http://schemas.openxmlformats.org/drawingml/2006/main">
              <a:ext uri="{FF2B5EF4-FFF2-40B4-BE49-F238E27FC236}">
                <a16:creationId xmlns:a16="http://schemas.microsoft.com/office/drawing/2014/main" id="{77BFCB75-E804-30AC-684E-DAF9F69EB3F5}"/>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slideLayout7.xml><?xml version="1.0" encoding="utf-8"?>
<p:sldLayout xmlns:p="http://schemas.openxmlformats.org/presentationml/2006/main" type="picTx" preserve="1">
  <p:cSld name="图片与标题">
    <p:bg>
      <p:bgPr>
        <a:blipFill xmlns:a="http://schemas.openxmlformats.org/drawingml/2006/main" rotWithShape="1">
          <a:blip xmlns:r="http://schemas.openxmlformats.org/officeDocument/2006/relationships" r:embed="R69c3391c58e64ec2">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B70E19-8461-6D1B-3777-F2ACE03D8BB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Picture Placeholder 2">
            <a:extLst xmlns:a="http://schemas.openxmlformats.org/drawingml/2006/main">
              <a:ext uri="{FF2B5EF4-FFF2-40B4-BE49-F238E27FC236}">
                <a16:creationId xmlns:a16="http://schemas.microsoft.com/office/drawing/2014/main" id="{7A434AD4-9470-24F9-D1C7-747B24E3E881}"/>
              </a:ext>
            </a:extLst>
          </p:cNvPr>
          <p:cNvSpPr>
            <a:spLocks xmlns:a="http://schemas.openxmlformats.org/drawingml/2006/main" noGrp="1"/>
          </p:cNvSpPr>
          <p:nvPr>
            <p:ph type="pic" idx="1"/>
          </p:nvPr>
        </p:nvSpPr>
        <p:spPr>
          <a:xfrm xmlns:a="http://schemas.openxmlformats.org/drawingml/2006/main">
            <a:off x="5183188" y="2049462"/>
            <a:ext cx="6172200" cy="3811588"/>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单击图标添加图片</a:t>
            </a:r>
            <a:endParaRPr/>
          </a:p>
        </p:txBody>
      </p:sp>
      <p:sp>
        <p:nvSpPr>
          <p:cNvPr id="4" name="Text Placeholder 3">
            <a:extLst xmlns:a="http://schemas.openxmlformats.org/drawingml/2006/main">
              <a:ext uri="{FF2B5EF4-FFF2-40B4-BE49-F238E27FC236}">
                <a16:creationId xmlns:a16="http://schemas.microsoft.com/office/drawing/2014/main" id="{EA022BA7-4769-04C9-C7FE-7359DD5A502B}"/>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Slide Number Placeholder 3">
            <a:extLst xmlns:a="http://schemas.openxmlformats.org/drawingml/2006/main">
              <a:ext uri="{FF2B5EF4-FFF2-40B4-BE49-F238E27FC236}">
                <a16:creationId xmlns:a16="http://schemas.microsoft.com/office/drawing/2014/main" id="{83EE5AD8-D3BB-0D57-A7AB-DE64EEB013D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slideLayout8.xml><?xml version="1.0" encoding="utf-8"?>
<p:sldLayout xmlns:p="http://schemas.openxmlformats.org/presentationml/2006/main" preserve="1" userDrawn="1">
  <p:cSld name="自定义版式">
    <p:bg>
      <p:bgPr>
        <a:blipFill xmlns:a="http://schemas.openxmlformats.org/drawingml/2006/main" rotWithShape="1">
          <a:blip xmlns:r="http://schemas.openxmlformats.org/officeDocument/2006/relationships" r:embed="Rd2b3a6a9f6de4b29">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004289-8E53-FEC4-517B-14893B0C0BBC}"/>
              </a:ext>
            </a:extLst>
          </p:cNvPr>
          <p:cNvSpPr>
            <a:spLocks xmlns:a="http://schemas.openxmlformats.org/drawingml/2006/main" noGrp="1"/>
          </p:cNvSpPr>
          <p:nvPr>
            <p:ph type="title" idx="0" hasCustomPrompt="1"/>
          </p:nvPr>
        </p:nvSpPr>
        <p:spPr>
          <a:xfrm xmlns:a="http://schemas.openxmlformats.org/drawingml/2006/main">
            <a:off x="838200" y="2743849"/>
            <a:ext cx="10515600" cy="1095508"/>
          </a:xfrm>
        </p:spPr>
        <p:txBody>
          <a:bodyPr xmlns:a="http://schemas.openxmlformats.org/drawingml/2006/main"/>
          <a:lstStyle xmlns:a="http://schemas.openxmlformats.org/drawingml/2006/main">
            <a:lvl1pPr algn="ctr">
              <a:buNone/>
              <a:defRPr/>
            </a:lvl1pPr>
          </a:lstStyle>
          <a:p xmlns:a="http://schemas.openxmlformats.org/drawingml/2006/main">
            <a:r>
              <a:t>Thank you!</a:t>
            </a:r>
          </a:p>
        </p:txBody>
      </p:sp>
    </p:spTree>
  </p:cSld>
</p:sldLayout>
</file>

<file path=ppt/slideLayouts/slideLayout9.xml><?xml version="1.0" encoding="utf-8"?>
<p:sldLayout xmlns:p="http://schemas.openxmlformats.org/presentationml/2006/main" preserve="1" userDrawn="1">
  <p:cSld name="1_Custom Layou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95A5D8-C6CA-3BB5-2670-321D6742C2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a8de8005944c2d" /><Relationship Type="http://schemas.openxmlformats.org/officeDocument/2006/relationships/slideLayout" Target="/ppt/slideLayouts/slideLayout1.xml" Id="Ra1691a4cc093429e" /><Relationship Type="http://schemas.openxmlformats.org/officeDocument/2006/relationships/slideLayout" Target="/ppt/slideLayouts/slideLayout2.xml" Id="R5973f6e10abb4011" /><Relationship Type="http://schemas.openxmlformats.org/officeDocument/2006/relationships/slideLayout" Target="/ppt/slideLayouts/slideLayout3.xml" Id="R94ba0bf74b904fce" /><Relationship Type="http://schemas.openxmlformats.org/officeDocument/2006/relationships/slideLayout" Target="/ppt/slideLayouts/slideLayout4.xml" Id="R999db81e86744560" /><Relationship Type="http://schemas.openxmlformats.org/officeDocument/2006/relationships/slideLayout" Target="/ppt/slideLayouts/slideLayout5.xml" Id="R31840400aeb74c8a" /><Relationship Type="http://schemas.openxmlformats.org/officeDocument/2006/relationships/slideLayout" Target="/ppt/slideLayouts/slideLayout6.xml" Id="R42270d1aa1994d3f" /><Relationship Type="http://schemas.openxmlformats.org/officeDocument/2006/relationships/slideLayout" Target="/ppt/slideLayouts/slideLayout7.xml" Id="R986c792cb24c4f6e" /><Relationship Type="http://schemas.openxmlformats.org/officeDocument/2006/relationships/slideLayout" Target="/ppt/slideLayouts/slideLayout8.xml" Id="R0ce300e664fa4d2e" /><Relationship Type="http://schemas.openxmlformats.org/officeDocument/2006/relationships/slideLayout" Target="/ppt/slideLayouts/slideLayout9.xml" Id="R51643f947669481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DF015CB-7E28-AD44-692E-F693A876D62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endParaRPr/>
          </a:p>
        </p:txBody>
      </p:sp>
      <p:sp>
        <p:nvSpPr>
          <p:cNvPr id="3" name="Text Placeholder 2">
            <a:extLst xmlns:a="http://schemas.openxmlformats.org/drawingml/2006/main">
              <a:ext uri="{FF2B5EF4-FFF2-40B4-BE49-F238E27FC236}">
                <a16:creationId xmlns:a16="http://schemas.microsoft.com/office/drawing/2014/main" id="{D2C282AF-0EB8-0195-21FA-E6FCC6AC556F}"/>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Slide Number Placeholder 3">
            <a:extLst xmlns:a="http://schemas.openxmlformats.org/drawingml/2006/main">
              <a:ext uri="{FF2B5EF4-FFF2-40B4-BE49-F238E27FC236}">
                <a16:creationId xmlns:a16="http://schemas.microsoft.com/office/drawing/2014/main" id="{58346745-5357-82A3-9FDC-B99ED6417827}"/>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691a4cc093429e"/>
    <p:sldLayoutId xmlns:r="http://schemas.openxmlformats.org/officeDocument/2006/relationships" id="2147483650" r:id="R5973f6e10abb4011"/>
    <p:sldLayoutId xmlns:r="http://schemas.openxmlformats.org/officeDocument/2006/relationships" id="2147483651" r:id="R94ba0bf74b904fce"/>
    <p:sldLayoutId xmlns:r="http://schemas.openxmlformats.org/officeDocument/2006/relationships" id="2147483652" r:id="R999db81e86744560"/>
    <p:sldLayoutId xmlns:r="http://schemas.openxmlformats.org/officeDocument/2006/relationships" id="2147483653" r:id="R31840400aeb74c8a"/>
    <p:sldLayoutId xmlns:r="http://schemas.openxmlformats.org/officeDocument/2006/relationships" id="2147483654" r:id="R42270d1aa1994d3f"/>
    <p:sldLayoutId xmlns:r="http://schemas.openxmlformats.org/officeDocument/2006/relationships" id="2147483655" r:id="R986c792cb24c4f6e"/>
    <p:sldLayoutId xmlns:r="http://schemas.openxmlformats.org/officeDocument/2006/relationships" id="2147483656" r:id="R0ce300e664fa4d2e"/>
    <p:sldLayoutId xmlns:r="http://schemas.openxmlformats.org/officeDocument/2006/relationships" id="2147483657" r:id="R51643f9476694814"/>
  </p:sldLayoutIdLst>
  <p:hf hdr="0" ftr="0" dt="0"/>
  <p:txStyles>
    <p:titleStyle>
      <a:lvl1pPr xmlns:a="http://schemas.openxmlformats.org/drawingml/2006/main" algn="l" defTabSz="914400">
        <a:lnSpc>
          <a:spcPct val="90000"/>
        </a:lnSpc>
        <a:spcBef>
          <a:spcPct val="0"/>
        </a:spcBef>
        <a:buNone/>
        <a:defRPr sz="4400" b="1" kern="1200">
          <a:solidFill>
            <a:srgbClr val="B60007"/>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db6ede32994365" /><Relationship Type="http://schemas.openxmlformats.org/officeDocument/2006/relationships/notesSlide" Target="/ppt/notesSlides/notesSlide1.xml" Id="R7e087c03e39045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9.xml" Id="Ra6a8c1740b8d42a5" /><Relationship Type="http://schemas.openxmlformats.org/officeDocument/2006/relationships/notesSlide" Target="/ppt/notesSlides/notesSlide2.xml" Id="Rf9faf3ea88fe46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39f327307c5a430d" /><Relationship Type="http://schemas.openxmlformats.org/officeDocument/2006/relationships/notesSlide" Target="/ppt/notesSlides/notesSlide3.xml" Id="R1df4ae717b2c4e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9.xml" Id="Rc14b2721b32e4574" /><Relationship Type="http://schemas.openxmlformats.org/officeDocument/2006/relationships/image" Target="/ppt/media/image5.png" Id="Rad350ed44615435a" /><Relationship Type="http://schemas.openxmlformats.org/officeDocument/2006/relationships/image" Target="/ppt/media/image6.png" Id="Rdcac7629ac9c4a7d" /><Relationship Type="http://schemas.openxmlformats.org/officeDocument/2006/relationships/notesSlide" Target="/ppt/notesSlides/notesSlide4.xml" Id="R3a740fc4be3e45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abbc70feb7fc4a55" /><Relationship Type="http://schemas.openxmlformats.org/officeDocument/2006/relationships/image" Target="/ppt/media/image7.png" Id="R32ac8e97d8d24768" /><Relationship Type="http://schemas.openxmlformats.org/officeDocument/2006/relationships/hyperlink" Target="https://doi.org/10.48550/arXiv.2503.02407" TargetMode="External" Id="Rdc80e01fcdbe4cbe" /><Relationship Type="http://schemas.openxmlformats.org/officeDocument/2006/relationships/image" Target="/ppt/media/image8.png" Id="R9cb3188027e141f0" /><Relationship Type="http://schemas.openxmlformats.org/officeDocument/2006/relationships/notesSlide" Target="/ppt/notesSlides/notesSlide5.xml" Id="Rc11564e40e7c49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0cd39b6e25764e6c" /><Relationship Type="http://schemas.openxmlformats.org/officeDocument/2006/relationships/hyperlink" Target="https://doi.org/10.48550/arXiv.2606.22866" TargetMode="External" Id="Rd946fc06b27548b5" /><Relationship Type="http://schemas.openxmlformats.org/officeDocument/2006/relationships/image" Target="/ppt/media/image9.png" Id="R3fb77465e32b465e" /><Relationship Type="http://schemas.openxmlformats.org/officeDocument/2006/relationships/notesSlide" Target="/ppt/notesSlides/notesSlide6.xml" Id="R10ff47f6d22e48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71edd98a5cb240a8" /><Relationship Type="http://schemas.openxmlformats.org/officeDocument/2006/relationships/image" Target="/ppt/media/image10.png" Id="Rf9b7ebd5c7fd407e" /><Relationship Type="http://schemas.openxmlformats.org/officeDocument/2006/relationships/hyperlink" Target="https://doi.org/10.48550/arXiv.2608.07401" TargetMode="External" Id="R168b91dd5bfb40ef" /><Relationship Type="http://schemas.openxmlformats.org/officeDocument/2006/relationships/notesSlide" Target="/ppt/notesSlides/notesSlide7.xml" Id="Red7db8365ade4c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72184977d68340fd" /><Relationship Type="http://schemas.openxmlformats.org/officeDocument/2006/relationships/notesSlide" Target="/ppt/notesSlides/notesSlide8.xml" Id="Rd0e5315fcad64a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291c99d8fc764e70" /><Relationship Type="http://schemas.openxmlformats.org/officeDocument/2006/relationships/notesSlide" Target="/ppt/notesSlides/notesSlide9.xml" Id="R0bcb64e7725745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8eebbcc4348449a4" /><Relationship Type="http://schemas.openxmlformats.org/officeDocument/2006/relationships/image" Target="/ppt/media/image7.png" Id="R390e89fe89cc4d3f" /><Relationship Type="http://schemas.openxmlformats.org/officeDocument/2006/relationships/notesSlide" Target="/ppt/notesSlides/notesSlide10.xml" Id="Rcc54120a4e7a4a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9c863a185a3c40a3" /><Relationship Type="http://schemas.openxmlformats.org/officeDocument/2006/relationships/notesSlide" Target="/ppt/notesSlides/notesSlide11.xml" Id="Red50e87db98b4f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0a1e92b5570b4fef" /><Relationship Type="http://schemas.openxmlformats.org/officeDocument/2006/relationships/image" Target="/ppt/media/image11.png" Id="Re128d40f0f5e4830" /><Relationship Type="http://schemas.openxmlformats.org/officeDocument/2006/relationships/notesSlide" Target="/ppt/notesSlides/notesSlide12.xml" Id="Rdf605ee8a9bb4e9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cb38e8b288f04d06" /><Relationship Type="http://schemas.openxmlformats.org/officeDocument/2006/relationships/notesSlide" Target="/ppt/notesSlides/notesSlide13.xml" Id="R0a2d91f0775a4c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31bf95f5c0184577" /><Relationship Type="http://schemas.openxmlformats.org/officeDocument/2006/relationships/notesSlide" Target="/ppt/notesSlides/notesSlide14.xml" Id="R87fbb9c329b54b9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e9a51826f52b4307" /><Relationship Type="http://schemas.openxmlformats.org/officeDocument/2006/relationships/notesSlide" Target="/ppt/notesSlides/notesSlide15.xml" Id="R832c62fc8c0d4e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e3a78315e6a47e3" /><Relationship Type="http://schemas.openxmlformats.org/officeDocument/2006/relationships/notesSlide" Target="/ppt/notesSlides/notesSlide16.xml" Id="R4bc5ad1d7b314b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a3b1e639c314872" /><Relationship Type="http://schemas.openxmlformats.org/officeDocument/2006/relationships/notesSlide" Target="/ppt/notesSlides/notesSlide17.xml" Id="R570c5781c5f54a5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7131b8ea66b4791" /><Relationship Type="http://schemas.openxmlformats.org/officeDocument/2006/relationships/notesSlide" Target="/ppt/notesSlides/notesSlide18.xml" Id="R5e67ed2098b845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5f26dd8f745458b" /><Relationship Type="http://schemas.openxmlformats.org/officeDocument/2006/relationships/notesSlide" Target="/ppt/notesSlides/notesSlide19.xml" Id="R5111415f9ef242b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aed4d29bb5f4160" /><Relationship Type="http://schemas.openxmlformats.org/officeDocument/2006/relationships/notesSlide" Target="/ppt/notesSlides/notesSlide20.xml" Id="Ra77b6f6a2e6c46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7c45aac10004b2c" /><Relationship Type="http://schemas.openxmlformats.org/officeDocument/2006/relationships/notesSlide" Target="/ppt/notesSlides/notesSlide21.xml" Id="R9075d7e4401449c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ecdbe0b9328408b" /><Relationship Type="http://schemas.openxmlformats.org/officeDocument/2006/relationships/notesSlide" Target="/ppt/notesSlides/notesSlide22.xml" Id="R8edc66a9868c464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EBBDD9-47B9-1E29-1F69-D68D76EB69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Crystal</a:t>
            </a:r>
            <a:r>
              <a:t> </a:t>
            </a:r>
            <a:r>
              <a:t>DLM</a:t>
            </a:r>
            <a:endParaRPr/>
          </a:p>
        </p:txBody>
      </p:sp>
      <p:sp>
        <p:nvSpPr>
          <p:cNvPr id="3" name="Text Placeholder 2">
            <a:extLst xmlns:a="http://schemas.openxmlformats.org/drawingml/2006/main">
              <a:ext uri="{FF2B5EF4-FFF2-40B4-BE49-F238E27FC236}">
                <a16:creationId xmlns:a16="http://schemas.microsoft.com/office/drawing/2014/main" id="{18055D2C-AD5F-2E5F-6EEF-3150641E6582}"/>
              </a:ext>
            </a:extLst>
          </p:cNvPr>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33161798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标题 3">
            <a:extLst xmlns:a="http://schemas.openxmlformats.org/drawingml/2006/main">
              <a:ext uri="{FF2B5EF4-FFF2-40B4-BE49-F238E27FC236}">
                <a16:creationId xmlns:a16="http://schemas.microsoft.com/office/drawing/2014/main" id="{A777ECE8-A9E2-F178-9F8F-A812B4821D3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Outline</a:t>
            </a:r>
            <a:endParaRPr/>
          </a:p>
        </p:txBody>
      </p:sp>
      <p:sp>
        <p:nvSpPr>
          <p:cNvPr id="5" name="文本框 4">
            <a:extLst xmlns:a="http://schemas.openxmlformats.org/drawingml/2006/main">
              <a:ext uri="{FF2B5EF4-FFF2-40B4-BE49-F238E27FC236}">
                <a16:creationId xmlns:a16="http://schemas.microsoft.com/office/drawing/2014/main" id="{7E0DFF2B-97B4-A635-BBE6-108C62A7D604}"/>
              </a:ext>
            </a:extLst>
          </p:cNvPr>
          <p:cNvSpPr>
            <a:spLocks xmlns:a="http://schemas.openxmlformats.org/drawingml/2006/main" noGrp="1"/>
          </p:cNvSpPr>
          <p:nvPr/>
        </p:nvSpPr>
        <p:spPr>
          <a:xfrm xmlns:a="http://schemas.openxmlformats.org/drawingml/2006/main">
            <a:off x="4327452" y="2505117"/>
            <a:ext cx="2909771" cy="2677656"/>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marL="342900" indent="-342900">
              <a:buFont typeface="Arial"/>
              <a:buChar char="•"/>
            </a:pPr>
            <a:r>
              <a:rPr sz="2400"/>
              <a:t>Related</a:t>
            </a:r>
            <a:r>
              <a:rPr sz="2400"/>
              <a:t> </a:t>
            </a:r>
            <a:r>
              <a:rPr sz="2400"/>
              <a:t>Work</a:t>
            </a:r>
          </a:p>
          <a:p xmlns:a="http://schemas.openxmlformats.org/drawingml/2006/main">
            <a:pPr marL="342900" indent="-342900">
              <a:lnSpc>
                <a:spcPct val="250000"/>
              </a:lnSpc>
              <a:buFont typeface="Arial"/>
              <a:buChar char="•"/>
            </a:pPr>
            <a:r>
              <a:rPr sz="2400"/>
              <a:t>BPE</a:t>
            </a:r>
          </a:p>
          <a:p xmlns:a="http://schemas.openxmlformats.org/drawingml/2006/main">
            <a:pPr marL="342900" indent="-342900">
              <a:lnSpc>
                <a:spcPct val="250000"/>
              </a:lnSpc>
              <a:buFont typeface="Arial"/>
              <a:buChar char="•"/>
            </a:pPr>
            <a:r>
              <a:rPr sz="2400"/>
              <a:t>What we can do?</a:t>
            </a:r>
          </a:p>
          <a:p xmlns:a="http://schemas.openxmlformats.org/drawingml/2006/main">
            <a:pPr marL="342900" indent="-342900">
              <a:buFont typeface="Arial"/>
              <a:buChar char="•"/>
            </a:pPr>
            <a:endParaRPr sz="2400"/>
          </a:p>
        </p:txBody>
      </p:sp>
    </p:spTree>
    <p:extLst>
      <p:ext uri="{BB962C8B-B14F-4D97-AF65-F5344CB8AC3E}">
        <p14:creationId xmlns:p14="http://schemas.microsoft.com/office/powerpoint/2010/main" val="206976823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618D321-4442-C978-4B85-4C3E40CDB59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Our</a:t>
            </a:r>
            <a:r>
              <a:t> </a:t>
            </a:r>
            <a:r>
              <a:t>work</a:t>
            </a:r>
            <a:endParaRPr/>
          </a:p>
        </p:txBody>
      </p:sp>
      <p:sp>
        <p:nvSpPr>
          <p:cNvPr id="4" name="文本框 3">
            <a:extLst xmlns:a="http://schemas.openxmlformats.org/drawingml/2006/main">
              <a:ext uri="{FF2B5EF4-FFF2-40B4-BE49-F238E27FC236}">
                <a16:creationId xmlns:a16="http://schemas.microsoft.com/office/drawing/2014/main" id="{4D436626-E804-5470-1331-6111285AC0DB}"/>
              </a:ext>
            </a:extLst>
          </p:cNvPr>
          <p:cNvSpPr>
            <a:spLocks xmlns:a="http://schemas.openxmlformats.org/drawingml/2006/main" noGrp="1"/>
          </p:cNvSpPr>
          <p:nvPr/>
        </p:nvSpPr>
        <p:spPr>
          <a:xfrm xmlns:a="http://schemas.openxmlformats.org/drawingml/2006/main">
            <a:off x="540541" y="1872556"/>
            <a:ext cx="5248275" cy="397031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b="1">
                <a:latin typeface="+mj-lt"/>
                <a:ea typeface="+mj-lt"/>
                <a:cs typeface="+mj-lt"/>
              </a:rPr>
              <a:t>Orbit identity</a:t>
            </a:r>
            <a:r>
              <a:rPr b="1">
                <a:latin typeface="+mj-lt"/>
                <a:ea typeface="+mj-lt"/>
                <a:cs typeface="+mj-lt"/>
              </a:rPr>
              <a:t>：什么时候两个 </a:t>
            </a:r>
            <a:r>
              <a:rPr b="1">
                <a:latin typeface="+mj-lt"/>
                <a:ea typeface="+mj-lt"/>
                <a:cs typeface="+mj-lt"/>
              </a:rPr>
              <a:t>orbit </a:t>
            </a:r>
            <a:r>
              <a:rPr b="1">
                <a:latin typeface="+mj-lt"/>
                <a:ea typeface="+mj-lt"/>
                <a:cs typeface="+mj-lt"/>
              </a:rPr>
              <a:t>是同一个 </a:t>
            </a:r>
            <a:r>
              <a:rPr b="1">
                <a:latin typeface="+mj-lt"/>
                <a:ea typeface="+mj-lt"/>
                <a:cs typeface="+mj-lt"/>
              </a:rPr>
              <a:t>token</a:t>
            </a:r>
            <a:r>
              <a:rPr b="1">
                <a:latin typeface="+mj-lt"/>
                <a:ea typeface="+mj-lt"/>
                <a:cs typeface="+mj-lt"/>
              </a:rPr>
              <a:t>？</a:t>
            </a:r>
          </a:p>
          <a:p xmlns:a="http://schemas.openxmlformats.org/drawingml/2006/main">
            <a:pPr>
              <a:buNone/>
            </a:pPr>
            <a:endParaRPr>
              <a:latin typeface="+mj-lt"/>
              <a:ea typeface="+mj-lt"/>
              <a:cs typeface="+mj-lt"/>
            </a:endParaRPr>
          </a:p>
          <a:p xmlns:a="http://schemas.openxmlformats.org/drawingml/2006/main">
            <a:pPr>
              <a:buNone/>
            </a:pPr>
            <a:r>
              <a:rPr>
                <a:latin typeface="+mj-lt"/>
                <a:ea typeface="+mj-lt"/>
                <a:cs typeface="+mj-lt"/>
              </a:rPr>
              <a:t>直接使用“空间群编号 </a:t>
            </a:r>
            <a:r>
              <a:rPr>
                <a:latin typeface="+mj-lt"/>
                <a:ea typeface="+mj-lt"/>
                <a:cs typeface="+mj-lt"/>
              </a:rPr>
              <a:t>+ Wyckoff letter”</a:t>
            </a:r>
            <a:r>
              <a:rPr>
                <a:latin typeface="+mj-lt"/>
                <a:ea typeface="+mj-lt"/>
                <a:cs typeface="+mj-lt"/>
              </a:rPr>
              <a:t>会造成严重的数据碎片化，因为每个空间群都有自己的 </a:t>
            </a:r>
            <a:r>
              <a:rPr>
                <a:latin typeface="+mj-lt"/>
                <a:ea typeface="+mj-lt"/>
                <a:cs typeface="+mj-lt"/>
              </a:rPr>
              <a:t>a</a:t>
            </a:r>
            <a:r>
              <a:rPr>
                <a:latin typeface="+mj-lt"/>
                <a:ea typeface="+mj-lt"/>
                <a:cs typeface="+mj-lt"/>
              </a:rPr>
              <a:t>、</a:t>
            </a:r>
            <a:r>
              <a:rPr>
                <a:latin typeface="+mj-lt"/>
                <a:ea typeface="+mj-lt"/>
                <a:cs typeface="+mj-lt"/>
              </a:rPr>
              <a:t>b</a:t>
            </a:r>
            <a:r>
              <a:rPr>
                <a:latin typeface="+mj-lt"/>
                <a:ea typeface="+mj-lt"/>
                <a:cs typeface="+mj-lt"/>
              </a:rPr>
              <a:t>、</a:t>
            </a:r>
            <a:r>
              <a:rPr>
                <a:latin typeface="+mj-lt"/>
                <a:ea typeface="+mj-lt"/>
                <a:cs typeface="+mj-lt"/>
              </a:rPr>
              <a:t>c</a:t>
            </a:r>
            <a:r>
              <a:rPr>
                <a:latin typeface="+mj-lt"/>
                <a:ea typeface="+mj-lt"/>
                <a:cs typeface="+mj-lt"/>
              </a:rPr>
              <a:t>；同样的几何或对称形式可能出现在多个空间群中。</a:t>
            </a:r>
            <a:endParaRPr>
              <a:latin typeface="+mj-lt"/>
              <a:ea typeface="+mj-lt"/>
              <a:cs typeface="+mj-lt"/>
            </a:endParaRPr>
          </a:p>
          <a:p xmlns:a="http://schemas.openxmlformats.org/drawingml/2006/main">
            <a:pPr>
              <a:buNone/>
            </a:pPr>
            <a:endParaRPr>
              <a:latin typeface="+mj-lt"/>
              <a:ea typeface="+mj-lt"/>
              <a:cs typeface="+mj-lt"/>
            </a:endParaRPr>
          </a:p>
          <a:p xmlns:a="http://schemas.openxmlformats.org/drawingml/2006/main">
            <a:pPr>
              <a:buNone/>
            </a:pPr>
            <a:r>
              <a:rPr>
                <a:latin typeface="+mj-lt"/>
                <a:ea typeface="+mj-lt"/>
                <a:cs typeface="+mj-lt"/>
              </a:rPr>
              <a:t>WyFormer</a:t>
            </a:r>
            <a:r>
              <a:rPr>
                <a:latin typeface="+mj-lt"/>
                <a:ea typeface="+mj-lt"/>
                <a:cs typeface="+mj-lt"/>
              </a:rPr>
              <a:t> </a:t>
            </a:r>
            <a:r>
              <a:rPr>
                <a:latin typeface="+mj-lt"/>
                <a:ea typeface="+mj-lt"/>
                <a:cs typeface="+mj-lt"/>
              </a:rPr>
              <a:t>的解决办法是用较通用的 </a:t>
            </a:r>
            <a:r>
              <a:rPr>
                <a:latin typeface="+mj-lt"/>
                <a:ea typeface="+mj-lt"/>
                <a:cs typeface="+mj-lt"/>
              </a:rPr>
              <a:t>site symmetry</a:t>
            </a:r>
            <a:r>
              <a:rPr>
                <a:latin typeface="+mj-lt"/>
                <a:ea typeface="+mj-lt"/>
                <a:cs typeface="+mj-lt"/>
              </a:rPr>
              <a:t>，再加 </a:t>
            </a:r>
            <a:r>
              <a:rPr>
                <a:latin typeface="+mj-lt"/>
                <a:ea typeface="+mj-lt"/>
                <a:cs typeface="+mj-lt"/>
              </a:rPr>
              <a:t>enumeration </a:t>
            </a:r>
            <a:r>
              <a:rPr>
                <a:latin typeface="+mj-lt"/>
                <a:ea typeface="+mj-lt"/>
                <a:cs typeface="+mj-lt"/>
              </a:rPr>
              <a:t>区分同一空间群中具有相同 </a:t>
            </a:r>
            <a:r>
              <a:rPr>
                <a:latin typeface="+mj-lt"/>
                <a:ea typeface="+mj-lt"/>
                <a:cs typeface="+mj-lt"/>
              </a:rPr>
              <a:t>site symmetry </a:t>
            </a:r>
            <a:r>
              <a:rPr>
                <a:latin typeface="+mj-lt"/>
                <a:ea typeface="+mj-lt"/>
                <a:cs typeface="+mj-lt"/>
              </a:rPr>
              <a:t>的多个 </a:t>
            </a:r>
            <a:r>
              <a:rPr>
                <a:latin typeface="+mj-lt"/>
                <a:ea typeface="+mj-lt"/>
                <a:cs typeface="+mj-lt"/>
              </a:rPr>
              <a:t>Wyckoff positions</a:t>
            </a:r>
            <a:r>
              <a:rPr>
                <a:latin typeface="+mj-lt"/>
                <a:ea typeface="+mj-lt"/>
                <a:cs typeface="+mj-lt"/>
              </a:rPr>
              <a:t>。例如在 </a:t>
            </a:r>
            <a:r>
              <a:rPr>
                <a:latin typeface="+mj-lt"/>
                <a:ea typeface="+mj-lt"/>
                <a:cs typeface="+mj-lt"/>
              </a:rPr>
              <a:t>space group 225 </a:t>
            </a:r>
            <a:r>
              <a:rPr>
                <a:latin typeface="+mj-lt"/>
                <a:ea typeface="+mj-lt"/>
                <a:cs typeface="+mj-lt"/>
              </a:rPr>
              <a:t>中，</a:t>
            </a:r>
            <a:r>
              <a:rPr>
                <a:latin typeface="+mj-lt"/>
                <a:ea typeface="+mj-lt"/>
                <a:cs typeface="+mj-lt"/>
              </a:rPr>
              <a:t>4a </a:t>
            </a:r>
            <a:r>
              <a:rPr>
                <a:latin typeface="+mj-lt"/>
                <a:ea typeface="+mj-lt"/>
                <a:cs typeface="+mj-lt"/>
              </a:rPr>
              <a:t>和 </a:t>
            </a:r>
            <a:r>
              <a:rPr>
                <a:latin typeface="+mj-lt"/>
                <a:ea typeface="+mj-lt"/>
                <a:cs typeface="+mj-lt"/>
              </a:rPr>
              <a:t>4b </a:t>
            </a:r>
            <a:r>
              <a:rPr>
                <a:latin typeface="+mj-lt"/>
                <a:ea typeface="+mj-lt"/>
                <a:cs typeface="+mj-lt"/>
              </a:rPr>
              <a:t>都是 </a:t>
            </a:r>
            <a:r>
              <a:rPr>
                <a:latin typeface="+mj-lt"/>
                <a:ea typeface="+mj-lt"/>
                <a:cs typeface="+mj-lt"/>
              </a:rPr>
              <a:t>m3ˉmm\bar 3m</a:t>
            </a:r>
            <a:r>
              <a:rPr>
                <a:latin typeface="+mj-lt"/>
                <a:ea typeface="+mj-lt"/>
                <a:cs typeface="+mj-lt"/>
              </a:rPr>
              <a:t>，因此分别编码成 </a:t>
            </a:r>
            <a:r>
              <a:rPr>
                <a:latin typeface="+mj-lt"/>
                <a:ea typeface="+mj-lt"/>
                <a:cs typeface="+mj-lt"/>
              </a:rPr>
              <a:t>(m3ˉm,0)(m\bar 3m,0) </a:t>
            </a:r>
            <a:r>
              <a:rPr>
                <a:latin typeface="+mj-lt"/>
                <a:ea typeface="+mj-lt"/>
                <a:cs typeface="+mj-lt"/>
              </a:rPr>
              <a:t>与 </a:t>
            </a:r>
            <a:r>
              <a:rPr>
                <a:latin typeface="+mj-lt"/>
                <a:ea typeface="+mj-lt"/>
                <a:cs typeface="+mj-lt"/>
              </a:rPr>
              <a:t>(m3ˉm,1)</a:t>
            </a:r>
          </a:p>
        </p:txBody>
      </p:sp>
      <p:sp>
        <p:nvSpPr>
          <p:cNvPr id="6" name="文本框 5">
            <a:extLst xmlns:a="http://schemas.openxmlformats.org/drawingml/2006/main">
              <a:ext uri="{FF2B5EF4-FFF2-40B4-BE49-F238E27FC236}">
                <a16:creationId xmlns:a16="http://schemas.microsoft.com/office/drawing/2014/main" id="{736916CE-DB0F-4712-01B7-77FF6D4B3452}"/>
              </a:ext>
            </a:extLst>
          </p:cNvPr>
          <p:cNvSpPr>
            <a:spLocks xmlns:a="http://schemas.openxmlformats.org/drawingml/2006/main" noGrp="1"/>
          </p:cNvSpPr>
          <p:nvPr/>
        </p:nvSpPr>
        <p:spPr>
          <a:xfrm xmlns:a="http://schemas.openxmlformats.org/drawingml/2006/main">
            <a:off x="6591302" y="2274838"/>
            <a:ext cx="5060157" cy="286232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b="1">
                <a:latin typeface="+mj-lt"/>
                <a:ea typeface="+mj-lt"/>
                <a:cs typeface="+mj-lt"/>
              </a:rPr>
              <a:t>哪些 </a:t>
            </a:r>
            <a:r>
              <a:rPr b="1">
                <a:latin typeface="+mj-lt"/>
                <a:ea typeface="+mj-lt"/>
                <a:cs typeface="+mj-lt"/>
              </a:rPr>
              <a:t>orbit token </a:t>
            </a:r>
            <a:r>
              <a:rPr b="1">
                <a:latin typeface="+mj-lt"/>
                <a:ea typeface="+mj-lt"/>
                <a:cs typeface="+mj-lt"/>
              </a:rPr>
              <a:t>可以在某个空间群下</a:t>
            </a:r>
            <a:r>
              <a:rPr b="1">
                <a:latin typeface="+mj-lt"/>
                <a:ea typeface="+mj-lt"/>
                <a:cs typeface="+mj-lt"/>
              </a:rPr>
              <a:t>legally</a:t>
            </a:r>
            <a:r>
              <a:rPr b="1">
                <a:latin typeface="+mj-lt"/>
                <a:ea typeface="+mj-lt"/>
                <a:cs typeface="+mj-lt"/>
              </a:rPr>
              <a:t>出现？</a:t>
            </a:r>
          </a:p>
          <a:p xmlns:a="http://schemas.openxmlformats.org/drawingml/2006/main">
            <a:pPr>
              <a:buNone/>
            </a:pPr>
            <a:endParaRPr>
              <a:latin typeface="+mj-lt"/>
              <a:ea typeface="+mj-lt"/>
              <a:cs typeface="+mj-lt"/>
            </a:endParaRPr>
          </a:p>
          <a:p xmlns:a="http://schemas.openxmlformats.org/drawingml/2006/main">
            <a:pPr>
              <a:buNone/>
            </a:pPr>
            <a:r>
              <a:rPr>
                <a:latin typeface="+mj-lt"/>
                <a:ea typeface="+mj-lt"/>
                <a:cs typeface="+mj-lt"/>
              </a:rPr>
              <a:t>除了词表本身，还需要一个 </a:t>
            </a:r>
            <a:r>
              <a:rPr>
                <a:latin typeface="+mj-lt"/>
                <a:ea typeface="+mj-lt"/>
                <a:cs typeface="+mj-lt"/>
              </a:rPr>
              <a:t>compatibility map</a:t>
            </a:r>
            <a:r>
              <a:rPr>
                <a:latin typeface="+mj-lt"/>
                <a:ea typeface="+mj-lt"/>
                <a:cs typeface="+mj-lt"/>
              </a:rPr>
              <a:t>：</a:t>
            </a:r>
          </a:p>
          <a:p xmlns:a="http://schemas.openxmlformats.org/drawingml/2006/main">
            <a:pPr>
              <a:buNone/>
            </a:pPr>
            <a:r>
              <a:rPr>
                <a:latin typeface="+mj-lt"/>
                <a:ea typeface="+mj-lt"/>
                <a:cs typeface="+mj-lt"/>
              </a:rPr>
              <a:t>它告诉模型：</a:t>
            </a:r>
          </a:p>
          <a:p xmlns:a="http://schemas.openxmlformats.org/drawingml/2006/main">
            <a:pPr>
              <a:buFont typeface="Arial"/>
              <a:buChar char="•"/>
            </a:pPr>
            <a:r>
              <a:rPr>
                <a:latin typeface="+mj-lt"/>
                <a:ea typeface="+mj-lt"/>
                <a:cs typeface="+mj-lt"/>
              </a:rPr>
              <a:t> 这个 </a:t>
            </a:r>
            <a:r>
              <a:rPr>
                <a:latin typeface="+mj-lt"/>
                <a:ea typeface="+mj-lt"/>
                <a:cs typeface="+mj-lt"/>
              </a:rPr>
              <a:t>primitive orbit </a:t>
            </a:r>
            <a:r>
              <a:rPr>
                <a:latin typeface="+mj-lt"/>
                <a:ea typeface="+mj-lt"/>
                <a:cs typeface="+mj-lt"/>
              </a:rPr>
              <a:t>是否存在于空间群 </a:t>
            </a:r>
            <a:r>
              <a:rPr>
                <a:latin typeface="+mj-lt"/>
                <a:ea typeface="+mj-lt"/>
                <a:cs typeface="+mj-lt"/>
              </a:rPr>
              <a:t>GG</a:t>
            </a:r>
            <a:r>
              <a:rPr>
                <a:latin typeface="+mj-lt"/>
                <a:ea typeface="+mj-lt"/>
                <a:cs typeface="+mj-lt"/>
              </a:rPr>
              <a:t>； </a:t>
            </a:r>
          </a:p>
          <a:p xmlns:a="http://schemas.openxmlformats.org/drawingml/2006/main">
            <a:pPr>
              <a:buFont typeface="Arial"/>
              <a:buChar char="•"/>
            </a:pPr>
            <a:r>
              <a:rPr>
                <a:latin typeface="+mj-lt"/>
                <a:ea typeface="+mj-lt"/>
                <a:cs typeface="+mj-lt"/>
              </a:rPr>
              <a:t> 是否能够重复占据； </a:t>
            </a:r>
          </a:p>
          <a:p xmlns:a="http://schemas.openxmlformats.org/drawingml/2006/main">
            <a:pPr>
              <a:buFont typeface="Arial"/>
              <a:buChar char="•"/>
            </a:pPr>
            <a:r>
              <a:rPr>
                <a:latin typeface="+mj-lt"/>
                <a:ea typeface="+mj-lt"/>
                <a:cs typeface="+mj-lt"/>
              </a:rPr>
              <a:t> </a:t>
            </a:r>
            <a:r>
              <a:rPr>
                <a:latin typeface="+mj-lt"/>
                <a:ea typeface="+mj-lt"/>
                <a:cs typeface="+mj-lt"/>
              </a:rPr>
              <a:t>multiplicity </a:t>
            </a:r>
            <a:r>
              <a:rPr>
                <a:latin typeface="+mj-lt"/>
                <a:ea typeface="+mj-lt"/>
                <a:cs typeface="+mj-lt"/>
              </a:rPr>
              <a:t>是多少； </a:t>
            </a:r>
          </a:p>
          <a:p xmlns:a="http://schemas.openxmlformats.org/drawingml/2006/main">
            <a:pPr>
              <a:buFont typeface="Arial"/>
              <a:buChar char="•"/>
            </a:pPr>
            <a:r>
              <a:rPr>
                <a:latin typeface="+mj-lt"/>
                <a:ea typeface="+mj-lt"/>
                <a:cs typeface="+mj-lt"/>
              </a:rPr>
              <a:t> 它有几个自由参数； </a:t>
            </a:r>
          </a:p>
          <a:p xmlns:a="http://schemas.openxmlformats.org/drawingml/2006/main">
            <a:pPr>
              <a:buFont typeface="Arial"/>
              <a:buChar char="•"/>
            </a:pPr>
            <a:r>
              <a:rPr>
                <a:latin typeface="+mj-lt"/>
                <a:ea typeface="+mj-lt"/>
                <a:cs typeface="+mj-lt"/>
              </a:rPr>
              <a:t> 与给定 </a:t>
            </a:r>
            <a:r>
              <a:rPr>
                <a:latin typeface="+mj-lt"/>
                <a:ea typeface="+mj-lt"/>
                <a:cs typeface="+mj-lt"/>
              </a:rPr>
              <a:t>composition </a:t>
            </a:r>
            <a:r>
              <a:rPr>
                <a:latin typeface="+mj-lt"/>
                <a:ea typeface="+mj-lt"/>
                <a:cs typeface="+mj-lt"/>
              </a:rPr>
              <a:t>是否相容。</a:t>
            </a:r>
          </a:p>
        </p:txBody>
      </p:sp>
      <p:sp>
        <p:nvSpPr>
          <p:cNvPr id="8" name="文本框 7">
            <a:extLst xmlns:a="http://schemas.openxmlformats.org/drawingml/2006/main">
              <a:ext uri="{FF2B5EF4-FFF2-40B4-BE49-F238E27FC236}">
                <a16:creationId xmlns:a16="http://schemas.microsoft.com/office/drawing/2014/main" id="{79CB4E37-073D-DB54-43A1-534449AC6AD4}"/>
              </a:ext>
            </a:extLst>
          </p:cNvPr>
          <p:cNvSpPr>
            <a:spLocks xmlns:a="http://schemas.openxmlformats.org/drawingml/2006/main" noGrp="1"/>
          </p:cNvSpPr>
          <p:nvPr/>
        </p:nvSpPr>
        <p:spPr>
          <a:xfrm xmlns:a="http://schemas.openxmlformats.org/drawingml/2006/main">
            <a:off x="838200" y="6024742"/>
            <a:ext cx="610076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solidFill>
                  <a:srgbClr val="B60007"/>
                </a:solidFill>
                <a:latin typeface="+mj-lt"/>
                <a:ea typeface="+mj-lt"/>
                <a:cs typeface="+mj-lt"/>
              </a:rPr>
              <a:t>WyFormer</a:t>
            </a:r>
            <a:r>
              <a:rPr>
                <a:solidFill>
                  <a:srgbClr val="B60007"/>
                </a:solidFill>
                <a:latin typeface="+mj-lt"/>
                <a:ea typeface="+mj-lt"/>
                <a:cs typeface="+mj-lt"/>
              </a:rPr>
              <a:t> </a:t>
            </a:r>
            <a:r>
              <a:rPr>
                <a:solidFill>
                  <a:srgbClr val="B60007"/>
                </a:solidFill>
                <a:latin typeface="+mj-lt"/>
                <a:ea typeface="+mj-lt"/>
                <a:cs typeface="+mj-lt"/>
              </a:rPr>
              <a:t>representation+masked</a:t>
            </a:r>
            <a:r>
              <a:rPr>
                <a:solidFill>
                  <a:srgbClr val="B60007"/>
                </a:solidFill>
                <a:latin typeface="+mj-lt"/>
                <a:ea typeface="+mj-lt"/>
                <a:cs typeface="+mj-lt"/>
              </a:rPr>
              <a:t>/discrete diffusion</a:t>
            </a:r>
            <a:r>
              <a:rPr>
                <a:solidFill>
                  <a:srgbClr val="B60007"/>
                </a:solidFill>
                <a:latin typeface="+mj-lt"/>
                <a:ea typeface="+mj-lt"/>
                <a:cs typeface="+mj-lt"/>
              </a:rPr>
              <a:t>？</a:t>
            </a:r>
          </a:p>
        </p:txBody>
      </p:sp>
      <p:sp>
        <p:nvSpPr>
          <p:cNvPr id="10" name="文本框 9">
            <a:extLst xmlns:a="http://schemas.openxmlformats.org/drawingml/2006/main">
              <a:ext uri="{FF2B5EF4-FFF2-40B4-BE49-F238E27FC236}">
                <a16:creationId xmlns:a16="http://schemas.microsoft.com/office/drawing/2014/main" id="{B3E63158-F163-5568-982C-66C9D772E22B}"/>
              </a:ext>
            </a:extLst>
          </p:cNvPr>
          <p:cNvSpPr>
            <a:spLocks xmlns:a="http://schemas.openxmlformats.org/drawingml/2006/main" noGrp="1"/>
          </p:cNvSpPr>
          <p:nvPr/>
        </p:nvSpPr>
        <p:spPr>
          <a:xfrm xmlns:a="http://schemas.openxmlformats.org/drawingml/2006/main">
            <a:off x="6807994" y="6024742"/>
            <a:ext cx="4545806"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solidFill>
                  <a:srgbClr val="B60007"/>
                </a:solidFill>
              </a:rPr>
              <a:t>发明一种新的 </a:t>
            </a:r>
            <a:r>
              <a:rPr>
                <a:solidFill>
                  <a:srgbClr val="B60007"/>
                </a:solidFill>
              </a:rPr>
              <a:t>crystallographic tokenizer</a:t>
            </a:r>
            <a:r>
              <a:rPr>
                <a:solidFill>
                  <a:srgbClr val="B60007"/>
                </a:solidFill>
              </a:rPr>
              <a:t>？</a:t>
            </a:r>
          </a:p>
        </p:txBody>
      </p:sp>
    </p:spTree>
    <p:extLst>
      <p:ext uri="{BB962C8B-B14F-4D97-AF65-F5344CB8AC3E}">
        <p14:creationId xmlns:p14="http://schemas.microsoft.com/office/powerpoint/2010/main" val="139656213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3408E3B-7241-F093-86DF-90BA272BB72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Matra-Genoa</a:t>
            </a:r>
            <a:endParaRPr/>
          </a:p>
        </p:txBody>
      </p:sp>
      <p:sp>
        <p:nvSpPr>
          <p:cNvPr id="6" name="文本框 5">
            <a:extLst xmlns:a="http://schemas.openxmlformats.org/drawingml/2006/main">
              <a:ext uri="{FF2B5EF4-FFF2-40B4-BE49-F238E27FC236}">
                <a16:creationId xmlns:a16="http://schemas.microsoft.com/office/drawing/2014/main" id="{7EBF4632-524F-CDAF-5CCB-B0029579045E}"/>
              </a:ext>
            </a:extLst>
          </p:cNvPr>
          <p:cNvSpPr>
            <a:spLocks xmlns:a="http://schemas.openxmlformats.org/drawingml/2006/main" noGrp="1"/>
          </p:cNvSpPr>
          <p:nvPr/>
        </p:nvSpPr>
        <p:spPr>
          <a:xfrm xmlns:a="http://schemas.openxmlformats.org/drawingml/2006/main">
            <a:off x="4564856" y="658574"/>
            <a:ext cx="6100762" cy="7386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400"/>
              <a:t>De </a:t>
            </a:r>
            <a:r>
              <a:rPr sz="1400"/>
              <a:t>Breuck</a:t>
            </a:r>
            <a:r>
              <a:rPr sz="1400"/>
              <a:t>, P.-P., Piracha, H. A., </a:t>
            </a:r>
            <a:r>
              <a:rPr sz="1400"/>
              <a:t>Rignanese</a:t>
            </a:r>
            <a:r>
              <a:rPr sz="1400"/>
              <a:t>, G.-M. &amp; Marques, M. A. L. A generative material transformer using Wyckoff representation | </a:t>
            </a:r>
            <a:r>
              <a:rPr sz="1400"/>
              <a:t>npj</a:t>
            </a:r>
            <a:r>
              <a:rPr sz="1400"/>
              <a:t> Computational Materials. </a:t>
            </a:r>
            <a:r>
              <a:rPr sz="1400" i="1"/>
              <a:t>npj</a:t>
            </a:r>
            <a:r>
              <a:rPr sz="1400" i="1"/>
              <a:t> Computational Materials</a:t>
            </a:r>
            <a:r>
              <a:rPr sz="1400"/>
              <a:t> </a:t>
            </a:r>
            <a:r>
              <a:rPr sz="1400" b="1"/>
              <a:t>12</a:t>
            </a:r>
            <a:r>
              <a:rPr sz="1400"/>
              <a:t>, 60 (2026).</a:t>
            </a:r>
          </a:p>
        </p:txBody>
      </p:sp>
      <p:pic>
        <p:nvPicPr>
          <p:cNvPr id="16" name="图片 6"/>
          <p:cNvPicPr>
            <a:picLocks xmlns:a="http://schemas.openxmlformats.org/drawingml/2006/main" noChangeAspect="1"/>
          </p:cNvPicPr>
          <p:nvPr/>
        </p:nvPicPr>
        <p:blipFill>
          <a:blip xmlns:r="http://schemas.openxmlformats.org/officeDocument/2006/relationships" xmlns:a="http://schemas.openxmlformats.org/drawingml/2006/main" r:embed="Rad350ed44615435a"/>
          <a:stretch xmlns:a="http://schemas.openxmlformats.org/drawingml/2006/main">
            <a:fillRect l="0" t="0" r="0" b="0"/>
          </a:stretch>
        </p:blipFill>
        <p:spPr>
          <a:xfrm xmlns:a="http://schemas.openxmlformats.org/drawingml/2006/main">
            <a:off x="5356411" y="1770926"/>
            <a:ext cx="6548438" cy="3316147"/>
          </a:xfrm>
          <a:prstGeom xmlns:a="http://schemas.openxmlformats.org/drawingml/2006/main" prst="rect">
            <a:avLst/>
          </a:prstGeom>
        </p:spPr>
      </p:pic>
      <p:pic>
        <p:nvPicPr>
          <p:cNvPr id="17" name="图片 7"/>
          <p:cNvPicPr>
            <a:picLocks xmlns:a="http://schemas.openxmlformats.org/drawingml/2006/main" noChangeAspect="1"/>
          </p:cNvPicPr>
          <p:nvPr/>
        </p:nvPicPr>
        <p:blipFill>
          <a:blip xmlns:r="http://schemas.openxmlformats.org/officeDocument/2006/relationships" xmlns:a="http://schemas.openxmlformats.org/drawingml/2006/main" r:embed="Rdcac7629ac9c4a7d"/>
          <a:stretch xmlns:a="http://schemas.openxmlformats.org/drawingml/2006/main">
            <a:fillRect l="0" t="0" r="0" b="0"/>
          </a:stretch>
        </p:blipFill>
        <p:spPr>
          <a:xfrm xmlns:a="http://schemas.openxmlformats.org/drawingml/2006/main">
            <a:off x="287151" y="1770926"/>
            <a:ext cx="5274049" cy="3316148"/>
          </a:xfrm>
          <a:prstGeom xmlns:a="http://schemas.openxmlformats.org/drawingml/2006/main" prst="rect">
            <a:avLst/>
          </a:prstGeom>
        </p:spPr>
      </p:pic>
      <p:sp>
        <p:nvSpPr>
          <p:cNvPr id="9" name="矩形 8">
            <a:extLst xmlns:a="http://schemas.openxmlformats.org/drawingml/2006/main">
              <a:ext uri="{FF2B5EF4-FFF2-40B4-BE49-F238E27FC236}">
                <a16:creationId xmlns:a16="http://schemas.microsoft.com/office/drawing/2014/main" id="{DB885C81-DA79-A069-BDC1-CC1333B79E36}"/>
              </a:ext>
            </a:extLst>
          </p:cNvPr>
          <p:cNvSpPr>
            <a:spLocks xmlns:a="http://schemas.openxmlformats.org/drawingml/2006/main" noGrp="1"/>
          </p:cNvSpPr>
          <p:nvPr/>
        </p:nvSpPr>
        <p:spPr>
          <a:xfrm xmlns:a="http://schemas.openxmlformats.org/drawingml/2006/main">
            <a:off x="2814638" y="2971801"/>
            <a:ext cx="2746562" cy="1328738"/>
          </a:xfrm>
          <a:prstGeom xmlns:a="http://schemas.openxmlformats.org/drawingml/2006/main" prst="rect">
            <a:avLst/>
          </a:prstGeom>
          <a:noFill xmlns:a="http://schemas.openxmlformats.org/drawingml/2006/main"/>
          <a:ln xmlns:a="http://schemas.openxmlformats.org/drawingml/2006/main" w="28575">
            <a:solidFill>
              <a:srgbClr val="B60007"/>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文本框 10">
            <a:extLst xmlns:a="http://schemas.openxmlformats.org/drawingml/2006/main">
              <a:ext uri="{FF2B5EF4-FFF2-40B4-BE49-F238E27FC236}">
                <a16:creationId xmlns:a16="http://schemas.microsoft.com/office/drawing/2014/main" id="{E9303776-43D4-2FB4-F25C-B98E28036227}"/>
              </a:ext>
            </a:extLst>
          </p:cNvPr>
          <p:cNvSpPr>
            <a:spLocks xmlns:a="http://schemas.openxmlformats.org/drawingml/2006/main" noGrp="1"/>
          </p:cNvSpPr>
          <p:nvPr/>
        </p:nvSpPr>
        <p:spPr>
          <a:xfrm xmlns:a="http://schemas.openxmlformats.org/drawingml/2006/main">
            <a:off x="287151" y="5288152"/>
            <a:ext cx="8501063"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b="0" i="0">
                <a:solidFill>
                  <a:srgbClr val="222222"/>
                </a:solidFill>
                <a:latin typeface="-apple-system"/>
                <a:ea typeface="-apple-system"/>
                <a:cs typeface="-apple-system"/>
              </a:rPr>
              <a:t>The structure is first decomposed into composition, stability, structure and lattice. </a:t>
            </a:r>
            <a:r>
              <a:rPr sz="1600" b="1" i="0">
                <a:solidFill>
                  <a:srgbClr val="222222"/>
                </a:solidFill>
                <a:latin typeface="-apple-system"/>
                <a:ea typeface="-apple-system"/>
                <a:cs typeface="-apple-system"/>
              </a:rPr>
              <a:t>b</a:t>
            </a:r>
            <a:r>
              <a:rPr sz="1600" b="0" i="0">
                <a:solidFill>
                  <a:srgbClr val="222222"/>
                </a:solidFill>
                <a:latin typeface="-apple-system"/>
                <a:ea typeface="-apple-system"/>
                <a:cs typeface="-apple-system"/>
              </a:rPr>
              <a:t> The structure is then further decomposed into a set of Wyckoff positions, uniquely identified by a set of Wyckoff identifiers. Optional free parameters are also included to make the representation coordinate-aware. </a:t>
            </a:r>
            <a:r>
              <a:rPr sz="1600" b="1" i="0">
                <a:solidFill>
                  <a:srgbClr val="222222"/>
                </a:solidFill>
                <a:latin typeface="-apple-system"/>
                <a:ea typeface="-apple-system"/>
                <a:cs typeface="-apple-system"/>
              </a:rPr>
              <a:t>c</a:t>
            </a:r>
            <a:r>
              <a:rPr sz="1600" b="0" i="0">
                <a:solidFill>
                  <a:srgbClr val="222222"/>
                </a:solidFill>
                <a:latin typeface="-apple-system"/>
                <a:ea typeface="-apple-system"/>
                <a:cs typeface="-apple-system"/>
              </a:rPr>
              <a:t> All previous information is gathered into a </a:t>
            </a:r>
            <a:r>
              <a:rPr sz="1600" b="0" i="0">
                <a:solidFill>
                  <a:srgbClr val="222222"/>
                </a:solidFill>
                <a:latin typeface="-apple-system"/>
                <a:ea typeface="-apple-system"/>
                <a:cs typeface="-apple-system"/>
              </a:rPr>
              <a:t>tokenenized</a:t>
            </a:r>
            <a:r>
              <a:rPr sz="1600" b="0" i="0">
                <a:solidFill>
                  <a:srgbClr val="222222"/>
                </a:solidFill>
                <a:latin typeface="-apple-system"/>
                <a:ea typeface="-apple-system"/>
                <a:cs typeface="-apple-system"/>
              </a:rPr>
              <a:t> and invertible sequence. The color of the tokens represent the type or the Wyckoff position for ease of visualization.</a:t>
            </a:r>
            <a:endParaRPr sz="1600"/>
          </a:p>
        </p:txBody>
      </p:sp>
    </p:spTree>
    <p:extLst>
      <p:ext uri="{BB962C8B-B14F-4D97-AF65-F5344CB8AC3E}">
        <p14:creationId xmlns:p14="http://schemas.microsoft.com/office/powerpoint/2010/main" val="40338805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4F1BF70-BB49-F223-6A6D-477A518E10B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WyFormer</a:t>
            </a:r>
            <a:endParaRPr/>
          </a:p>
        </p:txBody>
      </p:sp>
      <p:sp>
        <p:nvSpPr>
          <p:cNvPr id="4" name="灯片编号占位符 3">
            <a:extLst xmlns:a="http://schemas.openxmlformats.org/drawingml/2006/main">
              <a:ext uri="{FF2B5EF4-FFF2-40B4-BE49-F238E27FC236}">
                <a16:creationId xmlns:a16="http://schemas.microsoft.com/office/drawing/2014/main" id="{0C7D6403-C6BE-6640-E2B8-1816573D34A4}"/>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5</a:t>
            </a:fld>
            <a:endParaRPr/>
          </a:p>
        </p:txBody>
      </p:sp>
      <p:pic>
        <p:nvPicPr>
          <p:cNvPr id="25" name="图片 4"/>
          <p:cNvPicPr>
            <a:picLocks xmlns:a="http://schemas.openxmlformats.org/drawingml/2006/main" noChangeAspect="1"/>
          </p:cNvPicPr>
          <p:nvPr/>
        </p:nvPicPr>
        <p:blipFill>
          <a:blip xmlns:r="http://schemas.openxmlformats.org/officeDocument/2006/relationships" xmlns:a="http://schemas.openxmlformats.org/drawingml/2006/main" r:embed="R32ac8e97d8d24768"/>
          <a:stretch xmlns:a="http://schemas.openxmlformats.org/drawingml/2006/main"/>
        </p:blipFill>
        <p:spPr>
          <a:xfrm xmlns:a="http://schemas.openxmlformats.org/drawingml/2006/main">
            <a:off x="685800" y="1690688"/>
            <a:ext cx="10820400" cy="1591235"/>
          </a:xfrm>
          <a:prstGeom xmlns:a="http://schemas.openxmlformats.org/drawingml/2006/main" prst="rect">
            <a:avLst/>
          </a:prstGeom>
        </p:spPr>
      </p:pic>
      <p:sp>
        <p:nvSpPr>
          <p:cNvPr id="9" name="矩形 8">
            <a:extLst xmlns:a="http://schemas.openxmlformats.org/drawingml/2006/main">
              <a:ext uri="{FF2B5EF4-FFF2-40B4-BE49-F238E27FC236}">
                <a16:creationId xmlns:a16="http://schemas.microsoft.com/office/drawing/2014/main" id="{0FACEB02-297B-F17C-A49B-B3C1403EECBF}"/>
              </a:ext>
            </a:extLst>
          </p:cNvPr>
          <p:cNvSpPr>
            <a:spLocks xmlns:a="http://schemas.openxmlformats.org/drawingml/2006/main" noGrp="1"/>
          </p:cNvSpPr>
          <p:nvPr/>
        </p:nvSpPr>
        <p:spPr>
          <a:xfrm xmlns:a="http://schemas.openxmlformats.org/drawingml/2006/main">
            <a:off x="2554030" y="3236330"/>
            <a:ext cx="548418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263732"/>
                </a:solidFill>
              </a:defRPr>
            </a:pPr>
            <a:r>
              <a:rPr sz="1400" b="0">
                <a:solidFill>
                  <a:srgbClr val="263732"/>
                </a:solidFill>
              </a:rPr>
              <a:t>每个</a:t>
            </a:r>
            <a:r>
              <a:rPr sz="1400" b="0">
                <a:solidFill>
                  <a:srgbClr val="263732"/>
                </a:solidFill>
              </a:rPr>
              <a:t> orbit token = element + site symmetry + enumeration</a:t>
            </a:r>
          </a:p>
        </p:txBody>
      </p:sp>
      <p:sp>
        <p:nvSpPr>
          <p:cNvPr id="11" name="矩形 10">
            <a:extLst xmlns:a="http://schemas.openxmlformats.org/drawingml/2006/main">
              <a:ext uri="{FF2B5EF4-FFF2-40B4-BE49-F238E27FC236}">
                <a16:creationId xmlns:a16="http://schemas.microsoft.com/office/drawing/2014/main" id="{452BC616-377C-5C52-80F2-E99C359118D1}"/>
              </a:ext>
            </a:extLst>
          </p:cNvPr>
          <p:cNvSpPr>
            <a:spLocks xmlns:a="http://schemas.openxmlformats.org/drawingml/2006/main" noGrp="1"/>
          </p:cNvSpPr>
          <p:nvPr/>
        </p:nvSpPr>
        <p:spPr>
          <a:xfrm xmlns:a="http://schemas.openxmlformats.org/drawingml/2006/main">
            <a:off x="2554030" y="3512555"/>
            <a:ext cx="548418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263732"/>
                </a:solidFill>
              </a:defRPr>
            </a:pPr>
            <a:r>
              <a:rPr sz="1400" b="0">
                <a:solidFill>
                  <a:srgbClr val="263732"/>
                </a:solidFill>
              </a:rPr>
              <a:t>不使用位置编码，编码器对输入置换不变</a:t>
            </a:r>
            <a:endParaRPr sz="1400" b="0">
              <a:solidFill>
                <a:srgbClr val="263732"/>
              </a:solidFill>
            </a:endParaRPr>
          </a:p>
        </p:txBody>
      </p:sp>
      <p:sp>
        <p:nvSpPr>
          <p:cNvPr id="13" name="矩形 12">
            <a:extLst xmlns:a="http://schemas.openxmlformats.org/drawingml/2006/main">
              <a:ext uri="{FF2B5EF4-FFF2-40B4-BE49-F238E27FC236}">
                <a16:creationId xmlns:a16="http://schemas.microsoft.com/office/drawing/2014/main" id="{D9F44FCB-55C0-0855-6DFE-F99F583EBE9A}"/>
              </a:ext>
            </a:extLst>
          </p:cNvPr>
          <p:cNvSpPr>
            <a:spLocks xmlns:a="http://schemas.openxmlformats.org/drawingml/2006/main" noGrp="1"/>
          </p:cNvSpPr>
          <p:nvPr/>
        </p:nvSpPr>
        <p:spPr>
          <a:xfrm xmlns:a="http://schemas.openxmlformats.org/drawingml/2006/main">
            <a:off x="2554031" y="3788780"/>
            <a:ext cx="5728734"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263732"/>
                </a:solidFill>
              </a:defRPr>
            </a:pPr>
            <a:r>
              <a:rPr sz="1400" b="0">
                <a:solidFill>
                  <a:srgbClr val="263732"/>
                </a:solidFill>
              </a:rPr>
              <a:t>生成仍按</a:t>
            </a:r>
            <a:r>
              <a:rPr sz="1400" b="0">
                <a:solidFill>
                  <a:srgbClr val="263732"/>
                </a:solidFill>
              </a:rPr>
              <a:t> element → symmetry → enumeration</a:t>
            </a:r>
          </a:p>
        </p:txBody>
      </p:sp>
      <p:sp>
        <p:nvSpPr>
          <p:cNvPr id="18" name="文本框 17">
            <a:extLst xmlns:a="http://schemas.openxmlformats.org/drawingml/2006/main">
              <a:ext uri="{FF2B5EF4-FFF2-40B4-BE49-F238E27FC236}">
                <a16:creationId xmlns:a16="http://schemas.microsoft.com/office/drawing/2014/main" id="{E305DFF7-C9C9-B754-55D3-751F3B9B3567}"/>
              </a:ext>
            </a:extLst>
          </p:cNvPr>
          <p:cNvSpPr>
            <a:spLocks xmlns:a="http://schemas.openxmlformats.org/drawingml/2006/main" noGrp="1"/>
          </p:cNvSpPr>
          <p:nvPr/>
        </p:nvSpPr>
        <p:spPr>
          <a:xfrm xmlns:a="http://schemas.openxmlformats.org/drawingml/2006/main">
            <a:off x="5634539" y="4982646"/>
            <a:ext cx="449053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rgbClr val="B60007"/>
                </a:solidFill>
              </a:rPr>
              <a:t>平均每个晶体约 3 个 Wyckoff positions</a:t>
            </a:r>
          </a:p>
        </p:txBody>
      </p:sp>
      <p:sp>
        <p:nvSpPr>
          <p:cNvPr id="20" name="文本框 19">
            <a:extLst xmlns:a="http://schemas.openxmlformats.org/drawingml/2006/main">
              <a:ext uri="{FF2B5EF4-FFF2-40B4-BE49-F238E27FC236}">
                <a16:creationId xmlns:a16="http://schemas.microsoft.com/office/drawing/2014/main" id="{7C61B509-18D5-710F-69CD-EFC41C2A2433}"/>
              </a:ext>
            </a:extLst>
          </p:cNvPr>
          <p:cNvSpPr>
            <a:spLocks xmlns:a="http://schemas.openxmlformats.org/drawingml/2006/main" noGrp="1"/>
          </p:cNvSpPr>
          <p:nvPr/>
        </p:nvSpPr>
        <p:spPr>
          <a:xfrm xmlns:a="http://schemas.openxmlformats.org/drawingml/2006/main">
            <a:off x="2029603" y="6259810"/>
            <a:ext cx="6008612"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200"/>
              <a:t>Kazeev</a:t>
            </a:r>
            <a:r>
              <a:rPr sz="1200"/>
              <a:t>, N. </a:t>
            </a:r>
            <a:r>
              <a:rPr sz="1200" i="1"/>
              <a:t>et al.</a:t>
            </a:r>
            <a:r>
              <a:rPr sz="1200"/>
              <a:t> Wyckoff Transformer: Generation of Symmetric Crystals. Preprint at </a:t>
            </a:r>
            <a:r>
              <a:rPr sz="1200">
                <a:hlinkClick xmlns:r="http://schemas.openxmlformats.org/officeDocument/2006/relationships" r:id="Rdc80e01fcdbe4cbe"/>
              </a:rPr>
              <a:t>https://doi.org/10.48550/arXiv.2503.02407</a:t>
            </a:r>
            <a:r>
              <a:rPr sz="1200"/>
              <a:t> (2025).</a:t>
            </a:r>
          </a:p>
        </p:txBody>
      </p:sp>
      <p:pic>
        <p:nvPicPr>
          <p:cNvPr id="31" name="图片 20"/>
          <p:cNvPicPr>
            <a:picLocks xmlns:a="http://schemas.openxmlformats.org/drawingml/2006/main" noChangeAspect="1"/>
          </p:cNvPicPr>
          <p:nvPr/>
        </p:nvPicPr>
        <p:blipFill>
          <a:blip xmlns:r="http://schemas.openxmlformats.org/officeDocument/2006/relationships" xmlns:a="http://schemas.openxmlformats.org/drawingml/2006/main" r:embed="R9cb3188027e141f0"/>
          <a:stretch xmlns:a="http://schemas.openxmlformats.org/drawingml/2006/main">
            <a:fillRect l="0" t="0" r="0" b="0"/>
          </a:stretch>
        </p:blipFill>
        <p:spPr>
          <a:xfrm xmlns:a="http://schemas.openxmlformats.org/drawingml/2006/main">
            <a:off x="655898" y="4210983"/>
            <a:ext cx="4762500" cy="2006600"/>
          </a:xfrm>
          <a:prstGeom xmlns:a="http://schemas.openxmlformats.org/drawingml/2006/main" prst="rect">
            <a:avLst/>
          </a:prstGeom>
        </p:spPr>
      </p:pic>
    </p:spTree>
    <p:extLst>
      <p:ext uri="{BB962C8B-B14F-4D97-AF65-F5344CB8AC3E}">
        <p14:creationId xmlns:p14="http://schemas.microsoft.com/office/powerpoint/2010/main" val="27076876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EFD9527-D951-2609-0875-1BA03195068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MaskGXT</a:t>
            </a:r>
            <a:endParaRPr/>
          </a:p>
        </p:txBody>
      </p:sp>
      <p:sp>
        <p:nvSpPr>
          <p:cNvPr id="4" name="灯片编号占位符 3">
            <a:extLst xmlns:a="http://schemas.openxmlformats.org/drawingml/2006/main">
              <a:ext uri="{FF2B5EF4-FFF2-40B4-BE49-F238E27FC236}">
                <a16:creationId xmlns:a16="http://schemas.microsoft.com/office/drawing/2014/main" id="{8B459779-FE5E-0C78-314B-9A677F7547E8}"/>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6</a:t>
            </a:fld>
            <a:endParaRPr/>
          </a:p>
        </p:txBody>
      </p:sp>
      <p:sp>
        <p:nvSpPr>
          <p:cNvPr id="8" name="文本框 7">
            <a:extLst xmlns:a="http://schemas.openxmlformats.org/drawingml/2006/main">
              <a:ext uri="{FF2B5EF4-FFF2-40B4-BE49-F238E27FC236}">
                <a16:creationId xmlns:a16="http://schemas.microsoft.com/office/drawing/2014/main" id="{C2AF689F-8410-5770-4168-1818EB87E91A}"/>
              </a:ext>
            </a:extLst>
          </p:cNvPr>
          <p:cNvSpPr>
            <a:spLocks xmlns:a="http://schemas.openxmlformats.org/drawingml/2006/main" noGrp="1"/>
          </p:cNvSpPr>
          <p:nvPr/>
        </p:nvSpPr>
        <p:spPr>
          <a:xfrm xmlns:a="http://schemas.openxmlformats.org/drawingml/2006/main">
            <a:off x="3536155" y="766296"/>
            <a:ext cx="6922295"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400"/>
              <a:t>Seong, K., Kim, N. &amp; Ahn, S. Discovering Crystal Structure Prediction Algorithms with an AI Co-Scientist. Preprint at </a:t>
            </a:r>
            <a:r>
              <a:rPr sz="1400">
                <a:hlinkClick xmlns:r="http://schemas.openxmlformats.org/officeDocument/2006/relationships" r:id="Rd946fc06b27548b5"/>
              </a:rPr>
              <a:t>https://doi.org/10.48550/arXiv.2606.22866</a:t>
            </a:r>
            <a:r>
              <a:rPr sz="1400"/>
              <a:t> (2026).</a:t>
            </a:r>
          </a:p>
        </p:txBody>
      </p:sp>
      <p:pic>
        <p:nvPicPr>
          <p:cNvPr id="20" name="图片 8"/>
          <p:cNvPicPr>
            <a:picLocks xmlns:a="http://schemas.openxmlformats.org/drawingml/2006/main" noChangeAspect="1"/>
          </p:cNvPicPr>
          <p:nvPr/>
        </p:nvPicPr>
        <p:blipFill>
          <a:blip xmlns:r="http://schemas.openxmlformats.org/officeDocument/2006/relationships" xmlns:a="http://schemas.openxmlformats.org/drawingml/2006/main" r:embed="R3fb77465e32b465e"/>
          <a:stretch xmlns:a="http://schemas.openxmlformats.org/drawingml/2006/main">
            <a:fillRect l="0" t="0" r="0" b="0"/>
          </a:stretch>
        </p:blipFill>
        <p:spPr>
          <a:xfrm xmlns:a="http://schemas.openxmlformats.org/drawingml/2006/main">
            <a:off x="381001" y="1448023"/>
            <a:ext cx="6400800" cy="5150992"/>
          </a:xfrm>
          <a:prstGeom xmlns:a="http://schemas.openxmlformats.org/drawingml/2006/main" prst="rect">
            <a:avLst/>
          </a:prstGeom>
        </p:spPr>
      </p:pic>
      <p:sp>
        <p:nvSpPr>
          <p:cNvPr id="11" name="文本框 10">
            <a:extLst xmlns:a="http://schemas.openxmlformats.org/drawingml/2006/main">
              <a:ext uri="{FF2B5EF4-FFF2-40B4-BE49-F238E27FC236}">
                <a16:creationId xmlns:a16="http://schemas.microsoft.com/office/drawing/2014/main" id="{5BCBFF48-7D2E-4705-C38E-8056052961D5}"/>
              </a:ext>
            </a:extLst>
          </p:cNvPr>
          <p:cNvSpPr>
            <a:spLocks xmlns:a="http://schemas.openxmlformats.org/drawingml/2006/main" noGrp="1"/>
          </p:cNvSpPr>
          <p:nvPr/>
        </p:nvSpPr>
        <p:spPr>
          <a:xfrm xmlns:a="http://schemas.openxmlformats.org/drawingml/2006/main">
            <a:off x="6596063" y="1849195"/>
            <a:ext cx="5595937" cy="1477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buFont typeface="Arial"/>
              <a:buChar char="•"/>
            </a:pPr>
            <a:r>
              <a:t>1 space-group token </a:t>
            </a:r>
          </a:p>
          <a:p xmlns:a="http://schemas.openxmlformats.org/drawingml/2006/main">
            <a:pPr marL="285750" indent="-285750">
              <a:buFont typeface="Arial"/>
              <a:buChar char="•"/>
            </a:pPr>
            <a:r>
              <a:t>6 lattice tokens </a:t>
            </a:r>
          </a:p>
          <a:p xmlns:a="http://schemas.openxmlformats.org/drawingml/2006/main">
            <a:pPr marL="285750" indent="-285750">
              <a:buFont typeface="Arial"/>
              <a:buChar char="•"/>
            </a:pPr>
            <a:r>
              <a:t>3 coordinate tokens per site </a:t>
            </a:r>
          </a:p>
          <a:p xmlns:a="http://schemas.openxmlformats.org/drawingml/2006/main">
            <a:pPr marL="285750" indent="-285750">
              <a:buFont typeface="Arial"/>
              <a:buChar char="•"/>
            </a:pPr>
            <a:r>
              <a:t>1 Wyckoff token per site </a:t>
            </a:r>
          </a:p>
          <a:p xmlns:a="http://schemas.openxmlformats.org/drawingml/2006/main">
            <a:pPr marL="285750" indent="-285750">
              <a:buFont typeface="Arial"/>
              <a:buChar char="•"/>
            </a:pPr>
            <a:r>
              <a:t>Atom-type tokens as composition conditions</a:t>
            </a:r>
            <a:endParaRPr/>
          </a:p>
        </p:txBody>
      </p:sp>
      <p:sp>
        <p:nvSpPr>
          <p:cNvPr id="13" name="文本框 12">
            <a:extLst xmlns:a="http://schemas.openxmlformats.org/drawingml/2006/main">
              <a:ext uri="{FF2B5EF4-FFF2-40B4-BE49-F238E27FC236}">
                <a16:creationId xmlns:a16="http://schemas.microsoft.com/office/drawing/2014/main" id="{FC63AC58-56AE-B1B9-B9A8-DDDC117388D3}"/>
              </a:ext>
            </a:extLst>
          </p:cNvPr>
          <p:cNvSpPr>
            <a:spLocks xmlns:a="http://schemas.openxmlformats.org/drawingml/2006/main" noGrp="1"/>
          </p:cNvSpPr>
          <p:nvPr/>
        </p:nvSpPr>
        <p:spPr>
          <a:xfrm xmlns:a="http://schemas.openxmlformats.org/drawingml/2006/main">
            <a:off x="6883191" y="3763090"/>
            <a:ext cx="4744641"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random masking</a:t>
            </a:r>
            <a:r>
              <a:t> </a:t>
            </a:r>
            <a:r>
              <a:t>→</a:t>
            </a:r>
            <a:r>
              <a:t> </a:t>
            </a:r>
            <a:r>
              <a:t>bidirectional Transformer</a:t>
            </a:r>
            <a:r>
              <a:t> </a:t>
            </a:r>
            <a:r>
              <a:t>→</a:t>
            </a:r>
            <a:r>
              <a:t> </a:t>
            </a:r>
            <a:r>
              <a:t>masked reconstruction</a:t>
            </a:r>
            <a:endParaRPr/>
          </a:p>
        </p:txBody>
      </p:sp>
      <p:sp>
        <p:nvSpPr>
          <p:cNvPr id="15" name="文本框 14">
            <a:extLst xmlns:a="http://schemas.openxmlformats.org/drawingml/2006/main">
              <a:ext uri="{FF2B5EF4-FFF2-40B4-BE49-F238E27FC236}">
                <a16:creationId xmlns:a16="http://schemas.microsoft.com/office/drawing/2014/main" id="{E6174E55-831B-33CE-A95D-3F32463D1612}"/>
              </a:ext>
            </a:extLst>
          </p:cNvPr>
          <p:cNvSpPr>
            <a:spLocks xmlns:a="http://schemas.openxmlformats.org/drawingml/2006/main" noGrp="1"/>
          </p:cNvSpPr>
          <p:nvPr/>
        </p:nvSpPr>
        <p:spPr>
          <a:xfrm xmlns:a="http://schemas.openxmlformats.org/drawingml/2006/main">
            <a:off x="6883191" y="5273452"/>
            <a:ext cx="320754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Parallel iterative sampling</a:t>
            </a:r>
            <a:endParaRPr/>
          </a:p>
        </p:txBody>
      </p:sp>
    </p:spTree>
    <p:extLst>
      <p:ext uri="{BB962C8B-B14F-4D97-AF65-F5344CB8AC3E}">
        <p14:creationId xmlns:p14="http://schemas.microsoft.com/office/powerpoint/2010/main" val="111348283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39A608A-77D1-1542-8EBD-3E03BE17CB9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DynaCrys</a:t>
            </a:r>
            <a:endParaRPr/>
          </a:p>
        </p:txBody>
      </p:sp>
      <p:sp>
        <p:nvSpPr>
          <p:cNvPr id="4" name="灯片编号占位符 3">
            <a:extLst xmlns:a="http://schemas.openxmlformats.org/drawingml/2006/main">
              <a:ext uri="{FF2B5EF4-FFF2-40B4-BE49-F238E27FC236}">
                <a16:creationId xmlns:a16="http://schemas.microsoft.com/office/drawing/2014/main" id="{A46AC711-4796-7EEE-A0CD-149AB04B5E0B}"/>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7</a:t>
            </a:fld>
            <a:endParaRPr/>
          </a:p>
        </p:txBody>
      </p:sp>
      <p:pic>
        <p:nvPicPr>
          <p:cNvPr id="35" name="图片 4"/>
          <p:cNvPicPr>
            <a:picLocks xmlns:a="http://schemas.openxmlformats.org/drawingml/2006/main" noChangeAspect="1"/>
          </p:cNvPicPr>
          <p:nvPr/>
        </p:nvPicPr>
        <p:blipFill>
          <a:blip xmlns:r="http://schemas.openxmlformats.org/officeDocument/2006/relationships" xmlns:a="http://schemas.openxmlformats.org/drawingml/2006/main" r:embed="Rf9b7ebd5c7fd407e"/>
          <a:stretch xmlns:a="http://schemas.openxmlformats.org/drawingml/2006/main"/>
        </p:blipFill>
        <p:spPr>
          <a:xfrm xmlns:a="http://schemas.openxmlformats.org/drawingml/2006/main">
            <a:off x="1926265" y="1315386"/>
            <a:ext cx="8536172" cy="1709626"/>
          </a:xfrm>
          <a:prstGeom xmlns:a="http://schemas.openxmlformats.org/drawingml/2006/main" prst="rect">
            <a:avLst/>
          </a:prstGeom>
        </p:spPr>
      </p:pic>
      <p:sp>
        <p:nvSpPr>
          <p:cNvPr id="23" name="文本框 22">
            <a:extLst xmlns:a="http://schemas.openxmlformats.org/drawingml/2006/main">
              <a:ext uri="{FF2B5EF4-FFF2-40B4-BE49-F238E27FC236}">
                <a16:creationId xmlns:a16="http://schemas.microsoft.com/office/drawing/2014/main" id="{C1FB3118-5FD8-BA12-4214-13AD01849CD4}"/>
              </a:ext>
            </a:extLst>
          </p:cNvPr>
          <p:cNvSpPr>
            <a:spLocks xmlns:a="http://schemas.openxmlformats.org/drawingml/2006/main" noGrp="1"/>
          </p:cNvSpPr>
          <p:nvPr/>
        </p:nvSpPr>
        <p:spPr>
          <a:xfrm xmlns:a="http://schemas.openxmlformats.org/drawingml/2006/main">
            <a:off x="295938" y="2983861"/>
            <a:ext cx="6097772" cy="23439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b="1"/>
              <a:t>① Representation</a:t>
            </a:r>
          </a:p>
          <a:p xmlns:a="http://schemas.openxmlformats.org/drawingml/2006/main">
            <a:endParaRPr/>
          </a:p>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i="1">
                      <a:latin typeface="Cambria Math"/>
                      <a:ea typeface="Cambria Math"/>
                      <a:cs typeface="Cambria Math"/>
                    </a:rPr>
                    <m:t>𝑃</m:t>
                  </m:r>
                  <m:r>
                    <a:rPr xmlns:a="http://schemas.openxmlformats.org/drawingml/2006/main" lang="en-US" i="1">
                      <a:latin typeface="Cambria Math"/>
                      <a:ea typeface="Cambria Math"/>
                      <a:cs typeface="Cambria Math"/>
                    </a:rPr>
                    <m:t>=</m:t>
                  </m:r>
                  <m:d>
                    <m:dPr>
                      <m:grow m:val="off"/>
                    </m:dPr>
                    <m:e>
                      <m:r>
                        <a:rPr xmlns:a="http://schemas.openxmlformats.org/drawingml/2006/main" lang="en-US" i="1">
                          <a:latin typeface="Cambria Math"/>
                          <a:ea typeface="Cambria Math"/>
                          <a:cs typeface="Cambria Math"/>
                        </a:rPr>
                        <m:t>𝐺</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𝐾</m:t>
                      </m:r>
                      <m:r>
                        <a:rPr xmlns:a="http://schemas.openxmlformats.org/drawingml/2006/main" lang="en-US" i="1">
                          <a:latin typeface="Cambria Math"/>
                          <a:ea typeface="Cambria Math"/>
                          <a:cs typeface="Cambria Math"/>
                        </a:rPr>
                        <m:t>,</m:t>
                      </m:r>
                      <m:d>
                        <m:dPr>
                          <m:grow m:val="off"/>
                        </m:dPr>
                        <m:e>
                          <m:r>
                            <a:rPr xmlns:a="http://schemas.openxmlformats.org/drawingml/2006/main" lang="en-US" i="1">
                              <a:latin typeface="Cambria Math"/>
                              <a:ea typeface="Cambria Math"/>
                              <a:cs typeface="Cambria Math"/>
                            </a:rPr>
                            <m:t>𝑟𝑖</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𝑍𝑖</m:t>
                          </m:r>
                        </m:e>
                      </m:d>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m:t>
                      </m:r>
                      <m:r>
                        <a:rPr xmlns:a="http://schemas.openxmlformats.org/drawingml/2006/main" lang="en-US" i="1">
                          <a:latin typeface="Cambria Math"/>
                          <a:ea typeface="Cambria Math"/>
                          <a:cs typeface="Cambria Math"/>
                        </a:rPr>
                        <m:t>𝐾</m:t>
                      </m:r>
                    </m:e>
                  </m:d>
                  <m:r>
                    <a:rPr xmlns:a="http://schemas.openxmlformats.org/drawingml/2006/main" lang="en-US" i="1">
                      <a:latin typeface="Cambria Math"/>
                      <a:ea typeface="Cambria Math"/>
                      <a:cs typeface="Cambria Math"/>
                    </a:rPr>
                    <m:t>𝑃</m:t>
                  </m:r>
                  <m:r>
                    <a:rPr xmlns:a="http://schemas.openxmlformats.org/drawingml/2006/main" lang="en-US" i="1">
                      <a:latin typeface="Cambria Math"/>
                      <a:ea typeface="Cambria Math"/>
                      <a:cs typeface="Cambria Math"/>
                    </a:rPr>
                    <m:t>=</m:t>
                  </m:r>
                  <m:d>
                    <m:dPr>
                      <m:grow m:val="off"/>
                    </m:dPr>
                    <m:e>
                      <m:r>
                        <a:rPr xmlns:a="http://schemas.openxmlformats.org/drawingml/2006/main" lang="en-US" i="1">
                          <a:latin typeface="Cambria Math"/>
                          <a:ea typeface="Cambria Math"/>
                          <a:cs typeface="Cambria Math"/>
                        </a:rPr>
                        <m:t>𝐺</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𝐾</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m:t>
                      </m:r>
                      <m:d>
                        <m:dPr>
                          <m:grow m:val="off"/>
                        </m:dPr>
                        <m:e>
                          <m:sSub>
                            <m:e>
                              <m:r>
                                <a:rPr xmlns:a="http://schemas.openxmlformats.org/drawingml/2006/main" lang="en-US" i="1">
                                  <a:latin typeface="Cambria Math"/>
                                  <a:ea typeface="Cambria Math"/>
                                  <a:cs typeface="Cambria Math"/>
                                </a:rPr>
                                <m:t>𝑟</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𝑍</m:t>
                              </m:r>
                            </m:e>
                            <m:sub>
                              <m:r>
                                <a:rPr xmlns:a="http://schemas.openxmlformats.org/drawingml/2006/main" lang="en-US" i="1">
                                  <a:latin typeface="Cambria Math"/>
                                  <a:ea typeface="Cambria Math"/>
                                  <a:cs typeface="Cambria Math"/>
                                </a:rPr>
                                <m:t>𝑖</m:t>
                              </m:r>
                            </m:sub>
                          </m:sSub>
                        </m:e>
                      </m:d>
                      <m:sSubSup>
                        <m:e>
                          <m:r>
                            <a:rPr xmlns:a="http://schemas.openxmlformats.org/drawingml/2006/main" lang="en-US" i="1">
                              <a:latin typeface="Cambria Math"/>
                              <a:ea typeface="Cambria Math"/>
                              <a:cs typeface="Cambria Math"/>
                            </a:rPr>
                            <m:t>}</m:t>
                          </m:r>
                        </m:e>
                        <m:sub>
                          <m:r>
                            <a:rPr xmlns:a="http://schemas.openxmlformats.org/drawingml/2006/main" lang="en-US" i="1">
                              <a:latin typeface="Cambria Math"/>
                              <a:ea typeface="Cambria Math"/>
                              <a:cs typeface="Cambria Math"/>
                            </a:rPr>
                            <m:t>𝑖</m:t>
                          </m:r>
                          <m:r>
                            <a:rPr xmlns:a="http://schemas.openxmlformats.org/drawingml/2006/main" lang="en-US" i="1">
                              <a:latin typeface="Cambria Math"/>
                              <a:ea typeface="Cambria Math"/>
                              <a:cs typeface="Cambria Math"/>
                            </a:rPr>
                            <m:t>=1</m:t>
                          </m:r>
                        </m:sub>
                        <m:sup>
                          <m:r>
                            <a:rPr xmlns:a="http://schemas.openxmlformats.org/drawingml/2006/main" lang="en-US" i="1">
                              <a:latin typeface="Cambria Math"/>
                              <a:ea typeface="Cambria Math"/>
                              <a:cs typeface="Cambria Math"/>
                            </a:rPr>
                            <m:t>𝐾</m:t>
                          </m:r>
                        </m:sup>
                      </m:sSubSup>
                    </m:e>
                  </m:d>
                </m:oMath>
              </m:oMathPara>
            </a14:m>
            <a:endParaRPr/>
          </a:p>
          <a:p xmlns:a="http://schemas.openxmlformats.org/drawingml/2006/main">
            <a:endParaRPr/>
          </a:p>
          <a:p xmlns:a="http://schemas.openxmlformats.org/drawingml/2006/main">
            <a:pPr marL="285750" indent="-285750">
              <a:buFont typeface="Arial"/>
              <a:buChar char="•"/>
            </a:pPr>
            <a:r>
              <a:t>Space group G</a:t>
            </a:r>
          </a:p>
          <a:p xmlns:a="http://schemas.openxmlformats.org/drawingml/2006/main">
            <a:pPr marL="285750" indent="-285750">
              <a:buFont typeface="Arial"/>
              <a:buChar char="•"/>
            </a:pPr>
            <a:r>
              <a:t>Number of occupied orbits K</a:t>
            </a:r>
          </a:p>
          <a:p xmlns:a="http://schemas.openxmlformats.org/drawingml/2006/main">
            <a:pPr marL="285750" indent="-285750">
              <a:buFont typeface="Arial"/>
              <a:buChar char="•"/>
            </a:pPr>
            <a:r>
              <a:t>Unordered Wyckoff occupations </a:t>
            </a:r>
            <a14:m xmlns:a14="http://schemas.microsoft.com/office/drawing/2010/main">
              <m:oMathPara xmlns:m="http://schemas.openxmlformats.org/officeDocument/2006/math">
                <m:oMath>
                  <m:d>
                    <m:dPr>
                      <m:grow m:val="off"/>
                    </m:dPr>
                    <m:e>
                      <m:r>
                        <a:rPr xmlns:a="http://schemas.openxmlformats.org/drawingml/2006/main" lang="en-US" i="1">
                          <a:latin typeface="Cambria Math"/>
                          <a:ea typeface="Cambria Math"/>
                          <a:cs typeface="Cambria Math"/>
                        </a:rPr>
                        <m:t>𝑟𝑖</m:t>
                      </m:r>
                      <m:r>
                        <a:rPr xmlns:a="http://schemas.openxmlformats.org/drawingml/2006/main" lang="en-US" i="1">
                          <a:latin typeface="Cambria Math"/>
                          <a:ea typeface="Cambria Math"/>
                          <a:cs typeface="Cambria Math"/>
                        </a:rPr>
                        <m:t>,</m:t>
                      </m:r>
                      <m:r>
                        <a:rPr xmlns:a="http://schemas.openxmlformats.org/drawingml/2006/main" lang="en-US" i="1">
                          <a:latin typeface="Cambria Math"/>
                          <a:ea typeface="Cambria Math"/>
                          <a:cs typeface="Cambria Math"/>
                        </a:rPr>
                        <m:t>𝑍𝑖</m:t>
                      </m:r>
                    </m:e>
                  </m:d>
                  <m:d>
                    <m:dPr>
                      <m:grow m:val="off"/>
                    </m:dPr>
                    <m:e>
                      <m:sSub>
                        <m:e>
                          <m:r>
                            <a:rPr xmlns:a="http://schemas.openxmlformats.org/drawingml/2006/main" lang="en-US" i="1">
                              <a:latin typeface="Cambria Math"/>
                              <a:ea typeface="Cambria Math"/>
                              <a:cs typeface="Cambria Math"/>
                            </a:rPr>
                            <m:t>𝑟</m:t>
                          </m:r>
                        </m:e>
                        <m:sub>
                          <m:r>
                            <a:rPr xmlns:a="http://schemas.openxmlformats.org/drawingml/2006/main" lang="en-US" i="1">
                              <a:latin typeface="Cambria Math"/>
                              <a:ea typeface="Cambria Math"/>
                              <a:cs typeface="Cambria Math"/>
                            </a:rPr>
                            <m:t>𝑖</m:t>
                          </m:r>
                        </m:sub>
                      </m:sSub>
                      <m:r>
                        <a:rPr xmlns:a="http://schemas.openxmlformats.org/drawingml/2006/main" lang="en-US" i="1">
                          <a:latin typeface="Cambria Math"/>
                          <a:ea typeface="Cambria Math"/>
                          <a:cs typeface="Cambria Math"/>
                        </a:rPr>
                        <m:t>,</m:t>
                      </m:r>
                      <m:sSub>
                        <m:e>
                          <m:r>
                            <a:rPr xmlns:a="http://schemas.openxmlformats.org/drawingml/2006/main" lang="en-US" i="1">
                              <a:latin typeface="Cambria Math"/>
                              <a:ea typeface="Cambria Math"/>
                              <a:cs typeface="Cambria Math"/>
                            </a:rPr>
                            <m:t>𝑍</m:t>
                          </m:r>
                        </m:e>
                        <m:sub>
                          <m:r>
                            <a:rPr xmlns:a="http://schemas.openxmlformats.org/drawingml/2006/main" lang="en-US" i="1">
                              <a:latin typeface="Cambria Math"/>
                              <a:ea typeface="Cambria Math"/>
                              <a:cs typeface="Cambria Math"/>
                            </a:rPr>
                            <m:t>𝑖</m:t>
                          </m:r>
                        </m:sub>
                      </m:sSub>
                    </m:e>
                  </m:d>
                </m:oMath>
              </m:oMathPara>
            </a14:m>
            <a:endParaRPr/>
          </a:p>
          <a:p xmlns:a="http://schemas.openxmlformats.org/drawingml/2006/main">
            <a:pPr marL="285750" indent="-285750">
              <a:buFont typeface="Arial"/>
              <a:buChar char="•"/>
            </a:pPr>
            <a:r>
              <a:t>No lattice or free coordinates yet</a:t>
            </a:r>
          </a:p>
        </p:txBody>
      </p:sp>
      <p:sp>
        <p:nvSpPr>
          <p:cNvPr id="25" name="文本框 24">
            <a:extLst xmlns:a="http://schemas.openxmlformats.org/drawingml/2006/main">
              <a:ext uri="{FF2B5EF4-FFF2-40B4-BE49-F238E27FC236}">
                <a16:creationId xmlns:a16="http://schemas.microsoft.com/office/drawing/2014/main" id="{C6EB5BCC-8DD4-D19E-ED66-E829D9C12649}"/>
              </a:ext>
            </a:extLst>
          </p:cNvPr>
          <p:cNvSpPr>
            <a:spLocks xmlns:a="http://schemas.openxmlformats.org/drawingml/2006/main" noGrp="1"/>
          </p:cNvSpPr>
          <p:nvPr/>
        </p:nvSpPr>
        <p:spPr>
          <a:xfrm xmlns:a="http://schemas.openxmlformats.org/drawingml/2006/main">
            <a:off x="3941133" y="754828"/>
            <a:ext cx="6097772"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200"/>
              <a:t>Jin, Z. </a:t>
            </a:r>
            <a:r>
              <a:rPr sz="1200" i="1"/>
              <a:t>et al.</a:t>
            </a:r>
            <a:r>
              <a:rPr sz="1200"/>
              <a:t> </a:t>
            </a:r>
            <a:r>
              <a:rPr sz="1200"/>
              <a:t>DynaCrys</a:t>
            </a:r>
            <a:r>
              <a:rPr sz="1200"/>
              <a:t>: Crystal Generation with Dynamic Space-Group Diffusion. Preprint at </a:t>
            </a:r>
            <a:r>
              <a:rPr sz="1200">
                <a:hlinkClick xmlns:r="http://schemas.openxmlformats.org/officeDocument/2006/relationships" r:id="R168b91dd5bfb40ef"/>
              </a:rPr>
              <a:t>https://doi.org/10.48550/arXiv.2608.07401</a:t>
            </a:r>
            <a:r>
              <a:rPr sz="1200"/>
              <a:t> (2026).</a:t>
            </a:r>
          </a:p>
        </p:txBody>
      </p:sp>
      <p:sp>
        <p:nvSpPr>
          <p:cNvPr id="29" name="文本框 28">
            <a:extLst xmlns:a="http://schemas.openxmlformats.org/drawingml/2006/main">
              <a:ext uri="{FF2B5EF4-FFF2-40B4-BE49-F238E27FC236}">
                <a16:creationId xmlns:a16="http://schemas.microsoft.com/office/drawing/2014/main" id="{BC756559-F879-2466-C06E-C959D1ED0A48}"/>
              </a:ext>
            </a:extLst>
          </p:cNvPr>
          <p:cNvSpPr>
            <a:spLocks xmlns:a="http://schemas.openxmlformats.org/drawingml/2006/main" noGrp="1"/>
          </p:cNvSpPr>
          <p:nvPr/>
        </p:nvSpPr>
        <p:spPr>
          <a:xfrm xmlns:a="http://schemas.openxmlformats.org/drawingml/2006/main">
            <a:off x="6206626" y="2983861"/>
            <a:ext cx="6097772" cy="246221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1400" b="1"/>
              <a:t>② Generation process</a:t>
            </a:r>
          </a:p>
          <a:p xmlns:a="http://schemas.openxmlformats.org/drawingml/2006/main">
            <a:pPr>
              <a:buNone/>
            </a:pPr>
            <a:r>
              <a:rPr sz="1400" b="1"/>
              <a:t>Symbolic diffusion</a:t>
            </a:r>
            <a:endParaRPr sz="1400"/>
          </a:p>
          <a:p xmlns:a="http://schemas.openxmlformats.org/drawingml/2006/main">
            <a:r>
              <a:rPr sz="1400"/>
              <a:t>set denoising</a:t>
            </a:r>
            <a:r>
              <a:rPr sz="1400"/>
              <a:t> </a:t>
            </a:r>
            <a:r>
              <a:rPr sz="1400"/>
              <a:t>→</a:t>
            </a:r>
            <a:r>
              <a:rPr sz="1400"/>
              <a:t> </a:t>
            </a:r>
            <a:r>
              <a:rPr sz="1400"/>
              <a:t>joint legal sampling</a:t>
            </a:r>
            <a:r>
              <a:rPr sz="1400"/>
              <a:t> </a:t>
            </a:r>
            <a:r>
              <a:rPr sz="1400"/>
              <a:t>→</a:t>
            </a:r>
            <a:r>
              <a:rPr sz="1400"/>
              <a:t> </a:t>
            </a:r>
            <a:r>
              <a:rPr sz="1400"/>
              <a:t>re-noising</a:t>
            </a:r>
          </a:p>
          <a:p xmlns:a="http://schemas.openxmlformats.org/drawingml/2006/main">
            <a:pPr marL="285750" indent="-285750">
              <a:buFont typeface="Arial"/>
              <a:buChar char="•"/>
            </a:pPr>
            <a:r>
              <a:rPr sz="1400"/>
              <a:t>Jointly updates GG, Wyckoff rows and elements </a:t>
            </a:r>
          </a:p>
          <a:p xmlns:a="http://schemas.openxmlformats.org/drawingml/2006/main">
            <a:pPr marL="285750" indent="-285750">
              <a:buFont typeface="Arial"/>
              <a:buChar char="•"/>
            </a:pPr>
            <a:r>
              <a:rPr sz="1400"/>
              <a:t>Space-group transitions follow group–subgroup relations </a:t>
            </a:r>
          </a:p>
          <a:p xmlns:a="http://schemas.openxmlformats.org/drawingml/2006/main">
            <a:pPr marL="285750" indent="-285750">
              <a:buFont typeface="Arial"/>
              <a:buChar char="•"/>
            </a:pPr>
            <a:r>
              <a:rPr sz="1400"/>
              <a:t>Legal sampling keeps the decoded symbolic state </a:t>
            </a:r>
            <a:r>
              <a:rPr sz="1400"/>
              <a:t>crystallographically</a:t>
            </a:r>
            <a:r>
              <a:rPr sz="1400"/>
              <a:t> valid </a:t>
            </a:r>
          </a:p>
          <a:p xmlns:a="http://schemas.openxmlformats.org/drawingml/2006/main">
            <a:pPr>
              <a:buNone/>
            </a:pPr>
            <a:r>
              <a:rPr sz="1400" b="1"/>
              <a:t>Geometry diffusion</a:t>
            </a:r>
          </a:p>
          <a:p xmlns:a="http://schemas.openxmlformats.org/drawingml/2006/main">
            <a:pPr marL="285750" indent="-285750">
              <a:buFont typeface="Arial"/>
              <a:buChar char="•"/>
            </a:pPr>
            <a:r>
              <a:rPr sz="1400"/>
              <a:t>Generates lattice parameters </a:t>
            </a:r>
          </a:p>
          <a:p xmlns:a="http://schemas.openxmlformats.org/drawingml/2006/main">
            <a:pPr marL="285750" indent="-285750">
              <a:buFont typeface="Arial"/>
              <a:buChar char="•"/>
            </a:pPr>
            <a:r>
              <a:rPr sz="1400"/>
              <a:t>Generates free Wyckoff coordinates </a:t>
            </a:r>
          </a:p>
          <a:p xmlns:a="http://schemas.openxmlformats.org/drawingml/2006/main">
            <a:pPr marL="285750" indent="-285750">
              <a:buFont typeface="Arial"/>
              <a:buChar char="•"/>
            </a:pPr>
            <a:r>
              <a:rPr sz="1400"/>
              <a:t>Expands them into a complete symmetric crystal </a:t>
            </a:r>
          </a:p>
        </p:txBody>
      </p:sp>
      <p:sp>
        <p:nvSpPr>
          <p:cNvPr id="31" name="文本框 30">
            <a:extLst xmlns:a="http://schemas.openxmlformats.org/drawingml/2006/main">
              <a:ext uri="{FF2B5EF4-FFF2-40B4-BE49-F238E27FC236}">
                <a16:creationId xmlns:a16="http://schemas.microsoft.com/office/drawing/2014/main" id="{B5C47C08-1D6A-E937-5FCE-98D0F2EEBBAC}"/>
              </a:ext>
            </a:extLst>
          </p:cNvPr>
          <p:cNvSpPr>
            <a:spLocks xmlns:a="http://schemas.openxmlformats.org/drawingml/2006/main" noGrp="1"/>
          </p:cNvSpPr>
          <p:nvPr/>
        </p:nvSpPr>
        <p:spPr>
          <a:xfrm xmlns:a="http://schemas.openxmlformats.org/drawingml/2006/main">
            <a:off x="2053856" y="5736590"/>
            <a:ext cx="8280991"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solidFill>
                  <a:srgbClr val="B60007"/>
                </a:solidFill>
              </a:rPr>
              <a:t>空间群不是预先给定或一次性采样的条件，而是在 </a:t>
            </a:r>
            <a:r>
              <a:rPr sz="1400">
                <a:solidFill>
                  <a:srgbClr val="B60007"/>
                </a:solidFill>
              </a:rPr>
              <a:t>reverse diffusion </a:t>
            </a:r>
            <a:r>
              <a:rPr sz="1400">
                <a:solidFill>
                  <a:srgbClr val="B60007"/>
                </a:solidFill>
              </a:rPr>
              <a:t>过程中与 </a:t>
            </a:r>
            <a:r>
              <a:rPr sz="1400">
                <a:solidFill>
                  <a:srgbClr val="B60007"/>
                </a:solidFill>
              </a:rPr>
              <a:t>Wyckoff occupations </a:t>
            </a:r>
            <a:r>
              <a:rPr sz="1400">
                <a:solidFill>
                  <a:srgbClr val="B60007"/>
                </a:solidFill>
              </a:rPr>
              <a:t>和元素共同修改；最终再通过 </a:t>
            </a:r>
            <a:r>
              <a:rPr sz="1400">
                <a:solidFill>
                  <a:srgbClr val="B60007"/>
                </a:solidFill>
              </a:rPr>
              <a:t>symmetry-constrained geometry diffusion </a:t>
            </a:r>
            <a:r>
              <a:rPr sz="1400">
                <a:solidFill>
                  <a:srgbClr val="B60007"/>
                </a:solidFill>
              </a:rPr>
              <a:t>生成完整结构。</a:t>
            </a:r>
          </a:p>
        </p:txBody>
      </p:sp>
    </p:spTree>
    <p:extLst>
      <p:ext uri="{BB962C8B-B14F-4D97-AF65-F5344CB8AC3E}">
        <p14:creationId xmlns:p14="http://schemas.microsoft.com/office/powerpoint/2010/main" val="164630745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6694C1-7B6F-5555-FDDC-5E344D1BFD9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Related Work</a:t>
            </a:r>
          </a:p>
        </p:txBody>
      </p:sp>
      <p:sp>
        <p:nvSpPr>
          <p:cNvPr id="4" name="Slide Number Placeholder 3">
            <a:extLst xmlns:a="http://schemas.openxmlformats.org/drawingml/2006/main">
              <a:ext uri="{FF2B5EF4-FFF2-40B4-BE49-F238E27FC236}">
                <a16:creationId xmlns:a16="http://schemas.microsoft.com/office/drawing/2014/main" id="{23803555-922C-3010-6599-BF29D37969EA}"/>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8</a:t>
            </a:fld>
            <a:endParaRPr/>
          </a:p>
        </p:txBody>
      </p:sp>
      <p:sp>
        <p:nvSpPr>
          <p:cNvPr id="6" name="文本框 5">
            <a:extLst xmlns:a="http://schemas.openxmlformats.org/drawingml/2006/main">
              <a:ext uri="{FF2B5EF4-FFF2-40B4-BE49-F238E27FC236}">
                <a16:creationId xmlns:a16="http://schemas.microsoft.com/office/drawing/2014/main" id="{57324679-B449-4C40-AF60-D27293A56072}"/>
              </a:ext>
            </a:extLst>
          </p:cNvPr>
          <p:cNvSpPr>
            <a:spLocks xmlns:a="http://schemas.openxmlformats.org/drawingml/2006/main" noGrp="1"/>
          </p:cNvSpPr>
          <p:nvPr/>
        </p:nvSpPr>
        <p:spPr>
          <a:xfrm xmlns:a="http://schemas.openxmlformats.org/drawingml/2006/main">
            <a:off x="986170" y="2199306"/>
            <a:ext cx="10507626" cy="29470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b="1"/>
              <a:t>Wyckoff representation + Transformer</a:t>
            </a:r>
            <a:r>
              <a:t>：</a:t>
            </a:r>
            <a:r>
              <a:t>WyFormer</a:t>
            </a:r>
            <a:r>
              <a:t>； </a:t>
            </a:r>
            <a:endParaRPr/>
          </a:p>
          <a:p xmlns:a="http://schemas.openxmlformats.org/drawingml/2006/main">
            <a:pPr>
              <a:lnSpc>
                <a:spcPct val="150000"/>
              </a:lnSpc>
              <a:buNone/>
            </a:pPr>
            <a:r>
              <a:rPr b="1"/>
              <a:t>Wyckoff occupation + discrete diffusion</a:t>
            </a:r>
            <a:r>
              <a:t>：</a:t>
            </a:r>
            <a:r>
              <a:t>WyckoffDiff</a:t>
            </a:r>
            <a:r>
              <a:t>； </a:t>
            </a:r>
            <a:endParaRPr/>
          </a:p>
          <a:p xmlns:a="http://schemas.openxmlformats.org/drawingml/2006/main">
            <a:pPr>
              <a:lnSpc>
                <a:spcPct val="150000"/>
              </a:lnSpc>
              <a:buNone/>
            </a:pPr>
            <a:r>
              <a:rPr b="1"/>
              <a:t>动态 </a:t>
            </a:r>
            <a:r>
              <a:rPr b="1"/>
              <a:t>space group + Wyckoff diffusion/jump process</a:t>
            </a:r>
            <a:r>
              <a:t>：</a:t>
            </a:r>
            <a:r>
              <a:t>DynaCrys</a:t>
            </a:r>
            <a:r>
              <a:t>、</a:t>
            </a:r>
            <a:r>
              <a:t>SbCD</a:t>
            </a:r>
            <a:r>
              <a:t>； </a:t>
            </a:r>
            <a:endParaRPr/>
          </a:p>
          <a:p xmlns:a="http://schemas.openxmlformats.org/drawingml/2006/main">
            <a:pPr>
              <a:lnSpc>
                <a:spcPct val="150000"/>
              </a:lnSpc>
              <a:buNone/>
            </a:pPr>
            <a:r>
              <a:rPr b="1"/>
              <a:t>Wyckoff AR + space-group-equivariant coordinate diffusion</a:t>
            </a:r>
            <a:r>
              <a:t>：</a:t>
            </a:r>
            <a:r>
              <a:t>SGEquiDiff</a:t>
            </a:r>
            <a:r>
              <a:t>； </a:t>
            </a:r>
            <a:endParaRPr/>
          </a:p>
          <a:p xmlns:a="http://schemas.openxmlformats.org/drawingml/2006/main">
            <a:pPr>
              <a:lnSpc>
                <a:spcPct val="150000"/>
              </a:lnSpc>
              <a:buNone/>
            </a:pPr>
            <a:r>
              <a:rPr b="1"/>
              <a:t>全晶体 </a:t>
            </a:r>
            <a:r>
              <a:rPr b="1"/>
              <a:t>token + masked parallel decoding</a:t>
            </a:r>
            <a:r>
              <a:t>：</a:t>
            </a:r>
            <a:r>
              <a:t>MaskGXT</a:t>
            </a:r>
            <a:r>
              <a:t>； </a:t>
            </a:r>
            <a:endParaRPr/>
          </a:p>
          <a:p xmlns:a="http://schemas.openxmlformats.org/drawingml/2006/main">
            <a:pPr>
              <a:lnSpc>
                <a:spcPct val="150000"/>
              </a:lnSpc>
              <a:buNone/>
            </a:pPr>
            <a:r>
              <a:rPr b="1"/>
              <a:t>reciprocal-space representation + diffusion/Transformer</a:t>
            </a:r>
            <a:r>
              <a:t>：</a:t>
            </a:r>
            <a:r>
              <a:t>Fourier-space crystal generation</a:t>
            </a:r>
            <a:r>
              <a:t>； </a:t>
            </a:r>
            <a:endParaRPr/>
          </a:p>
          <a:p xmlns:a="http://schemas.openxmlformats.org/drawingml/2006/main">
            <a:pPr>
              <a:lnSpc>
                <a:spcPct val="150000"/>
              </a:lnSpc>
              <a:buNone/>
            </a:pPr>
            <a:r>
              <a:rPr b="1"/>
              <a:t>partial occupancy/disordered crystal generation</a:t>
            </a:r>
            <a:r>
              <a:t>：</a:t>
            </a:r>
            <a:r>
              <a:t>Dis-GEN </a:t>
            </a:r>
            <a:r>
              <a:t>等。</a:t>
            </a:r>
          </a:p>
        </p:txBody>
      </p:sp>
    </p:spTree>
    <p:extLst>
      <p:ext uri="{BB962C8B-B14F-4D97-AF65-F5344CB8AC3E}">
        <p14:creationId xmlns:p14="http://schemas.microsoft.com/office/powerpoint/2010/main" val="425637391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88899F2-87C1-B731-2391-24CA998735C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What</a:t>
            </a:r>
            <a:r>
              <a:t> </a:t>
            </a:r>
            <a:r>
              <a:t>we</a:t>
            </a:r>
            <a:r>
              <a:t> </a:t>
            </a:r>
            <a:r>
              <a:t>can</a:t>
            </a:r>
            <a:r>
              <a:t> </a:t>
            </a:r>
            <a:r>
              <a:t>do</a:t>
            </a:r>
            <a:r>
              <a:t>？</a:t>
            </a:r>
          </a:p>
        </p:txBody>
      </p:sp>
      <p:sp>
        <p:nvSpPr>
          <p:cNvPr id="4" name="灯片编号占位符 3">
            <a:extLst xmlns:a="http://schemas.openxmlformats.org/drawingml/2006/main">
              <a:ext uri="{FF2B5EF4-FFF2-40B4-BE49-F238E27FC236}">
                <a16:creationId xmlns:a16="http://schemas.microsoft.com/office/drawing/2014/main" id="{28F29EDE-156E-1C43-2949-AA57FCD6044E}"/>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9</a:t>
            </a:fld>
            <a:endParaRPr/>
          </a:p>
        </p:txBody>
      </p:sp>
      <p:sp>
        <p:nvSpPr>
          <p:cNvPr id="8" name="文本框 7">
            <a:extLst xmlns:a="http://schemas.openxmlformats.org/drawingml/2006/main">
              <a:ext uri="{FF2B5EF4-FFF2-40B4-BE49-F238E27FC236}">
                <a16:creationId xmlns:a16="http://schemas.microsoft.com/office/drawing/2014/main" id="{F0611E1C-2DAA-DF61-100E-F61C7280375B}"/>
              </a:ext>
            </a:extLst>
          </p:cNvPr>
          <p:cNvSpPr>
            <a:spLocks xmlns:a="http://schemas.openxmlformats.org/drawingml/2006/main" noGrp="1"/>
          </p:cNvSpPr>
          <p:nvPr/>
        </p:nvSpPr>
        <p:spPr>
          <a:xfrm xmlns:a="http://schemas.openxmlformats.org/drawingml/2006/main">
            <a:off x="5534024" y="1527125"/>
            <a:ext cx="3895726"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rgbClr val="B60007"/>
                </a:solidFill>
              </a:rPr>
              <a:t>Test-Time Scalable Crystal DLM</a:t>
            </a:r>
            <a:endParaRPr sz="2000">
              <a:solidFill>
                <a:srgbClr val="B60007"/>
              </a:solidFill>
            </a:endParaRPr>
          </a:p>
        </p:txBody>
      </p:sp>
      <p:sp>
        <p:nvSpPr>
          <p:cNvPr id="10" name="文本框 9">
            <a:extLst xmlns:a="http://schemas.openxmlformats.org/drawingml/2006/main">
              <a:ext uri="{FF2B5EF4-FFF2-40B4-BE49-F238E27FC236}">
                <a16:creationId xmlns:a16="http://schemas.microsoft.com/office/drawing/2014/main" id="{72220D60-B21E-C7DB-9A06-9F0F97301CB0}"/>
              </a:ext>
            </a:extLst>
          </p:cNvPr>
          <p:cNvSpPr>
            <a:spLocks xmlns:a="http://schemas.openxmlformats.org/drawingml/2006/main" noGrp="1"/>
          </p:cNvSpPr>
          <p:nvPr/>
        </p:nvSpPr>
        <p:spPr>
          <a:xfrm xmlns:a="http://schemas.openxmlformats.org/drawingml/2006/main">
            <a:off x="833437" y="2933223"/>
            <a:ext cx="2667001" cy="116955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[MASK, MASK, MASK, ...]</a:t>
            </a:r>
          </a:p>
          <a:p xmlns:a="http://schemas.openxmlformats.org/drawingml/2006/main">
            <a:r>
              <a:rPr sz="1400"/>
              <a:t>            ↓</a:t>
            </a:r>
          </a:p>
          <a:p xmlns:a="http://schemas.openxmlformats.org/drawingml/2006/main">
            <a:r>
              <a:rPr sz="1400"/>
              <a:t>       iterative denoising</a:t>
            </a:r>
          </a:p>
          <a:p xmlns:a="http://schemas.openxmlformats.org/drawingml/2006/main">
            <a:r>
              <a:rPr sz="1400"/>
              <a:t>            ↓</a:t>
            </a:r>
          </a:p>
          <a:p xmlns:a="http://schemas.openxmlformats.org/drawingml/2006/main">
            <a:r>
              <a:rPr sz="1400"/>
              <a:t>      one Wyckoff structure</a:t>
            </a:r>
          </a:p>
        </p:txBody>
      </p:sp>
      <p:sp>
        <p:nvSpPr>
          <p:cNvPr id="11" name="文本框 10">
            <a:extLst xmlns:a="http://schemas.openxmlformats.org/drawingml/2006/main">
              <a:ext uri="{FF2B5EF4-FFF2-40B4-BE49-F238E27FC236}">
                <a16:creationId xmlns:a16="http://schemas.microsoft.com/office/drawing/2014/main" id="{4350F8C8-B298-51AD-230B-25C785073BBC}"/>
              </a:ext>
            </a:extLst>
          </p:cNvPr>
          <p:cNvSpPr>
            <a:spLocks xmlns:a="http://schemas.openxmlformats.org/drawingml/2006/main" noGrp="1"/>
          </p:cNvSpPr>
          <p:nvPr/>
        </p:nvSpPr>
        <p:spPr>
          <a:xfrm xmlns:a="http://schemas.openxmlformats.org/drawingml/2006/main">
            <a:off x="575269" y="2348447"/>
            <a:ext cx="4153894"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普通的</a:t>
            </a:r>
            <a:r>
              <a:t>Wyckoff DLM </a:t>
            </a:r>
            <a:r>
              <a:t>只有一条去噪路径</a:t>
            </a:r>
            <a:endParaRPr/>
          </a:p>
        </p:txBody>
      </p:sp>
      <p:sp>
        <p:nvSpPr>
          <p:cNvPr id="14" name="文本框 13">
            <a:extLst xmlns:a="http://schemas.openxmlformats.org/drawingml/2006/main">
              <a:ext uri="{FF2B5EF4-FFF2-40B4-BE49-F238E27FC236}">
                <a16:creationId xmlns:a16="http://schemas.microsoft.com/office/drawing/2014/main" id="{B490E9E2-9BE0-EAF5-C9ED-58EBB97D8576}"/>
              </a:ext>
            </a:extLst>
          </p:cNvPr>
          <p:cNvSpPr>
            <a:spLocks xmlns:a="http://schemas.openxmlformats.org/drawingml/2006/main" noGrp="1"/>
          </p:cNvSpPr>
          <p:nvPr/>
        </p:nvSpPr>
        <p:spPr>
          <a:xfrm xmlns:a="http://schemas.openxmlformats.org/drawingml/2006/main">
            <a:off x="6096000" y="2348447"/>
            <a:ext cx="2031325"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改成一个搜索过程</a:t>
            </a:r>
          </a:p>
        </p:txBody>
      </p:sp>
      <p:sp>
        <p:nvSpPr>
          <p:cNvPr id="16" name="文本框 15">
            <a:extLst xmlns:a="http://schemas.openxmlformats.org/drawingml/2006/main">
              <a:ext uri="{FF2B5EF4-FFF2-40B4-BE49-F238E27FC236}">
                <a16:creationId xmlns:a16="http://schemas.microsoft.com/office/drawing/2014/main" id="{207C72D3-50AC-0386-2BAE-1860FC778C02}"/>
              </a:ext>
            </a:extLst>
          </p:cNvPr>
          <p:cNvSpPr>
            <a:spLocks xmlns:a="http://schemas.openxmlformats.org/drawingml/2006/main" noGrp="1"/>
          </p:cNvSpPr>
          <p:nvPr/>
        </p:nvSpPr>
        <p:spPr>
          <a:xfrm xmlns:a="http://schemas.openxmlformats.org/drawingml/2006/main">
            <a:off x="5253038" y="2933223"/>
            <a:ext cx="6100762"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t>每一步不直接接受模型最高概率的 </a:t>
            </a:r>
            <a:r>
              <a:t>token</a:t>
            </a:r>
            <a:r>
              <a:t>，而是：</a:t>
            </a:r>
          </a:p>
          <a:p xmlns:a="http://schemas.openxmlformats.org/drawingml/2006/main">
            <a:pPr>
              <a:buFont typeface="+mj-lt"/>
              <a:buAutoNum type="arabicPeriod"/>
            </a:pPr>
            <a:r>
              <a:t>DLM </a:t>
            </a:r>
            <a:r>
              <a:t>提出 </a:t>
            </a:r>
            <a:r>
              <a:t>K </a:t>
            </a:r>
            <a:r>
              <a:t>个可能的 </a:t>
            </a:r>
            <a:r>
              <a:t>partial orbit sets</a:t>
            </a:r>
            <a:r>
              <a:t>； </a:t>
            </a:r>
          </a:p>
          <a:p xmlns:a="http://schemas.openxmlformats.org/drawingml/2006/main">
            <a:pPr>
              <a:buFont typeface="+mj-lt"/>
              <a:buAutoNum type="arabicPeriod"/>
            </a:pPr>
            <a:r>
              <a:t>crystallographic grammar </a:t>
            </a:r>
            <a:r>
              <a:t>排除必然无法满足 </a:t>
            </a:r>
            <a:r>
              <a:t>composition</a:t>
            </a:r>
            <a:r>
              <a:t>、</a:t>
            </a:r>
            <a:r>
              <a:t>multiplicity </a:t>
            </a:r>
            <a:r>
              <a:t>或 </a:t>
            </a:r>
            <a:r>
              <a:t>space group </a:t>
            </a:r>
            <a:r>
              <a:t>的分支； </a:t>
            </a:r>
          </a:p>
          <a:p xmlns:a="http://schemas.openxmlformats.org/drawingml/2006/main">
            <a:pPr>
              <a:buFont typeface="+mj-lt"/>
              <a:buAutoNum type="arabicPeriod"/>
            </a:pPr>
            <a:r>
              <a:t>一个 </a:t>
            </a:r>
            <a:r>
              <a:rPr b="1"/>
              <a:t>process verifier</a:t>
            </a:r>
            <a:r>
              <a:t> </a:t>
            </a:r>
            <a:r>
              <a:t>预测：这个未完成的 </a:t>
            </a:r>
            <a:r>
              <a:t>Wyckoff state</a:t>
            </a:r>
            <a:r>
              <a:t>，最终有多大概率生成低能、稳定、目标性质良好的结构； </a:t>
            </a:r>
          </a:p>
        </p:txBody>
      </p:sp>
    </p:spTree>
    <p:extLst>
      <p:ext uri="{BB962C8B-B14F-4D97-AF65-F5344CB8AC3E}">
        <p14:creationId xmlns:p14="http://schemas.microsoft.com/office/powerpoint/2010/main" val="154318235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F20FDAC-5EE9-D110-8D11-E6D80FE7A69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
        <p:nvSpPr>
          <p:cNvPr id="3" name="内容占位符 2">
            <a:extLst xmlns:a="http://schemas.openxmlformats.org/drawingml/2006/main">
              <a:ext uri="{FF2B5EF4-FFF2-40B4-BE49-F238E27FC236}">
                <a16:creationId xmlns:a16="http://schemas.microsoft.com/office/drawing/2014/main" id="{07F126B7-41E4-27F6-40A4-634495848143}"/>
              </a:ext>
            </a:extLst>
          </p:cNvPr>
          <p:cNvSpPr>
            <a:spLocks xmlns:a="http://schemas.openxmlformats.org/drawingml/2006/main" noGrp="1"/>
          </p:cNvSpPr>
          <p:nvPr>
            <p:ph idx="1"/>
          </p:nvPr>
        </p:nvSpPr>
        <p:spPr>
          <a:xfrm xmlns:a="http://schemas.openxmlformats.org/drawingml/2006/main">
            <a:off x="838200" y="3649663"/>
            <a:ext cx="10515600" cy="2189163"/>
          </a:xfrm>
        </p:spPr>
        <p:txBody>
          <a:bodyPr xmlns:a="http://schemas.openxmlformats.org/drawingml/2006/main"/>
          <a:lstStyle xmlns:a="http://schemas.openxmlformats.org/drawingml/2006/main"/>
          <a:p xmlns:a="http://schemas.openxmlformats.org/drawingml/2006/main">
            <a:r>
              <a:t>WyFormer</a:t>
            </a:r>
            <a:r>
              <a:t> </a:t>
            </a:r>
            <a:r>
              <a:t>中，空间群 </a:t>
            </a:r>
            <a:r>
              <a:t>225 </a:t>
            </a:r>
            <a:r>
              <a:t>的 </a:t>
            </a:r>
            <a:r>
              <a:t>4a </a:t>
            </a:r>
            <a:r>
              <a:t>和 </a:t>
            </a:r>
            <a:r>
              <a:t>4b </a:t>
            </a:r>
            <a:r>
              <a:t>都具有 </a:t>
            </a:r>
            <a:r>
              <a:t>m-3m site symmetry</a:t>
            </a:r>
            <a:r>
              <a:t>，分别用 </a:t>
            </a:r>
            <a:r>
              <a:t>enumeration 0</a:t>
            </a:r>
            <a:r>
              <a:t>、</a:t>
            </a:r>
            <a:r>
              <a:t>1 </a:t>
            </a:r>
            <a:r>
              <a:t>区分。因此：</a:t>
            </a:r>
            <a:endParaRPr/>
          </a:p>
          <a:p xmlns:a="http://schemas.openxmlformats.org/drawingml/2006/main">
            <a:r>
              <a:t>[SG225 + m-3m] [Na] [0]    </a:t>
            </a:r>
            <a:r>
              <a:t>对应 </a:t>
            </a:r>
            <a:r>
              <a:t>Na </a:t>
            </a:r>
            <a:r>
              <a:t>占据 </a:t>
            </a:r>
            <a:r>
              <a:t>4a</a:t>
            </a:r>
          </a:p>
          <a:p xmlns:a="http://schemas.openxmlformats.org/drawingml/2006/main">
            <a:r>
              <a:t>[SG225 + m-3m] [Cl] [1]    </a:t>
            </a:r>
            <a:r>
              <a:t>对应 </a:t>
            </a:r>
            <a:r>
              <a:t>Cl </a:t>
            </a:r>
            <a:r>
              <a:t>占据 </a:t>
            </a:r>
            <a:r>
              <a:t>4b</a:t>
            </a:r>
            <a:endParaRPr/>
          </a:p>
        </p:txBody>
      </p:sp>
      <p:sp>
        <p:nvSpPr>
          <p:cNvPr id="4" name="灯片编号占位符 3">
            <a:extLst xmlns:a="http://schemas.openxmlformats.org/drawingml/2006/main">
              <a:ext uri="{FF2B5EF4-FFF2-40B4-BE49-F238E27FC236}">
                <a16:creationId xmlns:a16="http://schemas.microsoft.com/office/drawing/2014/main" id="{9F7CE70A-39E7-A809-D118-F2248F3BF992}"/>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10</a:t>
            </a:fld>
            <a:endParaRPr/>
          </a:p>
        </p:txBody>
      </p:sp>
      <p:pic>
        <p:nvPicPr>
          <p:cNvPr id="11" name="图片 4"/>
          <p:cNvPicPr>
            <a:picLocks xmlns:a="http://schemas.openxmlformats.org/drawingml/2006/main" noChangeAspect="1"/>
          </p:cNvPicPr>
          <p:nvPr/>
        </p:nvPicPr>
        <p:blipFill>
          <a:blip xmlns:r="http://schemas.openxmlformats.org/officeDocument/2006/relationships" xmlns:a="http://schemas.openxmlformats.org/drawingml/2006/main" r:embed="R390e89fe89cc4d3f"/>
          <a:stretch xmlns:a="http://schemas.openxmlformats.org/drawingml/2006/main"/>
        </p:blipFill>
        <p:spPr>
          <a:xfrm xmlns:a="http://schemas.openxmlformats.org/drawingml/2006/main">
            <a:off x="533400" y="1837765"/>
            <a:ext cx="10820400" cy="1591235"/>
          </a:xfrm>
          <a:prstGeom xmlns:a="http://schemas.openxmlformats.org/drawingml/2006/main" prst="rect">
            <a:avLst/>
          </a:prstGeom>
        </p:spPr>
      </p:pic>
      <p:sp>
        <p:nvSpPr>
          <p:cNvPr id="6" name="文本框 5">
            <a:extLst xmlns:a="http://schemas.openxmlformats.org/drawingml/2006/main">
              <a:ext uri="{FF2B5EF4-FFF2-40B4-BE49-F238E27FC236}">
                <a16:creationId xmlns:a16="http://schemas.microsoft.com/office/drawing/2014/main" id="{29D2AA46-52AD-B025-DB53-D116E14FCA51}"/>
              </a:ext>
            </a:extLst>
          </p:cNvPr>
          <p:cNvSpPr>
            <a:spLocks xmlns:a="http://schemas.openxmlformats.org/drawingml/2006/main" noGrp="1"/>
          </p:cNvSpPr>
          <p:nvPr/>
        </p:nvSpPr>
        <p:spPr>
          <a:xfrm xmlns:a="http://schemas.openxmlformats.org/drawingml/2006/main">
            <a:off x="3462696" y="5987018"/>
            <a:ext cx="4961808"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Wyckoff</a:t>
            </a:r>
            <a:r>
              <a:t> </a:t>
            </a:r>
            <a:r>
              <a:t>position = site </a:t>
            </a:r>
            <a:r>
              <a:t>symmetry+enumeration</a:t>
            </a:r>
            <a:endParaRPr/>
          </a:p>
        </p:txBody>
      </p:sp>
    </p:spTree>
    <p:extLst>
      <p:ext uri="{BB962C8B-B14F-4D97-AF65-F5344CB8AC3E}">
        <p14:creationId xmlns:p14="http://schemas.microsoft.com/office/powerpoint/2010/main" val="418579384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graphicFrame>
        <p:nvGraphicFramePr>
          <p:cNvPr id="4" name="表格 4"/>
          <p:cNvGraphicFramePr/>
          <p:nvPr/>
        </p:nvGraphicFramePr>
        <p:xfrm>
          <a:off xmlns:a="http://schemas.openxmlformats.org/drawingml/2006/main" x="1306100" y="1481076"/>
          <a:ext xmlns:a="http://schemas.openxmlformats.org/drawingml/2006/main" cx="8677275" cy="4514850"/>
        </p:xfrm>
        <a:graphic xmlns:a="http://schemas.openxmlformats.org/drawingml/2006/main">
          <a:graphicData uri="http://schemas.openxmlformats.org/drawingml/2006/table">
            <a:tbl>
              <a:tblPr/>
              <a:tblGrid>
                <a:gridCol w="1409700"/>
                <a:gridCol w="2266950"/>
                <a:gridCol w="1781175"/>
                <a:gridCol w="2324100"/>
                <a:gridCol w="895350"/>
              </a:tblGrid>
              <a:tr h="314325">
                <a:tc>
                  <a:txBody>
                    <a:bodyPr/>
                    <a:lstStyle/>
                    <a:p>
                      <a:r>
                        <a:rPr sz="1200" b="1">
                          <a:solidFill>
                            <a:srgbClr val="FFFFFF"/>
                          </a:solidFill>
                          <a:latin typeface="PingFang SC"/>
                          <a:ea typeface="PingFang SC"/>
                          <a:cs typeface="PingFang SC"/>
                        </a:rPr>
                        <a:t>模型</a:t>
                      </a:r>
                      <a:endParaRPr sz="1200" b="1">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表示 / tokenizer</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生成范式</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条件生成设置</a:t>
                      </a:r>
                      <a:endParaRPr sz="1200" b="1">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直接输出</a:t>
                      </a:r>
                    </a:p>
                  </a:txBody>
                  <a:tcPr marL="76200" marR="66675" marT="47625" marB="47625" anchor="ctr">
                    <a:solidFill>
                      <a:srgbClr val="2D6B5B"/>
                    </a:solidFill>
                  </a:tcPr>
                </a:tc>
              </a:tr>
              <a:tr h="466725">
                <a:tc>
                  <a:txBody>
                    <a:bodyPr/>
                    <a:lstStyle/>
                    <a:p>
                      <a:r>
                        <a:rPr sz="1125" b="1">
                          <a:solidFill>
                            <a:srgbClr val="17372F"/>
                          </a:solidFill>
                          <a:latin typeface="PingFang SC"/>
                          <a:ea typeface="PingFang SC"/>
                          <a:cs typeface="PingFang SC"/>
                        </a:rPr>
                        <a:t>CrystalFormer</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Wyckoff / 元素字段</a:t>
                      </a:r>
                    </a:p>
                    <a:p>
                      <a:r>
                        <a:rPr sz="1125" b="0">
                          <a:solidFill>
                            <a:srgbClr val="17372F"/>
                          </a:solidFill>
                          <a:latin typeface="PingFang SC"/>
                          <a:ea typeface="PingFang SC"/>
                          <a:cs typeface="PingFang SC"/>
                        </a:rPr>
                        <a:t>连续坐标与晶格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逐位点、逐字段</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空间群、结构补全</a:t>
                      </a:r>
                    </a:p>
                    <a:p>
                      <a:r>
                        <a:rPr sz="1125" b="0">
                          <a:solidFill>
                            <a:srgbClr val="17372F"/>
                          </a:solidFill>
                          <a:latin typeface="PingFang SC"/>
                          <a:ea typeface="PingFang SC"/>
                          <a:cs typeface="PingFang SC"/>
                        </a:rPr>
                        <a:t>性质预测器 + MCMC 引导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Matra-Genoa</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可逆混合字段序列</a:t>
                      </a:r>
                    </a:p>
                    <a:p>
                      <a:r>
                        <a:rPr sz="1125" b="0">
                          <a:solidFill>
                            <a:srgbClr val="17372F"/>
                          </a:solidFill>
                          <a:latin typeface="PingFang SC"/>
                          <a:ea typeface="PingFang SC"/>
                          <a:cs typeface="PingFang SC"/>
                        </a:rPr>
                        <a:t>含自由坐标与晶格</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条件前缀后逐项预测</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稳定性、元素系统</a:t>
                      </a:r>
                    </a:p>
                    <a:p>
                      <a:r>
                        <a:rPr sz="1125" b="0">
                          <a:solidFill>
                            <a:srgbClr val="17372F"/>
                          </a:solidFill>
                          <a:latin typeface="PingFang SC"/>
                          <a:ea typeface="PingFang SC"/>
                          <a:cs typeface="PingFang SC"/>
                        </a:rPr>
                        <a:t>支持空间群 / 位点前缀*</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WyFormer</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元素 + 位点对称 + 编号</a:t>
                      </a:r>
                    </a:p>
                    <a:p>
                      <a:r>
                        <a:rPr sz="1125" b="1">
                          <a:solidFill>
                            <a:srgbClr val="17372F"/>
                          </a:solidFill>
                          <a:latin typeface="PingFang SC"/>
                          <a:ea typeface="PingFang SC"/>
                          <a:cs typeface="PingFang SC"/>
                        </a:rPr>
                        <a:t>复合 orbit 单元，无坐标</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自回归级联</a:t>
                      </a:r>
                    </a:p>
                    <a:p>
                      <a:r>
                        <a:rPr sz="1125" b="1">
                          <a:solidFill>
                            <a:srgbClr val="17372F"/>
                          </a:solidFill>
                          <a:latin typeface="PingFang SC"/>
                          <a:ea typeface="PingFang SC"/>
                          <a:cs typeface="PingFang SC"/>
                        </a:rPr>
                        <a:t>无位置编码 + 集合打乱</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空间群条件</a:t>
                      </a:r>
                      <a:endParaRPr sz="1125" b="1">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原型结构</a:t>
                      </a:r>
                    </a:p>
                    <a:p>
                      <a:r>
                        <a:rPr sz="1125" b="1">
                          <a:solidFill>
                            <a:srgbClr val="17372F"/>
                          </a:solidFill>
                          <a:latin typeface="PingFang SC"/>
                          <a:ea typeface="PingFang SC"/>
                          <a:cs typeface="PingFang SC"/>
                        </a:rPr>
                        <a:t>再补几何</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WyckoffDiff</a:t>
                      </a:r>
                      <a:endParaRPr sz="1125" b="1">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Wyckoff 位点 × 元素</a:t>
                      </a:r>
                    </a:p>
                    <a:p>
                      <a:r>
                        <a:rPr sz="1125" b="1">
                          <a:solidFill>
                            <a:srgbClr val="17372F"/>
                          </a:solidFill>
                          <a:latin typeface="PingFang SC"/>
                          <a:ea typeface="PingFang SC"/>
                          <a:cs typeface="PingFang SC"/>
                        </a:rPr>
                        <a:t>占据 / 计数离散变量</a:t>
                      </a: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非自回归</a:t>
                      </a:r>
                    </a:p>
                    <a:p>
                      <a:r>
                        <a:rPr sz="1125" b="1">
                          <a:solidFill>
                            <a:srgbClr val="17372F"/>
                          </a:solidFill>
                          <a:latin typeface="PingFang SC"/>
                          <a:ea typeface="PingFang SC"/>
                          <a:cs typeface="PingFang SC"/>
                        </a:rPr>
                        <a:t>D3PM 离散扩散</a:t>
                      </a: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按抽取的空间群去噪</a:t>
                      </a:r>
                      <a:endParaRPr sz="1125" b="1">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原型结构</a:t>
                      </a:r>
                      <a:endParaRPr sz="1125" b="1">
                        <a:solidFill>
                          <a:srgbClr val="17372F"/>
                        </a:solidFill>
                        <a:latin typeface="PingFang SC"/>
                        <a:ea typeface="PingFang SC"/>
                        <a:cs typeface="PingFang SC"/>
                      </a:endParaRPr>
                    </a:p>
                    <a:p>
                      <a:r>
                        <a:rPr sz="1125" b="1">
                          <a:solidFill>
                            <a:srgbClr val="17372F"/>
                          </a:solidFill>
                          <a:latin typeface="PingFang SC"/>
                          <a:ea typeface="PingFang SC"/>
                          <a:cs typeface="PingFang SC"/>
                        </a:rPr>
                        <a:t>再补几何</a:t>
                      </a:r>
                      <a:endParaRPr sz="1125" b="1">
                        <a:solidFill>
                          <a:srgbClr val="17372F"/>
                        </a:solidFill>
                        <a:latin typeface="PingFang SC"/>
                        <a:ea typeface="PingFang SC"/>
                        <a:cs typeface="PingFang SC"/>
                      </a:endParaRP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SymmCD</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不对称单元、位点对称</a:t>
                      </a:r>
                      <a:endParaRPr sz="1125" b="0">
                        <a:solidFill>
                          <a:srgbClr val="17372F"/>
                        </a:solidFill>
                        <a:latin typeface="PingFang SC"/>
                        <a:ea typeface="PingFang SC"/>
                        <a:cs typeface="PingFang SC"/>
                      </a:endParaRPr>
                    </a:p>
                    <a:p>
                      <a:r>
                        <a:rPr sz="1125" b="0">
                          <a:solidFill>
                            <a:srgbClr val="17372F"/>
                          </a:solidFill>
                          <a:latin typeface="PingFang SC"/>
                          <a:ea typeface="PingFang SC"/>
                          <a:cs typeface="PingFang SC"/>
                        </a:rPr>
                        <a:t>元素、连续坐标与晶格</a:t>
                      </a:r>
                      <a:endParaRPr sz="1125" b="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离散 + 连续扩散</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空间群输入，按先验采样</a:t>
                      </a:r>
                      <a:endParaRPr sz="1125" b="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DynaCrys</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动态空间群、无序占据集</a:t>
                      </a:r>
                      <a:endParaRPr sz="1125" b="0">
                        <a:solidFill>
                          <a:srgbClr val="17372F"/>
                        </a:solidFill>
                        <a:latin typeface="PingFang SC"/>
                        <a:ea typeface="PingFang SC"/>
                        <a:cs typeface="PingFang SC"/>
                      </a:endParaRPr>
                    </a:p>
                    <a:p>
                      <a:r>
                        <a:rPr sz="1125" b="0">
                          <a:solidFill>
                            <a:srgbClr val="17372F"/>
                          </a:solidFill>
                          <a:latin typeface="PingFang SC"/>
                          <a:ea typeface="PingFang SC"/>
                          <a:cs typeface="PingFang SC"/>
                        </a:rPr>
                        <a:t>学习的对称</a:t>
                      </a:r>
                      <a:r>
                        <a:rPr sz="1125" b="0">
                          <a:solidFill>
                            <a:srgbClr val="17372F"/>
                          </a:solidFill>
                          <a:latin typeface="PingFang SC"/>
                          <a:ea typeface="PingFang SC"/>
                          <a:cs typeface="PingFang SC"/>
                        </a:rPr>
                        <a:t> codebook</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符号与几何两阶段扩散</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主实验为无条件生成</a:t>
                      </a:r>
                      <a:endParaRPr sz="1125" b="0">
                        <a:solidFill>
                          <a:srgbClr val="17372F"/>
                        </a:solidFill>
                        <a:latin typeface="PingFang SC"/>
                        <a:ea typeface="PingFang SC"/>
                        <a:cs typeface="PingFang SC"/>
                      </a:endParaRPr>
                    </a:p>
                    <a:p>
                      <a:r>
                        <a:rPr sz="1125" b="0">
                          <a:solidFill>
                            <a:srgbClr val="17372F"/>
                          </a:solidFill>
                          <a:latin typeface="PingFang SC"/>
                          <a:ea typeface="PingFang SC"/>
                          <a:cs typeface="PingFang SC"/>
                        </a:rPr>
                        <a:t>几何以自生成</a:t>
                      </a:r>
                      <a:r>
                        <a:rPr sz="1125" b="0">
                          <a:solidFill>
                            <a:srgbClr val="17372F"/>
                          </a:solidFill>
                          <a:latin typeface="PingFang SC"/>
                          <a:ea typeface="PingFang SC"/>
                          <a:cs typeface="PingFang SC"/>
                        </a:rPr>
                        <a:t>prototype</a:t>
                      </a:r>
                      <a:r>
                        <a:rPr sz="1125" b="0">
                          <a:solidFill>
                            <a:srgbClr val="17372F"/>
                          </a:solidFill>
                          <a:latin typeface="PingFang SC"/>
                          <a:ea typeface="PingFang SC"/>
                          <a:cs typeface="PingFang SC"/>
                        </a:rPr>
                        <a:t>为条件</a:t>
                      </a:r>
                      <a:endParaRPr sz="1125" b="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MaskGXT</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逐原子 / 字段 token</a:t>
                      </a:r>
                    </a:p>
                    <a:p>
                      <a:r>
                        <a:rPr sz="1125" b="0">
                          <a:solidFill>
                            <a:srgbClr val="17372F"/>
                          </a:solidFill>
                          <a:latin typeface="PingFang SC"/>
                          <a:ea typeface="PingFang SC"/>
                          <a:cs typeface="PingFang SC"/>
                        </a:rPr>
                        <a:t>几何量化 + 连续精度修正</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非自回归掩码生成</a:t>
                      </a:r>
                    </a:p>
                    <a:p>
                      <a:r>
                        <a:rPr sz="1125" b="0">
                          <a:solidFill>
                            <a:srgbClr val="17372F"/>
                          </a:solidFill>
                          <a:latin typeface="PingFang SC"/>
                          <a:ea typeface="PingFang SC"/>
                          <a:cs typeface="PingFang SC"/>
                        </a:rPr>
                        <a:t>按置信度迭代并行解码</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给定化学组成的</a:t>
                      </a:r>
                      <a:r>
                        <a:rPr sz="1125" b="0">
                          <a:solidFill>
                            <a:srgbClr val="17372F"/>
                          </a:solidFill>
                          <a:latin typeface="PingFang SC"/>
                          <a:ea typeface="PingFang SC"/>
                          <a:cs typeface="PingFang SC"/>
                        </a:rPr>
                        <a:t> CSP</a:t>
                      </a:r>
                    </a:p>
                    <a:p>
                      <a:r>
                        <a:rPr sz="1125" b="0">
                          <a:solidFill>
                            <a:srgbClr val="17372F"/>
                          </a:solidFill>
                          <a:latin typeface="PingFang SC"/>
                          <a:ea typeface="PingFang SC"/>
                          <a:cs typeface="PingFang SC"/>
                        </a:rPr>
                        <a:t>原子类型与数量已知</a:t>
                      </a:r>
                      <a:endParaRPr sz="1125" b="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WyckoffDiff-</a:t>
                      </a:r>
                    </a:p>
                    <a:p>
                      <a:r>
                        <a:rPr sz="1125" b="1">
                          <a:solidFill>
                            <a:srgbClr val="17372F"/>
                          </a:solidFill>
                          <a:latin typeface="PingFang SC"/>
                          <a:ea typeface="PingFang SC"/>
                          <a:cs typeface="PingFang SC"/>
                        </a:rPr>
                        <a:t>Adaptor（补充）</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沿用占据 / 计数表示</a:t>
                      </a:r>
                    </a:p>
                    <a:p>
                      <a:r>
                        <a:rPr sz="1125" b="0">
                          <a:solidFill>
                            <a:srgbClr val="17372F"/>
                          </a:solidFill>
                          <a:latin typeface="PingFang SC"/>
                          <a:ea typeface="PingFang SC"/>
                          <a:cs typeface="PingFang SC"/>
                        </a:rPr>
                        <a:t>去噪网络加入条件适配器</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条件离散扩散</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空间群</a:t>
                      </a:r>
                      <a:r>
                        <a:rPr sz="1125" b="0">
                          <a:solidFill>
                            <a:srgbClr val="17372F"/>
                          </a:solidFill>
                          <a:latin typeface="PingFang SC"/>
                          <a:ea typeface="PingFang SC"/>
                          <a:cs typeface="PingFang SC"/>
                        </a:rPr>
                        <a:t> + </a:t>
                      </a:r>
                      <a:r>
                        <a:rPr sz="1125" b="0">
                          <a:solidFill>
                            <a:srgbClr val="17372F"/>
                          </a:solidFill>
                          <a:latin typeface="PingFang SC"/>
                          <a:ea typeface="PingFang SC"/>
                          <a:cs typeface="PingFang SC"/>
                        </a:rPr>
                        <a:t>元素系统</a:t>
                      </a:r>
                      <a:endParaRPr sz="1125" b="0">
                        <a:solidFill>
                          <a:srgbClr val="17372F"/>
                        </a:solidFill>
                        <a:latin typeface="PingFang SC"/>
                        <a:ea typeface="PingFang SC"/>
                        <a:cs typeface="PingFang SC"/>
                      </a:endParaRPr>
                    </a:p>
                    <a:p>
                      <a:r>
                        <a:rPr sz="1125" b="0">
                          <a:solidFill>
                            <a:srgbClr val="17372F"/>
                          </a:solidFill>
                          <a:latin typeface="PingFang SC"/>
                          <a:ea typeface="PingFang SC"/>
                          <a:cs typeface="PingFang SC"/>
                        </a:rPr>
                        <a:t>+ </a:t>
                      </a:r>
                      <a:r>
                        <a:rPr sz="1125" b="0">
                          <a:solidFill>
                            <a:srgbClr val="17372F"/>
                          </a:solidFill>
                          <a:latin typeface="PingFang SC"/>
                          <a:ea typeface="PingFang SC"/>
                          <a:cs typeface="PingFang SC"/>
                        </a:rPr>
                        <a:t>凸包上方能量条件</a:t>
                      </a:r>
                      <a:endParaRPr sz="1125" b="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原型结构</a:t>
                      </a:r>
                    </a:p>
                    <a:p>
                      <a:r>
                        <a:rPr sz="1125" b="0">
                          <a:solidFill>
                            <a:srgbClr val="17372F"/>
                          </a:solidFill>
                          <a:latin typeface="PingFang SC"/>
                          <a:ea typeface="PingFang SC"/>
                          <a:cs typeface="PingFang SC"/>
                        </a:rPr>
                        <a:t>再补几何</a:t>
                      </a: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CrystalDLM</a:t>
                      </a:r>
                    </a:p>
                    <a:p>
                      <a:r>
                        <a:rPr sz="1125" b="1">
                          <a:solidFill>
                            <a:srgbClr val="17372F"/>
                          </a:solidFill>
                          <a:latin typeface="PingFang SC"/>
                          <a:ea typeface="PingFang SC"/>
                          <a:cs typeface="PingFang SC"/>
                        </a:rPr>
                        <a:t>（边轨道候选）</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位点约束＋边轨道</a:t>
                      </a:r>
                    </a:p>
                    <a:p>
                      <a:r>
                        <a:rPr sz="1125" b="1">
                          <a:solidFill>
                            <a:srgbClr val="17372F"/>
                          </a:solidFill>
                          <a:latin typeface="PingFang SC"/>
                          <a:ea typeface="PingFang SC"/>
                          <a:cs typeface="PingFang SC"/>
                        </a:rPr>
                        <a:t>离散原型、几何分离</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非自回归扩散</a:t>
                      </a:r>
                      <a:endParaRPr sz="1125" b="1">
                        <a:solidFill>
                          <a:srgbClr val="17372F"/>
                        </a:solidFill>
                        <a:latin typeface="PingFang SC"/>
                        <a:ea typeface="PingFang SC"/>
                        <a:cs typeface="PingFang SC"/>
                      </a:endParaRPr>
                    </a:p>
                    <a:p>
                      <a:r>
                        <a:rPr sz="1125" b="1">
                          <a:solidFill>
                            <a:srgbClr val="17372F"/>
                          </a:solidFill>
                          <a:latin typeface="PingFang SC"/>
                          <a:ea typeface="PingFang SC"/>
                          <a:cs typeface="PingFang SC"/>
                        </a:rPr>
                        <a:t>并行</a:t>
                      </a:r>
                      <a:r>
                        <a:rPr sz="1125" b="1">
                          <a:solidFill>
                            <a:srgbClr val="17372F"/>
                          </a:solidFill>
                          <a:latin typeface="PingFang SC"/>
                          <a:ea typeface="PingFang SC"/>
                          <a:cs typeface="PingFang SC"/>
                        </a:rPr>
                        <a:t>mask</a:t>
                      </a:r>
                      <a:r>
                        <a:rPr sz="1125" b="1">
                          <a:solidFill>
                            <a:srgbClr val="17372F"/>
                          </a:solidFill>
                          <a:latin typeface="PingFang SC"/>
                          <a:ea typeface="PingFang SC"/>
                          <a:cs typeface="PingFang SC"/>
                        </a:rPr>
                        <a:t>单级去噪</a:t>
                      </a:r>
                      <a:endParaRPr sz="1125" b="1">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原型＋指定晶格</a:t>
                      </a:r>
                      <a:endParaRPr sz="1125" b="1">
                        <a:solidFill>
                          <a:srgbClr val="17372F"/>
                        </a:solidFill>
                        <a:latin typeface="PingFang SC"/>
                        <a:ea typeface="PingFang SC"/>
                        <a:cs typeface="PingFang SC"/>
                      </a:endParaRPr>
                    </a:p>
                    <a:p>
                      <a:r>
                        <a:rPr sz="1125" b="1">
                          <a:solidFill>
                            <a:srgbClr val="17372F"/>
                          </a:solidFill>
                          <a:latin typeface="PingFang SC"/>
                          <a:ea typeface="PingFang SC"/>
                          <a:cs typeface="PingFang SC"/>
                        </a:rPr>
                        <a:t>最终应用条件待定</a:t>
                      </a:r>
                      <a:endParaRPr sz="1125" b="1">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原型编码</a:t>
                      </a:r>
                      <a:endParaRPr sz="1125" b="1">
                        <a:solidFill>
                          <a:srgbClr val="17372F"/>
                        </a:solidFill>
                        <a:latin typeface="PingFang SC"/>
                        <a:ea typeface="PingFang SC"/>
                        <a:cs typeface="PingFang SC"/>
                      </a:endParaRPr>
                    </a:p>
                    <a:p>
                      <a:r>
                        <a:rPr sz="1125" b="1">
                          <a:solidFill>
                            <a:srgbClr val="17372F"/>
                          </a:solidFill>
                          <a:latin typeface="PingFang SC"/>
                          <a:ea typeface="PingFang SC"/>
                          <a:cs typeface="PingFang SC"/>
                        </a:rPr>
                        <a:t>再补几何</a:t>
                      </a:r>
                      <a:endParaRPr sz="1125" b="1">
                        <a:solidFill>
                          <a:srgbClr val="17372F"/>
                        </a:solidFill>
                        <a:latin typeface="PingFang SC"/>
                        <a:ea typeface="PingFang SC"/>
                        <a:cs typeface="PingFang SC"/>
                      </a:endParaRPr>
                    </a:p>
                  </a:txBody>
                  <a:tcPr marL="76200" marR="66675" marT="47625" marB="47625" anchor="ctr">
                    <a:solidFill>
                      <a:srgbClr val="DCECE3"/>
                    </a:solidFill>
                  </a:tcPr>
                </a:tc>
              </a:tr>
            </a:tbl>
          </a:graphicData>
        </a:graphic>
      </p:graphicFrame>
      <p:sp>
        <p:nvSpPr>
          <p:cNvPr id="2" name="TextBox 1">
            <a:extLst xmlns:a="http://schemas.openxmlformats.org/drawingml/2006/main">
              <a:ext uri="{FF2B5EF4-FFF2-40B4-BE49-F238E27FC236}">
                <a16:creationId xmlns:a16="http://schemas.microsoft.com/office/drawing/2014/main" id="{F006ADBE-9EC2-71ED-A573-E4126EE5A546}"/>
              </a:ext>
            </a:extLst>
          </p:cNvPr>
          <p:cNvSpPr>
            <a:spLocks xmlns:a="http://schemas.openxmlformats.org/drawingml/2006/main" noGrp="1"/>
          </p:cNvSpPr>
          <p:nvPr/>
        </p:nvSpPr>
        <p:spPr>
          <a:xfrm xmlns:a="http://schemas.openxmlformats.org/drawingml/2006/main">
            <a:off x="2363190" y="676894"/>
            <a:ext cx="1107996"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论文调研</a:t>
            </a:r>
          </a:p>
        </p:txBody>
      </p:sp>
    </p:spTree>
    <p:extLst>
      <p:ext uri="{BB962C8B-B14F-4D97-AF65-F5344CB8AC3E}">
        <p14:creationId xmlns:p14="http://schemas.microsoft.com/office/powerpoint/2010/main" val="372982952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文本框 4">
            <a:extLst xmlns:a="http://schemas.openxmlformats.org/drawingml/2006/main">
              <a:ext uri="{FF2B5EF4-FFF2-40B4-BE49-F238E27FC236}">
                <a16:creationId xmlns:a16="http://schemas.microsoft.com/office/drawing/2014/main" id="{2A1EBC1C-0333-27CA-7615-8500237EA192}"/>
              </a:ext>
            </a:extLst>
          </p:cNvPr>
          <p:cNvSpPr>
            <a:spLocks xmlns:a="http://schemas.openxmlformats.org/drawingml/2006/main" noGrp="1"/>
          </p:cNvSpPr>
          <p:nvPr/>
        </p:nvSpPr>
        <p:spPr>
          <a:xfrm xmlns:a="http://schemas.openxmlformats.org/drawingml/2006/main">
            <a:off x="1581593" y="3858259"/>
            <a:ext cx="8604398"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t>比如，</a:t>
            </a:r>
            <a:r>
              <a:t>A </a:t>
            </a:r>
            <a:r>
              <a:t>附近有几个属于同一个 </a:t>
            </a:r>
            <a:r>
              <a:t>Wyckoff </a:t>
            </a:r>
            <a:r>
              <a:t>位点的 </a:t>
            </a:r>
            <a:r>
              <a:t>B </a:t>
            </a:r>
            <a:r>
              <a:t>原子：一个在当前晶胞，一个在相邻晶胞。只写“</a:t>
            </a:r>
            <a:r>
              <a:t>A </a:t>
            </a:r>
            <a:r>
              <a:t>连接 </a:t>
            </a:r>
            <a:r>
              <a:t>B </a:t>
            </a:r>
            <a:r>
              <a:t>位点”，还没有指明具体连接谁。操作和平移标签是在给这个邻居“标地址”。晶体学 </a:t>
            </a:r>
            <a:r>
              <a:t>CIF </a:t>
            </a:r>
            <a:r>
              <a:t>的连接记录也采用类似方式，用对称操作编号和晶胞平移标记连接端点。</a:t>
            </a:r>
            <a:endParaRPr/>
          </a:p>
          <a:p xmlns:a="http://schemas.openxmlformats.org/drawingml/2006/main">
            <a:pPr>
              <a:buNone/>
            </a:pPr>
            <a:r>
              <a:t>我们希望在生成几何之前，就显式给模型提供周期连接关系时，把它们放进 </a:t>
            </a:r>
            <a:r>
              <a:t>tokenizer </a:t>
            </a:r>
            <a:r>
              <a:t>才有明确用途。这里的晶格平移也不是原子需要学习的连续位移，而是整数晶胞编号。</a:t>
            </a:r>
          </a:p>
        </p:txBody>
      </p:sp>
      <p:pic>
        <p:nvPicPr>
          <p:cNvPr id="8" name="图片 5"/>
          <p:cNvPicPr>
            <a:picLocks xmlns:a="http://schemas.openxmlformats.org/drawingml/2006/main" noChangeAspect="1"/>
          </p:cNvPicPr>
          <p:nvPr/>
        </p:nvPicPr>
        <p:blipFill>
          <a:blip xmlns:r="http://schemas.openxmlformats.org/officeDocument/2006/relationships" xmlns:a="http://schemas.openxmlformats.org/drawingml/2006/main" r:embed="Re128d40f0f5e4830"/>
          <a:stretch xmlns:a="http://schemas.openxmlformats.org/drawingml/2006/main">
            <a:fillRect l="0" t="0" r="0" b="0"/>
          </a:stretch>
        </p:blipFill>
        <p:spPr>
          <a:xfrm xmlns:a="http://schemas.openxmlformats.org/drawingml/2006/main">
            <a:off x="1254432" y="1286541"/>
            <a:ext cx="9683135" cy="1483002"/>
          </a:xfrm>
          <a:prstGeom xmlns:a="http://schemas.openxmlformats.org/drawingml/2006/main" prst="rect">
            <a:avLst/>
          </a:prstGeom>
        </p:spPr>
      </p:pic>
    </p:spTree>
    <p:extLst>
      <p:ext uri="{BB962C8B-B14F-4D97-AF65-F5344CB8AC3E}">
        <p14:creationId xmlns:p14="http://schemas.microsoft.com/office/powerpoint/2010/main" val="359632830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灯片编号占位符 3">
            <a:extLst xmlns:a="http://schemas.openxmlformats.org/drawingml/2006/main">
              <a:ext uri="{FF2B5EF4-FFF2-40B4-BE49-F238E27FC236}">
                <a16:creationId xmlns:a16="http://schemas.microsoft.com/office/drawing/2014/main" id="{C8178518-54DE-B71F-58F1-6DF176EDE599}"/>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13</a:t>
            </a:fld>
            <a:endParaRPr/>
          </a:p>
        </p:txBody>
      </p:sp>
      <p:graphicFrame>
        <p:nvGraphicFramePr>
          <p:cNvPr id="7" name="表格 4"/>
          <p:cNvGraphicFramePr/>
          <p:nvPr/>
        </p:nvGraphicFramePr>
        <p:xfrm>
          <a:off xmlns:a="http://schemas.openxmlformats.org/drawingml/2006/main" x="762000" y="1543050"/>
          <a:ext xmlns:a="http://schemas.openxmlformats.org/drawingml/2006/main" cx="10668000" cy="4457700"/>
        </p:xfrm>
        <a:graphic xmlns:a="http://schemas.openxmlformats.org/drawingml/2006/main">
          <a:graphicData uri="http://schemas.openxmlformats.org/drawingml/2006/table">
            <a:tbl>
              <a:tblPr/>
              <a:tblGrid>
                <a:gridCol w="2628900"/>
                <a:gridCol w="2762250"/>
                <a:gridCol w="1600200"/>
                <a:gridCol w="3676650"/>
              </a:tblGrid>
              <a:tr h="342900">
                <a:tc>
                  <a:txBody>
                    <a:bodyPr/>
                    <a:lstStyle/>
                    <a:p>
                      <a:r>
                        <a:rPr sz="1350" b="1">
                          <a:solidFill>
                            <a:srgbClr val="FFFFFF"/>
                          </a:solidFill>
                          <a:latin typeface="PingFang SC"/>
                          <a:ea typeface="PingFang SC"/>
                          <a:cs typeface="PingFang SC"/>
                        </a:rPr>
                        <a:t>方案</a:t>
                      </a:r>
                      <a:endParaRPr sz="1350" b="1">
                        <a:solidFill>
                          <a:srgbClr val="FFFFFF"/>
                        </a:solidFill>
                        <a:latin typeface="PingFang SC"/>
                        <a:ea typeface="PingFang SC"/>
                        <a:cs typeface="PingFang SC"/>
                      </a:endParaRP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分词 / 表示方法</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验证阶段</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结果与判断</a:t>
                      </a:r>
                    </a:p>
                  </a:txBody>
                  <a:tcPr marL="85725" marR="76200" marT="47625" marB="47625" anchor="ctr">
                    <a:solidFill>
                      <a:srgbClr val="2D6B5B"/>
                    </a:solidFill>
                  </a:tcPr>
                </a:tc>
              </a:tr>
              <a:tr h="514350">
                <a:tc>
                  <a:txBody>
                    <a:bodyPr/>
                    <a:lstStyle/>
                    <a:p>
                      <a:r>
                        <a:rPr sz="1200" b="1">
                          <a:solidFill>
                            <a:srgbClr val="17372F"/>
                          </a:solidFill>
                          <a:latin typeface="PingFang SC"/>
                          <a:ea typeface="PingFang SC"/>
                          <a:cs typeface="PingFang SC"/>
                        </a:rPr>
                        <a:t>1  完整占位配置大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同一元素的整套 WP 占位配置</a:t>
                      </a:r>
                    </a:p>
                    <a:p>
                      <a:r>
                        <a:rPr sz="1200" b="0">
                          <a:solidFill>
                            <a:srgbClr val="17372F"/>
                          </a:solidFill>
                          <a:latin typeface="PingFang SC"/>
                          <a:ea typeface="PingFang SC"/>
                          <a:cs typeface="PingFang SC"/>
                        </a:rPr>
                        <a:t>独立成词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词表计算</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扫描 230 个空间群，部分组合数量爆炸</a:t>
                      </a:r>
                    </a:p>
                    <a:p>
                      <a:r>
                        <a:rPr sz="1200" b="0">
                          <a:solidFill>
                            <a:srgbClr val="17372F"/>
                          </a:solidFill>
                          <a:latin typeface="PingFang SC"/>
                          <a:ea typeface="PingFang SC"/>
                          <a:cs typeface="PingFang SC"/>
                        </a:rPr>
                        <a:t>不采用全覆盖的大词表</a:t>
                      </a:r>
                    </a:p>
                  </a:txBody>
                  <a:tcPr marL="85725" marR="76200" marT="47625" marB="47625" anchor="ctr">
                    <a:solidFill>
                      <a:srgbClr val="F5F8F5"/>
                    </a:solidFill>
                  </a:tcPr>
                </a:tc>
              </a:tr>
              <a:tr h="514350">
                <a:tc>
                  <a:txBody>
                    <a:bodyPr/>
                    <a:lstStyle/>
                    <a:p>
                      <a:r>
                        <a:rPr sz="1200" b="1">
                          <a:solidFill>
                            <a:srgbClr val="17372F"/>
                          </a:solidFill>
                          <a:latin typeface="PingFang SC"/>
                          <a:ea typeface="PingFang SC"/>
                          <a:cs typeface="PingFang SC"/>
                        </a:rPr>
                        <a:t>2  完整占位的组合式编码</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将各 WP 占位记录组合</a:t>
                      </a:r>
                    </a:p>
                    <a:p>
                      <a:r>
                        <a:rPr sz="1200" b="0">
                          <a:solidFill>
                            <a:srgbClr val="17372F"/>
                          </a:solidFill>
                          <a:latin typeface="PingFang SC"/>
                          <a:ea typeface="PingFang SC"/>
                          <a:cs typeface="PingFang SC"/>
                        </a:rPr>
                        <a:t>编码成完整配置表示</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模型对照</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相同联合解码下，匹配率仅增 0.20 个百分点</a:t>
                      </a:r>
                    </a:p>
                    <a:p>
                      <a:r>
                        <a:rPr sz="1200" b="0">
                          <a:solidFill>
                            <a:srgbClr val="17372F"/>
                          </a:solidFill>
                          <a:latin typeface="PingFang SC"/>
                          <a:ea typeface="PingFang SC"/>
                          <a:cs typeface="PingFang SC"/>
                        </a:rPr>
                        <a:t>未确认预测收益</a:t>
                      </a:r>
                    </a:p>
                  </a:txBody>
                  <a:tcPr marL="85725" marR="76200" marT="47625" marB="47625" anchor="ctr">
                    <a:solidFill>
                      <a:srgbClr val="EAF0EB"/>
                    </a:solidFill>
                  </a:tcPr>
                </a:tc>
              </a:tr>
              <a:tr h="514350">
                <a:tc>
                  <a:txBody>
                    <a:bodyPr/>
                    <a:lstStyle/>
                    <a:p>
                      <a:r>
                        <a:rPr sz="1200" b="1">
                          <a:solidFill>
                            <a:srgbClr val="17372F"/>
                          </a:solidFill>
                          <a:latin typeface="PingFang SC"/>
                          <a:ea typeface="PingFang SC"/>
                          <a:cs typeface="PingFang SC"/>
                        </a:rPr>
                        <a:t>3  无序 WP 集合合并</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将常共同出现的同元素</a:t>
                      </a:r>
                    </a:p>
                    <a:p>
                      <a:r>
                        <a:rPr sz="1200" b="0">
                          <a:solidFill>
                            <a:srgbClr val="17372F"/>
                          </a:solidFill>
                          <a:latin typeface="PingFang SC"/>
                          <a:ea typeface="PingFang SC"/>
                          <a:cs typeface="PingFang SC"/>
                        </a:rPr>
                        <a:t>WP 轨道合成一个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可逆编码＋模型</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可以压缩，未证明优于简单计数编码</a:t>
                      </a:r>
                    </a:p>
                    <a:p>
                      <a:r>
                        <a:rPr sz="1200" b="0">
                          <a:solidFill>
                            <a:srgbClr val="17372F"/>
                          </a:solidFill>
                          <a:latin typeface="PingFang SC"/>
                          <a:ea typeface="PingFang SC"/>
                          <a:cs typeface="PingFang SC"/>
                        </a:rPr>
                        <a:t>随后调整为计数块方案</a:t>
                      </a:r>
                    </a:p>
                  </a:txBody>
                  <a:tcPr marL="85725" marR="76200" marT="47625" marB="47625" anchor="ctr">
                    <a:solidFill>
                      <a:srgbClr val="F5F8F5"/>
                    </a:solidFill>
                  </a:tcPr>
                </a:tc>
              </a:tr>
              <a:tr h="514350">
                <a:tc>
                  <a:txBody>
                    <a:bodyPr/>
                    <a:lstStyle/>
                    <a:p>
                      <a:r>
                        <a:rPr sz="1200" b="1">
                          <a:solidFill>
                            <a:srgbClr val="17372F"/>
                          </a:solidFill>
                          <a:latin typeface="PingFang SC"/>
                          <a:ea typeface="PingFang SC"/>
                          <a:cs typeface="PingFang SC"/>
                        </a:rPr>
                        <a:t>4  WP 计数块合并</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先记录 WP 与出现次数</a:t>
                      </a:r>
                    </a:p>
                    <a:p>
                      <a:r>
                        <a:rPr sz="1200" b="0">
                          <a:solidFill>
                            <a:srgbClr val="17372F"/>
                          </a:solidFill>
                          <a:latin typeface="PingFang SC"/>
                          <a:ea typeface="PingFang SC"/>
                          <a:cs typeface="PingFang SC"/>
                        </a:rPr>
                        <a:t>再合并常见的多条计数记录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三种子模型＋测试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测试编码单元减少约 9.6%</a:t>
                      </a:r>
                    </a:p>
                    <a:p>
                      <a:r>
                        <a:rPr sz="1200" b="0">
                          <a:solidFill>
                            <a:srgbClr val="17372F"/>
                          </a:solidFill>
                          <a:latin typeface="PingFang SC"/>
                          <a:ea typeface="PingFang SC"/>
                          <a:cs typeface="PingFang SC"/>
                        </a:rPr>
                        <a:t>预测质量无稳定提升，停止扩大实验</a:t>
                      </a:r>
                    </a:p>
                  </a:txBody>
                  <a:tcPr marL="85725" marR="76200" marT="47625" marB="47625" anchor="ctr">
                    <a:solidFill>
                      <a:srgbClr val="EAF0EB"/>
                    </a:solidFill>
                  </a:tcPr>
                </a:tc>
              </a:tr>
              <a:tr h="514350">
                <a:tc>
                  <a:txBody>
                    <a:bodyPr/>
                    <a:lstStyle/>
                    <a:p>
                      <a:r>
                        <a:rPr sz="1200" b="1">
                          <a:solidFill>
                            <a:srgbClr val="17372F"/>
                          </a:solidFill>
                          <a:latin typeface="PingFang SC"/>
                          <a:ea typeface="PingFang SC"/>
                          <a:cs typeface="PingFang SC"/>
                        </a:rPr>
                        <a:t>5  重数组合＋WP 分配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先按对称等价原子组的大小汇总</a:t>
                      </a:r>
                    </a:p>
                    <a:p>
                      <a:r>
                        <a:rPr sz="1200" b="0">
                          <a:solidFill>
                            <a:srgbClr val="17372F"/>
                          </a:solidFill>
                          <a:latin typeface="PingFang SC"/>
                          <a:ea typeface="PingFang SC"/>
                          <a:cs typeface="PingFang SC"/>
                        </a:rPr>
                        <a:t>再补充具体 WP 身份</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模型分解＋消融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层级概率形式未优于共同打分</a:t>
                      </a:r>
                    </a:p>
                    <a:p>
                      <a:r>
                        <a:rPr sz="1200" b="0">
                          <a:solidFill>
                            <a:srgbClr val="17372F"/>
                          </a:solidFill>
                          <a:latin typeface="PingFang SC"/>
                          <a:ea typeface="PingFang SC"/>
                          <a:cs typeface="PingFang SC"/>
                        </a:rPr>
                        <a:t>未确认按重数聚合的收益</a:t>
                      </a:r>
                    </a:p>
                  </a:txBody>
                  <a:tcPr marL="85725" marR="76200" marT="47625" marB="47625" anchor="ctr">
                    <a:solidFill>
                      <a:srgbClr val="F5F8F5"/>
                    </a:solidFill>
                  </a:tcPr>
                </a:tc>
              </a:tr>
              <a:tr h="514350">
                <a:tc>
                  <a:txBody>
                    <a:bodyPr/>
                    <a:lstStyle/>
                    <a:p>
                      <a:r>
                        <a:rPr sz="1200" b="1">
                          <a:solidFill>
                            <a:srgbClr val="17372F"/>
                          </a:solidFill>
                          <a:latin typeface="PingFang SC"/>
                          <a:ea typeface="PingFang SC"/>
                          <a:cs typeface="PingFang SC"/>
                        </a:rPr>
                        <a:t>6  位点类型计数＋WP 分配</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先按位点点群类型汇总占位</a:t>
                      </a:r>
                    </a:p>
                    <a:p>
                      <a:r>
                        <a:rPr sz="1200" b="0">
                          <a:solidFill>
                            <a:srgbClr val="17372F"/>
                          </a:solidFill>
                          <a:latin typeface="PingFang SC"/>
                          <a:ea typeface="PingFang SC"/>
                          <a:cs typeface="PingFang SC"/>
                        </a:rPr>
                        <a:t>再补充具体 WP 身份</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编码检查＋模型</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未达到预定的模型收益门槛</a:t>
                      </a:r>
                    </a:p>
                    <a:p>
                      <a:r>
                        <a:rPr sz="1200" b="0">
                          <a:solidFill>
                            <a:srgbClr val="17372F"/>
                          </a:solidFill>
                          <a:latin typeface="PingFang SC"/>
                          <a:ea typeface="PingFang SC"/>
                          <a:cs typeface="PingFang SC"/>
                        </a:rPr>
                        <a:t>停止扩大该分支</a:t>
                      </a:r>
                    </a:p>
                  </a:txBody>
                  <a:tcPr marL="85725" marR="76200" marT="47625" marB="47625" anchor="ctr">
                    <a:solidFill>
                      <a:srgbClr val="EAF0EB"/>
                    </a:solidFill>
                  </a:tcPr>
                </a:tc>
              </a:tr>
              <a:tr h="514350">
                <a:tc>
                  <a:txBody>
                    <a:bodyPr/>
                    <a:lstStyle/>
                    <a:p>
                      <a:r>
                        <a:rPr sz="1200" b="1">
                          <a:solidFill>
                            <a:srgbClr val="17372F"/>
                          </a:solidFill>
                          <a:latin typeface="PingFang SC"/>
                          <a:ea typeface="PingFang SC"/>
                          <a:cs typeface="PingFang SC"/>
                        </a:rPr>
                        <a:t>7  群–子群 / WP 分裂动作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将子群选择与 WP 分裂</a:t>
                      </a:r>
                    </a:p>
                    <a:p>
                      <a:r>
                        <a:rPr sz="1200" b="0">
                          <a:solidFill>
                            <a:srgbClr val="17372F"/>
                          </a:solidFill>
                          <a:latin typeface="PingFang SC"/>
                          <a:ea typeface="PingFang SC"/>
                          <a:cs typeface="PingFang SC"/>
                        </a:rPr>
                        <a:t>编码为生成动作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仅文献筛查</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已有工作明显覆盖相关思路</a:t>
                      </a:r>
                    </a:p>
                    <a:p>
                      <a:r>
                        <a:rPr sz="1200" b="0">
                          <a:solidFill>
                            <a:srgbClr val="17372F"/>
                          </a:solidFill>
                          <a:latin typeface="PingFang SC"/>
                          <a:ea typeface="PingFang SC"/>
                          <a:cs typeface="PingFang SC"/>
                        </a:rPr>
                        <a:t>未进入实现和训练</a:t>
                      </a:r>
                    </a:p>
                  </a:txBody>
                  <a:tcPr marL="85725" marR="76200" marT="47625" marB="47625" anchor="ctr">
                    <a:solidFill>
                      <a:srgbClr val="F5F8F5"/>
                    </a:solidFill>
                  </a:tcPr>
                </a:tc>
              </a:tr>
              <a:tr h="514350">
                <a:tc>
                  <a:txBody>
                    <a:bodyPr/>
                    <a:lstStyle/>
                    <a:p>
                      <a:r>
                        <a:rPr sz="1200" b="1">
                          <a:solidFill>
                            <a:srgbClr val="17372F"/>
                          </a:solidFill>
                          <a:latin typeface="PingFang SC"/>
                          <a:ea typeface="PingFang SC"/>
                          <a:cs typeface="PingFang SC"/>
                        </a:rPr>
                        <a:t>8  空间群边轨道 tokenizer</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合并对称等价的邻接关系</a:t>
                      </a:r>
                    </a:p>
                    <a:p>
                      <a:r>
                        <a:rPr sz="1200" b="1">
                          <a:solidFill>
                            <a:srgbClr val="17372F"/>
                          </a:solidFill>
                          <a:latin typeface="PingFang SC"/>
                          <a:ea typeface="PingFang SC"/>
                          <a:cs typeface="PingFang SC"/>
                        </a:rPr>
                        <a:t>离散原型与连续几何分开</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编码＋模型＋去噪</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保留为候选，指定</a:t>
                      </a:r>
                      <a:r>
                        <a:rPr sz="1200" b="1">
                          <a:solidFill>
                            <a:srgbClr val="17372F"/>
                          </a:solidFill>
                          <a:latin typeface="PingFang SC"/>
                          <a:ea typeface="PingFang SC"/>
                          <a:cs typeface="PingFang SC"/>
                        </a:rPr>
                        <a:t> ASU </a:t>
                      </a:r>
                      <a:r>
                        <a:rPr sz="1200" b="1">
                          <a:solidFill>
                            <a:srgbClr val="17372F"/>
                          </a:solidFill>
                          <a:latin typeface="PingFang SC"/>
                          <a:ea typeface="PingFang SC"/>
                          <a:cs typeface="PingFang SC"/>
                        </a:rPr>
                        <a:t>对照下显存少</a:t>
                      </a:r>
                      <a:r>
                        <a:rPr sz="1200" b="1">
                          <a:solidFill>
                            <a:srgbClr val="17372F"/>
                          </a:solidFill>
                          <a:latin typeface="PingFang SC"/>
                          <a:ea typeface="PingFang SC"/>
                          <a:cs typeface="PingFang SC"/>
                        </a:rPr>
                        <a:t> 44.6%</a:t>
                      </a:r>
                    </a:p>
                    <a:p>
                      <a:r>
                        <a:rPr sz="1200" b="1">
                          <a:solidFill>
                            <a:srgbClr val="17372F"/>
                          </a:solidFill>
                          <a:latin typeface="PingFang SC"/>
                          <a:ea typeface="PingFang SC"/>
                          <a:cs typeface="PingFang SC"/>
                        </a:rPr>
                        <a:t>耗时多</a:t>
                      </a:r>
                      <a:r>
                        <a:rPr sz="1200" b="1">
                          <a:solidFill>
                            <a:srgbClr val="17372F"/>
                          </a:solidFill>
                          <a:latin typeface="PingFang SC"/>
                          <a:ea typeface="PingFang SC"/>
                          <a:cs typeface="PingFang SC"/>
                        </a:rPr>
                        <a:t> 11.7%，</a:t>
                      </a:r>
                      <a:r>
                        <a:rPr sz="1200" b="1">
                          <a:solidFill>
                            <a:srgbClr val="17372F"/>
                          </a:solidFill>
                          <a:latin typeface="PingFang SC"/>
                          <a:ea typeface="PingFang SC"/>
                          <a:cs typeface="PingFang SC"/>
                        </a:rPr>
                        <a:t>完整生成尚待验证</a:t>
                      </a:r>
                      <a:endParaRPr sz="1200" b="1">
                        <a:solidFill>
                          <a:srgbClr val="17372F"/>
                        </a:solidFill>
                        <a:latin typeface="PingFang SC"/>
                        <a:ea typeface="PingFang SC"/>
                        <a:cs typeface="PingFang SC"/>
                      </a:endParaRPr>
                    </a:p>
                  </a:txBody>
                  <a:tcPr marL="85725" marR="76200" marT="47625" marB="47625" anchor="ctr">
                    <a:solidFill>
                      <a:srgbClr val="DCECE3"/>
                    </a:solidFill>
                  </a:tcPr>
                </a:tc>
              </a:tr>
            </a:tbl>
          </a:graphicData>
        </a:graphic>
      </p:graphicFrame>
    </p:spTree>
    <p:extLst>
      <p:ext uri="{BB962C8B-B14F-4D97-AF65-F5344CB8AC3E}">
        <p14:creationId xmlns:p14="http://schemas.microsoft.com/office/powerpoint/2010/main" val="306048890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410959-5479-9DB5-4290-36E84239D5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F</a:t>
            </a:r>
            <a:r>
              <a:t>uture</a:t>
            </a:r>
            <a:r>
              <a:t> </a:t>
            </a:r>
            <a:r>
              <a:t>work</a:t>
            </a:r>
            <a:endParaRPr/>
          </a:p>
        </p:txBody>
      </p:sp>
      <p:sp>
        <p:nvSpPr>
          <p:cNvPr id="3" name="Content Placeholder 2">
            <a:extLst xmlns:a="http://schemas.openxmlformats.org/drawingml/2006/main">
              <a:ext uri="{FF2B5EF4-FFF2-40B4-BE49-F238E27FC236}">
                <a16:creationId xmlns:a16="http://schemas.microsoft.com/office/drawing/2014/main" id="{905FD7B3-2BA1-42F0-2CBF-DE09486E885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调研一下是不是真的没有文章做过大模型</a:t>
            </a:r>
            <a:r>
              <a:t>？无条件生成的。</a:t>
            </a:r>
            <a:endParaRPr/>
          </a:p>
          <a:p xmlns:a="http://schemas.openxmlformats.org/drawingml/2006/main">
            <a:r>
              <a:t>写一个实际的position位点例子展示出来</a:t>
            </a:r>
          </a:p>
          <a:p xmlns:a="http://schemas.openxmlformats.org/drawingml/2006/main">
            <a:r>
              <a:t>不同</a:t>
            </a:r>
            <a:r>
              <a:t>空间群中的</a:t>
            </a:r>
            <a:r>
              <a:t>postion</a:t>
            </a:r>
            <a:r>
              <a:t>的交叉表示</a:t>
            </a:r>
            <a:endParaRPr/>
          </a:p>
          <a:p xmlns:a="http://schemas.openxmlformats.org/drawingml/2006/main">
            <a:r>
              <a:t>大的</a:t>
            </a:r>
            <a:r>
              <a:t>foundation</a:t>
            </a:r>
            <a:r>
              <a:t> </a:t>
            </a:r>
            <a:r>
              <a:t>model</a:t>
            </a:r>
          </a:p>
          <a:p xmlns:a="http://schemas.openxmlformats.org/drawingml/2006/main">
            <a:r>
              <a:t>怎么样说明可以复用</a:t>
            </a:r>
            <a:endParaRPr/>
          </a:p>
        </p:txBody>
      </p:sp>
      <p:sp>
        <p:nvSpPr>
          <p:cNvPr id="4" name="Slide Number Placeholder 3">
            <a:extLst xmlns:a="http://schemas.openxmlformats.org/drawingml/2006/main">
              <a:ext uri="{FF2B5EF4-FFF2-40B4-BE49-F238E27FC236}">
                <a16:creationId xmlns:a16="http://schemas.microsoft.com/office/drawing/2014/main" id="{E5FF5520-B6B0-371D-FC54-F7A5B1C3809A}"/>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48D82B17-3AA5-DB4E-A79B-C818A6AD8FB8}" type="slidenum">
              <a:t>14</a:t>
            </a:fld>
            <a:endParaRPr/>
          </a:p>
        </p:txBody>
      </p:sp>
    </p:spTree>
    <p:extLst>
      <p:ext uri="{BB962C8B-B14F-4D97-AF65-F5344CB8AC3E}">
        <p14:creationId xmlns:p14="http://schemas.microsoft.com/office/powerpoint/2010/main" val="394682789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3F4232F-5131-4D23-2EF0-4B44163AD72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20273338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604AE1E-13DD-43CA-AC13-547B773C970A}"/>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① 这种材料基础大模型，有人做过吗？</a:t>
            </a:r>
          </a:p>
        </p:txBody>
      </p:sp>
      <p:sp>
        <p:nvSpPr>
          <p:cNvPr id="2" name="text-1">
            <a:extLst xmlns:a="http://schemas.openxmlformats.org/drawingml/2006/main">
              <a:ext uri="{FF2B5EF4-FFF2-40B4-BE49-F238E27FC236}">
                <a16:creationId xmlns:a16="http://schemas.microsoft.com/office/drawing/2014/main" id="{15900B9C-3E18-41DF-8AA8-AB9698C51BE7}"/>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有。把材料、性质和文字放在一起训练，已有直接相关工作。</a:t>
            </a:r>
          </a:p>
        </p:txBody>
      </p:sp>
      <p:sp>
        <p:nvSpPr>
          <p:cNvPr id="3" name="text-2">
            <a:extLst xmlns:a="http://schemas.openxmlformats.org/drawingml/2006/main">
              <a:ext uri="{FF2B5EF4-FFF2-40B4-BE49-F238E27FC236}">
                <a16:creationId xmlns:a16="http://schemas.microsoft.com/office/drawing/2014/main" id="{15553F8D-55F2-436F-9106-CD3FBC6EDB7D}"/>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16</a:t>
            </a:r>
          </a:p>
        </p:txBody>
      </p:sp>
      <p:graphicFrame>
        <p:nvGraphicFramePr>
          <p:cNvPr id="9" name=""/>
          <p:cNvGraphicFramePr/>
          <p:nvPr/>
        </p:nvGraphicFramePr>
        <p:xfrm>
          <a:off xmlns:a="http://schemas.openxmlformats.org/drawingml/2006/main" x="762000" y="2381250"/>
          <a:ext xmlns:a="http://schemas.openxmlformats.org/drawingml/2006/main" cx="10668000" cy="3009900"/>
        </p:xfrm>
        <a:graphic xmlns:a="http://schemas.openxmlformats.org/drawingml/2006/main">
          <a:graphicData uri="http://schemas.openxmlformats.org/drawingml/2006/table">
            <a:tbl>
              <a:tblPr firstRow="0" bandRow="0"/>
              <a:tblGrid>
                <a:gridCol w="2381250"/>
                <a:gridCol w="4143375"/>
                <a:gridCol w="4143375"/>
              </a:tblGrid>
              <a:tr h="438150">
                <a:tc>
                  <a:txBody>
                    <a:bodyPr>
                      <a:noAutofit/>
                    </a:bodyPr>
                    <a:lstStyle/>
                    <a:p>
                      <a:r>
                        <a:rPr sz="1875" b="1">
                          <a:solidFill>
                            <a:srgbClr val="FFFFFF"/>
                          </a:solidFill>
                          <a:latin typeface="PingFang SC"/>
                          <a:ea typeface="PingFang SC"/>
                          <a:cs typeface="PingFang SC"/>
                        </a:rPr>
                        <a:t>最相关的工作</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已经做了什么</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和老师设想的关系</a:t>
                      </a:r>
                    </a:p>
                  </a:txBody>
                  <a:tcPr marL="133350" marR="114300" marT="76200" marB="66675" anchor="ctr">
                    <a:solidFill>
                      <a:srgbClr val="2D6B5B"/>
                    </a:solidFill>
                  </a:tcPr>
                </a:tc>
              </a:tr>
              <a:tr h="857250">
                <a:tc>
                  <a:txBody>
                    <a:bodyPr>
                      <a:noAutofit/>
                    </a:bodyPr>
                    <a:lstStyle/>
                    <a:p>
                      <a:r>
                        <a:rPr sz="1875" b="1">
                          <a:solidFill>
                            <a:srgbClr val="17372F"/>
                          </a:solidFill>
                          <a:latin typeface="PingFang SC"/>
                          <a:ea typeface="PingFang SC"/>
                          <a:cs typeface="PingFang SC"/>
                        </a:rPr>
                        <a:t>NatureLM</a:t>
                      </a:r>
                    </a:p>
                    <a:p>
                      <a:r>
                        <a:rPr sz="1875" b="1">
                          <a:solidFill>
                            <a:srgbClr val="17372F"/>
                          </a:solidFill>
                          <a:latin typeface="PingFang SC"/>
                          <a:ea typeface="PingFang SC"/>
                          <a:cs typeface="PingFang SC"/>
                        </a:rPr>
                        <a:t>2025</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材料组成、空间群、性质与文字</a:t>
                      </a:r>
                    </a:p>
                    <a:p>
                      <a:r>
                        <a:rPr sz="1875" b="0">
                          <a:solidFill>
                            <a:srgbClr val="17372F"/>
                          </a:solidFill>
                          <a:latin typeface="PingFang SC"/>
                          <a:ea typeface="PingFang SC"/>
                          <a:cs typeface="PingFang SC"/>
                        </a:rPr>
                        <a:t>都写成序列，放在一起训练</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最接近“都放进 text space”</a:t>
                      </a:r>
                    </a:p>
                    <a:p>
                      <a:r>
                        <a:rPr sz="1875" b="0">
                          <a:solidFill>
                            <a:srgbClr val="17372F"/>
                          </a:solidFill>
                          <a:latin typeface="PingFang SC"/>
                          <a:ea typeface="PingFang SC"/>
                          <a:cs typeface="PingFang SC"/>
                        </a:rPr>
                        <a:t>完整晶体用 Mat3D 另行训练</a:t>
                      </a:r>
                    </a:p>
                  </a:txBody>
                  <a:tcPr marL="133350" marR="114300" marT="76200" marB="66675" anchor="ctr">
                    <a:solidFill>
                      <a:srgbClr val="F7FAF7"/>
                    </a:solidFill>
                  </a:tcPr>
                </a:tc>
              </a:tr>
              <a:tr h="857250">
                <a:tc>
                  <a:txBody>
                    <a:bodyPr>
                      <a:noAutofit/>
                    </a:bodyPr>
                    <a:lstStyle/>
                    <a:p>
                      <a:r>
                        <a:rPr sz="1875" b="1">
                          <a:solidFill>
                            <a:srgbClr val="17372F"/>
                          </a:solidFill>
                          <a:latin typeface="PingFang SC"/>
                          <a:ea typeface="PingFang SC"/>
                          <a:cs typeface="PingFang SC"/>
                        </a:rPr>
                        <a:t>LLaMat</a:t>
                      </a:r>
                    </a:p>
                    <a:p>
                      <a:r>
                        <a:rPr sz="1875" b="1">
                          <a:solidFill>
                            <a:srgbClr val="17372F"/>
                          </a:solidFill>
                          <a:latin typeface="PingFang SC"/>
                          <a:ea typeface="PingFang SC"/>
                          <a:cs typeface="PingFang SC"/>
                        </a:rPr>
                        <a:t>2024 / 2026</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材料论文和晶体文件参与训练</a:t>
                      </a:r>
                    </a:p>
                    <a:p>
                      <a:r>
                        <a:rPr sz="1875" b="0">
                          <a:solidFill>
                            <a:srgbClr val="17372F"/>
                          </a:solidFill>
                          <a:latin typeface="PingFang SC"/>
                          <a:ea typeface="PingFang SC"/>
                          <a:cs typeface="PingFang SC"/>
                        </a:rPr>
                        <a:t>再训练问答、提取、生成等任务</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没有晶体结构的论文也能用</a:t>
                      </a:r>
                    </a:p>
                    <a:p>
                      <a:r>
                        <a:rPr sz="1875" b="0">
                          <a:solidFill>
                            <a:srgbClr val="17372F"/>
                          </a:solidFill>
                          <a:latin typeface="PingFang SC"/>
                          <a:ea typeface="PingFang SC"/>
                          <a:cs typeface="PingFang SC"/>
                        </a:rPr>
                        <a:t>但不同任务有不同模型版本</a:t>
                      </a:r>
                    </a:p>
                  </a:txBody>
                  <a:tcPr marL="133350" marR="114300" marT="76200" marB="66675" anchor="ctr">
                    <a:solidFill>
                      <a:srgbClr val="EDF3EE"/>
                    </a:solidFill>
                  </a:tcPr>
                </a:tc>
              </a:tr>
              <a:tr h="857250">
                <a:tc>
                  <a:txBody>
                    <a:bodyPr>
                      <a:noAutofit/>
                    </a:bodyPr>
                    <a:lstStyle/>
                    <a:p>
                      <a:r>
                        <a:rPr sz="1875" b="1">
                          <a:solidFill>
                            <a:srgbClr val="17372F"/>
                          </a:solidFill>
                          <a:latin typeface="PingFang SC"/>
                          <a:ea typeface="PingFang SC"/>
                          <a:cs typeface="PingFang SC"/>
                        </a:rPr>
                        <a:t>ALM（2026）</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同一理解模型训练结构任务</a:t>
                      </a:r>
                    </a:p>
                    <a:p>
                      <a:r>
                        <a:rPr sz="1875" b="0">
                          <a:solidFill>
                            <a:srgbClr val="17372F"/>
                          </a:solidFill>
                          <a:latin typeface="PingFang SC"/>
                          <a:ea typeface="PingFang SC"/>
                          <a:cs typeface="PingFang SC"/>
                        </a:rPr>
                        <a:t>和纯文本任务，再接扩散生成器</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最接近“有结构 / 无结构都用”</a:t>
                      </a:r>
                    </a:p>
                    <a:p>
                      <a:r>
                        <a:rPr sz="1875" b="0">
                          <a:solidFill>
                            <a:srgbClr val="17372F"/>
                          </a:solidFill>
                          <a:latin typeface="PingFang SC"/>
                          <a:ea typeface="PingFang SC"/>
                          <a:cs typeface="PingFang SC"/>
                        </a:rPr>
                        <a:t>但不是全部变成离散文字</a:t>
                      </a:r>
                    </a:p>
                  </a:txBody>
                  <a:tcPr marL="133350" marR="11430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74587BC9-01DA-4E95-BA63-E87C1EA4F9F8}"/>
              </a:ext>
            </a:extLst>
          </p:cNvPr>
          <p:cNvSpPr>
            <a:spLocks xmlns:a="http://schemas.openxmlformats.org/drawingml/2006/main" noGrp="1"/>
          </p:cNvSpPr>
          <p:nvPr/>
        </p:nvSpPr>
        <p:spPr>
          <a:xfrm xmlns:a="http://schemas.openxmlformats.org/drawingml/2006/main">
            <a:off x="781050" y="56483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D6B5B"/>
                </a:solidFill>
                <a:latin typeface="PingFang SC"/>
                <a:ea typeface="PingFang SC"/>
                <a:cs typeface="PingFang SC"/>
              </a:defRPr>
            </a:pPr>
            <a:r>
              <a:rPr sz="2025" b="1">
                <a:solidFill>
                  <a:srgbClr val="2D6B5B"/>
                </a:solidFill>
                <a:latin typeface="PingFang SC"/>
                <a:ea typeface="PingFang SC"/>
                <a:cs typeface="PingFang SC"/>
              </a:rPr>
              <a:t>所以，我们需要说明：自己的表示或训练方法，究竟多解决了什么问题。</a:t>
            </a:r>
          </a:p>
        </p:txBody>
      </p:sp>
    </p:spTree>
    <p:extLst>
      <p:ext uri="{BB962C8B-B14F-4D97-AF65-F5344CB8AC3E}">
        <p14:creationId xmlns:p14="http://schemas.microsoft.com/office/powerpoint/2010/main" val="17329905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DADA624-7597-4F00-BA88-0358294118F9}"/>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① 没有结构、没有性质的数据，能不能用？</a:t>
            </a:r>
          </a:p>
        </p:txBody>
      </p:sp>
      <p:sp>
        <p:nvSpPr>
          <p:cNvPr id="2" name="text-1">
            <a:extLst xmlns:a="http://schemas.openxmlformats.org/drawingml/2006/main">
              <a:ext uri="{FF2B5EF4-FFF2-40B4-BE49-F238E27FC236}">
                <a16:creationId xmlns:a16="http://schemas.microsoft.com/office/drawing/2014/main" id="{C9AD376D-5704-4E57-BD3F-5F9EDA3CC885}"/>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能用。每条数据只训练它实际提供的内容。</a:t>
            </a:r>
          </a:p>
        </p:txBody>
      </p:sp>
      <p:sp>
        <p:nvSpPr>
          <p:cNvPr id="3" name="text-2">
            <a:extLst xmlns:a="http://schemas.openxmlformats.org/drawingml/2006/main">
              <a:ext uri="{FF2B5EF4-FFF2-40B4-BE49-F238E27FC236}">
                <a16:creationId xmlns:a16="http://schemas.microsoft.com/office/drawing/2014/main" id="{4C35B31D-8B27-4AA9-A625-298106A2CD8D}"/>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17</a:t>
            </a:r>
          </a:p>
        </p:txBody>
      </p:sp>
      <p:graphicFrame>
        <p:nvGraphicFramePr>
          <p:cNvPr id="10" name=""/>
          <p:cNvGraphicFramePr/>
          <p:nvPr/>
        </p:nvGraphicFramePr>
        <p:xfrm>
          <a:off xmlns:a="http://schemas.openxmlformats.org/drawingml/2006/main" x="762000" y="2390775"/>
          <a:ext xmlns:a="http://schemas.openxmlformats.org/drawingml/2006/main" cx="10668000" cy="2952750"/>
        </p:xfrm>
        <a:graphic xmlns:a="http://schemas.openxmlformats.org/drawingml/2006/main">
          <a:graphicData uri="http://schemas.openxmlformats.org/drawingml/2006/table">
            <a:tbl>
              <a:tblPr firstRow="0" bandRow="0"/>
              <a:tblGrid>
                <a:gridCol w="4572000"/>
                <a:gridCol w="6096000"/>
              </a:tblGrid>
              <a:tr h="438150">
                <a:tc>
                  <a:txBody>
                    <a:bodyPr>
                      <a:noAutofit/>
                    </a:bodyPr>
                    <a:lstStyle/>
                    <a:p>
                      <a:r>
                        <a:rPr sz="2025" b="1">
                          <a:solidFill>
                            <a:srgbClr val="FFFFFF"/>
                          </a:solidFill>
                          <a:latin typeface="PingFang SC"/>
                          <a:ea typeface="PingFang SC"/>
                          <a:cs typeface="PingFang SC"/>
                        </a:rPr>
                        <a:t>这条数据有什么</a:t>
                      </a:r>
                    </a:p>
                  </a:txBody>
                  <a:tcPr marL="133350" marR="114300" marT="76200" marB="66675" anchor="ctr">
                    <a:solidFill>
                      <a:srgbClr val="2D6B5B"/>
                    </a:solidFill>
                  </a:tcPr>
                </a:tc>
                <a:tc>
                  <a:txBody>
                    <a:bodyPr>
                      <a:noAutofit/>
                    </a:bodyPr>
                    <a:lstStyle/>
                    <a:p>
                      <a:r>
                        <a:rPr sz="2025" b="1">
                          <a:solidFill>
                            <a:srgbClr val="FFFFFF"/>
                          </a:solidFill>
                          <a:latin typeface="PingFang SC"/>
                          <a:ea typeface="PingFang SC"/>
                          <a:cs typeface="PingFang SC"/>
                        </a:rPr>
                        <a:t>可以拿它训练什么</a:t>
                      </a:r>
                    </a:p>
                  </a:txBody>
                  <a:tcPr marL="133350" marR="114300" marT="76200" marB="66675" anchor="ctr">
                    <a:solidFill>
                      <a:srgbClr val="2D6B5B"/>
                    </a:solidFill>
                  </a:tcPr>
                </a:tc>
              </a:tr>
              <a:tr h="628650">
                <a:tc>
                  <a:txBody>
                    <a:bodyPr>
                      <a:noAutofit/>
                    </a:bodyPr>
                    <a:lstStyle/>
                    <a:p>
                      <a:r>
                        <a:rPr sz="2025" b="1">
                          <a:solidFill>
                            <a:srgbClr val="17372F"/>
                          </a:solidFill>
                          <a:latin typeface="PingFang SC"/>
                          <a:ea typeface="PingFang SC"/>
                          <a:cs typeface="PingFang SC"/>
                        </a:rPr>
                        <a:t>组成 + 能量，没有晶体结构</a:t>
                      </a:r>
                    </a:p>
                  </a:txBody>
                  <a:tcPr marL="133350" marR="114300" marT="76200" marB="66675" anchor="ctr">
                    <a:solidFill>
                      <a:srgbClr val="F7FAF7"/>
                    </a:solidFill>
                  </a:tcPr>
                </a:tc>
                <a:tc>
                  <a:txBody>
                    <a:bodyPr>
                      <a:noAutofit/>
                    </a:bodyPr>
                    <a:lstStyle/>
                    <a:p>
                      <a:r>
                        <a:rPr sz="2025" b="0">
                          <a:solidFill>
                            <a:srgbClr val="17372F"/>
                          </a:solidFill>
                          <a:latin typeface="PingFang SC"/>
                          <a:ea typeface="PingFang SC"/>
                          <a:cs typeface="PingFang SC"/>
                        </a:rPr>
                        <a:t>根据组成预测能量</a:t>
                      </a:r>
                    </a:p>
                  </a:txBody>
                  <a:tcPr marL="133350" marR="114300" marT="76200" marB="66675" anchor="ctr">
                    <a:solidFill>
                      <a:srgbClr val="F7FAF7"/>
                    </a:solidFill>
                  </a:tcPr>
                </a:tc>
              </a:tr>
              <a:tr h="628650">
                <a:tc>
                  <a:txBody>
                    <a:bodyPr>
                      <a:noAutofit/>
                    </a:bodyPr>
                    <a:lstStyle/>
                    <a:p>
                      <a:r>
                        <a:rPr sz="2025" b="1">
                          <a:solidFill>
                            <a:srgbClr val="17372F"/>
                          </a:solidFill>
                          <a:latin typeface="PingFang SC"/>
                          <a:ea typeface="PingFang SC"/>
                          <a:cs typeface="PingFang SC"/>
                        </a:rPr>
                        <a:t>晶体结构，没有性质标签</a:t>
                      </a:r>
                    </a:p>
                  </a:txBody>
                  <a:tcPr marL="133350" marR="114300" marT="76200" marB="66675" anchor="ctr">
                    <a:solidFill>
                      <a:srgbClr val="EDF3EE"/>
                    </a:solidFill>
                  </a:tcPr>
                </a:tc>
                <a:tc>
                  <a:txBody>
                    <a:bodyPr>
                      <a:noAutofit/>
                    </a:bodyPr>
                    <a:lstStyle/>
                    <a:p>
                      <a:r>
                        <a:rPr sz="2025" b="0">
                          <a:solidFill>
                            <a:srgbClr val="17372F"/>
                          </a:solidFill>
                          <a:latin typeface="PingFang SC"/>
                          <a:ea typeface="PingFang SC"/>
                          <a:cs typeface="PingFang SC"/>
                        </a:rPr>
                        <a:t>遮住一部分结构，让模型补回来</a:t>
                      </a:r>
                    </a:p>
                  </a:txBody>
                  <a:tcPr marL="133350" marR="114300" marT="76200" marB="66675" anchor="ctr">
                    <a:solidFill>
                      <a:srgbClr val="EDF3EE"/>
                    </a:solidFill>
                  </a:tcPr>
                </a:tc>
              </a:tr>
              <a:tr h="628650">
                <a:tc>
                  <a:txBody>
                    <a:bodyPr>
                      <a:noAutofit/>
                    </a:bodyPr>
                    <a:lstStyle/>
                    <a:p>
                      <a:r>
                        <a:rPr sz="2025" b="1">
                          <a:solidFill>
                            <a:srgbClr val="17372F"/>
                          </a:solidFill>
                          <a:latin typeface="PingFang SC"/>
                          <a:ea typeface="PingFang SC"/>
                          <a:cs typeface="PingFang SC"/>
                        </a:rPr>
                        <a:t>结构 + 部分性质</a:t>
                      </a:r>
                    </a:p>
                  </a:txBody>
                  <a:tcPr marL="133350" marR="114300" marT="76200" marB="66675" anchor="ctr">
                    <a:solidFill>
                      <a:srgbClr val="F7FAF7"/>
                    </a:solidFill>
                  </a:tcPr>
                </a:tc>
                <a:tc>
                  <a:txBody>
                    <a:bodyPr>
                      <a:noAutofit/>
                    </a:bodyPr>
                    <a:lstStyle/>
                    <a:p>
                      <a:r>
                        <a:rPr sz="2025" b="0">
                          <a:solidFill>
                            <a:srgbClr val="17372F"/>
                          </a:solidFill>
                          <a:latin typeface="PingFang SC"/>
                          <a:ea typeface="PingFang SC"/>
                          <a:cs typeface="PingFang SC"/>
                        </a:rPr>
                        <a:t>遮住已有答案的一部分，让模型来预测</a:t>
                      </a:r>
                    </a:p>
                  </a:txBody>
                  <a:tcPr marL="133350" marR="114300" marT="76200" marB="66675" anchor="ctr">
                    <a:solidFill>
                      <a:srgbClr val="F7FAF7"/>
                    </a:solidFill>
                  </a:tcPr>
                </a:tc>
              </a:tr>
              <a:tr h="628650">
                <a:tc>
                  <a:txBody>
                    <a:bodyPr>
                      <a:noAutofit/>
                    </a:bodyPr>
                    <a:lstStyle/>
                    <a:p>
                      <a:r>
                        <a:rPr sz="2025" b="1">
                          <a:solidFill>
                            <a:srgbClr val="17372F"/>
                          </a:solidFill>
                          <a:latin typeface="PingFang SC"/>
                          <a:ea typeface="PingFang SC"/>
                          <a:cs typeface="PingFang SC"/>
                        </a:rPr>
                        <a:t>只有材料文字</a:t>
                      </a:r>
                    </a:p>
                  </a:txBody>
                  <a:tcPr marL="133350" marR="114300" marT="76200" marB="66675" anchor="ctr">
                    <a:solidFill>
                      <a:srgbClr val="EDF3EE"/>
                    </a:solidFill>
                  </a:tcPr>
                </a:tc>
                <a:tc>
                  <a:txBody>
                    <a:bodyPr>
                      <a:noAutofit/>
                    </a:bodyPr>
                    <a:lstStyle/>
                    <a:p>
                      <a:r>
                        <a:rPr sz="2025" b="0">
                          <a:solidFill>
                            <a:srgbClr val="17372F"/>
                          </a:solidFill>
                          <a:latin typeface="PingFang SC"/>
                          <a:ea typeface="PingFang SC"/>
                          <a:cs typeface="PingFang SC"/>
                        </a:rPr>
                        <a:t>学习材料知识、文字补全或问答</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53A718F4-6034-429B-8A81-0F24298DF081}"/>
              </a:ext>
            </a:extLst>
          </p:cNvPr>
          <p:cNvSpPr>
            <a:spLocks xmlns:a="http://schemas.openxmlformats.org/drawingml/2006/main" noGrp="1"/>
          </p:cNvSpPr>
          <p:nvPr/>
        </p:nvSpPr>
        <p:spPr>
          <a:xfrm xmlns:a="http://schemas.openxmlformats.org/drawingml/2006/main">
            <a:off x="781050" y="5629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不知道的值不能当成 0，也不能编一个结构当答案。</a:t>
            </a:r>
          </a:p>
        </p:txBody>
      </p:sp>
      <p:sp>
        <p:nvSpPr>
          <p:cNvPr id="6" name="text-4">
            <a:extLst xmlns:a="http://schemas.openxmlformats.org/drawingml/2006/main">
              <a:ext uri="{FF2B5EF4-FFF2-40B4-BE49-F238E27FC236}">
                <a16:creationId xmlns:a16="http://schemas.microsoft.com/office/drawing/2014/main" id="{9FC254B0-094F-437D-B6CA-9D2D97ECDE2A}"/>
              </a:ext>
            </a:extLst>
          </p:cNvPr>
          <p:cNvSpPr>
            <a:spLocks xmlns:a="http://schemas.openxmlformats.org/drawingml/2006/main" noGrp="1"/>
          </p:cNvSpPr>
          <p:nvPr/>
        </p:nvSpPr>
        <p:spPr>
          <a:xfrm xmlns:a="http://schemas.openxmlformats.org/drawingml/2006/main">
            <a:off x="781050" y="61055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同用文字只是统一输入格式。还需要有对应关系的数据，模型才能学会“这种材料对应什么性质”。</a:t>
            </a:r>
          </a:p>
        </p:txBody>
      </p:sp>
    </p:spTree>
    <p:extLst>
      <p:ext uri="{BB962C8B-B14F-4D97-AF65-F5344CB8AC3E}">
        <p14:creationId xmlns:p14="http://schemas.microsoft.com/office/powerpoint/2010/main" val="192759163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B1DB054-5590-4B4A-BC84-2C7CE30A7D28}"/>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② 4a 里的“4”和“a”是什么意思？</a:t>
            </a:r>
          </a:p>
        </p:txBody>
      </p:sp>
      <p:sp>
        <p:nvSpPr>
          <p:cNvPr id="2" name="text-1">
            <a:extLst xmlns:a="http://schemas.openxmlformats.org/drawingml/2006/main">
              <a:ext uri="{FF2B5EF4-FFF2-40B4-BE49-F238E27FC236}">
                <a16:creationId xmlns:a16="http://schemas.microsoft.com/office/drawing/2014/main" id="{08EB733F-5A63-4C30-AD80-B9EA115F6D04}"/>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例子：NaCl，空间群 #225（Fm−3m），使用常规立方晶胞。</a:t>
            </a:r>
          </a:p>
        </p:txBody>
      </p:sp>
      <p:sp>
        <p:nvSpPr>
          <p:cNvPr id="3" name="text-2">
            <a:extLst xmlns:a="http://schemas.openxmlformats.org/drawingml/2006/main">
              <a:ext uri="{FF2B5EF4-FFF2-40B4-BE49-F238E27FC236}">
                <a16:creationId xmlns:a16="http://schemas.microsoft.com/office/drawing/2014/main" id="{38232DCE-5ED7-49A0-813C-65F358428CC9}"/>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18</a:t>
            </a:r>
          </a:p>
        </p:txBody>
      </p:sp>
      <p:sp>
        <p:nvSpPr>
          <p:cNvPr id="4" name="text-3">
            <a:extLst xmlns:a="http://schemas.openxmlformats.org/drawingml/2006/main">
              <a:ext uri="{FF2B5EF4-FFF2-40B4-BE49-F238E27FC236}">
                <a16:creationId xmlns:a16="http://schemas.microsoft.com/office/drawing/2014/main" id="{05598611-F7A0-4E74-A203-B0BA70856668}"/>
              </a:ext>
            </a:extLst>
          </p:cNvPr>
          <p:cNvSpPr>
            <a:spLocks xmlns:a="http://schemas.openxmlformats.org/drawingml/2006/main" noGrp="1"/>
          </p:cNvSpPr>
          <p:nvPr/>
        </p:nvSpPr>
        <p:spPr>
          <a:xfrm xmlns:a="http://schemas.openxmlformats.org/drawingml/2006/main">
            <a:off x="895350" y="2390775"/>
            <a:ext cx="133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2D6B5B"/>
                </a:solidFill>
                <a:latin typeface="PingFang SC"/>
                <a:ea typeface="PingFang SC"/>
                <a:cs typeface="PingFang SC"/>
              </a:defRPr>
            </a:pPr>
            <a:r>
              <a:rPr sz="6000" b="1">
                <a:solidFill>
                  <a:srgbClr val="2D6B5B"/>
                </a:solidFill>
                <a:latin typeface="PingFang SC"/>
                <a:ea typeface="PingFang SC"/>
                <a:cs typeface="PingFang SC"/>
              </a:rPr>
              <a:t>4</a:t>
            </a:r>
          </a:p>
        </p:txBody>
      </p:sp>
      <p:sp>
        <p:nvSpPr>
          <p:cNvPr id="5" name="text-4">
            <a:extLst xmlns:a="http://schemas.openxmlformats.org/drawingml/2006/main">
              <a:ext uri="{FF2B5EF4-FFF2-40B4-BE49-F238E27FC236}">
                <a16:creationId xmlns:a16="http://schemas.microsoft.com/office/drawing/2014/main" id="{9A723C83-CE75-4D34-B0B1-DC256F675476}"/>
              </a:ext>
            </a:extLst>
          </p:cNvPr>
          <p:cNvSpPr>
            <a:spLocks xmlns:a="http://schemas.openxmlformats.org/drawingml/2006/main" noGrp="1"/>
          </p:cNvSpPr>
          <p:nvPr/>
        </p:nvSpPr>
        <p:spPr>
          <a:xfrm xmlns:a="http://schemas.openxmlformats.org/drawingml/2006/main">
            <a:off x="2333625" y="2524125"/>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一个代表点按对称规则展开，</a:t>
            </a:r>
          </a:p>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在一个常规晶胞里得到 4 个位置。</a:t>
            </a:r>
          </a:p>
        </p:txBody>
      </p:sp>
      <p:sp>
        <p:nvSpPr>
          <p:cNvPr id="6" name="text-5">
            <a:extLst xmlns:a="http://schemas.openxmlformats.org/drawingml/2006/main">
              <a:ext uri="{FF2B5EF4-FFF2-40B4-BE49-F238E27FC236}">
                <a16:creationId xmlns:a16="http://schemas.microsoft.com/office/drawing/2014/main" id="{DC029D88-6D56-4DDE-83CD-6D6F057F3EC1}"/>
              </a:ext>
            </a:extLst>
          </p:cNvPr>
          <p:cNvSpPr>
            <a:spLocks xmlns:a="http://schemas.openxmlformats.org/drawingml/2006/main" noGrp="1"/>
          </p:cNvSpPr>
          <p:nvPr/>
        </p:nvSpPr>
        <p:spPr>
          <a:xfrm xmlns:a="http://schemas.openxmlformats.org/drawingml/2006/main">
            <a:off x="6619875" y="239077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2D6B5B"/>
                </a:solidFill>
                <a:latin typeface="PingFang SC"/>
                <a:ea typeface="PingFang SC"/>
                <a:cs typeface="PingFang SC"/>
              </a:defRPr>
            </a:pPr>
            <a:r>
              <a:rPr sz="6000" b="1">
                <a:solidFill>
                  <a:srgbClr val="2D6B5B"/>
                </a:solidFill>
                <a:latin typeface="PingFang SC"/>
                <a:ea typeface="PingFang SC"/>
                <a:cs typeface="PingFang SC"/>
              </a:rPr>
              <a:t>a</a:t>
            </a:r>
          </a:p>
        </p:txBody>
      </p:sp>
      <p:sp>
        <p:nvSpPr>
          <p:cNvPr id="7" name="text-6">
            <a:extLst xmlns:a="http://schemas.openxmlformats.org/drawingml/2006/main">
              <a:ext uri="{FF2B5EF4-FFF2-40B4-BE49-F238E27FC236}">
                <a16:creationId xmlns:a16="http://schemas.microsoft.com/office/drawing/2014/main" id="{78BC64BE-A947-436D-BE84-5F2936073268}"/>
              </a:ext>
            </a:extLst>
          </p:cNvPr>
          <p:cNvSpPr>
            <a:spLocks xmlns:a="http://schemas.openxmlformats.org/drawingml/2006/main" noGrp="1"/>
          </p:cNvSpPr>
          <p:nvPr/>
        </p:nvSpPr>
        <p:spPr>
          <a:xfrm xmlns:a="http://schemas.openxmlformats.org/drawingml/2006/main">
            <a:off x="7810500" y="2524125"/>
            <a:ext cx="361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该空间群位点表里的标签。</a:t>
            </a:r>
          </a:p>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它不是元素，也不是坐标。</a:t>
            </a:r>
          </a:p>
        </p:txBody>
      </p:sp>
      <p:graphicFrame>
        <p:nvGraphicFramePr>
          <p:cNvPr id="17" name=""/>
          <p:cNvGraphicFramePr/>
          <p:nvPr/>
        </p:nvGraphicFramePr>
        <p:xfrm>
          <a:off xmlns:a="http://schemas.openxmlformats.org/drawingml/2006/main" x="762000" y="3619500"/>
          <a:ext xmlns:a="http://schemas.openxmlformats.org/drawingml/2006/main" cx="10668000" cy="2143125"/>
        </p:xfrm>
        <a:graphic xmlns:a="http://schemas.openxmlformats.org/drawingml/2006/main">
          <a:graphicData uri="http://schemas.openxmlformats.org/drawingml/2006/table">
            <a:tbl>
              <a:tblPr firstRow="0" bandRow="0"/>
              <a:tblGrid>
                <a:gridCol w="5334000"/>
                <a:gridCol w="5334000"/>
              </a:tblGrid>
              <a:tr h="447675">
                <a:tc>
                  <a:txBody>
                    <a:bodyPr>
                      <a:noAutofit/>
                    </a:bodyPr>
                    <a:lstStyle/>
                    <a:p>
                      <a:r>
                        <a:rPr sz="1950" b="1">
                          <a:solidFill>
                            <a:srgbClr val="FFFFFF"/>
                          </a:solidFill>
                          <a:latin typeface="PingFang SC"/>
                          <a:ea typeface="PingFang SC"/>
                          <a:cs typeface="PingFang SC"/>
                        </a:rPr>
                        <a:t>Na 占据 4a</a:t>
                      </a:r>
                    </a:p>
                  </a:txBody>
                  <a:tcPr marL="133350" marR="114300" marT="76200" marB="66675" anchor="ctr">
                    <a:solidFill>
                      <a:srgbClr val="2D6B5B"/>
                    </a:solidFill>
                  </a:tcPr>
                </a:tc>
                <a:tc>
                  <a:txBody>
                    <a:bodyPr>
                      <a:noAutofit/>
                    </a:bodyPr>
                    <a:lstStyle/>
                    <a:p>
                      <a:r>
                        <a:rPr sz="1950" b="1">
                          <a:solidFill>
                            <a:srgbClr val="FFFFFF"/>
                          </a:solidFill>
                          <a:latin typeface="PingFang SC"/>
                          <a:ea typeface="PingFang SC"/>
                          <a:cs typeface="PingFang SC"/>
                        </a:rPr>
                        <a:t>Cl 占据 4b</a:t>
                      </a:r>
                    </a:p>
                  </a:txBody>
                  <a:tcPr marL="133350" marR="114300" marT="76200" marB="66675" anchor="ctr">
                    <a:solidFill>
                      <a:srgbClr val="2D6B5B"/>
                    </a:solidFill>
                  </a:tcPr>
                </a:tc>
              </a:tr>
              <a:tr h="523875">
                <a:tc>
                  <a:txBody>
                    <a:bodyPr>
                      <a:noAutofit/>
                    </a:bodyPr>
                    <a:lstStyle/>
                    <a:p>
                      <a:r>
                        <a:rPr sz="1950" b="1">
                          <a:solidFill>
                            <a:srgbClr val="17372F"/>
                          </a:solidFill>
                          <a:latin typeface="PingFang SC"/>
                          <a:ea typeface="PingFang SC"/>
                          <a:cs typeface="PingFang SC"/>
                        </a:rPr>
                        <a:t>代表点：(0,0,0)</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代表点：(½,½,½)</a:t>
                      </a:r>
                    </a:p>
                  </a:txBody>
                  <a:tcPr marL="133350" marR="114300" marT="76200" marB="66675" anchor="ctr">
                    <a:solidFill>
                      <a:srgbClr val="F7FAF7"/>
                    </a:solidFill>
                  </a:tcPr>
                </a:tc>
              </a:tr>
              <a:tr h="1171575">
                <a:tc>
                  <a:txBody>
                    <a:bodyPr>
                      <a:noAutofit/>
                    </a:bodyPr>
                    <a:lstStyle/>
                    <a:p>
                      <a:r>
                        <a:rPr sz="1950" b="1">
                          <a:solidFill>
                            <a:srgbClr val="17372F"/>
                          </a:solidFill>
                          <a:latin typeface="PingFang SC"/>
                          <a:ea typeface="PingFang SC"/>
                          <a:cs typeface="PingFang SC"/>
                        </a:rPr>
                        <a:t>全部位置：</a:t>
                      </a:r>
                    </a:p>
                    <a:p>
                      <a:r>
                        <a:rPr sz="1950" b="1">
                          <a:solidFill>
                            <a:srgbClr val="17372F"/>
                          </a:solidFill>
                          <a:latin typeface="PingFang SC"/>
                          <a:ea typeface="PingFang SC"/>
                          <a:cs typeface="PingFang SC"/>
                        </a:rPr>
                        <a:t>(0,0,0)   (0,½,½)</a:t>
                      </a:r>
                    </a:p>
                    <a:p>
                      <a:r>
                        <a:rPr sz="1950" b="1">
                          <a:solidFill>
                            <a:srgbClr val="17372F"/>
                          </a:solidFill>
                          <a:latin typeface="PingFang SC"/>
                          <a:ea typeface="PingFang SC"/>
                          <a:cs typeface="PingFang SC"/>
                        </a:rPr>
                        <a:t>(½,0,½)   (½,½,0)</a:t>
                      </a:r>
                    </a:p>
                  </a:txBody>
                  <a:tcPr marL="133350" marR="114300" marT="76200" marB="66675" anchor="ctr">
                    <a:solidFill>
                      <a:srgbClr val="EDF3EE"/>
                    </a:solidFill>
                  </a:tcPr>
                </a:tc>
                <a:tc>
                  <a:txBody>
                    <a:bodyPr>
                      <a:noAutofit/>
                    </a:bodyPr>
                    <a:lstStyle/>
                    <a:p>
                      <a:r>
                        <a:rPr sz="1950" b="0">
                          <a:solidFill>
                            <a:srgbClr val="17372F"/>
                          </a:solidFill>
                          <a:latin typeface="PingFang SC"/>
                          <a:ea typeface="PingFang SC"/>
                          <a:cs typeface="PingFang SC"/>
                        </a:rPr>
                        <a:t>全部位置：</a:t>
                      </a:r>
                    </a:p>
                    <a:p>
                      <a:r>
                        <a:rPr sz="1950" b="0">
                          <a:solidFill>
                            <a:srgbClr val="17372F"/>
                          </a:solidFill>
                          <a:latin typeface="PingFang SC"/>
                          <a:ea typeface="PingFang SC"/>
                          <a:cs typeface="PingFang SC"/>
                        </a:rPr>
                        <a:t>(½,½,½)   (½,0,0)</a:t>
                      </a:r>
                    </a:p>
                    <a:p>
                      <a:r>
                        <a:rPr sz="1950" b="0">
                          <a:solidFill>
                            <a:srgbClr val="17372F"/>
                          </a:solidFill>
                          <a:latin typeface="PingFang SC"/>
                          <a:ea typeface="PingFang SC"/>
                          <a:cs typeface="PingFang SC"/>
                        </a:rPr>
                        <a:t>(0,½,0)   (0,0,½)</a:t>
                      </a:r>
                    </a:p>
                  </a:txBody>
                  <a:tcPr marL="133350" marR="114300" marT="76200" marB="66675" anchor="ctr">
                    <a:solidFill>
                      <a:srgbClr val="EDF3EE"/>
                    </a:solidFill>
                  </a:tcPr>
                </a:tc>
              </a:tr>
            </a:tbl>
          </a:graphicData>
        </a:graphic>
      </p:graphicFrame>
      <p:sp>
        <p:nvSpPr>
          <p:cNvPr id="9" name="text-7">
            <a:extLst xmlns:a="http://schemas.openxmlformats.org/drawingml/2006/main">
              <a:ext uri="{FF2B5EF4-FFF2-40B4-BE49-F238E27FC236}">
                <a16:creationId xmlns:a16="http://schemas.microsoft.com/office/drawing/2014/main" id="{4DD840AB-4738-41AE-986B-1E341218517C}"/>
              </a:ext>
            </a:extLst>
          </p:cNvPr>
          <p:cNvSpPr>
            <a:spLocks xmlns:a="http://schemas.openxmlformats.org/drawingml/2006/main" noGrp="1"/>
          </p:cNvSpPr>
          <p:nvPr/>
        </p:nvSpPr>
        <p:spPr>
          <a:xfrm xmlns:a="http://schemas.openxmlformats.org/drawingml/2006/main">
            <a:off x="781050" y="61055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两条位点记录就能表示 4 个 Na 和 4 个 Cl。这里的 4 是位置数，不是 Na 的配位数 6。</a:t>
            </a:r>
          </a:p>
        </p:txBody>
      </p:sp>
    </p:spTree>
    <p:extLst>
      <p:ext uri="{BB962C8B-B14F-4D97-AF65-F5344CB8AC3E}">
        <p14:creationId xmlns:p14="http://schemas.microsoft.com/office/powerpoint/2010/main" val="183907761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887CF9C-0E04-403C-93E2-EE75580CC9A5}"/>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② 一个 Wyckoff 位点，可以在哪些地方？</a:t>
            </a:r>
          </a:p>
        </p:txBody>
      </p:sp>
      <p:sp>
        <p:nvSpPr>
          <p:cNvPr id="2" name="text-1">
            <a:extLst xmlns:a="http://schemas.openxmlformats.org/drawingml/2006/main">
              <a:ext uri="{FF2B5EF4-FFF2-40B4-BE49-F238E27FC236}">
                <a16:creationId xmlns:a16="http://schemas.microsoft.com/office/drawing/2014/main" id="{3EBA707F-A0E6-4EE4-AB36-0F51E3E3BEEE}"/>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有的位点固定不动；有的可以改变一个或两个坐标。</a:t>
            </a:r>
          </a:p>
        </p:txBody>
      </p:sp>
      <p:sp>
        <p:nvSpPr>
          <p:cNvPr id="3" name="text-2">
            <a:extLst xmlns:a="http://schemas.openxmlformats.org/drawingml/2006/main">
              <a:ext uri="{FF2B5EF4-FFF2-40B4-BE49-F238E27FC236}">
                <a16:creationId xmlns:a16="http://schemas.microsoft.com/office/drawing/2014/main" id="{C5AF53EE-23A1-4F12-A0A1-4575AEA7DB9A}"/>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19</a:t>
            </a:r>
          </a:p>
        </p:txBody>
      </p:sp>
      <p:graphicFrame>
        <p:nvGraphicFramePr>
          <p:cNvPr id="10" name=""/>
          <p:cNvGraphicFramePr/>
          <p:nvPr/>
        </p:nvGraphicFramePr>
        <p:xfrm>
          <a:off xmlns:a="http://schemas.openxmlformats.org/drawingml/2006/main" x="762000" y="2371725"/>
          <a:ext xmlns:a="http://schemas.openxmlformats.org/drawingml/2006/main" cx="10668000" cy="2628900"/>
        </p:xfrm>
        <a:graphic xmlns:a="http://schemas.openxmlformats.org/drawingml/2006/main">
          <a:graphicData uri="http://schemas.openxmlformats.org/drawingml/2006/table">
            <a:tbl>
              <a:tblPr firstRow="0" bandRow="0"/>
              <a:tblGrid>
                <a:gridCol w="4143375"/>
                <a:gridCol w="2714625"/>
                <a:gridCol w="3810000"/>
              </a:tblGrid>
              <a:tr h="457200">
                <a:tc>
                  <a:txBody>
                    <a:bodyPr>
                      <a:noAutofit/>
                    </a:bodyPr>
                    <a:lstStyle/>
                    <a:p>
                      <a:r>
                        <a:rPr sz="1950" b="1">
                          <a:solidFill>
                            <a:srgbClr val="FFFFFF"/>
                          </a:solidFill>
                          <a:latin typeface="PingFang SC"/>
                          <a:ea typeface="PingFang SC"/>
                          <a:cs typeface="PingFang SC"/>
                        </a:rPr>
                        <a:t>例子</a:t>
                      </a:r>
                    </a:p>
                  </a:txBody>
                  <a:tcPr marL="133350" marR="114300" marT="76200" marB="66675" anchor="ctr">
                    <a:solidFill>
                      <a:srgbClr val="2D6B5B"/>
                    </a:solidFill>
                  </a:tcPr>
                </a:tc>
                <a:tc>
                  <a:txBody>
                    <a:bodyPr>
                      <a:noAutofit/>
                    </a:bodyPr>
                    <a:lstStyle/>
                    <a:p>
                      <a:r>
                        <a:rPr sz="1950" b="1">
                          <a:solidFill>
                            <a:srgbClr val="FFFFFF"/>
                          </a:solidFill>
                          <a:latin typeface="PingFang SC"/>
                          <a:ea typeface="PingFang SC"/>
                          <a:cs typeface="PingFang SC"/>
                        </a:rPr>
                        <a:t>代表位置</a:t>
                      </a:r>
                    </a:p>
                  </a:txBody>
                  <a:tcPr marL="133350" marR="114300" marT="76200" marB="66675" anchor="ctr">
                    <a:solidFill>
                      <a:srgbClr val="2D6B5B"/>
                    </a:solidFill>
                  </a:tcPr>
                </a:tc>
                <a:tc>
                  <a:txBody>
                    <a:bodyPr>
                      <a:noAutofit/>
                    </a:bodyPr>
                    <a:lstStyle/>
                    <a:p>
                      <a:r>
                        <a:rPr sz="1950" b="1">
                          <a:solidFill>
                            <a:srgbClr val="FFFFFF"/>
                          </a:solidFill>
                          <a:latin typeface="PingFang SC"/>
                          <a:ea typeface="PingFang SC"/>
                          <a:cs typeface="PingFang SC"/>
                        </a:rPr>
                        <a:t>还有多少坐标可以选择</a:t>
                      </a:r>
                    </a:p>
                  </a:txBody>
                  <a:tcPr marL="133350" marR="114300" marT="76200" marB="66675" anchor="ctr">
                    <a:solidFill>
                      <a:srgbClr val="2D6B5B"/>
                    </a:solidFill>
                  </a:tcPr>
                </a:tc>
              </a:tr>
              <a:tr h="723900">
                <a:tc>
                  <a:txBody>
                    <a:bodyPr>
                      <a:noAutofit/>
                    </a:bodyPr>
                    <a:lstStyle/>
                    <a:p>
                      <a:r>
                        <a:rPr sz="1950" b="1">
                          <a:solidFill>
                            <a:srgbClr val="17372F"/>
                          </a:solidFill>
                          <a:latin typeface="PingFang SC"/>
                          <a:ea typeface="PingFang SC"/>
                          <a:cs typeface="PingFang SC"/>
                        </a:rPr>
                        <a:t>NaCl：#225 的 4a</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(0, 0, 0)</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0 个：位置已经固定</a:t>
                      </a:r>
                    </a:p>
                  </a:txBody>
                  <a:tcPr marL="133350" marR="114300" marT="76200" marB="66675" anchor="ctr">
                    <a:solidFill>
                      <a:srgbClr val="F7FAF7"/>
                    </a:solidFill>
                  </a:tcPr>
                </a:tc>
              </a:tr>
              <a:tr h="723900">
                <a:tc>
                  <a:txBody>
                    <a:bodyPr>
                      <a:noAutofit/>
                    </a:bodyPr>
                    <a:lstStyle/>
                    <a:p>
                      <a:r>
                        <a:rPr sz="1950" b="1">
                          <a:solidFill>
                            <a:srgbClr val="17372F"/>
                          </a:solidFill>
                          <a:latin typeface="PingFang SC"/>
                          <a:ea typeface="PingFang SC"/>
                          <a:cs typeface="PingFang SC"/>
                        </a:rPr>
                        <a:t>KrF₂ 中的 F：#139 的 4e</a:t>
                      </a:r>
                    </a:p>
                  </a:txBody>
                  <a:tcPr marL="133350" marR="114300" marT="76200" marB="66675" anchor="ctr">
                    <a:solidFill>
                      <a:srgbClr val="EDF3EE"/>
                    </a:solidFill>
                  </a:tcPr>
                </a:tc>
                <a:tc>
                  <a:txBody>
                    <a:bodyPr>
                      <a:noAutofit/>
                    </a:bodyPr>
                    <a:lstStyle/>
                    <a:p>
                      <a:r>
                        <a:rPr sz="1950" b="0">
                          <a:solidFill>
                            <a:srgbClr val="17372F"/>
                          </a:solidFill>
                          <a:latin typeface="PingFang SC"/>
                          <a:ea typeface="PingFang SC"/>
                          <a:cs typeface="PingFang SC"/>
                        </a:rPr>
                        <a:t>(0, 0, z)</a:t>
                      </a:r>
                    </a:p>
                  </a:txBody>
                  <a:tcPr marL="133350" marR="114300" marT="76200" marB="66675" anchor="ctr">
                    <a:solidFill>
                      <a:srgbClr val="EDF3EE"/>
                    </a:solidFill>
                  </a:tcPr>
                </a:tc>
                <a:tc>
                  <a:txBody>
                    <a:bodyPr>
                      <a:noAutofit/>
                    </a:bodyPr>
                    <a:lstStyle/>
                    <a:p>
                      <a:r>
                        <a:rPr sz="1950" b="0">
                          <a:solidFill>
                            <a:srgbClr val="17372F"/>
                          </a:solidFill>
                          <a:latin typeface="PingFang SC"/>
                          <a:ea typeface="PingFang SC"/>
                          <a:cs typeface="PingFang SC"/>
                        </a:rPr>
                        <a:t>1 个：只需要选 z</a:t>
                      </a:r>
                    </a:p>
                  </a:txBody>
                  <a:tcPr marL="133350" marR="114300" marT="76200" marB="66675" anchor="ctr">
                    <a:solidFill>
                      <a:srgbClr val="EDF3EE"/>
                    </a:solidFill>
                  </a:tcPr>
                </a:tc>
              </a:tr>
              <a:tr h="723900">
                <a:tc>
                  <a:txBody>
                    <a:bodyPr>
                      <a:noAutofit/>
                    </a:bodyPr>
                    <a:lstStyle/>
                    <a:p>
                      <a:r>
                        <a:rPr sz="1950" b="1">
                          <a:solidFill>
                            <a:srgbClr val="17372F"/>
                          </a:solidFill>
                          <a:latin typeface="PingFang SC"/>
                          <a:ea typeface="PingFang SC"/>
                          <a:cs typeface="PingFang SC"/>
                        </a:rPr>
                        <a:t>#62 Pnma 的 4c</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(x, ¼, z)</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2 个：可以选 x 和 z，y 固定</a:t>
                      </a:r>
                    </a:p>
                  </a:txBody>
                  <a:tcPr marL="133350" marR="11430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BA07078D-3920-41F2-83AA-EDB078A3C1B4}"/>
              </a:ext>
            </a:extLst>
          </p:cNvPr>
          <p:cNvSpPr>
            <a:spLocks xmlns:a="http://schemas.openxmlformats.org/drawingml/2006/main" noGrp="1"/>
          </p:cNvSpPr>
          <p:nvPr/>
        </p:nvSpPr>
        <p:spPr>
          <a:xfrm xmlns:a="http://schemas.openxmlformats.org/drawingml/2006/main">
            <a:off x="781050" y="531495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实际例子：KrF₂ 的 F 可以取 z = 0.290407。</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写下 4e，就确定了允许的位置；再给 z，才确定具体坐标。</a:t>
            </a:r>
          </a:p>
        </p:txBody>
      </p:sp>
      <p:sp>
        <p:nvSpPr>
          <p:cNvPr id="6" name="text-4">
            <a:extLst xmlns:a="http://schemas.openxmlformats.org/drawingml/2006/main">
              <a:ext uri="{FF2B5EF4-FFF2-40B4-BE49-F238E27FC236}">
                <a16:creationId xmlns:a16="http://schemas.microsoft.com/office/drawing/2014/main" id="{0C851632-25E9-41C9-BFAC-DDBC76BD7DFA}"/>
              </a:ext>
            </a:extLst>
          </p:cNvPr>
          <p:cNvSpPr>
            <a:spLocks xmlns:a="http://schemas.openxmlformats.org/drawingml/2006/main" noGrp="1"/>
          </p:cNvSpPr>
          <p:nvPr/>
        </p:nvSpPr>
        <p:spPr>
          <a:xfrm xmlns:a="http://schemas.openxmlformats.org/drawingml/2006/main">
            <a:off x="781050" y="62388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4e 展开后有 4 个等价位置。4 表示位置数量，1 表示需要选择的自由参数数量。</a:t>
            </a:r>
          </a:p>
        </p:txBody>
      </p:sp>
    </p:spTree>
    <p:extLst>
      <p:ext uri="{BB962C8B-B14F-4D97-AF65-F5344CB8AC3E}">
        <p14:creationId xmlns:p14="http://schemas.microsoft.com/office/powerpoint/2010/main" val="203171348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BF1A794-1069-44A0-86CA-2EA3B67731A7}"/>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③ 不同空间群里的“4a”，是同一个位点吗？</a:t>
            </a:r>
          </a:p>
        </p:txBody>
      </p:sp>
      <p:sp>
        <p:nvSpPr>
          <p:cNvPr id="2" name="text-1">
            <a:extLst xmlns:a="http://schemas.openxmlformats.org/drawingml/2006/main">
              <a:ext uri="{FF2B5EF4-FFF2-40B4-BE49-F238E27FC236}">
                <a16:creationId xmlns:a16="http://schemas.microsoft.com/office/drawing/2014/main" id="{69856882-9BB5-416C-A8D1-003FC66CEEF8}"/>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不是。同名 4a 可以有不同的对称规则，甚至不同的可移动范围。</a:t>
            </a:r>
          </a:p>
        </p:txBody>
      </p:sp>
      <p:sp>
        <p:nvSpPr>
          <p:cNvPr id="3" name="text-2">
            <a:extLst xmlns:a="http://schemas.openxmlformats.org/drawingml/2006/main">
              <a:ext uri="{FF2B5EF4-FFF2-40B4-BE49-F238E27FC236}">
                <a16:creationId xmlns:a16="http://schemas.microsoft.com/office/drawing/2014/main" id="{54B1BFE4-3208-4D5D-AD7F-2014C7477E6E}"/>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20</a:t>
            </a:r>
          </a:p>
        </p:txBody>
      </p:sp>
      <p:graphicFrame>
        <p:nvGraphicFramePr>
          <p:cNvPr id="10" name=""/>
          <p:cNvGraphicFramePr/>
          <p:nvPr/>
        </p:nvGraphicFramePr>
        <p:xfrm>
          <a:off xmlns:a="http://schemas.openxmlformats.org/drawingml/2006/main" x="762000" y="2333625"/>
          <a:ext xmlns:a="http://schemas.openxmlformats.org/drawingml/2006/main" cx="10668000" cy="2933700"/>
        </p:xfrm>
        <a:graphic xmlns:a="http://schemas.openxmlformats.org/drawingml/2006/main">
          <a:graphicData uri="http://schemas.openxmlformats.org/drawingml/2006/table">
            <a:tbl>
              <a:tblPr firstRow="0" bandRow="0"/>
              <a:tblGrid>
                <a:gridCol w="3190875"/>
                <a:gridCol w="4619625"/>
                <a:gridCol w="2857500"/>
              </a:tblGrid>
              <a:tr h="457200">
                <a:tc>
                  <a:txBody>
                    <a:bodyPr>
                      <a:noAutofit/>
                    </a:bodyPr>
                    <a:lstStyle/>
                    <a:p>
                      <a:r>
                        <a:rPr sz="1875" b="1">
                          <a:solidFill>
                            <a:srgbClr val="FFFFFF"/>
                          </a:solidFill>
                          <a:latin typeface="PingFang SC"/>
                          <a:ea typeface="PingFang SC"/>
                          <a:cs typeface="PingFang SC"/>
                        </a:rPr>
                        <a:t>空间群</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同样叫 4a，代表位置却可以是</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这个点允许的局部对称</a:t>
                      </a:r>
                    </a:p>
                  </a:txBody>
                  <a:tcPr marL="133350" marR="114300" marT="76200" marB="66675" anchor="ctr">
                    <a:solidFill>
                      <a:srgbClr val="2D6B5B"/>
                    </a:solidFill>
                  </a:tcPr>
                </a:tc>
              </a:tr>
              <a:tr h="619125">
                <a:tc>
                  <a:txBody>
                    <a:bodyPr>
                      <a:noAutofit/>
                    </a:bodyPr>
                    <a:lstStyle/>
                    <a:p>
                      <a:r>
                        <a:rPr sz="1875" b="1">
                          <a:solidFill>
                            <a:srgbClr val="17372F"/>
                          </a:solidFill>
                          <a:latin typeface="PingFang SC"/>
                          <a:ea typeface="PingFang SC"/>
                          <a:cs typeface="PingFang SC"/>
                        </a:rPr>
                        <a:t>#225  Fm−3m</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(0,0,0)，固定</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m−3m</a:t>
                      </a:r>
                    </a:p>
                  </a:txBody>
                  <a:tcPr marL="133350" marR="114300" marT="76200" marB="66675" anchor="ctr">
                    <a:solidFill>
                      <a:srgbClr val="F7FAF7"/>
                    </a:solidFill>
                  </a:tcPr>
                </a:tc>
              </a:tr>
              <a:tr h="619125">
                <a:tc>
                  <a:txBody>
                    <a:bodyPr>
                      <a:noAutofit/>
                    </a:bodyPr>
                    <a:lstStyle/>
                    <a:p>
                      <a:r>
                        <a:rPr sz="1875" b="1">
                          <a:solidFill>
                            <a:srgbClr val="17372F"/>
                          </a:solidFill>
                          <a:latin typeface="PingFang SC"/>
                          <a:ea typeface="PingFang SC"/>
                          <a:cs typeface="PingFang SC"/>
                        </a:rPr>
                        <a:t>#216  F−43m</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(0,0,0)，固定</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−43m</a:t>
                      </a:r>
                    </a:p>
                  </a:txBody>
                  <a:tcPr marL="133350" marR="114300" marT="76200" marB="66675" anchor="ctr">
                    <a:solidFill>
                      <a:srgbClr val="EDF3EE"/>
                    </a:solidFill>
                  </a:tcPr>
                </a:tc>
              </a:tr>
              <a:tr h="619125">
                <a:tc>
                  <a:txBody>
                    <a:bodyPr>
                      <a:noAutofit/>
                    </a:bodyPr>
                    <a:lstStyle/>
                    <a:p>
                      <a:r>
                        <a:rPr sz="1875" b="1">
                          <a:solidFill>
                            <a:srgbClr val="17372F"/>
                          </a:solidFill>
                          <a:latin typeface="PingFang SC"/>
                          <a:ea typeface="PingFang SC"/>
                          <a:cs typeface="PingFang SC"/>
                        </a:rPr>
                        <a:t>#62  Pnma</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(0,0,0)，固定</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−1（反演）</a:t>
                      </a:r>
                    </a:p>
                  </a:txBody>
                  <a:tcPr marL="133350" marR="114300" marT="76200" marB="66675" anchor="ctr">
                    <a:solidFill>
                      <a:srgbClr val="F7FAF7"/>
                    </a:solidFill>
                  </a:tcPr>
                </a:tc>
              </a:tr>
              <a:tr h="619125">
                <a:tc>
                  <a:txBody>
                    <a:bodyPr>
                      <a:noAutofit/>
                    </a:bodyPr>
                    <a:lstStyle/>
                    <a:p>
                      <a:r>
                        <a:rPr sz="1875" b="1">
                          <a:solidFill>
                            <a:srgbClr val="17372F"/>
                          </a:solidFill>
                          <a:latin typeface="PingFang SC"/>
                          <a:ea typeface="PingFang SC"/>
                          <a:cs typeface="PingFang SC"/>
                        </a:rPr>
                        <a:t>#19  P2₁2₁2₁</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(x,y,z)，三个坐标都可以选</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1（只有恒等操作）</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C0E098AF-B6BE-4CF7-9AB6-639BC25F9FBB}"/>
              </a:ext>
            </a:extLst>
          </p:cNvPr>
          <p:cNvSpPr>
            <a:spLocks xmlns:a="http://schemas.openxmlformats.org/drawingml/2006/main" noGrp="1"/>
          </p:cNvSpPr>
          <p:nvPr/>
        </p:nvSpPr>
        <p:spPr>
          <a:xfrm xmlns:a="http://schemas.openxmlformats.org/drawingml/2006/main">
            <a:off x="781050" y="55054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另一个例子：#216 的 4c 是固定点 (¼,¼,¼)；</a:t>
            </a:r>
          </a:p>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#62 的 4c 是 (x,¼,z)，还能选 x 和 z。</a:t>
            </a:r>
          </a:p>
        </p:txBody>
      </p:sp>
      <p:sp>
        <p:nvSpPr>
          <p:cNvPr id="6" name="text-4">
            <a:extLst xmlns:a="http://schemas.openxmlformats.org/drawingml/2006/main">
              <a:ext uri="{FF2B5EF4-FFF2-40B4-BE49-F238E27FC236}">
                <a16:creationId xmlns:a16="http://schemas.microsoft.com/office/drawing/2014/main" id="{337FF215-5B85-41C5-9C27-D25229B38957}"/>
              </a:ext>
            </a:extLst>
          </p:cNvPr>
          <p:cNvSpPr>
            <a:spLocks xmlns:a="http://schemas.openxmlformats.org/drawingml/2006/main" noGrp="1"/>
          </p:cNvSpPr>
          <p:nvPr/>
        </p:nvSpPr>
        <p:spPr>
          <a:xfrm xmlns:a="http://schemas.openxmlformats.org/drawingml/2006/main">
            <a:off x="781050" y="62674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因此不能只用“4a”当作通用身份。可以共享对称特征，但还要保留空间群和具体位点。</a:t>
            </a:r>
          </a:p>
        </p:txBody>
      </p:sp>
    </p:spTree>
    <p:extLst>
      <p:ext uri="{BB962C8B-B14F-4D97-AF65-F5344CB8AC3E}">
        <p14:creationId xmlns:p14="http://schemas.microsoft.com/office/powerpoint/2010/main" val="62816829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884296D-090C-4EFC-B1D8-ABD45F53239C}"/>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④ 边轨道 tokenizer，到底记录什么？</a:t>
            </a:r>
          </a:p>
        </p:txBody>
      </p:sp>
      <p:sp>
        <p:nvSpPr>
          <p:cNvPr id="2" name="text-1">
            <a:extLst xmlns:a="http://schemas.openxmlformats.org/drawingml/2006/main">
              <a:ext uri="{FF2B5EF4-FFF2-40B4-BE49-F238E27FC236}">
                <a16:creationId xmlns:a16="http://schemas.microsoft.com/office/drawing/2014/main" id="{40D26C2B-8537-4086-800A-CDD0D1817B60}"/>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把对称重复的原子和连接各存一份，再用规则展开。</a:t>
            </a:r>
          </a:p>
        </p:txBody>
      </p:sp>
      <p:sp>
        <p:nvSpPr>
          <p:cNvPr id="3" name="text-2">
            <a:extLst xmlns:a="http://schemas.openxmlformats.org/drawingml/2006/main">
              <a:ext uri="{FF2B5EF4-FFF2-40B4-BE49-F238E27FC236}">
                <a16:creationId xmlns:a16="http://schemas.microsoft.com/office/drawing/2014/main" id="{F7D875C4-0171-4A40-8D26-06E16BEFD21A}"/>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21</a:t>
            </a:r>
          </a:p>
        </p:txBody>
      </p:sp>
      <p:graphicFrame>
        <p:nvGraphicFramePr>
          <p:cNvPr id="10" name=""/>
          <p:cNvGraphicFramePr/>
          <p:nvPr/>
        </p:nvGraphicFramePr>
        <p:xfrm>
          <a:off xmlns:a="http://schemas.openxmlformats.org/drawingml/2006/main" x="762000" y="2333625"/>
          <a:ext xmlns:a="http://schemas.openxmlformats.org/drawingml/2006/main" cx="10668000" cy="3143250"/>
        </p:xfrm>
        <a:graphic xmlns:a="http://schemas.openxmlformats.org/drawingml/2006/main">
          <a:graphicData uri="http://schemas.openxmlformats.org/drawingml/2006/table">
            <a:tbl>
              <a:tblPr firstRow="0" bandRow="0"/>
              <a:tblGrid>
                <a:gridCol w="1952625"/>
                <a:gridCol w="4333875"/>
                <a:gridCol w="4381500"/>
              </a:tblGrid>
              <a:tr h="438150">
                <a:tc>
                  <a:txBody>
                    <a:bodyPr>
                      <a:noAutofit/>
                    </a:bodyPr>
                    <a:lstStyle/>
                    <a:p>
                      <a:r>
                        <a:rPr sz="1875" b="1">
                          <a:solidFill>
                            <a:srgbClr val="FFFFFF"/>
                          </a:solidFill>
                          <a:latin typeface="PingFang SC"/>
                          <a:ea typeface="PingFang SC"/>
                          <a:cs typeface="PingFang SC"/>
                        </a:rPr>
                        <a:t>组件</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记录什么</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为什么需要</a:t>
                      </a:r>
                    </a:p>
                  </a:txBody>
                  <a:tcPr marL="133350" marR="114300" marT="76200" marB="66675" anchor="ctr">
                    <a:solidFill>
                      <a:srgbClr val="2D6B5B"/>
                    </a:solidFill>
                  </a:tcPr>
                </a:tc>
              </a:tr>
              <a:tr h="638175">
                <a:tc>
                  <a:txBody>
                    <a:bodyPr>
                      <a:noAutofit/>
                    </a:bodyPr>
                    <a:lstStyle/>
                    <a:p>
                      <a:r>
                        <a:rPr sz="1875" b="1">
                          <a:solidFill>
                            <a:srgbClr val="17372F"/>
                          </a:solidFill>
                          <a:latin typeface="PingFang SC"/>
                          <a:ea typeface="PingFang SC"/>
                          <a:cs typeface="PingFang SC"/>
                        </a:rPr>
                        <a:t>全局规则</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空间群、坐标设置、对称操作表</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告诉模型怎样复制原子和连接</a:t>
                      </a:r>
                    </a:p>
                  </a:txBody>
                  <a:tcPr marL="133350" marR="114300" marT="76200" marB="66675" anchor="ctr">
                    <a:solidFill>
                      <a:srgbClr val="F7FAF7"/>
                    </a:solidFill>
                  </a:tcPr>
                </a:tc>
              </a:tr>
              <a:tr h="638175">
                <a:tc>
                  <a:txBody>
                    <a:bodyPr>
                      <a:noAutofit/>
                    </a:bodyPr>
                    <a:lstStyle/>
                    <a:p>
                      <a:r>
                        <a:rPr sz="1875" b="1">
                          <a:solidFill>
                            <a:srgbClr val="17372F"/>
                          </a:solidFill>
                          <a:latin typeface="PingFang SC"/>
                          <a:ea typeface="PingFang SC"/>
                          <a:cs typeface="PingFang SC"/>
                        </a:rPr>
                        <a:t>位点记录</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元素、Wyckoff 位点、位置约束</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同一组等价原子，只记一个代表</a:t>
                      </a:r>
                    </a:p>
                  </a:txBody>
                  <a:tcPr marL="133350" marR="114300" marT="76200" marB="66675" anchor="ctr">
                    <a:solidFill>
                      <a:srgbClr val="EDF3EE"/>
                    </a:solidFill>
                  </a:tcPr>
                </a:tc>
              </a:tr>
              <a:tr h="790575">
                <a:tc>
                  <a:txBody>
                    <a:bodyPr>
                      <a:noAutofit/>
                    </a:bodyPr>
                    <a:lstStyle/>
                    <a:p>
                      <a:r>
                        <a:rPr sz="1875" b="1">
                          <a:solidFill>
                            <a:srgbClr val="17372F"/>
                          </a:solidFill>
                          <a:latin typeface="PingFang SC"/>
                          <a:ea typeface="PingFang SC"/>
                          <a:cs typeface="PingFang SC"/>
                        </a:rPr>
                        <a:t>连接记录</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从哪个位点，连到哪个对称像</a:t>
                      </a:r>
                    </a:p>
                    <a:p>
                      <a:r>
                        <a:rPr sz="1875" b="0">
                          <a:solidFill>
                            <a:srgbClr val="17372F"/>
                          </a:solidFill>
                          <a:latin typeface="PingFang SC"/>
                          <a:ea typeface="PingFang SC"/>
                          <a:cs typeface="PingFang SC"/>
                        </a:rPr>
                        <a:t>以及哪个相邻晶胞</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指出具体连到谁；等价连接合并存</a:t>
                      </a:r>
                    </a:p>
                  </a:txBody>
                  <a:tcPr marL="133350" marR="114300" marT="76200" marB="66675" anchor="ctr">
                    <a:solidFill>
                      <a:srgbClr val="F7FAF7"/>
                    </a:solidFill>
                  </a:tcPr>
                </a:tc>
              </a:tr>
              <a:tr h="638175">
                <a:tc>
                  <a:txBody>
                    <a:bodyPr>
                      <a:noAutofit/>
                    </a:bodyPr>
                    <a:lstStyle/>
                    <a:p>
                      <a:r>
                        <a:rPr sz="1875" b="1">
                          <a:solidFill>
                            <a:srgbClr val="17372F"/>
                          </a:solidFill>
                          <a:latin typeface="PingFang SC"/>
                          <a:ea typeface="PingFang SC"/>
                          <a:cs typeface="PingFang SC"/>
                        </a:rPr>
                        <a:t>具体几何</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晶格大小 / 形状、可变坐标</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把抽象的位点和连接变成实际晶体</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FFEC9BD7-BE61-4A14-AF26-9213FA2F56D6}"/>
              </a:ext>
            </a:extLst>
          </p:cNvPr>
          <p:cNvSpPr>
            <a:spLocks xmlns:a="http://schemas.openxmlformats.org/drawingml/2006/main" noGrp="1"/>
          </p:cNvSpPr>
          <p:nvPr/>
        </p:nvSpPr>
        <p:spPr>
          <a:xfrm xmlns:a="http://schemas.openxmlformats.org/drawingml/2006/main">
            <a:off x="781050" y="57531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D6B5B"/>
                </a:solidFill>
                <a:latin typeface="PingFang SC"/>
                <a:ea typeface="PingFang SC"/>
                <a:cs typeface="PingFang SC"/>
              </a:defRPr>
            </a:pPr>
            <a:r>
              <a:rPr sz="2025" b="1">
                <a:solidFill>
                  <a:srgbClr val="2D6B5B"/>
                </a:solidFill>
                <a:latin typeface="PingFang SC"/>
                <a:ea typeface="PingFang SC"/>
                <a:cs typeface="PingFang SC"/>
              </a:rPr>
              <a:t>编码顺序：全局规则 + 位点记录 + 连接记录，另存具体几何。</a:t>
            </a:r>
          </a:p>
        </p:txBody>
      </p:sp>
      <p:sp>
        <p:nvSpPr>
          <p:cNvPr id="6" name="text-4">
            <a:extLst xmlns:a="http://schemas.openxmlformats.org/drawingml/2006/main">
              <a:ext uri="{FF2B5EF4-FFF2-40B4-BE49-F238E27FC236}">
                <a16:creationId xmlns:a16="http://schemas.microsoft.com/office/drawing/2014/main" id="{FE5EBA21-C823-4C3C-B319-F9460D012863}"/>
              </a:ext>
            </a:extLst>
          </p:cNvPr>
          <p:cNvSpPr>
            <a:spLocks xmlns:a="http://schemas.openxmlformats.org/drawingml/2006/main" noGrp="1"/>
          </p:cNvSpPr>
          <p:nvPr/>
        </p:nvSpPr>
        <p:spPr>
          <a:xfrm xmlns:a="http://schemas.openxmlformats.org/drawingml/2006/main">
            <a:off x="781050" y="63055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当前记录的是 4.5 Å 内的近邻关系，不能把每条连接都叫作化学键。</a:t>
            </a:r>
          </a:p>
        </p:txBody>
      </p:sp>
    </p:spTree>
    <p:extLst>
      <p:ext uri="{BB962C8B-B14F-4D97-AF65-F5344CB8AC3E}">
        <p14:creationId xmlns:p14="http://schemas.microsoft.com/office/powerpoint/2010/main" val="48750784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D214E88-A190-4FCA-B093-EF8DF4846B8D}"/>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④ 一条真实记录，怎样读成一条连接？</a:t>
            </a:r>
          </a:p>
        </p:txBody>
      </p:sp>
      <p:sp>
        <p:nvSpPr>
          <p:cNvPr id="2" name="text-1">
            <a:extLst xmlns:a="http://schemas.openxmlformats.org/drawingml/2006/main">
              <a:ext uri="{FF2B5EF4-FFF2-40B4-BE49-F238E27FC236}">
                <a16:creationId xmlns:a16="http://schemas.microsoft.com/office/drawing/2014/main" id="{B7FA494B-A140-491E-A1E9-38ECE8B14A14}"/>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KrF₂ 的实际记录：[0, 1, 16, −1, −1, −1]</a:t>
            </a:r>
          </a:p>
        </p:txBody>
      </p:sp>
      <p:sp>
        <p:nvSpPr>
          <p:cNvPr id="3" name="text-2">
            <a:extLst xmlns:a="http://schemas.openxmlformats.org/drawingml/2006/main">
              <a:ext uri="{FF2B5EF4-FFF2-40B4-BE49-F238E27FC236}">
                <a16:creationId xmlns:a16="http://schemas.microsoft.com/office/drawing/2014/main" id="{36E35F79-490C-4E88-9C61-5FA06FA2EC6F}"/>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22</a:t>
            </a:r>
          </a:p>
        </p:txBody>
      </p:sp>
      <p:graphicFrame>
        <p:nvGraphicFramePr>
          <p:cNvPr id="11" name=""/>
          <p:cNvGraphicFramePr/>
          <p:nvPr/>
        </p:nvGraphicFramePr>
        <p:xfrm>
          <a:off xmlns:a="http://schemas.openxmlformats.org/drawingml/2006/main" x="762000" y="2295525"/>
          <a:ext xmlns:a="http://schemas.openxmlformats.org/drawingml/2006/main" cx="10668000" cy="1714500"/>
        </p:xfrm>
        <a:graphic xmlns:a="http://schemas.openxmlformats.org/drawingml/2006/main">
          <a:graphicData uri="http://schemas.openxmlformats.org/drawingml/2006/table">
            <a:tbl>
              <a:tblPr firstRow="0" bandRow="0"/>
              <a:tblGrid>
                <a:gridCol w="2524125"/>
                <a:gridCol w="8143875"/>
              </a:tblGrid>
              <a:tr h="571500">
                <a:tc>
                  <a:txBody>
                    <a:bodyPr>
                      <a:noAutofit/>
                    </a:bodyPr>
                    <a:lstStyle/>
                    <a:p>
                      <a:r>
                        <a:rPr sz="2025" b="1">
                          <a:solidFill>
                            <a:srgbClr val="FFFFFF"/>
                          </a:solidFill>
                          <a:latin typeface="PingFang SC"/>
                          <a:ea typeface="PingFang SC"/>
                          <a:cs typeface="PingFang SC"/>
                        </a:rPr>
                        <a:t>0、1</a:t>
                      </a:r>
                    </a:p>
                  </a:txBody>
                  <a:tcPr marL="133350" marR="114300" marT="76200" marB="66675" anchor="ctr">
                    <a:solidFill>
                      <a:srgbClr val="2D6B5B"/>
                    </a:solidFill>
                  </a:tcPr>
                </a:tc>
                <a:tc>
                  <a:txBody>
                    <a:bodyPr>
                      <a:noAutofit/>
                    </a:bodyPr>
                    <a:lstStyle/>
                    <a:p>
                      <a:r>
                        <a:rPr sz="2025" b="1">
                          <a:solidFill>
                            <a:srgbClr val="FFFFFF"/>
                          </a:solidFill>
                          <a:latin typeface="PingFang SC"/>
                          <a:ea typeface="PingFang SC"/>
                          <a:cs typeface="PingFang SC"/>
                        </a:rPr>
                        <a:t>从 Kr 的代表点，连到 F 的代表点的一个复制像</a:t>
                      </a:r>
                    </a:p>
                  </a:txBody>
                  <a:tcPr marL="133350" marR="114300" marT="76200" marB="66675" anchor="ctr">
                    <a:solidFill>
                      <a:srgbClr val="2D6B5B"/>
                    </a:solidFill>
                  </a:tcPr>
                </a:tc>
              </a:tr>
              <a:tr h="571500">
                <a:tc>
                  <a:txBody>
                    <a:bodyPr>
                      <a:noAutofit/>
                    </a:bodyPr>
                    <a:lstStyle/>
                    <a:p>
                      <a:r>
                        <a:rPr sz="2025" b="1">
                          <a:solidFill>
                            <a:srgbClr val="17372F"/>
                          </a:solidFill>
                          <a:latin typeface="PingFang SC"/>
                          <a:ea typeface="PingFang SC"/>
                          <a:cs typeface="PingFang SC"/>
                        </a:rPr>
                        <a:t>16</a:t>
                      </a:r>
                    </a:p>
                  </a:txBody>
                  <a:tcPr marL="133350" marR="114300" marT="76200" marB="66675" anchor="ctr">
                    <a:solidFill>
                      <a:srgbClr val="F7FAF7"/>
                    </a:solidFill>
                  </a:tcPr>
                </a:tc>
                <a:tc>
                  <a:txBody>
                    <a:bodyPr>
                      <a:noAutofit/>
                    </a:bodyPr>
                    <a:lstStyle/>
                    <a:p>
                      <a:r>
                        <a:rPr sz="2025" b="0">
                          <a:solidFill>
                            <a:srgbClr val="17372F"/>
                          </a:solidFill>
                          <a:latin typeface="PingFang SC"/>
                          <a:ea typeface="PingFang SC"/>
                          <a:cs typeface="PingFang SC"/>
                        </a:rPr>
                        <a:t>查操作表：把 F 的坐标加上 (½,½,½)</a:t>
                      </a:r>
                    </a:p>
                  </a:txBody>
                  <a:tcPr marL="133350" marR="114300" marT="76200" marB="66675" anchor="ctr">
                    <a:solidFill>
                      <a:srgbClr val="F7FAF7"/>
                    </a:solidFill>
                  </a:tcPr>
                </a:tc>
              </a:tr>
              <a:tr h="571500">
                <a:tc>
                  <a:txBody>
                    <a:bodyPr>
                      <a:noAutofit/>
                    </a:bodyPr>
                    <a:lstStyle/>
                    <a:p>
                      <a:r>
                        <a:rPr sz="2025" b="1">
                          <a:solidFill>
                            <a:srgbClr val="17372F"/>
                          </a:solidFill>
                          <a:latin typeface="PingFang SC"/>
                          <a:ea typeface="PingFang SC"/>
                          <a:cs typeface="PingFang SC"/>
                        </a:rPr>
                        <a:t>−1、−1、−1</a:t>
                      </a:r>
                    </a:p>
                  </a:txBody>
                  <a:tcPr marL="133350" marR="114300" marT="76200" marB="66675" anchor="ctr">
                    <a:solidFill>
                      <a:srgbClr val="EDF3EE"/>
                    </a:solidFill>
                  </a:tcPr>
                </a:tc>
                <a:tc>
                  <a:txBody>
                    <a:bodyPr>
                      <a:noAutofit/>
                    </a:bodyPr>
                    <a:lstStyle/>
                    <a:p>
                      <a:r>
                        <a:rPr sz="2025" b="0">
                          <a:solidFill>
                            <a:srgbClr val="17372F"/>
                          </a:solidFill>
                          <a:latin typeface="PingFang SC"/>
                          <a:ea typeface="PingFang SC"/>
                          <a:cs typeface="PingFang SC"/>
                        </a:rPr>
                        <a:t>再沿三个晶格方向，各退一个晶胞</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5E969247-9A05-4949-82EA-46510FEDA79F}"/>
              </a:ext>
            </a:extLst>
          </p:cNvPr>
          <p:cNvSpPr>
            <a:spLocks xmlns:a="http://schemas.openxmlformats.org/drawingml/2006/main" noGrp="1"/>
          </p:cNvSpPr>
          <p:nvPr/>
        </p:nvSpPr>
        <p:spPr>
          <a:xfrm xmlns:a="http://schemas.openxmlformats.org/drawingml/2006/main">
            <a:off x="781050" y="42862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这里选 F 的等价代表点 (½,½,0.790407)</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加上 (½,½,½)，再减去 (1,1,1)</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得到实际邻居 (0,0,0.290407)，距 Kr 约 1.93649 Å。</a:t>
            </a:r>
          </a:p>
        </p:txBody>
      </p:sp>
      <p:sp>
        <p:nvSpPr>
          <p:cNvPr id="6" name="text-4">
            <a:extLst xmlns:a="http://schemas.openxmlformats.org/drawingml/2006/main">
              <a:ext uri="{FF2B5EF4-FFF2-40B4-BE49-F238E27FC236}">
                <a16:creationId xmlns:a16="http://schemas.microsoft.com/office/drawing/2014/main" id="{CC3EBF49-C49E-4793-81A1-C5F44434EE23}"/>
              </a:ext>
            </a:extLst>
          </p:cNvPr>
          <p:cNvSpPr>
            <a:spLocks xmlns:a="http://schemas.openxmlformats.org/drawingml/2006/main" noGrp="1"/>
          </p:cNvSpPr>
          <p:nvPr/>
        </p:nvSpPr>
        <p:spPr>
          <a:xfrm xmlns:a="http://schemas.openxmlformats.org/drawingml/2006/main">
            <a:off x="781050" y="56102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这个晶体：2 条位点记录展开成 6 个原子，</a:t>
            </a:r>
          </a:p>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7 条连接记录展开成 44 条无向周期边。</a:t>
            </a:r>
          </a:p>
        </p:txBody>
      </p:sp>
      <p:sp>
        <p:nvSpPr>
          <p:cNvPr id="7" name="text-5">
            <a:extLst xmlns:a="http://schemas.openxmlformats.org/drawingml/2006/main">
              <a:ext uri="{FF2B5EF4-FFF2-40B4-BE49-F238E27FC236}">
                <a16:creationId xmlns:a16="http://schemas.microsoft.com/office/drawing/2014/main" id="{28C1BA61-E004-4C5E-AA5C-81B50ABAC62C}"/>
              </a:ext>
            </a:extLst>
          </p:cNvPr>
          <p:cNvSpPr>
            <a:spLocks xmlns:a="http://schemas.openxmlformats.org/drawingml/2006/main" noGrp="1"/>
          </p:cNvSpPr>
          <p:nvPr/>
        </p:nvSpPr>
        <p:spPr>
          <a:xfrm xmlns:a="http://schemas.openxmlformats.org/drawingml/2006/main">
            <a:off x="781050" y="63531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已验证的是编码和解码。完整生成模型还没有完成；操作编号 16 只在本份操作表里有意义。</a:t>
            </a:r>
          </a:p>
        </p:txBody>
      </p:sp>
    </p:spTree>
    <p:extLst>
      <p:ext uri="{BB962C8B-B14F-4D97-AF65-F5344CB8AC3E}">
        <p14:creationId xmlns:p14="http://schemas.microsoft.com/office/powerpoint/2010/main" val="353695834"/>
      </p:ext>
    </p:extLst>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2026-09-14T08:33:59.4920000Z</dcterms:created>
  <dcterms:modified xsi:type="dcterms:W3CDTF">2026-09-14T08:33:59.4920000Z</dcterms:modified>
</coreProperties>
</file>