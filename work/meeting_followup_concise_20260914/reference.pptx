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7" r:id="rId2"/>
    <p:sldId id="258" r:id="rId3"/>
    <p:sldId id="264" r:id="rId4"/>
    <p:sldId id="265" r:id="rId5"/>
    <p:sldId id="261" r:id="rId6"/>
    <p:sldId id="263" r:id="rId7"/>
    <p:sldId id="262" r:id="rId8"/>
    <p:sldId id="259" r:id="rId9"/>
    <p:sldId id="266" r:id="rId10"/>
    <p:sldId id="270" r:id="rId11"/>
    <p:sldId id="267" r:id="rId12"/>
    <p:sldId id="268" r:id="rId13"/>
    <p:sldId id="269" r:id="rId14"/>
    <p:sldId id="271" r:id="rId15"/>
    <p:sldId id="26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00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1" autoAdjust="0"/>
    <p:restoredTop sz="86681"/>
  </p:normalViewPr>
  <p:slideViewPr>
    <p:cSldViewPr snapToGrid="0">
      <p:cViewPr varScale="1">
        <p:scale>
          <a:sx n="107" d="100"/>
          <a:sy n="107" d="100"/>
        </p:scale>
        <p:origin x="640"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AFC8F7-AF27-F130-7C82-24EFFBB7B0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a:extLst>
              <a:ext uri="{FF2B5EF4-FFF2-40B4-BE49-F238E27FC236}">
                <a16:creationId xmlns:a16="http://schemas.microsoft.com/office/drawing/2014/main" id="{C5AB00E0-B2F9-6C7A-555C-7A817ED955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8514F1-A004-5B48-BF92-2A67EAD675E3}" type="datetimeFigureOut">
              <a:rPr lang="en-CN" smtClean="0"/>
              <a:t>9/10/26</a:t>
            </a:fld>
            <a:endParaRPr lang="en-CN"/>
          </a:p>
        </p:txBody>
      </p:sp>
      <p:sp>
        <p:nvSpPr>
          <p:cNvPr id="4" name="Footer Placeholder 3">
            <a:extLst>
              <a:ext uri="{FF2B5EF4-FFF2-40B4-BE49-F238E27FC236}">
                <a16:creationId xmlns:a16="http://schemas.microsoft.com/office/drawing/2014/main" id="{F8F16121-F8B1-EB14-652E-D18CA489EE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5" name="Slide Number Placeholder 4">
            <a:extLst>
              <a:ext uri="{FF2B5EF4-FFF2-40B4-BE49-F238E27FC236}">
                <a16:creationId xmlns:a16="http://schemas.microsoft.com/office/drawing/2014/main" id="{D3065ACD-FFA5-8586-3750-5C53301D5D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BB1930-FD93-4348-BEFD-0E8A90AA44AF}" type="slidenum">
              <a:rPr lang="en-CN" smtClean="0"/>
              <a:t>‹#›</a:t>
            </a:fld>
            <a:endParaRPr lang="en-CN"/>
          </a:p>
        </p:txBody>
      </p:sp>
    </p:spTree>
    <p:extLst>
      <p:ext uri="{BB962C8B-B14F-4D97-AF65-F5344CB8AC3E}">
        <p14:creationId xmlns:p14="http://schemas.microsoft.com/office/powerpoint/2010/main" val="420326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1FF414-C241-D84F-96D2-7DA274BED85C}" type="datetimeFigureOut">
              <a:rPr lang="en-CN" smtClean="0"/>
              <a:t>9/10/26</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A9F544-7F2B-574D-A23E-126D715F5459}" type="slidenum">
              <a:rPr lang="en-CN" smtClean="0"/>
              <a:t>‹#›</a:t>
            </a:fld>
            <a:endParaRPr lang="en-CN"/>
          </a:p>
        </p:txBody>
      </p:sp>
    </p:spTree>
    <p:extLst>
      <p:ext uri="{BB962C8B-B14F-4D97-AF65-F5344CB8AC3E}">
        <p14:creationId xmlns:p14="http://schemas.microsoft.com/office/powerpoint/2010/main" val="3853696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2</a:t>
            </a:fld>
            <a:endParaRPr lang="en-CN"/>
          </a:p>
        </p:txBody>
      </p:sp>
    </p:spTree>
    <p:extLst>
      <p:ext uri="{BB962C8B-B14F-4D97-AF65-F5344CB8AC3E}">
        <p14:creationId xmlns:p14="http://schemas.microsoft.com/office/powerpoint/2010/main" val="28764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我理解的我们想做的工作有两个方向：一个是、、是找一个更好的</a:t>
            </a:r>
            <a:r>
              <a:rPr kumimoji="1" lang="en-US" altLang="zh-CN" dirty="0"/>
              <a:t>tokenizer</a:t>
            </a:r>
            <a:r>
              <a:rPr kumimoji="1" lang="zh-CN" altLang="en-US" dirty="0"/>
              <a:t>，来描述</a:t>
            </a:r>
            <a:r>
              <a:rPr kumimoji="1" lang="en-US" altLang="zh-CN" dirty="0"/>
              <a:t>crystallographic</a:t>
            </a:r>
            <a:r>
              <a:rPr kumimoji="1" lang="zh-CN" altLang="en-US" dirty="0"/>
              <a:t>。在生成和训练的时候，最好是都做到能够</a:t>
            </a:r>
            <a:r>
              <a:rPr kumimoji="1" lang="en-US" altLang="zh-CN" dirty="0"/>
              <a:t>disorder</a:t>
            </a:r>
            <a:r>
              <a:rPr kumimoji="1" lang="zh-CN" altLang="en-US" dirty="0"/>
              <a:t>的一个状态。</a:t>
            </a:r>
            <a:br>
              <a:rPr kumimoji="1" lang="en-US" altLang="zh-CN" dirty="0"/>
            </a:br>
            <a:br>
              <a:rPr kumimoji="1" lang="en-US" altLang="zh-CN" dirty="0"/>
            </a:br>
            <a:r>
              <a:rPr kumimoji="1" lang="zh-CN" altLang="en-US" dirty="0"/>
              <a:t>还有一个就是</a:t>
            </a:r>
            <a:r>
              <a:rPr lang="en-US" altLang="zh-CN" sz="1000" kern="1200" dirty="0" err="1">
                <a:solidFill>
                  <a:srgbClr val="B60007"/>
                </a:solidFill>
                <a:latin typeface="+mn-lt"/>
                <a:ea typeface="+mn-ea"/>
                <a:cs typeface="+mn-cs"/>
              </a:rPr>
              <a:t>WyFormer</a:t>
            </a:r>
            <a:r>
              <a:rPr lang="en-US" altLang="zh-CN" sz="1000" kern="1200" dirty="0">
                <a:solidFill>
                  <a:srgbClr val="B60007"/>
                </a:solidFill>
                <a:latin typeface="+mn-lt"/>
                <a:ea typeface="+mn-ea"/>
                <a:cs typeface="+mn-cs"/>
              </a:rPr>
              <a:t> </a:t>
            </a:r>
            <a:r>
              <a:rPr lang="en-US" altLang="zh-CN" sz="1000" kern="1200" dirty="0" err="1">
                <a:solidFill>
                  <a:srgbClr val="B60007"/>
                </a:solidFill>
                <a:latin typeface="+mn-lt"/>
                <a:ea typeface="+mn-ea"/>
                <a:cs typeface="+mn-cs"/>
              </a:rPr>
              <a:t>representation+masked</a:t>
            </a:r>
            <a:r>
              <a:rPr lang="en-US" altLang="zh-CN" sz="1000" kern="1200" dirty="0">
                <a:solidFill>
                  <a:srgbClr val="B60007"/>
                </a:solidFill>
                <a:latin typeface="+mn-lt"/>
                <a:ea typeface="+mn-ea"/>
                <a:cs typeface="+mn-cs"/>
              </a:rPr>
              <a:t>/discrete diffusion</a:t>
            </a:r>
            <a:r>
              <a:rPr lang="zh-CN" altLang="en-US" sz="1000" kern="1200" dirty="0">
                <a:solidFill>
                  <a:srgbClr val="B60007"/>
                </a:solidFill>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zh-CN" dirty="0"/>
            </a:br>
            <a:r>
              <a:rPr kumimoji="1" lang="zh-CN" altLang="en-US" dirty="0"/>
              <a:t>不过您那天又说如果</a:t>
            </a:r>
            <a:r>
              <a:rPr kumimoji="1" lang="en-US" altLang="zh-CN" dirty="0"/>
              <a:t>vocabulary</a:t>
            </a:r>
            <a:r>
              <a:rPr kumimoji="1" lang="zh-CN" altLang="en-US" dirty="0"/>
              <a:t>比较难搞就直接用</a:t>
            </a:r>
            <a:r>
              <a:rPr kumimoji="1" lang="en-US" altLang="zh-CN" dirty="0" err="1"/>
              <a:t>WyFormer</a:t>
            </a:r>
            <a:r>
              <a:rPr kumimoji="1" lang="zh-CN" altLang="en-US" dirty="0"/>
              <a:t>的</a:t>
            </a:r>
            <a:r>
              <a:rPr kumimoji="1" lang="en-US" altLang="zh-CN" dirty="0"/>
              <a:t>tokenizer</a:t>
            </a:r>
            <a:r>
              <a:rPr kumimoji="1" lang="zh-CN" altLang="en-US" dirty="0"/>
              <a:t>也行，然后我就觉得是不是</a:t>
            </a:r>
            <a:r>
              <a:rPr kumimoji="1" lang="en-US" altLang="zh-CN" dirty="0"/>
              <a:t>BPE</a:t>
            </a:r>
            <a:r>
              <a:rPr kumimoji="1" lang="zh-CN" altLang="en-US" dirty="0"/>
              <a:t>的加入也可以单独作为一个点。</a:t>
            </a:r>
            <a:br>
              <a:rPr kumimoji="1" lang="en-US" altLang="zh-CN" dirty="0"/>
            </a:br>
            <a:br>
              <a:rPr kumimoji="1" lang="en-US" altLang="zh-CN" dirty="0"/>
            </a:b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所以我就去调研了一下这几个方向的内容</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3</a:t>
            </a:fld>
            <a:endParaRPr lang="en-CN"/>
          </a:p>
        </p:txBody>
      </p:sp>
    </p:spTree>
    <p:extLst>
      <p:ext uri="{BB962C8B-B14F-4D97-AF65-F5344CB8AC3E}">
        <p14:creationId xmlns:p14="http://schemas.microsoft.com/office/powerpoint/2010/main" val="2658698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2026 </a:t>
            </a:r>
            <a:r>
              <a:rPr lang="zh-CN" altLang="en-US" dirty="0"/>
              <a:t>年的 </a:t>
            </a:r>
            <a:r>
              <a:rPr lang="en-US" altLang="zh-CN" b="1" dirty="0"/>
              <a:t>Matra-Genoa</a:t>
            </a:r>
            <a:r>
              <a:rPr lang="en-US" altLang="zh-CN" dirty="0"/>
              <a:t> </a:t>
            </a:r>
            <a:r>
              <a:rPr lang="zh-CN" altLang="en-US" dirty="0"/>
              <a:t>已经做了一件非常接近的事情：它指出 </a:t>
            </a:r>
            <a:r>
              <a:rPr lang="en-US" altLang="zh-CN" dirty="0"/>
              <a:t>230 </a:t>
            </a:r>
            <a:r>
              <a:rPr lang="zh-CN" altLang="en-US" dirty="0"/>
              <a:t>个空间群一共有 </a:t>
            </a:r>
            <a:r>
              <a:rPr lang="en-US" altLang="zh-CN" dirty="0"/>
              <a:t>1,731 </a:t>
            </a:r>
            <a:r>
              <a:rPr lang="zh-CN" altLang="en-US" dirty="0"/>
              <a:t>个 </a:t>
            </a:r>
            <a:r>
              <a:rPr lang="en-US" altLang="zh-CN" dirty="0"/>
              <a:t>Wyckoff positions</a:t>
            </a:r>
            <a:r>
              <a:rPr lang="zh-CN" altLang="en-US" dirty="0"/>
              <a:t>，但有些 </a:t>
            </a:r>
            <a:r>
              <a:rPr lang="en-US" altLang="zh-CN" dirty="0"/>
              <a:t>positions </a:t>
            </a:r>
            <a:r>
              <a:rPr lang="zh-CN" altLang="en-US" dirty="0"/>
              <a:t>在不同空间群中描述相同的代数 </a:t>
            </a:r>
            <a:r>
              <a:rPr lang="en-US" altLang="zh-CN" dirty="0"/>
              <a:t>orbit</a:t>
            </a:r>
            <a:r>
              <a:rPr lang="zh-CN" altLang="en-US" dirty="0"/>
              <a:t>，因此将其合并为 </a:t>
            </a:r>
            <a:r>
              <a:rPr lang="en-US" altLang="zh-CN" b="1" dirty="0"/>
              <a:t>990 </a:t>
            </a:r>
            <a:r>
              <a:rPr lang="zh-CN" altLang="en-US" b="1" dirty="0"/>
              <a:t>个共享的 </a:t>
            </a:r>
            <a:r>
              <a:rPr lang="en-US" altLang="zh-CN" b="1" dirty="0"/>
              <a:t>unique Wyckoff orbit representations</a:t>
            </a:r>
            <a:r>
              <a:rPr lang="zh-CN" altLang="en-US" dirty="0"/>
              <a:t>，然后使用自回归 </a:t>
            </a:r>
            <a:r>
              <a:rPr lang="en-US" altLang="zh-CN" dirty="0"/>
              <a:t>Transformer </a:t>
            </a:r>
            <a:r>
              <a:rPr lang="zh-CN" altLang="en-US" dirty="0"/>
              <a:t>进行生成</a:t>
            </a:r>
            <a:br>
              <a:rPr lang="en-US" altLang="zh-CN" dirty="0"/>
            </a:br>
            <a:br>
              <a:rPr lang="en-US" altLang="zh-CN" dirty="0"/>
            </a:br>
            <a:r>
              <a:rPr lang="zh-CN" altLang="en-US" dirty="0"/>
              <a:t>他们已经做了一种晶体结构的可逆化表达设计，而且扩展到了</a:t>
            </a:r>
            <a:r>
              <a:rPr lang="zh-CN" altLang="en-US" b="1" dirty="0"/>
              <a:t>晶胞尺寸这个参数</a:t>
            </a:r>
            <a:r>
              <a:rPr lang="zh-CN" altLang="en-US" dirty="0"/>
              <a:t>了：：</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i</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空间群；</a:t>
            </a:r>
            <a:r>
              <a:rPr lang="en-US" altLang="zh-CN" sz="1200" b="0" i="0" kern="1200" dirty="0">
                <a:solidFill>
                  <a:schemeClr val="tx1"/>
                </a:solidFill>
                <a:effectLst/>
                <a:latin typeface="+mn-lt"/>
                <a:ea typeface="+mn-ea"/>
                <a:cs typeface="+mn-cs"/>
              </a:rPr>
              <a:t>(ii) </a:t>
            </a:r>
            <a:r>
              <a:rPr lang="zh-CN" altLang="en-US" sz="1200" b="0" i="0" kern="1200" dirty="0">
                <a:solidFill>
                  <a:schemeClr val="tx1"/>
                </a:solidFill>
                <a:effectLst/>
                <a:latin typeface="+mn-lt"/>
                <a:ea typeface="+mn-ea"/>
                <a:cs typeface="+mn-cs"/>
              </a:rPr>
              <a:t>一组魏科夫位置及其对应的化学元素；</a:t>
            </a:r>
            <a:r>
              <a:rPr lang="en-US" altLang="zh-CN" sz="1200" b="0" i="0" kern="1200" dirty="0">
                <a:solidFill>
                  <a:schemeClr val="tx1"/>
                </a:solidFill>
                <a:effectLst/>
                <a:latin typeface="+mn-lt"/>
                <a:ea typeface="+mn-ea"/>
                <a:cs typeface="+mn-cs"/>
              </a:rPr>
              <a:t>(iii) </a:t>
            </a:r>
            <a:r>
              <a:rPr lang="zh-CN" altLang="en-US" sz="1200" b="0" i="0" kern="1200" dirty="0">
                <a:solidFill>
                  <a:schemeClr val="tx1"/>
                </a:solidFill>
                <a:effectLst/>
                <a:latin typeface="+mn-lt"/>
                <a:ea typeface="+mn-ea"/>
                <a:cs typeface="+mn-cs"/>
              </a:rPr>
              <a:t>魏科夫位置所需的自由参数；以及最后的 </a:t>
            </a:r>
            <a:r>
              <a:rPr lang="en-US" altLang="zh-CN" sz="1200" b="0" i="0" kern="1200" dirty="0">
                <a:solidFill>
                  <a:schemeClr val="tx1"/>
                </a:solidFill>
                <a:effectLst/>
                <a:latin typeface="+mn-lt"/>
                <a:ea typeface="+mn-ea"/>
                <a:cs typeface="+mn-cs"/>
              </a:rPr>
              <a:t>(iv) </a:t>
            </a:r>
            <a:r>
              <a:rPr lang="zh-CN" altLang="en-US" sz="1200" b="0" i="0" kern="1200" dirty="0">
                <a:solidFill>
                  <a:schemeClr val="tx1"/>
                </a:solidFill>
                <a:effectLst/>
                <a:latin typeface="+mn-lt"/>
                <a:ea typeface="+mn-ea"/>
                <a:cs typeface="+mn-cs"/>
              </a:rPr>
              <a:t>晶胞尺寸（</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α</a:t>
            </a:r>
            <a:r>
              <a:rPr lang="zh-CN" altLang="el-GR"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β</a:t>
            </a:r>
            <a:r>
              <a:rPr lang="zh-CN" altLang="el-GR"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γ</a:t>
            </a:r>
            <a:r>
              <a:rPr lang="zh-CN" altLang="el-GR"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魏科夫位置通过将给定空间群对称变换下的等价位点映射到单个位点，将一组等价点（轨道）约化为一个点。</a:t>
            </a:r>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4</a:t>
            </a:fld>
            <a:endParaRPr lang="en-CN"/>
          </a:p>
        </p:txBody>
      </p:sp>
    </p:spTree>
    <p:extLst>
      <p:ext uri="{BB962C8B-B14F-4D97-AF65-F5344CB8AC3E}">
        <p14:creationId xmlns:p14="http://schemas.microsoft.com/office/powerpoint/2010/main" val="3150144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然后之前我想的是老师你提到的</a:t>
            </a:r>
            <a:r>
              <a:rPr kumimoji="1" lang="en-US" altLang="zh-CN" dirty="0"/>
              <a:t>BPE</a:t>
            </a:r>
            <a:r>
              <a:rPr kumimoji="1" lang="zh-CN" altLang="en-US" dirty="0"/>
              <a:t>，如果只是单独压缩每个晶体内部的</a:t>
            </a:r>
            <a:r>
              <a:rPr kumimoji="1" lang="en-US" altLang="zh-CN" dirty="0"/>
              <a:t>position</a:t>
            </a:r>
            <a:r>
              <a:rPr kumimoji="1" lang="zh-CN" altLang="en-US" dirty="0"/>
              <a:t>表达，这篇文章有提到，所以单个晶体内的表达去压缩可能效果不是很好</a:t>
            </a:r>
          </a:p>
        </p:txBody>
      </p:sp>
      <p:sp>
        <p:nvSpPr>
          <p:cNvPr id="4" name="灯片编号占位符 3"/>
          <p:cNvSpPr>
            <a:spLocks noGrp="1"/>
          </p:cNvSpPr>
          <p:nvPr>
            <p:ph type="sldNum" sz="quarter" idx="5"/>
          </p:nvPr>
        </p:nvSpPr>
        <p:spPr/>
        <p:txBody>
          <a:bodyPr/>
          <a:lstStyle/>
          <a:p>
            <a:fld id="{17A9F544-7F2B-574D-A23E-126D715F5459}" type="slidenum">
              <a:rPr lang="en-CN" smtClean="0"/>
              <a:t>5</a:t>
            </a:fld>
            <a:endParaRPr lang="en-CN"/>
          </a:p>
        </p:txBody>
      </p:sp>
    </p:spTree>
    <p:extLst>
      <p:ext uri="{BB962C8B-B14F-4D97-AF65-F5344CB8AC3E}">
        <p14:creationId xmlns:p14="http://schemas.microsoft.com/office/powerpoint/2010/main" val="3642562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MaskGXT</a:t>
            </a:r>
            <a:r>
              <a:rPr lang="zh-CN" altLang="en-US" dirty="0"/>
              <a:t>。它采取了另一条路线：不是先生成一个 </a:t>
            </a:r>
            <a:r>
              <a:rPr lang="en-US" altLang="zh-CN" dirty="0"/>
              <a:t>Wyckoff protostructure</a:t>
            </a:r>
            <a:r>
              <a:rPr lang="zh-CN" altLang="en-US" dirty="0"/>
              <a:t>，再补全几何，而是把整个 </a:t>
            </a:r>
            <a:r>
              <a:rPr lang="en-US" altLang="zh-CN" dirty="0"/>
              <a:t>CSP </a:t>
            </a:r>
            <a:r>
              <a:rPr lang="zh-CN" altLang="en-US" dirty="0"/>
              <a:t>输出离散化为 </a:t>
            </a:r>
            <a:r>
              <a:rPr lang="en-US" altLang="zh-CN" dirty="0"/>
              <a:t>token</a:t>
            </a:r>
            <a:r>
              <a:rPr lang="zh-CN" altLang="en-US" dirty="0"/>
              <a:t>，包括 </a:t>
            </a:r>
            <a:r>
              <a:rPr lang="en-US" altLang="zh-CN" dirty="0"/>
              <a:t>space group</a:t>
            </a:r>
            <a:r>
              <a:rPr lang="zh-CN" altLang="en-US" dirty="0"/>
              <a:t>、</a:t>
            </a:r>
            <a:r>
              <a:rPr lang="en-US" altLang="zh-CN" dirty="0"/>
              <a:t>lattice</a:t>
            </a:r>
            <a:r>
              <a:rPr lang="zh-CN" altLang="en-US" dirty="0"/>
              <a:t>、</a:t>
            </a:r>
            <a:r>
              <a:rPr lang="en-US" altLang="zh-CN" dirty="0"/>
              <a:t>fractional coordinates </a:t>
            </a:r>
            <a:r>
              <a:rPr lang="zh-CN" altLang="en-US" dirty="0"/>
              <a:t>和 </a:t>
            </a:r>
            <a:r>
              <a:rPr lang="en-US" altLang="zh-CN" dirty="0"/>
              <a:t>Wyckoff labels</a:t>
            </a:r>
            <a:r>
              <a:rPr lang="zh-CN" altLang="en-US" dirty="0"/>
              <a:t>。训练时随机 </a:t>
            </a:r>
            <a:r>
              <a:rPr lang="en-US" altLang="zh-CN" dirty="0"/>
              <a:t>mask </a:t>
            </a:r>
            <a:r>
              <a:rPr lang="zh-CN" altLang="en-US" dirty="0"/>
              <a:t>一部分 </a:t>
            </a:r>
            <a:r>
              <a:rPr lang="en-US" altLang="zh-CN" dirty="0"/>
              <a:t>token</a:t>
            </a:r>
            <a:r>
              <a:rPr lang="zh-CN" altLang="en-US" dirty="0"/>
              <a:t>，让双向 </a:t>
            </a:r>
            <a:r>
              <a:rPr lang="en-US" altLang="zh-CN" dirty="0"/>
              <a:t>Transformer </a:t>
            </a:r>
            <a:r>
              <a:rPr lang="zh-CN" altLang="en-US" dirty="0"/>
              <a:t>同时恢复它们；采样时则从 </a:t>
            </a:r>
            <a:r>
              <a:rPr lang="en-US" altLang="zh-CN" dirty="0"/>
              <a:t>fully masked sequence </a:t>
            </a:r>
            <a:r>
              <a:rPr lang="zh-CN" altLang="en-US" dirty="0"/>
              <a:t>开始，逐轮保留高置信度预测，并重新 </a:t>
            </a:r>
            <a:r>
              <a:rPr lang="en-US" altLang="zh-CN" dirty="0"/>
              <a:t>mask </a:t>
            </a:r>
            <a:r>
              <a:rPr lang="zh-CN" altLang="en-US" dirty="0"/>
              <a:t>其余位置。</a:t>
            </a:r>
          </a:p>
          <a:p>
            <a:endParaRPr lang="en-US" altLang="zh-CN" dirty="0"/>
          </a:p>
        </p:txBody>
      </p:sp>
      <p:sp>
        <p:nvSpPr>
          <p:cNvPr id="4" name="灯片编号占位符 3"/>
          <p:cNvSpPr>
            <a:spLocks noGrp="1"/>
          </p:cNvSpPr>
          <p:nvPr>
            <p:ph type="sldNum" sz="quarter" idx="5"/>
          </p:nvPr>
        </p:nvSpPr>
        <p:spPr/>
        <p:txBody>
          <a:bodyPr/>
          <a:lstStyle/>
          <a:p>
            <a:fld id="{17A9F544-7F2B-574D-A23E-126D715F5459}" type="slidenum">
              <a:rPr lang="en-CN" smtClean="0"/>
              <a:t>6</a:t>
            </a:fld>
            <a:endParaRPr lang="en-CN"/>
          </a:p>
        </p:txBody>
      </p:sp>
    </p:spTree>
    <p:extLst>
      <p:ext uri="{BB962C8B-B14F-4D97-AF65-F5344CB8AC3E}">
        <p14:creationId xmlns:p14="http://schemas.microsoft.com/office/powerpoint/2010/main" val="1227596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DynaCrys</a:t>
            </a:r>
            <a:r>
              <a:rPr lang="zh-CN" altLang="en-US" dirty="0"/>
              <a:t>。过去很多 </a:t>
            </a:r>
            <a:r>
              <a:rPr lang="en-US" altLang="zh-CN" dirty="0"/>
              <a:t>symmetry-aware crystal generator </a:t>
            </a:r>
            <a:r>
              <a:rPr lang="zh-CN" altLang="en-US" dirty="0"/>
              <a:t>会先确定一个空间群，然后在固定空间群下生成 </a:t>
            </a:r>
            <a:r>
              <a:rPr lang="en-US" altLang="zh-CN" dirty="0"/>
              <a:t>Wyckoff positions </a:t>
            </a:r>
            <a:r>
              <a:rPr lang="zh-CN" altLang="en-US" dirty="0"/>
              <a:t>或原子坐标。</a:t>
            </a:r>
            <a:r>
              <a:rPr lang="en-US" altLang="zh-CN" dirty="0" err="1"/>
              <a:t>DynaCrys</a:t>
            </a:r>
            <a:r>
              <a:rPr lang="en-US" altLang="zh-CN" dirty="0"/>
              <a:t> </a:t>
            </a:r>
            <a:r>
              <a:rPr lang="zh-CN" altLang="en-US" dirty="0"/>
              <a:t>是把空间群本身也放进 </a:t>
            </a:r>
            <a:r>
              <a:rPr lang="en-US" altLang="zh-CN" dirty="0"/>
              <a:t>diffusion state</a:t>
            </a:r>
            <a:r>
              <a:rPr lang="zh-CN" altLang="en-US" dirty="0"/>
              <a:t>。它首先在 </a:t>
            </a:r>
            <a:r>
              <a:rPr lang="en-US" altLang="zh-CN" dirty="0"/>
              <a:t>symbolic stage </a:t>
            </a:r>
            <a:r>
              <a:rPr lang="zh-CN" altLang="en-US" dirty="0"/>
              <a:t>中联合更新空间群、</a:t>
            </a:r>
            <a:r>
              <a:rPr lang="en-US" altLang="zh-CN" dirty="0"/>
              <a:t>Wyckoff occupations </a:t>
            </a:r>
            <a:r>
              <a:rPr lang="zh-CN" altLang="en-US" dirty="0"/>
              <a:t>和元素，得到 </a:t>
            </a:r>
            <a:r>
              <a:rPr lang="en-US" altLang="zh-CN" dirty="0"/>
              <a:t>protostructure </a:t>
            </a:r>
            <a:r>
              <a:rPr lang="zh-CN" altLang="en-US" dirty="0"/>
              <a:t>之后，再用 </a:t>
            </a:r>
            <a:r>
              <a:rPr lang="en-US" altLang="zh-CN" dirty="0"/>
              <a:t>geometry diffusion </a:t>
            </a:r>
            <a:r>
              <a:rPr lang="zh-CN" altLang="en-US" dirty="0"/>
              <a:t>生成 </a:t>
            </a:r>
            <a:r>
              <a:rPr lang="en-US" altLang="zh-CN" dirty="0"/>
              <a:t>lattice </a:t>
            </a:r>
            <a:r>
              <a:rPr lang="zh-CN" altLang="en-US" dirty="0"/>
              <a:t>和自由 </a:t>
            </a:r>
            <a:r>
              <a:rPr lang="en-US" altLang="zh-CN" dirty="0"/>
              <a:t>Wyckoff coordinates</a:t>
            </a:r>
            <a:r>
              <a:rPr lang="zh-CN" altLang="en-US" dirty="0"/>
              <a:t>。</a:t>
            </a:r>
          </a:p>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7</a:t>
            </a:fld>
            <a:endParaRPr lang="en-CN"/>
          </a:p>
        </p:txBody>
      </p:sp>
    </p:spTree>
    <p:extLst>
      <p:ext uri="{BB962C8B-B14F-4D97-AF65-F5344CB8AC3E}">
        <p14:creationId xmlns:p14="http://schemas.microsoft.com/office/powerpoint/2010/main" val="209736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还没有想的很清楚，不过就是结合我之前的工作，我看他们现在都是只用</a:t>
            </a:r>
            <a:r>
              <a:rPr kumimoji="1" lang="en-US" altLang="zh-CN" dirty="0" err="1"/>
              <a:t>ehull</a:t>
            </a:r>
            <a:r>
              <a:rPr kumimoji="1" lang="zh-CN" altLang="en-US" dirty="0"/>
              <a:t>数据库里面的东西直接去说一个</a:t>
            </a:r>
            <a:r>
              <a:rPr kumimoji="1" lang="en-US" altLang="zh-CN" dirty="0"/>
              <a:t>SUN</a:t>
            </a:r>
            <a:r>
              <a:rPr kumimoji="1" lang="zh-CN" altLang="en-US" dirty="0"/>
              <a:t>指标，在材料上面来说不是很可靠，而且也都是静态的一个未弛豫的结构，所以我姐和一些资料就想到了</a:t>
            </a:r>
            <a:r>
              <a:rPr kumimoji="1" lang="en-US" altLang="zh-CN" dirty="0"/>
              <a:t>test-time</a:t>
            </a:r>
            <a:r>
              <a:rPr kumimoji="1" lang="zh-CN" altLang="en-US" dirty="0"/>
              <a:t> </a:t>
            </a:r>
            <a:r>
              <a:rPr kumimoji="1" lang="en-US" altLang="zh-CN" dirty="0"/>
              <a:t>scaling</a:t>
            </a:r>
            <a:r>
              <a:rPr kumimoji="1" lang="zh-CN" altLang="en-US" dirty="0"/>
              <a:t>这种方法，就是边做部分的</a:t>
            </a:r>
            <a:r>
              <a:rPr kumimoji="1" lang="en-US" altLang="zh-CN" dirty="0"/>
              <a:t>denoising</a:t>
            </a:r>
            <a:r>
              <a:rPr kumimoji="1" lang="zh-CN" altLang="en-US" dirty="0"/>
              <a:t>一边用快速的</a:t>
            </a:r>
            <a:r>
              <a:rPr kumimoji="1" lang="en-US" altLang="zh-CN" dirty="0"/>
              <a:t>MLIP</a:t>
            </a:r>
            <a:r>
              <a:rPr kumimoji="1" lang="zh-CN" altLang="en-US" dirty="0"/>
              <a:t>做能量和声子筛查，不过这块只是个初步设想。</a:t>
            </a:r>
          </a:p>
        </p:txBody>
      </p:sp>
      <p:sp>
        <p:nvSpPr>
          <p:cNvPr id="4" name="灯片编号占位符 3"/>
          <p:cNvSpPr>
            <a:spLocks noGrp="1"/>
          </p:cNvSpPr>
          <p:nvPr>
            <p:ph type="sldNum" sz="quarter" idx="5"/>
          </p:nvPr>
        </p:nvSpPr>
        <p:spPr/>
        <p:txBody>
          <a:bodyPr/>
          <a:lstStyle/>
          <a:p>
            <a:fld id="{17A9F544-7F2B-574D-A23E-126D715F5459}" type="slidenum">
              <a:rPr lang="en-CN" smtClean="0"/>
              <a:t>9</a:t>
            </a:fld>
            <a:endParaRPr lang="en-CN"/>
          </a:p>
        </p:txBody>
      </p:sp>
    </p:spTree>
    <p:extLst>
      <p:ext uri="{BB962C8B-B14F-4D97-AF65-F5344CB8AC3E}">
        <p14:creationId xmlns:p14="http://schemas.microsoft.com/office/powerpoint/2010/main" val="3172753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001" dirty="0"/>
          </a:p>
        </p:txBody>
      </p:sp>
      <p:sp>
        <p:nvSpPr>
          <p:cNvPr id="4" name="Slide Number Placeholder 3"/>
          <p:cNvSpPr>
            <a:spLocks noGrp="1"/>
          </p:cNvSpPr>
          <p:nvPr>
            <p:ph type="sldNum" sz="quarter" idx="5"/>
          </p:nvPr>
        </p:nvSpPr>
        <p:spPr/>
        <p:txBody>
          <a:bodyPr/>
          <a:lstStyle/>
          <a:p>
            <a:fld id="{17A9F544-7F2B-574D-A23E-126D715F5459}" type="slidenum">
              <a:rPr lang="en-CN" smtClean="0"/>
              <a:t>11</a:t>
            </a:fld>
            <a:endParaRPr lang="en-CN"/>
          </a:p>
        </p:txBody>
      </p:sp>
    </p:spTree>
    <p:extLst>
      <p:ext uri="{BB962C8B-B14F-4D97-AF65-F5344CB8AC3E}">
        <p14:creationId xmlns:p14="http://schemas.microsoft.com/office/powerpoint/2010/main" val="34824961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E9A1-8520-5146-239F-0FA97511B65B}"/>
              </a:ext>
            </a:extLst>
          </p:cNvPr>
          <p:cNvSpPr>
            <a:spLocks noGrp="1"/>
          </p:cNvSpPr>
          <p:nvPr>
            <p:ph type="title" hasCustomPrompt="1"/>
          </p:nvPr>
        </p:nvSpPr>
        <p:spPr>
          <a:xfrm>
            <a:off x="831850" y="1709738"/>
            <a:ext cx="10515600" cy="2852737"/>
          </a:xfrm>
        </p:spPr>
        <p:txBody>
          <a:bodyPr anchor="b">
            <a:normAutofit/>
          </a:bodyPr>
          <a:lstStyle>
            <a:lvl1pPr>
              <a:defRPr sz="4800" b="1">
                <a:solidFill>
                  <a:srgbClr val="B60007"/>
                </a:solidFill>
              </a:defRPr>
            </a:lvl1pPr>
          </a:lstStyle>
          <a:p>
            <a:r>
              <a:rPr lang="en-US" dirty="0"/>
              <a:t>Presentation Title</a:t>
            </a:r>
          </a:p>
        </p:txBody>
      </p:sp>
      <p:sp>
        <p:nvSpPr>
          <p:cNvPr id="3" name="Text Placeholder 2">
            <a:extLst>
              <a:ext uri="{FF2B5EF4-FFF2-40B4-BE49-F238E27FC236}">
                <a16:creationId xmlns:a16="http://schemas.microsoft.com/office/drawing/2014/main" id="{4EE82710-E1E4-466F-30AE-69A71966AE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3070831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A7141-DFF9-E7CA-A95A-620E50267A56}"/>
              </a:ext>
            </a:extLst>
          </p:cNvPr>
          <p:cNvSpPr>
            <a:spLocks noGrp="1"/>
          </p:cNvSpPr>
          <p:nvPr>
            <p:ph type="ctrTitle" hasCustomPrompt="1"/>
          </p:nvPr>
        </p:nvSpPr>
        <p:spPr>
          <a:xfrm>
            <a:off x="1524000" y="1122363"/>
            <a:ext cx="9144000" cy="2387600"/>
          </a:xfrm>
        </p:spPr>
        <p:txBody>
          <a:bodyPr anchor="b">
            <a:normAutofit/>
          </a:bodyPr>
          <a:lstStyle>
            <a:lvl1pPr algn="l">
              <a:defRPr sz="5400" b="1">
                <a:solidFill>
                  <a:srgbClr val="B60007"/>
                </a:solidFill>
              </a:defRPr>
            </a:lvl1pPr>
          </a:lstStyle>
          <a:p>
            <a:r>
              <a:rPr lang="en-US" dirty="0"/>
              <a:t>Presentation Title</a:t>
            </a:r>
          </a:p>
        </p:txBody>
      </p:sp>
      <p:sp>
        <p:nvSpPr>
          <p:cNvPr id="3" name="Subtitle 2">
            <a:extLst>
              <a:ext uri="{FF2B5EF4-FFF2-40B4-BE49-F238E27FC236}">
                <a16:creationId xmlns:a16="http://schemas.microsoft.com/office/drawing/2014/main" id="{05641A52-A17E-07B5-1692-6E5DC631A289}"/>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Tree>
    <p:extLst>
      <p:ext uri="{BB962C8B-B14F-4D97-AF65-F5344CB8AC3E}">
        <p14:creationId xmlns:p14="http://schemas.microsoft.com/office/powerpoint/2010/main" val="850708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DD4F-0AF3-F7C8-6C26-A700CF76F533}"/>
              </a:ext>
            </a:extLst>
          </p:cNvPr>
          <p:cNvSpPr>
            <a:spLocks noGrp="1"/>
          </p:cNvSpPr>
          <p:nvPr>
            <p:ph type="title"/>
          </p:nvPr>
        </p:nvSpPr>
        <p:spPr>
          <a:xfrm>
            <a:off x="838200" y="365125"/>
            <a:ext cx="8417312" cy="1325563"/>
          </a:xfrm>
        </p:spPr>
        <p:txBody>
          <a:bodyPr/>
          <a:lstStyle>
            <a:lvl1pPr>
              <a:defRPr b="1">
                <a:solidFill>
                  <a:srgbClr val="B60007"/>
                </a:solidFill>
              </a:defRPr>
            </a:lvl1pPr>
          </a:lstStyle>
          <a:p>
            <a:r>
              <a:rPr lang="zh-CN" altLang="en-US"/>
              <a:t>单击此处编辑母版标题样式</a:t>
            </a:r>
            <a:endParaRPr lang="en-US" dirty="0"/>
          </a:p>
        </p:txBody>
      </p:sp>
      <p:sp>
        <p:nvSpPr>
          <p:cNvPr id="3" name="Content Placeholder 2">
            <a:extLst>
              <a:ext uri="{FF2B5EF4-FFF2-40B4-BE49-F238E27FC236}">
                <a16:creationId xmlns:a16="http://schemas.microsoft.com/office/drawing/2014/main" id="{A187A4B2-E3CB-CD7E-B61C-DB90D5C43BB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Slide Number Placeholder 3">
            <a:extLst>
              <a:ext uri="{FF2B5EF4-FFF2-40B4-BE49-F238E27FC236}">
                <a16:creationId xmlns:a16="http://schemas.microsoft.com/office/drawing/2014/main" id="{5A500D57-1613-E8EB-F6FF-C1AF514444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2548487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CBD4C-653E-6CF0-91A1-8D087DAE2717}"/>
              </a:ext>
            </a:extLst>
          </p:cNvPr>
          <p:cNvSpPr>
            <a:spLocks noGrp="1"/>
          </p:cNvSpPr>
          <p:nvPr>
            <p:ph type="title"/>
          </p:nvPr>
        </p:nvSpPr>
        <p:spPr>
          <a:xfrm>
            <a:off x="838201" y="365125"/>
            <a:ext cx="8406160" cy="1325563"/>
          </a:xfrm>
        </p:spPr>
        <p:txBody>
          <a:bodyPr/>
          <a:lstStyle>
            <a:lvl1pPr>
              <a:defRPr b="1">
                <a:solidFill>
                  <a:srgbClr val="B60007"/>
                </a:solidFill>
              </a:defRPr>
            </a:lvl1pPr>
          </a:lstStyle>
          <a:p>
            <a:r>
              <a:rPr lang="zh-CN" altLang="en-US"/>
              <a:t>单击此处编辑母版标题样式</a:t>
            </a:r>
            <a:endParaRPr lang="en-US" dirty="0"/>
          </a:p>
        </p:txBody>
      </p:sp>
      <p:sp>
        <p:nvSpPr>
          <p:cNvPr id="3" name="Content Placeholder 2">
            <a:extLst>
              <a:ext uri="{FF2B5EF4-FFF2-40B4-BE49-F238E27FC236}">
                <a16:creationId xmlns:a16="http://schemas.microsoft.com/office/drawing/2014/main" id="{26605617-0FE6-1513-7E9C-B0470E5FC50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a:extLst>
              <a:ext uri="{FF2B5EF4-FFF2-40B4-BE49-F238E27FC236}">
                <a16:creationId xmlns:a16="http://schemas.microsoft.com/office/drawing/2014/main" id="{00B2526F-CC14-905B-B4F8-3DA58013D78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Slide Number Placeholder 3">
            <a:extLst>
              <a:ext uri="{FF2B5EF4-FFF2-40B4-BE49-F238E27FC236}">
                <a16:creationId xmlns:a16="http://schemas.microsoft.com/office/drawing/2014/main" id="{671BA4A5-63AD-67A0-D23D-D9DF769811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4164744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CC3666C-BC10-00D8-077D-FD477333D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017997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AA3B4-DA5B-C327-0769-E9EBF774653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Content Placeholder 2">
            <a:extLst>
              <a:ext uri="{FF2B5EF4-FFF2-40B4-BE49-F238E27FC236}">
                <a16:creationId xmlns:a16="http://schemas.microsoft.com/office/drawing/2014/main" id="{1EE14E74-BCFC-0E95-9CE3-070A751A14FA}"/>
              </a:ext>
            </a:extLst>
          </p:cNvPr>
          <p:cNvSpPr>
            <a:spLocks noGrp="1"/>
          </p:cNvSpPr>
          <p:nvPr>
            <p:ph idx="1"/>
          </p:nvPr>
        </p:nvSpPr>
        <p:spPr>
          <a:xfrm>
            <a:off x="5183188" y="2049462"/>
            <a:ext cx="6172200" cy="38115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a:extLst>
              <a:ext uri="{FF2B5EF4-FFF2-40B4-BE49-F238E27FC236}">
                <a16:creationId xmlns:a16="http://schemas.microsoft.com/office/drawing/2014/main" id="{6D5A0A65-1AC3-F886-E086-2AEEE968DB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Slide Number Placeholder 3">
            <a:extLst>
              <a:ext uri="{FF2B5EF4-FFF2-40B4-BE49-F238E27FC236}">
                <a16:creationId xmlns:a16="http://schemas.microsoft.com/office/drawing/2014/main" id="{77BFCB75-E804-30AC-684E-DAF9F69EB3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4113038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70E19-8461-6D1B-3777-F2ACE03D8BB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Picture Placeholder 2">
            <a:extLst>
              <a:ext uri="{FF2B5EF4-FFF2-40B4-BE49-F238E27FC236}">
                <a16:creationId xmlns:a16="http://schemas.microsoft.com/office/drawing/2014/main" id="{7A434AD4-9470-24F9-D1C7-747B24E3E881}"/>
              </a:ext>
            </a:extLst>
          </p:cNvPr>
          <p:cNvSpPr>
            <a:spLocks noGrp="1"/>
          </p:cNvSpPr>
          <p:nvPr>
            <p:ph type="pic" idx="1"/>
          </p:nvPr>
        </p:nvSpPr>
        <p:spPr>
          <a:xfrm>
            <a:off x="5183188" y="2049462"/>
            <a:ext cx="6172200" cy="38115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a:extLst>
              <a:ext uri="{FF2B5EF4-FFF2-40B4-BE49-F238E27FC236}">
                <a16:creationId xmlns:a16="http://schemas.microsoft.com/office/drawing/2014/main" id="{EA022BA7-4769-04C9-C7FE-7359DD5A50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Slide Number Placeholder 3">
            <a:extLst>
              <a:ext uri="{FF2B5EF4-FFF2-40B4-BE49-F238E27FC236}">
                <a16:creationId xmlns:a16="http://schemas.microsoft.com/office/drawing/2014/main" id="{83EE5AD8-D3BB-0D57-A7AB-DE64EEB013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762097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4289-8E53-FEC4-517B-14893B0C0BBC}"/>
              </a:ext>
            </a:extLst>
          </p:cNvPr>
          <p:cNvSpPr>
            <a:spLocks noGrp="1"/>
          </p:cNvSpPr>
          <p:nvPr>
            <p:ph type="title" hasCustomPrompt="1"/>
          </p:nvPr>
        </p:nvSpPr>
        <p:spPr>
          <a:xfrm>
            <a:off x="838200" y="2743849"/>
            <a:ext cx="10515600" cy="1095508"/>
          </a:xfrm>
        </p:spPr>
        <p:txBody>
          <a:bodyPr/>
          <a:lstStyle>
            <a:lvl1pPr algn="ctr">
              <a:defRPr/>
            </a:lvl1pPr>
          </a:lstStyle>
          <a:p>
            <a:r>
              <a:rPr lang="en-US" dirty="0"/>
              <a:t>Thank you!</a:t>
            </a:r>
          </a:p>
        </p:txBody>
      </p:sp>
    </p:spTree>
    <p:extLst>
      <p:ext uri="{BB962C8B-B14F-4D97-AF65-F5344CB8AC3E}">
        <p14:creationId xmlns:p14="http://schemas.microsoft.com/office/powerpoint/2010/main" val="3608637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5A5D8-C6CA-3BB5-2670-321D6742C20D}"/>
              </a:ext>
            </a:extLst>
          </p:cNvPr>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1291912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F015CB-7E28-AD44-692E-F693A876D6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a:extLst>
              <a:ext uri="{FF2B5EF4-FFF2-40B4-BE49-F238E27FC236}">
                <a16:creationId xmlns:a16="http://schemas.microsoft.com/office/drawing/2014/main" id="{D2C282AF-0EB8-0195-21FA-E6FCC6AC55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Slide Number Placeholder 3">
            <a:extLst>
              <a:ext uri="{FF2B5EF4-FFF2-40B4-BE49-F238E27FC236}">
                <a16:creationId xmlns:a16="http://schemas.microsoft.com/office/drawing/2014/main" id="{58346745-5357-82A3-9FDC-B99ED64178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603437735"/>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5" r:id="rId5"/>
    <p:sldLayoutId id="2147483656" r:id="rId6"/>
    <p:sldLayoutId id="2147483657" r:id="rId7"/>
    <p:sldLayoutId id="2147483660" r:id="rId8"/>
    <p:sldLayoutId id="2147483661" r:id="rId9"/>
  </p:sldLayoutIdLst>
  <p:hf hdr="0" ftr="0" dt="0"/>
  <p:txStyles>
    <p:titleStyle>
      <a:lvl1pPr algn="l" defTabSz="914400" rtl="0" eaLnBrk="1" latinLnBrk="0" hangingPunct="1">
        <a:lnSpc>
          <a:spcPct val="90000"/>
        </a:lnSpc>
        <a:spcBef>
          <a:spcPct val="0"/>
        </a:spcBef>
        <a:buNone/>
        <a:defRPr sz="4400" b="1" kern="1200">
          <a:solidFill>
            <a:srgbClr val="B6000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hyperlink" Target="https://doi.org/10.48550/arXiv.2503.02407"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48550/arXiv.2606.22866"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doi.org/10.48550/arXiv.2608.07401" TargetMode="Externa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BBDD9-47B9-1E29-1F69-D68D76EB692D}"/>
              </a:ext>
            </a:extLst>
          </p:cNvPr>
          <p:cNvSpPr>
            <a:spLocks noGrp="1"/>
          </p:cNvSpPr>
          <p:nvPr>
            <p:ph type="title"/>
          </p:nvPr>
        </p:nvSpPr>
        <p:spPr/>
        <p:txBody>
          <a:bodyPr/>
          <a:lstStyle/>
          <a:p>
            <a:r>
              <a:rPr lang="en-US" dirty="0"/>
              <a:t>Crystal</a:t>
            </a:r>
            <a:r>
              <a:rPr lang="zh-CN" altLang="en-US" dirty="0"/>
              <a:t> </a:t>
            </a:r>
            <a:r>
              <a:rPr lang="en-US" altLang="zh-CN"/>
              <a:t>DLM</a:t>
            </a:r>
            <a:endParaRPr lang="en-US" dirty="0"/>
          </a:p>
        </p:txBody>
      </p:sp>
      <p:sp>
        <p:nvSpPr>
          <p:cNvPr id="3" name="Text Placeholder 2">
            <a:extLst>
              <a:ext uri="{FF2B5EF4-FFF2-40B4-BE49-F238E27FC236}">
                <a16:creationId xmlns:a16="http://schemas.microsoft.com/office/drawing/2014/main" id="{18055D2C-AD5F-2E5F-6EEF-3150641E658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16179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777ECE8-A9E2-F178-9F8F-A812B4821D38}"/>
              </a:ext>
            </a:extLst>
          </p:cNvPr>
          <p:cNvSpPr>
            <a:spLocks noGrp="1"/>
          </p:cNvSpPr>
          <p:nvPr>
            <p:ph type="title"/>
          </p:nvPr>
        </p:nvSpPr>
        <p:spPr/>
        <p:txBody>
          <a:bodyPr/>
          <a:lstStyle/>
          <a:p>
            <a:r>
              <a:rPr lang="en-US" altLang="zh-CN" dirty="0"/>
              <a:t>Outline</a:t>
            </a:r>
            <a:endParaRPr lang="zh-CN" altLang="en-US" dirty="0"/>
          </a:p>
        </p:txBody>
      </p:sp>
      <p:sp>
        <p:nvSpPr>
          <p:cNvPr id="5" name="文本框 4">
            <a:extLst>
              <a:ext uri="{FF2B5EF4-FFF2-40B4-BE49-F238E27FC236}">
                <a16:creationId xmlns:a16="http://schemas.microsoft.com/office/drawing/2014/main" id="{7E0DFF2B-97B4-A635-BBE6-108C62A7D604}"/>
              </a:ext>
            </a:extLst>
          </p:cNvPr>
          <p:cNvSpPr txBox="1"/>
          <p:nvPr/>
        </p:nvSpPr>
        <p:spPr>
          <a:xfrm>
            <a:off x="4327452" y="2505117"/>
            <a:ext cx="2909771" cy="2677656"/>
          </a:xfrm>
          <a:prstGeom prst="rect">
            <a:avLst/>
          </a:prstGeom>
          <a:noFill/>
        </p:spPr>
        <p:txBody>
          <a:bodyPr wrap="none" rtlCol="0">
            <a:spAutoFit/>
          </a:bodyPr>
          <a:lstStyle/>
          <a:p>
            <a:pPr marL="342900" indent="-342900">
              <a:buFont typeface="Arial" panose="020B0604020202020204" pitchFamily="34" charset="0"/>
              <a:buChar char="•"/>
            </a:pPr>
            <a:r>
              <a:rPr kumimoji="1" lang="en-US" altLang="zh-CN" sz="2400" dirty="0"/>
              <a:t>Related</a:t>
            </a:r>
            <a:r>
              <a:rPr kumimoji="1" lang="zh-CN" altLang="en-US" sz="2400" dirty="0"/>
              <a:t> </a:t>
            </a:r>
            <a:r>
              <a:rPr kumimoji="1" lang="en-US" altLang="zh-CN" sz="2400" dirty="0"/>
              <a:t>Work</a:t>
            </a:r>
          </a:p>
          <a:p>
            <a:pPr marL="342900" indent="-342900">
              <a:lnSpc>
                <a:spcPct val="250000"/>
              </a:lnSpc>
              <a:buFont typeface="Arial" panose="020B0604020202020204" pitchFamily="34" charset="0"/>
              <a:buChar char="•"/>
            </a:pPr>
            <a:r>
              <a:rPr kumimoji="1" lang="en-US" altLang="zh-CN" sz="2400" dirty="0"/>
              <a:t>BPE</a:t>
            </a:r>
          </a:p>
          <a:p>
            <a:pPr marL="342900" indent="-342900">
              <a:lnSpc>
                <a:spcPct val="250000"/>
              </a:lnSpc>
              <a:buFont typeface="Arial" panose="020B0604020202020204" pitchFamily="34" charset="0"/>
              <a:buChar char="•"/>
            </a:pPr>
            <a:r>
              <a:rPr kumimoji="1" lang="en-US" altLang="zh-CN" sz="2400" dirty="0"/>
              <a:t>What we can do?</a:t>
            </a:r>
          </a:p>
          <a:p>
            <a:pPr marL="342900" indent="-342900">
              <a:buFont typeface="Arial" panose="020B0604020202020204" pitchFamily="34" charset="0"/>
              <a:buChar char="•"/>
            </a:pPr>
            <a:endParaRPr kumimoji="1" lang="zh-CN" altLang="en-US" sz="2400" dirty="0"/>
          </a:p>
        </p:txBody>
      </p:sp>
    </p:spTree>
    <p:extLst>
      <p:ext uri="{BB962C8B-B14F-4D97-AF65-F5344CB8AC3E}">
        <p14:creationId xmlns:p14="http://schemas.microsoft.com/office/powerpoint/2010/main" val="2069768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18D321-4442-C978-4B85-4C3E40CDB596}"/>
              </a:ext>
            </a:extLst>
          </p:cNvPr>
          <p:cNvSpPr>
            <a:spLocks noGrp="1"/>
          </p:cNvSpPr>
          <p:nvPr>
            <p:ph type="title"/>
          </p:nvPr>
        </p:nvSpPr>
        <p:spPr/>
        <p:txBody>
          <a:bodyPr/>
          <a:lstStyle/>
          <a:p>
            <a:r>
              <a:rPr kumimoji="1" lang="en-US" altLang="zh-CN" dirty="0"/>
              <a:t>Our</a:t>
            </a:r>
            <a:r>
              <a:rPr kumimoji="1" lang="zh-CN" altLang="en-US" dirty="0"/>
              <a:t> </a:t>
            </a:r>
            <a:r>
              <a:rPr kumimoji="1" lang="en-US" altLang="zh-CN" dirty="0"/>
              <a:t>work</a:t>
            </a:r>
            <a:endParaRPr kumimoji="1" lang="zh-CN" altLang="en-US" dirty="0"/>
          </a:p>
        </p:txBody>
      </p:sp>
      <p:sp>
        <p:nvSpPr>
          <p:cNvPr id="4" name="文本框 3">
            <a:extLst>
              <a:ext uri="{FF2B5EF4-FFF2-40B4-BE49-F238E27FC236}">
                <a16:creationId xmlns:a16="http://schemas.microsoft.com/office/drawing/2014/main" id="{4D436626-E804-5470-1331-6111285AC0DB}"/>
              </a:ext>
            </a:extLst>
          </p:cNvPr>
          <p:cNvSpPr txBox="1"/>
          <p:nvPr/>
        </p:nvSpPr>
        <p:spPr>
          <a:xfrm>
            <a:off x="540541" y="1872556"/>
            <a:ext cx="5248275" cy="3970318"/>
          </a:xfrm>
          <a:prstGeom prst="rect">
            <a:avLst/>
          </a:prstGeom>
          <a:noFill/>
        </p:spPr>
        <p:txBody>
          <a:bodyPr wrap="square">
            <a:spAutoFit/>
          </a:bodyPr>
          <a:lstStyle/>
          <a:p>
            <a:pPr>
              <a:buNone/>
            </a:pPr>
            <a:r>
              <a:rPr lang="en-US" altLang="zh-CN" b="1" dirty="0">
                <a:latin typeface="+mj-lt"/>
                <a:ea typeface="+mj-ea"/>
              </a:rPr>
              <a:t>Orbit identity</a:t>
            </a:r>
            <a:r>
              <a:rPr lang="zh-CN" altLang="en-US" b="1" dirty="0">
                <a:latin typeface="+mj-lt"/>
                <a:ea typeface="+mj-ea"/>
              </a:rPr>
              <a:t>：什么时候两个 </a:t>
            </a:r>
            <a:r>
              <a:rPr lang="en-US" altLang="zh-CN" b="1" dirty="0">
                <a:latin typeface="+mj-lt"/>
                <a:ea typeface="+mj-ea"/>
              </a:rPr>
              <a:t>orbit </a:t>
            </a:r>
            <a:r>
              <a:rPr lang="zh-CN" altLang="en-US" b="1" dirty="0">
                <a:latin typeface="+mj-lt"/>
                <a:ea typeface="+mj-ea"/>
              </a:rPr>
              <a:t>是同一个 </a:t>
            </a:r>
            <a:r>
              <a:rPr lang="en-US" altLang="zh-CN" b="1" dirty="0">
                <a:latin typeface="+mj-lt"/>
                <a:ea typeface="+mj-ea"/>
              </a:rPr>
              <a:t>token</a:t>
            </a:r>
            <a:r>
              <a:rPr lang="zh-CN" altLang="en-US" b="1" dirty="0">
                <a:latin typeface="+mj-lt"/>
                <a:ea typeface="+mj-ea"/>
              </a:rPr>
              <a:t>？</a:t>
            </a:r>
          </a:p>
          <a:p>
            <a:pPr>
              <a:buNone/>
            </a:pPr>
            <a:endParaRPr lang="en-US" altLang="zh-CN" dirty="0">
              <a:latin typeface="+mj-lt"/>
              <a:ea typeface="+mj-ea"/>
            </a:endParaRPr>
          </a:p>
          <a:p>
            <a:pPr>
              <a:buNone/>
            </a:pPr>
            <a:r>
              <a:rPr lang="zh-CN" altLang="en-US" dirty="0">
                <a:latin typeface="+mj-lt"/>
                <a:ea typeface="+mj-ea"/>
              </a:rPr>
              <a:t>直接使用“空间群编号 </a:t>
            </a:r>
            <a:r>
              <a:rPr lang="en-US" altLang="zh-CN" dirty="0">
                <a:latin typeface="+mj-lt"/>
                <a:ea typeface="+mj-ea"/>
              </a:rPr>
              <a:t>+ Wyckoff letter”</a:t>
            </a:r>
            <a:r>
              <a:rPr lang="zh-CN" altLang="en-US" dirty="0">
                <a:latin typeface="+mj-lt"/>
                <a:ea typeface="+mj-ea"/>
              </a:rPr>
              <a:t>会造成严重的数据碎片化，因为每个空间群都有自己的 </a:t>
            </a:r>
            <a:r>
              <a:rPr lang="en-US" altLang="zh-CN" dirty="0">
                <a:latin typeface="+mj-lt"/>
                <a:ea typeface="+mj-ea"/>
              </a:rPr>
              <a:t>a</a:t>
            </a:r>
            <a:r>
              <a:rPr lang="zh-CN" altLang="en-US" dirty="0">
                <a:latin typeface="+mj-lt"/>
                <a:ea typeface="+mj-ea"/>
              </a:rPr>
              <a:t>、</a:t>
            </a:r>
            <a:r>
              <a:rPr lang="en-US" altLang="zh-CN" dirty="0">
                <a:latin typeface="+mj-lt"/>
                <a:ea typeface="+mj-ea"/>
              </a:rPr>
              <a:t>b</a:t>
            </a:r>
            <a:r>
              <a:rPr lang="zh-CN" altLang="en-US" dirty="0">
                <a:latin typeface="+mj-lt"/>
                <a:ea typeface="+mj-ea"/>
              </a:rPr>
              <a:t>、</a:t>
            </a:r>
            <a:r>
              <a:rPr lang="en-US" altLang="zh-CN" dirty="0">
                <a:latin typeface="+mj-lt"/>
                <a:ea typeface="+mj-ea"/>
              </a:rPr>
              <a:t>c</a:t>
            </a:r>
            <a:r>
              <a:rPr lang="zh-CN" altLang="en-US" dirty="0">
                <a:latin typeface="+mj-lt"/>
                <a:ea typeface="+mj-ea"/>
              </a:rPr>
              <a:t>；同样的几何或对称形式可能出现在多个空间群中。</a:t>
            </a:r>
            <a:endParaRPr lang="en-US" altLang="zh-CN" dirty="0">
              <a:latin typeface="+mj-lt"/>
              <a:ea typeface="+mj-ea"/>
            </a:endParaRPr>
          </a:p>
          <a:p>
            <a:pPr>
              <a:buNone/>
            </a:pPr>
            <a:endParaRPr lang="zh-CN" altLang="en-US" dirty="0">
              <a:latin typeface="+mj-lt"/>
              <a:ea typeface="+mj-ea"/>
            </a:endParaRPr>
          </a:p>
          <a:p>
            <a:pPr>
              <a:buNone/>
            </a:pPr>
            <a:r>
              <a:rPr lang="en-US" altLang="zh-CN" dirty="0" err="1">
                <a:latin typeface="+mj-lt"/>
                <a:ea typeface="+mj-ea"/>
              </a:rPr>
              <a:t>WyFormer</a:t>
            </a:r>
            <a:r>
              <a:rPr lang="en-US" altLang="zh-CN" dirty="0">
                <a:latin typeface="+mj-lt"/>
                <a:ea typeface="+mj-ea"/>
              </a:rPr>
              <a:t> </a:t>
            </a:r>
            <a:r>
              <a:rPr lang="zh-CN" altLang="en-US" dirty="0">
                <a:latin typeface="+mj-lt"/>
                <a:ea typeface="+mj-ea"/>
              </a:rPr>
              <a:t>的解决办法是用较通用的 </a:t>
            </a:r>
            <a:r>
              <a:rPr lang="en-US" altLang="zh-CN" dirty="0">
                <a:latin typeface="+mj-lt"/>
                <a:ea typeface="+mj-ea"/>
              </a:rPr>
              <a:t>site symmetry</a:t>
            </a:r>
            <a:r>
              <a:rPr lang="zh-CN" altLang="en-US" dirty="0">
                <a:latin typeface="+mj-lt"/>
                <a:ea typeface="+mj-ea"/>
              </a:rPr>
              <a:t>，再加 </a:t>
            </a:r>
            <a:r>
              <a:rPr lang="en-US" altLang="zh-CN" dirty="0">
                <a:latin typeface="+mj-lt"/>
                <a:ea typeface="+mj-ea"/>
              </a:rPr>
              <a:t>enumeration </a:t>
            </a:r>
            <a:r>
              <a:rPr lang="zh-CN" altLang="en-US" dirty="0">
                <a:latin typeface="+mj-lt"/>
                <a:ea typeface="+mj-ea"/>
              </a:rPr>
              <a:t>区分同一空间群中具有相同 </a:t>
            </a:r>
            <a:r>
              <a:rPr lang="en-US" altLang="zh-CN" dirty="0">
                <a:latin typeface="+mj-lt"/>
                <a:ea typeface="+mj-ea"/>
              </a:rPr>
              <a:t>site symmetry </a:t>
            </a:r>
            <a:r>
              <a:rPr lang="zh-CN" altLang="en-US" dirty="0">
                <a:latin typeface="+mj-lt"/>
                <a:ea typeface="+mj-ea"/>
              </a:rPr>
              <a:t>的多个 </a:t>
            </a:r>
            <a:r>
              <a:rPr lang="en-US" altLang="zh-CN" dirty="0">
                <a:latin typeface="+mj-lt"/>
                <a:ea typeface="+mj-ea"/>
              </a:rPr>
              <a:t>Wyckoff positions</a:t>
            </a:r>
            <a:r>
              <a:rPr lang="zh-CN" altLang="en-US" dirty="0">
                <a:latin typeface="+mj-lt"/>
                <a:ea typeface="+mj-ea"/>
              </a:rPr>
              <a:t>。例如在 </a:t>
            </a:r>
            <a:r>
              <a:rPr lang="en-US" altLang="zh-CN" dirty="0">
                <a:latin typeface="+mj-lt"/>
                <a:ea typeface="+mj-ea"/>
              </a:rPr>
              <a:t>space group 225 </a:t>
            </a:r>
            <a:r>
              <a:rPr lang="zh-CN" altLang="en-US" dirty="0">
                <a:latin typeface="+mj-lt"/>
                <a:ea typeface="+mj-ea"/>
              </a:rPr>
              <a:t>中，</a:t>
            </a:r>
            <a:r>
              <a:rPr lang="en-US" altLang="zh-CN" dirty="0">
                <a:latin typeface="+mj-lt"/>
                <a:ea typeface="+mj-ea"/>
              </a:rPr>
              <a:t>4a </a:t>
            </a:r>
            <a:r>
              <a:rPr lang="zh-CN" altLang="en-US" dirty="0">
                <a:latin typeface="+mj-lt"/>
                <a:ea typeface="+mj-ea"/>
              </a:rPr>
              <a:t>和 </a:t>
            </a:r>
            <a:r>
              <a:rPr lang="en-US" altLang="zh-CN" dirty="0">
                <a:latin typeface="+mj-lt"/>
                <a:ea typeface="+mj-ea"/>
              </a:rPr>
              <a:t>4b </a:t>
            </a:r>
            <a:r>
              <a:rPr lang="zh-CN" altLang="en-US" dirty="0">
                <a:latin typeface="+mj-lt"/>
                <a:ea typeface="+mj-ea"/>
              </a:rPr>
              <a:t>都是 </a:t>
            </a:r>
            <a:r>
              <a:rPr lang="en-US" altLang="zh-CN" dirty="0">
                <a:latin typeface="+mj-lt"/>
                <a:ea typeface="+mj-ea"/>
              </a:rPr>
              <a:t>m3ˉmm\bar 3m</a:t>
            </a:r>
            <a:r>
              <a:rPr lang="zh-CN" altLang="en-US" dirty="0">
                <a:latin typeface="+mj-lt"/>
                <a:ea typeface="+mj-ea"/>
              </a:rPr>
              <a:t>，因此分别编码成 </a:t>
            </a:r>
            <a:r>
              <a:rPr lang="en-US" altLang="zh-CN" dirty="0">
                <a:latin typeface="+mj-lt"/>
                <a:ea typeface="+mj-ea"/>
              </a:rPr>
              <a:t>(m3ˉm,0)(m\bar 3m,0) </a:t>
            </a:r>
            <a:r>
              <a:rPr lang="zh-CN" altLang="en-US" dirty="0">
                <a:latin typeface="+mj-lt"/>
                <a:ea typeface="+mj-ea"/>
              </a:rPr>
              <a:t>与 </a:t>
            </a:r>
            <a:r>
              <a:rPr lang="en-US" altLang="zh-CN" dirty="0">
                <a:latin typeface="+mj-lt"/>
                <a:ea typeface="+mj-ea"/>
              </a:rPr>
              <a:t>(m3ˉm,1)</a:t>
            </a:r>
          </a:p>
        </p:txBody>
      </p:sp>
      <p:sp>
        <p:nvSpPr>
          <p:cNvPr id="6" name="文本框 5">
            <a:extLst>
              <a:ext uri="{FF2B5EF4-FFF2-40B4-BE49-F238E27FC236}">
                <a16:creationId xmlns:a16="http://schemas.microsoft.com/office/drawing/2014/main" id="{736916CE-DB0F-4712-01B7-77FF6D4B3452}"/>
              </a:ext>
            </a:extLst>
          </p:cNvPr>
          <p:cNvSpPr txBox="1"/>
          <p:nvPr/>
        </p:nvSpPr>
        <p:spPr>
          <a:xfrm>
            <a:off x="6591302" y="2274838"/>
            <a:ext cx="5060157" cy="2862322"/>
          </a:xfrm>
          <a:prstGeom prst="rect">
            <a:avLst/>
          </a:prstGeom>
          <a:noFill/>
        </p:spPr>
        <p:txBody>
          <a:bodyPr wrap="square">
            <a:spAutoFit/>
          </a:bodyPr>
          <a:lstStyle/>
          <a:p>
            <a:pPr>
              <a:buNone/>
            </a:pPr>
            <a:r>
              <a:rPr lang="zh-CN" altLang="en-US" b="1" dirty="0">
                <a:latin typeface="+mj-lt"/>
              </a:rPr>
              <a:t>哪些 </a:t>
            </a:r>
            <a:r>
              <a:rPr lang="en-US" altLang="zh-CN" b="1" dirty="0">
                <a:latin typeface="+mj-lt"/>
              </a:rPr>
              <a:t>orbit token </a:t>
            </a:r>
            <a:r>
              <a:rPr lang="zh-CN" altLang="en-US" b="1" dirty="0">
                <a:latin typeface="+mj-lt"/>
              </a:rPr>
              <a:t>可以在某个空间群下</a:t>
            </a:r>
            <a:r>
              <a:rPr lang="en-US" altLang="zh-CN" b="1" dirty="0">
                <a:latin typeface="+mj-lt"/>
              </a:rPr>
              <a:t>legally</a:t>
            </a:r>
            <a:r>
              <a:rPr lang="zh-CN" altLang="en-US" b="1" dirty="0">
                <a:latin typeface="+mj-lt"/>
              </a:rPr>
              <a:t>出现？</a:t>
            </a:r>
          </a:p>
          <a:p>
            <a:pPr>
              <a:buNone/>
            </a:pPr>
            <a:endParaRPr lang="en-US" altLang="zh-CN" dirty="0">
              <a:latin typeface="+mj-lt"/>
            </a:endParaRPr>
          </a:p>
          <a:p>
            <a:pPr>
              <a:buNone/>
            </a:pPr>
            <a:r>
              <a:rPr lang="zh-CN" altLang="en-US" dirty="0">
                <a:latin typeface="+mj-lt"/>
              </a:rPr>
              <a:t>除了词表本身，还需要一个 </a:t>
            </a:r>
            <a:r>
              <a:rPr lang="en-US" altLang="zh-CN" dirty="0">
                <a:latin typeface="+mj-lt"/>
              </a:rPr>
              <a:t>compatibility map</a:t>
            </a:r>
            <a:r>
              <a:rPr lang="zh-CN" altLang="en-US" dirty="0">
                <a:latin typeface="+mj-lt"/>
              </a:rPr>
              <a:t>：</a:t>
            </a:r>
          </a:p>
          <a:p>
            <a:pPr>
              <a:buNone/>
            </a:pPr>
            <a:r>
              <a:rPr lang="zh-CN" altLang="en-US" dirty="0">
                <a:latin typeface="+mj-lt"/>
              </a:rPr>
              <a:t>它告诉模型：</a:t>
            </a:r>
          </a:p>
          <a:p>
            <a:pPr>
              <a:buFont typeface="Arial" panose="020B0604020202020204" pitchFamily="34" charset="0"/>
              <a:buChar char="•"/>
            </a:pPr>
            <a:r>
              <a:rPr lang="zh-CN" altLang="en-US" dirty="0">
                <a:latin typeface="+mj-lt"/>
              </a:rPr>
              <a:t> 这个 </a:t>
            </a:r>
            <a:r>
              <a:rPr lang="en-US" altLang="zh-CN" dirty="0">
                <a:latin typeface="+mj-lt"/>
              </a:rPr>
              <a:t>primitive orbit </a:t>
            </a:r>
            <a:r>
              <a:rPr lang="zh-CN" altLang="en-US" dirty="0">
                <a:latin typeface="+mj-lt"/>
              </a:rPr>
              <a:t>是否存在于空间群 </a:t>
            </a:r>
            <a:r>
              <a:rPr lang="en-US" altLang="zh-CN" dirty="0">
                <a:latin typeface="+mj-lt"/>
              </a:rPr>
              <a:t>GG</a:t>
            </a:r>
            <a:r>
              <a:rPr lang="zh-CN" altLang="en-US" dirty="0">
                <a:latin typeface="+mj-lt"/>
              </a:rPr>
              <a:t>； </a:t>
            </a:r>
          </a:p>
          <a:p>
            <a:pPr>
              <a:buFont typeface="Arial" panose="020B0604020202020204" pitchFamily="34" charset="0"/>
              <a:buChar char="•"/>
            </a:pPr>
            <a:r>
              <a:rPr lang="zh-CN" altLang="en-US" dirty="0">
                <a:latin typeface="+mj-lt"/>
              </a:rPr>
              <a:t> 是否能够重复占据； </a:t>
            </a:r>
          </a:p>
          <a:p>
            <a:pPr>
              <a:buFont typeface="Arial" panose="020B0604020202020204" pitchFamily="34" charset="0"/>
              <a:buChar char="•"/>
            </a:pPr>
            <a:r>
              <a:rPr lang="zh-CN" altLang="en-US" dirty="0">
                <a:latin typeface="+mj-lt"/>
              </a:rPr>
              <a:t> </a:t>
            </a:r>
            <a:r>
              <a:rPr lang="en-US" altLang="zh-CN" dirty="0">
                <a:latin typeface="+mj-lt"/>
              </a:rPr>
              <a:t>multiplicity </a:t>
            </a:r>
            <a:r>
              <a:rPr lang="zh-CN" altLang="en-US" dirty="0">
                <a:latin typeface="+mj-lt"/>
              </a:rPr>
              <a:t>是多少； </a:t>
            </a:r>
          </a:p>
          <a:p>
            <a:pPr>
              <a:buFont typeface="Arial" panose="020B0604020202020204" pitchFamily="34" charset="0"/>
              <a:buChar char="•"/>
            </a:pPr>
            <a:r>
              <a:rPr lang="zh-CN" altLang="en-US" dirty="0">
                <a:latin typeface="+mj-lt"/>
              </a:rPr>
              <a:t> 它有几个自由参数； </a:t>
            </a:r>
          </a:p>
          <a:p>
            <a:pPr>
              <a:buFont typeface="Arial" panose="020B0604020202020204" pitchFamily="34" charset="0"/>
              <a:buChar char="•"/>
            </a:pPr>
            <a:r>
              <a:rPr lang="zh-CN" altLang="en-US" dirty="0">
                <a:latin typeface="+mj-lt"/>
              </a:rPr>
              <a:t> 与给定 </a:t>
            </a:r>
            <a:r>
              <a:rPr lang="en-US" altLang="zh-CN" dirty="0">
                <a:latin typeface="+mj-lt"/>
              </a:rPr>
              <a:t>composition </a:t>
            </a:r>
            <a:r>
              <a:rPr lang="zh-CN" altLang="en-US" dirty="0">
                <a:latin typeface="+mj-lt"/>
              </a:rPr>
              <a:t>是否相容。</a:t>
            </a:r>
          </a:p>
        </p:txBody>
      </p:sp>
      <p:sp>
        <p:nvSpPr>
          <p:cNvPr id="8" name="文本框 7">
            <a:extLst>
              <a:ext uri="{FF2B5EF4-FFF2-40B4-BE49-F238E27FC236}">
                <a16:creationId xmlns:a16="http://schemas.microsoft.com/office/drawing/2014/main" id="{79CB4E37-073D-DB54-43A1-534449AC6AD4}"/>
              </a:ext>
            </a:extLst>
          </p:cNvPr>
          <p:cNvSpPr txBox="1"/>
          <p:nvPr/>
        </p:nvSpPr>
        <p:spPr>
          <a:xfrm>
            <a:off x="838200" y="6024742"/>
            <a:ext cx="6100762" cy="369332"/>
          </a:xfrm>
          <a:prstGeom prst="rect">
            <a:avLst/>
          </a:prstGeom>
          <a:noFill/>
        </p:spPr>
        <p:txBody>
          <a:bodyPr wrap="square">
            <a:spAutoFit/>
          </a:bodyPr>
          <a:lstStyle/>
          <a:p>
            <a:r>
              <a:rPr lang="en-US" altLang="zh-CN" dirty="0" err="1">
                <a:solidFill>
                  <a:srgbClr val="B60007"/>
                </a:solidFill>
                <a:latin typeface="+mj-lt"/>
              </a:rPr>
              <a:t>WyFormer</a:t>
            </a:r>
            <a:r>
              <a:rPr lang="en-US" altLang="zh-CN" dirty="0">
                <a:solidFill>
                  <a:srgbClr val="B60007"/>
                </a:solidFill>
                <a:latin typeface="+mj-lt"/>
              </a:rPr>
              <a:t> </a:t>
            </a:r>
            <a:r>
              <a:rPr lang="en-US" altLang="zh-CN" dirty="0" err="1">
                <a:solidFill>
                  <a:srgbClr val="B60007"/>
                </a:solidFill>
                <a:latin typeface="+mj-lt"/>
              </a:rPr>
              <a:t>representation+masked</a:t>
            </a:r>
            <a:r>
              <a:rPr lang="en-US" altLang="zh-CN" dirty="0">
                <a:solidFill>
                  <a:srgbClr val="B60007"/>
                </a:solidFill>
                <a:latin typeface="+mj-lt"/>
              </a:rPr>
              <a:t>/discrete diffusion</a:t>
            </a:r>
            <a:r>
              <a:rPr lang="zh-CN" altLang="en-US" dirty="0">
                <a:solidFill>
                  <a:srgbClr val="B60007"/>
                </a:solidFill>
                <a:latin typeface="+mj-lt"/>
              </a:rPr>
              <a:t>？</a:t>
            </a:r>
          </a:p>
        </p:txBody>
      </p:sp>
      <p:sp>
        <p:nvSpPr>
          <p:cNvPr id="10" name="文本框 9">
            <a:extLst>
              <a:ext uri="{FF2B5EF4-FFF2-40B4-BE49-F238E27FC236}">
                <a16:creationId xmlns:a16="http://schemas.microsoft.com/office/drawing/2014/main" id="{B3E63158-F163-5568-982C-66C9D772E22B}"/>
              </a:ext>
            </a:extLst>
          </p:cNvPr>
          <p:cNvSpPr txBox="1"/>
          <p:nvPr/>
        </p:nvSpPr>
        <p:spPr>
          <a:xfrm>
            <a:off x="6807994" y="6024742"/>
            <a:ext cx="4545806" cy="369332"/>
          </a:xfrm>
          <a:prstGeom prst="rect">
            <a:avLst/>
          </a:prstGeom>
          <a:noFill/>
        </p:spPr>
        <p:txBody>
          <a:bodyPr wrap="square">
            <a:spAutoFit/>
          </a:bodyPr>
          <a:lstStyle/>
          <a:p>
            <a:r>
              <a:rPr lang="zh-CN" altLang="en-US" dirty="0">
                <a:solidFill>
                  <a:srgbClr val="B60007"/>
                </a:solidFill>
              </a:rPr>
              <a:t>发明一种新的 </a:t>
            </a:r>
            <a:r>
              <a:rPr lang="en-US" altLang="zh-CN" dirty="0">
                <a:solidFill>
                  <a:srgbClr val="B60007"/>
                </a:solidFill>
              </a:rPr>
              <a:t>crystallographic tokenizer</a:t>
            </a:r>
            <a:r>
              <a:rPr lang="zh-CN" altLang="en-US" dirty="0">
                <a:solidFill>
                  <a:srgbClr val="B60007"/>
                </a:solidFill>
              </a:rPr>
              <a:t>？</a:t>
            </a:r>
          </a:p>
        </p:txBody>
      </p:sp>
    </p:spTree>
    <p:extLst>
      <p:ext uri="{BB962C8B-B14F-4D97-AF65-F5344CB8AC3E}">
        <p14:creationId xmlns:p14="http://schemas.microsoft.com/office/powerpoint/2010/main" val="1396562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408E3B-7241-F093-86DF-90BA272BB72F}"/>
              </a:ext>
            </a:extLst>
          </p:cNvPr>
          <p:cNvSpPr>
            <a:spLocks noGrp="1"/>
          </p:cNvSpPr>
          <p:nvPr>
            <p:ph type="title"/>
          </p:nvPr>
        </p:nvSpPr>
        <p:spPr/>
        <p:txBody>
          <a:bodyPr/>
          <a:lstStyle/>
          <a:p>
            <a:r>
              <a:rPr lang="en-US" altLang="zh-CN" dirty="0"/>
              <a:t>Matra-Genoa</a:t>
            </a:r>
            <a:endParaRPr kumimoji="1" lang="zh-CN" altLang="en-US" dirty="0"/>
          </a:p>
        </p:txBody>
      </p:sp>
      <p:sp>
        <p:nvSpPr>
          <p:cNvPr id="6" name="文本框 5">
            <a:extLst>
              <a:ext uri="{FF2B5EF4-FFF2-40B4-BE49-F238E27FC236}">
                <a16:creationId xmlns:a16="http://schemas.microsoft.com/office/drawing/2014/main" id="{7EBF4632-524F-CDAF-5CCB-B0029579045E}"/>
              </a:ext>
            </a:extLst>
          </p:cNvPr>
          <p:cNvSpPr txBox="1"/>
          <p:nvPr/>
        </p:nvSpPr>
        <p:spPr>
          <a:xfrm>
            <a:off x="4564856" y="658574"/>
            <a:ext cx="6100762" cy="738664"/>
          </a:xfrm>
          <a:prstGeom prst="rect">
            <a:avLst/>
          </a:prstGeom>
          <a:noFill/>
        </p:spPr>
        <p:txBody>
          <a:bodyPr wrap="square">
            <a:spAutoFit/>
          </a:bodyPr>
          <a:lstStyle/>
          <a:p>
            <a:pPr>
              <a:buNone/>
            </a:pPr>
            <a:r>
              <a:rPr lang="en-US" altLang="zh-CN" sz="1400" dirty="0">
                <a:effectLst/>
              </a:rPr>
              <a:t>De </a:t>
            </a:r>
            <a:r>
              <a:rPr lang="en-US" altLang="zh-CN" sz="1400" dirty="0" err="1">
                <a:effectLst/>
              </a:rPr>
              <a:t>Breuck</a:t>
            </a:r>
            <a:r>
              <a:rPr lang="en-US" altLang="zh-CN" sz="1400" dirty="0">
                <a:effectLst/>
              </a:rPr>
              <a:t>, P.-P., Piracha, H. A., </a:t>
            </a:r>
            <a:r>
              <a:rPr lang="en-US" altLang="zh-CN" sz="1400" dirty="0" err="1">
                <a:effectLst/>
              </a:rPr>
              <a:t>Rignanese</a:t>
            </a:r>
            <a:r>
              <a:rPr lang="en-US" altLang="zh-CN" sz="1400" dirty="0">
                <a:effectLst/>
              </a:rPr>
              <a:t>, G.-M. &amp; Marques, M. A. L. A generative material transformer using Wyckoff representation | </a:t>
            </a:r>
            <a:r>
              <a:rPr lang="en-US" altLang="zh-CN" sz="1400" dirty="0" err="1">
                <a:effectLst/>
              </a:rPr>
              <a:t>npj</a:t>
            </a:r>
            <a:r>
              <a:rPr lang="en-US" altLang="zh-CN" sz="1400" dirty="0">
                <a:effectLst/>
              </a:rPr>
              <a:t> Computational Materials. </a:t>
            </a:r>
            <a:r>
              <a:rPr lang="en-US" altLang="zh-CN" sz="1400" i="1" dirty="0" err="1">
                <a:effectLst/>
              </a:rPr>
              <a:t>npj</a:t>
            </a:r>
            <a:r>
              <a:rPr lang="en-US" altLang="zh-CN" sz="1400" i="1" dirty="0">
                <a:effectLst/>
              </a:rPr>
              <a:t> Computational Materials</a:t>
            </a:r>
            <a:r>
              <a:rPr lang="en-US" altLang="zh-CN" sz="1400" dirty="0">
                <a:effectLst/>
              </a:rPr>
              <a:t> </a:t>
            </a:r>
            <a:r>
              <a:rPr lang="en-US" altLang="zh-CN" sz="1400" b="1" dirty="0">
                <a:effectLst/>
              </a:rPr>
              <a:t>12</a:t>
            </a:r>
            <a:r>
              <a:rPr lang="en-US" altLang="zh-CN" sz="1400" dirty="0">
                <a:effectLst/>
              </a:rPr>
              <a:t>, 60 (2026).</a:t>
            </a:r>
          </a:p>
        </p:txBody>
      </p:sp>
      <p:pic>
        <p:nvPicPr>
          <p:cNvPr id="7" name="图片 6">
            <a:extLst>
              <a:ext uri="{FF2B5EF4-FFF2-40B4-BE49-F238E27FC236}">
                <a16:creationId xmlns:a16="http://schemas.microsoft.com/office/drawing/2014/main" id="{01D00EF7-084F-D5BD-FF84-39A9A9CC3044}"/>
              </a:ext>
            </a:extLst>
          </p:cNvPr>
          <p:cNvPicPr>
            <a:picLocks noChangeAspect="1"/>
          </p:cNvPicPr>
          <p:nvPr/>
        </p:nvPicPr>
        <p:blipFill>
          <a:blip r:embed="rId3"/>
          <a:stretch>
            <a:fillRect/>
          </a:stretch>
        </p:blipFill>
        <p:spPr>
          <a:xfrm>
            <a:off x="5356411" y="1770926"/>
            <a:ext cx="6548438" cy="3316147"/>
          </a:xfrm>
          <a:prstGeom prst="rect">
            <a:avLst/>
          </a:prstGeom>
        </p:spPr>
      </p:pic>
      <p:pic>
        <p:nvPicPr>
          <p:cNvPr id="8" name="图片 7">
            <a:extLst>
              <a:ext uri="{FF2B5EF4-FFF2-40B4-BE49-F238E27FC236}">
                <a16:creationId xmlns:a16="http://schemas.microsoft.com/office/drawing/2014/main" id="{B7CA826D-B8CA-9F1A-72A9-EB8105AB09E6}"/>
              </a:ext>
            </a:extLst>
          </p:cNvPr>
          <p:cNvPicPr>
            <a:picLocks noChangeAspect="1"/>
          </p:cNvPicPr>
          <p:nvPr/>
        </p:nvPicPr>
        <p:blipFill>
          <a:blip r:embed="rId4"/>
          <a:stretch>
            <a:fillRect/>
          </a:stretch>
        </p:blipFill>
        <p:spPr>
          <a:xfrm>
            <a:off x="287151" y="1770926"/>
            <a:ext cx="5274049" cy="3316148"/>
          </a:xfrm>
          <a:prstGeom prst="rect">
            <a:avLst/>
          </a:prstGeom>
        </p:spPr>
      </p:pic>
      <p:sp>
        <p:nvSpPr>
          <p:cNvPr id="9" name="矩形 8">
            <a:extLst>
              <a:ext uri="{FF2B5EF4-FFF2-40B4-BE49-F238E27FC236}">
                <a16:creationId xmlns:a16="http://schemas.microsoft.com/office/drawing/2014/main" id="{DB885C81-DA79-A069-BDC1-CC1333B79E36}"/>
              </a:ext>
            </a:extLst>
          </p:cNvPr>
          <p:cNvSpPr/>
          <p:nvPr/>
        </p:nvSpPr>
        <p:spPr>
          <a:xfrm>
            <a:off x="2814638" y="2971801"/>
            <a:ext cx="2746562" cy="1328738"/>
          </a:xfrm>
          <a:prstGeom prst="rect">
            <a:avLst/>
          </a:prstGeom>
          <a:noFill/>
          <a:ln w="28575">
            <a:solidFill>
              <a:srgbClr val="B6000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E9303776-43D4-2FB4-F25C-B98E28036227}"/>
              </a:ext>
            </a:extLst>
          </p:cNvPr>
          <p:cNvSpPr txBox="1"/>
          <p:nvPr/>
        </p:nvSpPr>
        <p:spPr>
          <a:xfrm>
            <a:off x="287151" y="5288152"/>
            <a:ext cx="8501063" cy="1323439"/>
          </a:xfrm>
          <a:prstGeom prst="rect">
            <a:avLst/>
          </a:prstGeom>
          <a:noFill/>
        </p:spPr>
        <p:txBody>
          <a:bodyPr wrap="square">
            <a:spAutoFit/>
          </a:bodyPr>
          <a:lstStyle/>
          <a:p>
            <a:r>
              <a:rPr lang="en-US" altLang="zh-CN" sz="1600" b="0" i="0" dirty="0">
                <a:solidFill>
                  <a:srgbClr val="222222"/>
                </a:solidFill>
                <a:effectLst/>
                <a:latin typeface="-apple-system"/>
              </a:rPr>
              <a:t>The structure is first decomposed into composition, stability, structure and lattice. </a:t>
            </a:r>
            <a:r>
              <a:rPr lang="en-US" altLang="zh-CN" sz="1600" b="1" i="0" dirty="0">
                <a:solidFill>
                  <a:srgbClr val="222222"/>
                </a:solidFill>
                <a:effectLst/>
                <a:latin typeface="-apple-system"/>
              </a:rPr>
              <a:t>b</a:t>
            </a:r>
            <a:r>
              <a:rPr lang="en-US" altLang="zh-CN" sz="1600" b="0" i="0" dirty="0">
                <a:solidFill>
                  <a:srgbClr val="222222"/>
                </a:solidFill>
                <a:effectLst/>
                <a:latin typeface="-apple-system"/>
              </a:rPr>
              <a:t> The structure is then further decomposed into a set of Wyckoff positions, uniquely identified by a set of Wyckoff identifiers. Optional free parameters are also included to make the representation coordinate-aware. </a:t>
            </a:r>
            <a:r>
              <a:rPr lang="en-US" altLang="zh-CN" sz="1600" b="1" i="0" dirty="0">
                <a:solidFill>
                  <a:srgbClr val="222222"/>
                </a:solidFill>
                <a:effectLst/>
                <a:latin typeface="-apple-system"/>
              </a:rPr>
              <a:t>c</a:t>
            </a:r>
            <a:r>
              <a:rPr lang="en-US" altLang="zh-CN" sz="1600" b="0" i="0" dirty="0">
                <a:solidFill>
                  <a:srgbClr val="222222"/>
                </a:solidFill>
                <a:effectLst/>
                <a:latin typeface="-apple-system"/>
              </a:rPr>
              <a:t> All previous information is gathered into a </a:t>
            </a:r>
            <a:r>
              <a:rPr lang="en-US" altLang="zh-CN" sz="1600" b="0" i="0" dirty="0" err="1">
                <a:solidFill>
                  <a:srgbClr val="222222"/>
                </a:solidFill>
                <a:effectLst/>
                <a:latin typeface="-apple-system"/>
              </a:rPr>
              <a:t>tokenenized</a:t>
            </a:r>
            <a:r>
              <a:rPr lang="en-US" altLang="zh-CN" sz="1600" b="0" i="0" dirty="0">
                <a:solidFill>
                  <a:srgbClr val="222222"/>
                </a:solidFill>
                <a:effectLst/>
                <a:latin typeface="-apple-system"/>
              </a:rPr>
              <a:t> and invertible sequence. The color of the tokens represent the type or the Wyckoff position for ease of visualization.</a:t>
            </a:r>
            <a:endParaRPr lang="zh-CN" altLang="en-US" sz="1600" dirty="0"/>
          </a:p>
        </p:txBody>
      </p:sp>
    </p:spTree>
    <p:extLst>
      <p:ext uri="{BB962C8B-B14F-4D97-AF65-F5344CB8AC3E}">
        <p14:creationId xmlns:p14="http://schemas.microsoft.com/office/powerpoint/2010/main" val="4033880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F1BF70-BB49-F223-6A6D-477A518E10B0}"/>
              </a:ext>
            </a:extLst>
          </p:cNvPr>
          <p:cNvSpPr>
            <a:spLocks noGrp="1"/>
          </p:cNvSpPr>
          <p:nvPr>
            <p:ph type="title"/>
          </p:nvPr>
        </p:nvSpPr>
        <p:spPr/>
        <p:txBody>
          <a:bodyPr/>
          <a:lstStyle/>
          <a:p>
            <a:r>
              <a:rPr kumimoji="1" lang="en-US" altLang="zh-CN" dirty="0" err="1"/>
              <a:t>WyFormer</a:t>
            </a:r>
            <a:endParaRPr kumimoji="1" lang="zh-CN" altLang="en-US" dirty="0"/>
          </a:p>
        </p:txBody>
      </p:sp>
      <p:sp>
        <p:nvSpPr>
          <p:cNvPr id="4" name="灯片编号占位符 3">
            <a:extLst>
              <a:ext uri="{FF2B5EF4-FFF2-40B4-BE49-F238E27FC236}">
                <a16:creationId xmlns:a16="http://schemas.microsoft.com/office/drawing/2014/main" id="{0C7D6403-C6BE-6640-E2B8-1816573D34A4}"/>
              </a:ext>
            </a:extLst>
          </p:cNvPr>
          <p:cNvSpPr>
            <a:spLocks noGrp="1"/>
          </p:cNvSpPr>
          <p:nvPr>
            <p:ph type="sldNum" sz="quarter" idx="4"/>
          </p:nvPr>
        </p:nvSpPr>
        <p:spPr/>
        <p:txBody>
          <a:bodyPr/>
          <a:lstStyle/>
          <a:p>
            <a:fld id="{48D82B17-3AA5-DB4E-A79B-C818A6AD8FB8}" type="slidenum">
              <a:rPr lang="en-CN" smtClean="0"/>
              <a:pPr/>
              <a:t>5</a:t>
            </a:fld>
            <a:endParaRPr lang="en-CN" dirty="0"/>
          </a:p>
        </p:txBody>
      </p:sp>
      <p:pic>
        <p:nvPicPr>
          <p:cNvPr id="5" name="图片 4">
            <a:extLst>
              <a:ext uri="{FF2B5EF4-FFF2-40B4-BE49-F238E27FC236}">
                <a16:creationId xmlns:a16="http://schemas.microsoft.com/office/drawing/2014/main" id="{CA7C6CF9-A960-85AA-5020-7B29B2085A12}"/>
              </a:ext>
            </a:extLst>
          </p:cNvPr>
          <p:cNvPicPr>
            <a:picLocks noChangeAspect="1"/>
          </p:cNvPicPr>
          <p:nvPr/>
        </p:nvPicPr>
        <p:blipFill>
          <a:blip r:embed="rId3"/>
          <a:stretch/>
        </p:blipFill>
        <p:spPr>
          <a:xfrm>
            <a:off x="685800" y="1690688"/>
            <a:ext cx="10820400" cy="1591235"/>
          </a:xfrm>
          <a:prstGeom prst="rect">
            <a:avLst/>
          </a:prstGeom>
        </p:spPr>
      </p:pic>
      <p:sp>
        <p:nvSpPr>
          <p:cNvPr id="9" name="矩形 8">
            <a:extLst>
              <a:ext uri="{FF2B5EF4-FFF2-40B4-BE49-F238E27FC236}">
                <a16:creationId xmlns:a16="http://schemas.microsoft.com/office/drawing/2014/main" id="{0FACEB02-297B-F17C-A49B-B3C1403EECBF}"/>
              </a:ext>
            </a:extLst>
          </p:cNvPr>
          <p:cNvSpPr>
            <a:spLocks noGrp="1"/>
          </p:cNvSpPr>
          <p:nvPr/>
        </p:nvSpPr>
        <p:spPr>
          <a:xfrm>
            <a:off x="2554030" y="3236330"/>
            <a:ext cx="5484185" cy="266700"/>
          </a:xfrm>
          <a:prstGeom prst="rect">
            <a:avLst/>
          </a:prstGeom>
          <a:noFill/>
          <a:ln w="0">
            <a:noFill/>
            <a:prstDash val="solid"/>
          </a:ln>
        </p:spPr>
        <p:txBody>
          <a:bodyPr/>
          <a:lstStyle/>
          <a:p>
            <a:pPr algn="l">
              <a:buNone/>
              <a:defRPr sz="1050" b="0">
                <a:solidFill>
                  <a:srgbClr val="263732"/>
                </a:solidFill>
              </a:defRPr>
            </a:pPr>
            <a:r>
              <a:rPr sz="1400" b="0" dirty="0" err="1">
                <a:solidFill>
                  <a:srgbClr val="263732"/>
                </a:solidFill>
              </a:rPr>
              <a:t>每个</a:t>
            </a:r>
            <a:r>
              <a:rPr sz="1400" b="0" dirty="0">
                <a:solidFill>
                  <a:srgbClr val="263732"/>
                </a:solidFill>
              </a:rPr>
              <a:t> orbit token = element + site symmetry + enumeration</a:t>
            </a:r>
          </a:p>
        </p:txBody>
      </p:sp>
      <p:sp>
        <p:nvSpPr>
          <p:cNvPr id="11" name="矩形 10">
            <a:extLst>
              <a:ext uri="{FF2B5EF4-FFF2-40B4-BE49-F238E27FC236}">
                <a16:creationId xmlns:a16="http://schemas.microsoft.com/office/drawing/2014/main" id="{452BC616-377C-5C52-80F2-E99C359118D1}"/>
              </a:ext>
            </a:extLst>
          </p:cNvPr>
          <p:cNvSpPr>
            <a:spLocks noGrp="1"/>
          </p:cNvSpPr>
          <p:nvPr/>
        </p:nvSpPr>
        <p:spPr>
          <a:xfrm>
            <a:off x="2554030" y="3512555"/>
            <a:ext cx="5484185" cy="266700"/>
          </a:xfrm>
          <a:prstGeom prst="rect">
            <a:avLst/>
          </a:prstGeom>
          <a:noFill/>
          <a:ln w="0">
            <a:noFill/>
            <a:prstDash val="solid"/>
          </a:ln>
        </p:spPr>
        <p:txBody>
          <a:bodyPr/>
          <a:lstStyle/>
          <a:p>
            <a:pPr algn="l">
              <a:buNone/>
              <a:defRPr sz="1275" b="0">
                <a:solidFill>
                  <a:srgbClr val="263732"/>
                </a:solidFill>
              </a:defRPr>
            </a:pPr>
            <a:r>
              <a:rPr sz="1400" b="0" dirty="0" err="1">
                <a:solidFill>
                  <a:srgbClr val="263732"/>
                </a:solidFill>
              </a:rPr>
              <a:t>不使用位置编码，编码器对输入置换不变</a:t>
            </a:r>
            <a:endParaRPr sz="1400" b="0" dirty="0">
              <a:solidFill>
                <a:srgbClr val="263732"/>
              </a:solidFill>
            </a:endParaRPr>
          </a:p>
        </p:txBody>
      </p:sp>
      <p:sp>
        <p:nvSpPr>
          <p:cNvPr id="13" name="矩形 12">
            <a:extLst>
              <a:ext uri="{FF2B5EF4-FFF2-40B4-BE49-F238E27FC236}">
                <a16:creationId xmlns:a16="http://schemas.microsoft.com/office/drawing/2014/main" id="{D9F44FCB-55C0-0855-6DFE-F99F583EBE9A}"/>
              </a:ext>
            </a:extLst>
          </p:cNvPr>
          <p:cNvSpPr>
            <a:spLocks noGrp="1"/>
          </p:cNvSpPr>
          <p:nvPr/>
        </p:nvSpPr>
        <p:spPr>
          <a:xfrm>
            <a:off x="2554031" y="3788780"/>
            <a:ext cx="5728734" cy="266700"/>
          </a:xfrm>
          <a:prstGeom prst="rect">
            <a:avLst/>
          </a:prstGeom>
          <a:noFill/>
          <a:ln w="0">
            <a:noFill/>
            <a:prstDash val="solid"/>
          </a:ln>
        </p:spPr>
        <p:txBody>
          <a:bodyPr/>
          <a:lstStyle/>
          <a:p>
            <a:pPr algn="l">
              <a:buNone/>
              <a:defRPr sz="1125" b="0">
                <a:solidFill>
                  <a:srgbClr val="263732"/>
                </a:solidFill>
              </a:defRPr>
            </a:pPr>
            <a:r>
              <a:rPr sz="1400" b="0" dirty="0" err="1">
                <a:solidFill>
                  <a:srgbClr val="263732"/>
                </a:solidFill>
              </a:rPr>
              <a:t>生成仍按</a:t>
            </a:r>
            <a:r>
              <a:rPr sz="1400" b="0" dirty="0">
                <a:solidFill>
                  <a:srgbClr val="263732"/>
                </a:solidFill>
              </a:rPr>
              <a:t> element → symmetry → enumeration</a:t>
            </a:r>
          </a:p>
        </p:txBody>
      </p:sp>
      <p:sp>
        <p:nvSpPr>
          <p:cNvPr id="18" name="文本框 17">
            <a:extLst>
              <a:ext uri="{FF2B5EF4-FFF2-40B4-BE49-F238E27FC236}">
                <a16:creationId xmlns:a16="http://schemas.microsoft.com/office/drawing/2014/main" id="{E305DFF7-C9C9-B754-55D3-751F3B9B3567}"/>
              </a:ext>
            </a:extLst>
          </p:cNvPr>
          <p:cNvSpPr txBox="1"/>
          <p:nvPr/>
        </p:nvSpPr>
        <p:spPr>
          <a:xfrm>
            <a:off x="5634539" y="4982646"/>
            <a:ext cx="4490538" cy="369332"/>
          </a:xfrm>
          <a:prstGeom prst="rect">
            <a:avLst/>
          </a:prstGeom>
          <a:noFill/>
        </p:spPr>
        <p:txBody>
          <a:bodyPr wrap="square">
            <a:spAutoFit/>
          </a:bodyPr>
          <a:lstStyle/>
          <a:p>
            <a:r>
              <a:rPr lang="zh-CN" altLang="en-US" b="1" dirty="0">
                <a:solidFill>
                  <a:srgbClr val="B60007"/>
                </a:solidFill>
              </a:rPr>
              <a:t>平均每个晶体约 3 个 Wyckoff positions</a:t>
            </a:r>
          </a:p>
        </p:txBody>
      </p:sp>
      <p:sp>
        <p:nvSpPr>
          <p:cNvPr id="20" name="文本框 19">
            <a:extLst>
              <a:ext uri="{FF2B5EF4-FFF2-40B4-BE49-F238E27FC236}">
                <a16:creationId xmlns:a16="http://schemas.microsoft.com/office/drawing/2014/main" id="{7C61B509-18D5-710F-69CD-EFC41C2A2433}"/>
              </a:ext>
            </a:extLst>
          </p:cNvPr>
          <p:cNvSpPr txBox="1"/>
          <p:nvPr/>
        </p:nvSpPr>
        <p:spPr>
          <a:xfrm>
            <a:off x="2029603" y="6259810"/>
            <a:ext cx="6008612" cy="461665"/>
          </a:xfrm>
          <a:prstGeom prst="rect">
            <a:avLst/>
          </a:prstGeom>
          <a:noFill/>
        </p:spPr>
        <p:txBody>
          <a:bodyPr wrap="square">
            <a:spAutoFit/>
          </a:bodyPr>
          <a:lstStyle/>
          <a:p>
            <a:pPr>
              <a:buNone/>
            </a:pPr>
            <a:r>
              <a:rPr lang="en-US" altLang="zh-CN" sz="1200" dirty="0" err="1">
                <a:effectLst/>
              </a:rPr>
              <a:t>Kazeev</a:t>
            </a:r>
            <a:r>
              <a:rPr lang="en-US" altLang="zh-CN" sz="1200" dirty="0">
                <a:effectLst/>
              </a:rPr>
              <a:t>, N. </a:t>
            </a:r>
            <a:r>
              <a:rPr lang="en-US" altLang="zh-CN" sz="1200" i="1" dirty="0">
                <a:effectLst/>
              </a:rPr>
              <a:t>et al.</a:t>
            </a:r>
            <a:r>
              <a:rPr lang="en-US" altLang="zh-CN" sz="1200" dirty="0">
                <a:effectLst/>
              </a:rPr>
              <a:t> Wyckoff Transformer: Generation of Symmetric Crystals. Preprint at </a:t>
            </a:r>
            <a:r>
              <a:rPr lang="en-US" altLang="zh-CN" sz="1200" dirty="0">
                <a:effectLst/>
                <a:hlinkClick r:id="rId4"/>
              </a:rPr>
              <a:t>https://doi.org/10.48550/arXiv.2503.02407</a:t>
            </a:r>
            <a:r>
              <a:rPr lang="en-US" altLang="zh-CN" sz="1200" dirty="0">
                <a:effectLst/>
              </a:rPr>
              <a:t> (2025).</a:t>
            </a:r>
          </a:p>
        </p:txBody>
      </p:sp>
      <p:pic>
        <p:nvPicPr>
          <p:cNvPr id="21" name="图片 20">
            <a:extLst>
              <a:ext uri="{FF2B5EF4-FFF2-40B4-BE49-F238E27FC236}">
                <a16:creationId xmlns:a16="http://schemas.microsoft.com/office/drawing/2014/main" id="{9F75A331-07EF-95B3-AD31-4108D20BA4D9}"/>
              </a:ext>
            </a:extLst>
          </p:cNvPr>
          <p:cNvPicPr>
            <a:picLocks noChangeAspect="1"/>
          </p:cNvPicPr>
          <p:nvPr/>
        </p:nvPicPr>
        <p:blipFill>
          <a:blip r:embed="rId5"/>
          <a:stretch>
            <a:fillRect/>
          </a:stretch>
        </p:blipFill>
        <p:spPr>
          <a:xfrm>
            <a:off x="655898" y="4210983"/>
            <a:ext cx="4762500" cy="2006600"/>
          </a:xfrm>
          <a:prstGeom prst="rect">
            <a:avLst/>
          </a:prstGeom>
        </p:spPr>
      </p:pic>
    </p:spTree>
    <p:extLst>
      <p:ext uri="{BB962C8B-B14F-4D97-AF65-F5344CB8AC3E}">
        <p14:creationId xmlns:p14="http://schemas.microsoft.com/office/powerpoint/2010/main" val="2707687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FD9527-D951-2609-0875-1BA031950687}"/>
              </a:ext>
            </a:extLst>
          </p:cNvPr>
          <p:cNvSpPr>
            <a:spLocks noGrp="1"/>
          </p:cNvSpPr>
          <p:nvPr>
            <p:ph type="title"/>
          </p:nvPr>
        </p:nvSpPr>
        <p:spPr/>
        <p:txBody>
          <a:bodyPr/>
          <a:lstStyle/>
          <a:p>
            <a:r>
              <a:rPr kumimoji="1" lang="en-US" altLang="zh-CN" dirty="0" err="1"/>
              <a:t>MaskGXT</a:t>
            </a:r>
            <a:endParaRPr kumimoji="1" lang="zh-CN" altLang="en-US" dirty="0"/>
          </a:p>
        </p:txBody>
      </p:sp>
      <p:sp>
        <p:nvSpPr>
          <p:cNvPr id="4" name="灯片编号占位符 3">
            <a:extLst>
              <a:ext uri="{FF2B5EF4-FFF2-40B4-BE49-F238E27FC236}">
                <a16:creationId xmlns:a16="http://schemas.microsoft.com/office/drawing/2014/main" id="{8B459779-FE5E-0C78-314B-9A677F7547E8}"/>
              </a:ext>
            </a:extLst>
          </p:cNvPr>
          <p:cNvSpPr>
            <a:spLocks noGrp="1"/>
          </p:cNvSpPr>
          <p:nvPr>
            <p:ph type="sldNum" sz="quarter" idx="4"/>
          </p:nvPr>
        </p:nvSpPr>
        <p:spPr/>
        <p:txBody>
          <a:bodyPr/>
          <a:lstStyle/>
          <a:p>
            <a:fld id="{48D82B17-3AA5-DB4E-A79B-C818A6AD8FB8}" type="slidenum">
              <a:rPr lang="en-CN" smtClean="0"/>
              <a:pPr/>
              <a:t>6</a:t>
            </a:fld>
            <a:endParaRPr lang="en-CN" dirty="0"/>
          </a:p>
        </p:txBody>
      </p:sp>
      <p:sp>
        <p:nvSpPr>
          <p:cNvPr id="8" name="文本框 7">
            <a:extLst>
              <a:ext uri="{FF2B5EF4-FFF2-40B4-BE49-F238E27FC236}">
                <a16:creationId xmlns:a16="http://schemas.microsoft.com/office/drawing/2014/main" id="{C2AF689F-8410-5770-4168-1818EB87E91A}"/>
              </a:ext>
            </a:extLst>
          </p:cNvPr>
          <p:cNvSpPr txBox="1"/>
          <p:nvPr/>
        </p:nvSpPr>
        <p:spPr>
          <a:xfrm>
            <a:off x="3536155" y="766296"/>
            <a:ext cx="6922295" cy="523220"/>
          </a:xfrm>
          <a:prstGeom prst="rect">
            <a:avLst/>
          </a:prstGeom>
          <a:noFill/>
        </p:spPr>
        <p:txBody>
          <a:bodyPr wrap="square">
            <a:spAutoFit/>
          </a:bodyPr>
          <a:lstStyle/>
          <a:p>
            <a:pPr>
              <a:buNone/>
            </a:pPr>
            <a:r>
              <a:rPr lang="en-US" altLang="zh-CN" sz="1400" dirty="0">
                <a:effectLst/>
              </a:rPr>
              <a:t>Seong, K., Kim, N. &amp; Ahn, S. Discovering Crystal Structure Prediction Algorithms with an AI Co-Scientist. Preprint at </a:t>
            </a:r>
            <a:r>
              <a:rPr lang="en-US" altLang="zh-CN" sz="1400" dirty="0">
                <a:effectLst/>
                <a:hlinkClick r:id="rId3"/>
              </a:rPr>
              <a:t>https://doi.org/10.48550/arXiv.2606.22866</a:t>
            </a:r>
            <a:r>
              <a:rPr lang="en-US" altLang="zh-CN" sz="1400" dirty="0">
                <a:effectLst/>
              </a:rPr>
              <a:t> (2026).</a:t>
            </a:r>
          </a:p>
        </p:txBody>
      </p:sp>
      <p:pic>
        <p:nvPicPr>
          <p:cNvPr id="9" name="图片 8">
            <a:extLst>
              <a:ext uri="{FF2B5EF4-FFF2-40B4-BE49-F238E27FC236}">
                <a16:creationId xmlns:a16="http://schemas.microsoft.com/office/drawing/2014/main" id="{1D34B139-B541-78FD-25C4-165E98245243}"/>
              </a:ext>
            </a:extLst>
          </p:cNvPr>
          <p:cNvPicPr>
            <a:picLocks noChangeAspect="1"/>
          </p:cNvPicPr>
          <p:nvPr/>
        </p:nvPicPr>
        <p:blipFill>
          <a:blip r:embed="rId4"/>
          <a:stretch>
            <a:fillRect/>
          </a:stretch>
        </p:blipFill>
        <p:spPr>
          <a:xfrm>
            <a:off x="381001" y="1448023"/>
            <a:ext cx="6400800" cy="5150992"/>
          </a:xfrm>
          <a:prstGeom prst="rect">
            <a:avLst/>
          </a:prstGeom>
        </p:spPr>
      </p:pic>
      <p:sp>
        <p:nvSpPr>
          <p:cNvPr id="11" name="文本框 10">
            <a:extLst>
              <a:ext uri="{FF2B5EF4-FFF2-40B4-BE49-F238E27FC236}">
                <a16:creationId xmlns:a16="http://schemas.microsoft.com/office/drawing/2014/main" id="{5BCBFF48-7D2E-4705-C38E-8056052961D5}"/>
              </a:ext>
            </a:extLst>
          </p:cNvPr>
          <p:cNvSpPr txBox="1"/>
          <p:nvPr/>
        </p:nvSpPr>
        <p:spPr>
          <a:xfrm>
            <a:off x="6596063" y="1849195"/>
            <a:ext cx="5595937" cy="1477328"/>
          </a:xfrm>
          <a:prstGeom prst="rect">
            <a:avLst/>
          </a:prstGeom>
          <a:noFill/>
        </p:spPr>
        <p:txBody>
          <a:bodyPr wrap="square">
            <a:spAutoFit/>
          </a:bodyPr>
          <a:lstStyle/>
          <a:p>
            <a:pPr marL="285750" indent="-285750">
              <a:buFont typeface="Arial" panose="020B0604020202020204" pitchFamily="34" charset="0"/>
              <a:buChar char="•"/>
            </a:pPr>
            <a:r>
              <a:rPr lang="en-US" altLang="zh-CN" dirty="0"/>
              <a:t>1 space-group token </a:t>
            </a:r>
          </a:p>
          <a:p>
            <a:pPr marL="285750" indent="-285750">
              <a:buFont typeface="Arial" panose="020B0604020202020204" pitchFamily="34" charset="0"/>
              <a:buChar char="•"/>
            </a:pPr>
            <a:r>
              <a:rPr lang="en-US" altLang="zh-CN" dirty="0"/>
              <a:t>6 lattice tokens </a:t>
            </a:r>
          </a:p>
          <a:p>
            <a:pPr marL="285750" indent="-285750">
              <a:buFont typeface="Arial" panose="020B0604020202020204" pitchFamily="34" charset="0"/>
              <a:buChar char="•"/>
            </a:pPr>
            <a:r>
              <a:rPr lang="en-US" altLang="zh-CN" dirty="0"/>
              <a:t>3 coordinate tokens per site </a:t>
            </a:r>
          </a:p>
          <a:p>
            <a:pPr marL="285750" indent="-285750">
              <a:buFont typeface="Arial" panose="020B0604020202020204" pitchFamily="34" charset="0"/>
              <a:buChar char="•"/>
            </a:pPr>
            <a:r>
              <a:rPr lang="en-US" altLang="zh-CN" dirty="0"/>
              <a:t>1 Wyckoff token per site </a:t>
            </a:r>
          </a:p>
          <a:p>
            <a:pPr marL="285750" indent="-285750">
              <a:buFont typeface="Arial" panose="020B0604020202020204" pitchFamily="34" charset="0"/>
              <a:buChar char="•"/>
            </a:pPr>
            <a:r>
              <a:rPr lang="en-US" altLang="zh-CN" dirty="0"/>
              <a:t>Atom-type tokens as composition conditions</a:t>
            </a:r>
            <a:endParaRPr lang="zh-CN" altLang="en-US" dirty="0"/>
          </a:p>
        </p:txBody>
      </p:sp>
      <p:sp>
        <p:nvSpPr>
          <p:cNvPr id="13" name="文本框 12">
            <a:extLst>
              <a:ext uri="{FF2B5EF4-FFF2-40B4-BE49-F238E27FC236}">
                <a16:creationId xmlns:a16="http://schemas.microsoft.com/office/drawing/2014/main" id="{FC63AC58-56AE-B1B9-B9A8-DDDC117388D3}"/>
              </a:ext>
            </a:extLst>
          </p:cNvPr>
          <p:cNvSpPr txBox="1"/>
          <p:nvPr/>
        </p:nvSpPr>
        <p:spPr>
          <a:xfrm>
            <a:off x="6883191" y="3763090"/>
            <a:ext cx="4744641" cy="646331"/>
          </a:xfrm>
          <a:prstGeom prst="rect">
            <a:avLst/>
          </a:prstGeom>
          <a:noFill/>
        </p:spPr>
        <p:txBody>
          <a:bodyPr wrap="square">
            <a:spAutoFit/>
          </a:bodyPr>
          <a:lstStyle/>
          <a:p>
            <a:r>
              <a:rPr lang="en-US" altLang="zh-CN" dirty="0"/>
              <a:t>random masking</a:t>
            </a:r>
            <a:r>
              <a:rPr lang="zh-CN" altLang="en-US" dirty="0"/>
              <a:t> </a:t>
            </a:r>
            <a:r>
              <a:rPr lang="en-US" altLang="zh-CN" dirty="0"/>
              <a:t>→</a:t>
            </a:r>
            <a:r>
              <a:rPr lang="zh-CN" altLang="en-US" dirty="0"/>
              <a:t> </a:t>
            </a:r>
            <a:r>
              <a:rPr lang="en-US" altLang="zh-CN" dirty="0"/>
              <a:t>bidirectional Transformer</a:t>
            </a:r>
            <a:r>
              <a:rPr lang="zh-CN" altLang="en-US" dirty="0"/>
              <a:t> </a:t>
            </a:r>
            <a:r>
              <a:rPr lang="en-US" altLang="zh-CN" dirty="0"/>
              <a:t>→</a:t>
            </a:r>
            <a:r>
              <a:rPr lang="zh-CN" altLang="en-US" dirty="0"/>
              <a:t> </a:t>
            </a:r>
            <a:r>
              <a:rPr lang="en-US" altLang="zh-CN" dirty="0"/>
              <a:t>masked reconstruction</a:t>
            </a:r>
            <a:endParaRPr lang="zh-CN" altLang="en-US" dirty="0"/>
          </a:p>
        </p:txBody>
      </p:sp>
      <p:sp>
        <p:nvSpPr>
          <p:cNvPr id="15" name="文本框 14">
            <a:extLst>
              <a:ext uri="{FF2B5EF4-FFF2-40B4-BE49-F238E27FC236}">
                <a16:creationId xmlns:a16="http://schemas.microsoft.com/office/drawing/2014/main" id="{E6174E55-831B-33CE-A95D-3F32463D1612}"/>
              </a:ext>
            </a:extLst>
          </p:cNvPr>
          <p:cNvSpPr txBox="1"/>
          <p:nvPr/>
        </p:nvSpPr>
        <p:spPr>
          <a:xfrm>
            <a:off x="6883191" y="5273452"/>
            <a:ext cx="3207544" cy="369332"/>
          </a:xfrm>
          <a:prstGeom prst="rect">
            <a:avLst/>
          </a:prstGeom>
          <a:noFill/>
        </p:spPr>
        <p:txBody>
          <a:bodyPr wrap="square">
            <a:spAutoFit/>
          </a:bodyPr>
          <a:lstStyle/>
          <a:p>
            <a:r>
              <a:rPr lang="en-US" altLang="zh-CN" dirty="0"/>
              <a:t>Parallel iterative sampling</a:t>
            </a:r>
            <a:endParaRPr lang="zh-CN" altLang="en-US" dirty="0"/>
          </a:p>
        </p:txBody>
      </p:sp>
    </p:spTree>
    <p:extLst>
      <p:ext uri="{BB962C8B-B14F-4D97-AF65-F5344CB8AC3E}">
        <p14:creationId xmlns:p14="http://schemas.microsoft.com/office/powerpoint/2010/main" val="1113482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9A608A-77D1-1542-8EBD-3E03BE17CB95}"/>
              </a:ext>
            </a:extLst>
          </p:cNvPr>
          <p:cNvSpPr>
            <a:spLocks noGrp="1"/>
          </p:cNvSpPr>
          <p:nvPr>
            <p:ph type="title"/>
          </p:nvPr>
        </p:nvSpPr>
        <p:spPr/>
        <p:txBody>
          <a:bodyPr/>
          <a:lstStyle/>
          <a:p>
            <a:r>
              <a:rPr kumimoji="1" lang="en-US" altLang="zh-CN" dirty="0" err="1"/>
              <a:t>DynaCrys</a:t>
            </a:r>
            <a:endParaRPr kumimoji="1" lang="zh-CN" altLang="en-US" dirty="0"/>
          </a:p>
        </p:txBody>
      </p:sp>
      <p:sp>
        <p:nvSpPr>
          <p:cNvPr id="4" name="灯片编号占位符 3">
            <a:extLst>
              <a:ext uri="{FF2B5EF4-FFF2-40B4-BE49-F238E27FC236}">
                <a16:creationId xmlns:a16="http://schemas.microsoft.com/office/drawing/2014/main" id="{A46AC711-4796-7EEE-A0CD-149AB04B5E0B}"/>
              </a:ext>
            </a:extLst>
          </p:cNvPr>
          <p:cNvSpPr>
            <a:spLocks noGrp="1"/>
          </p:cNvSpPr>
          <p:nvPr>
            <p:ph type="sldNum" sz="quarter" idx="4"/>
          </p:nvPr>
        </p:nvSpPr>
        <p:spPr/>
        <p:txBody>
          <a:bodyPr/>
          <a:lstStyle/>
          <a:p>
            <a:fld id="{48D82B17-3AA5-DB4E-A79B-C818A6AD8FB8}" type="slidenum">
              <a:rPr lang="en-CN" smtClean="0"/>
              <a:pPr/>
              <a:t>7</a:t>
            </a:fld>
            <a:endParaRPr lang="en-CN" dirty="0"/>
          </a:p>
        </p:txBody>
      </p:sp>
      <p:pic>
        <p:nvPicPr>
          <p:cNvPr id="5" name="图片 4">
            <a:extLst>
              <a:ext uri="{FF2B5EF4-FFF2-40B4-BE49-F238E27FC236}">
                <a16:creationId xmlns:a16="http://schemas.microsoft.com/office/drawing/2014/main" id="{A301FAD8-CAAC-AC64-D72D-696486CD7596}"/>
              </a:ext>
            </a:extLst>
          </p:cNvPr>
          <p:cNvPicPr>
            <a:picLocks noChangeAspect="1"/>
          </p:cNvPicPr>
          <p:nvPr/>
        </p:nvPicPr>
        <p:blipFill>
          <a:blip r:embed="rId3"/>
          <a:stretch/>
        </p:blipFill>
        <p:spPr>
          <a:xfrm>
            <a:off x="1926265" y="1315386"/>
            <a:ext cx="8536172" cy="1709626"/>
          </a:xfrm>
          <a:prstGeom prst="rect">
            <a:avLst/>
          </a:prstGeom>
        </p:spPr>
      </p:pic>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C1FB3118-5FD8-BA12-4214-13AD01849CD4}"/>
                  </a:ext>
                </a:extLst>
              </p:cNvPr>
              <p:cNvSpPr txBox="1"/>
              <p:nvPr/>
            </p:nvSpPr>
            <p:spPr>
              <a:xfrm>
                <a:off x="295938" y="2983861"/>
                <a:ext cx="6097772" cy="2343975"/>
              </a:xfrm>
              <a:prstGeom prst="rect">
                <a:avLst/>
              </a:prstGeom>
              <a:noFill/>
            </p:spPr>
            <p:txBody>
              <a:bodyPr wrap="square">
                <a:spAutoFit/>
              </a:bodyPr>
              <a:lstStyle/>
              <a:p>
                <a:pPr>
                  <a:buNone/>
                </a:pPr>
                <a:r>
                  <a:rPr lang="en-US" altLang="zh-CN" b="1" dirty="0"/>
                  <a:t>① Representation</a:t>
                </a:r>
              </a:p>
              <a:p>
                <a:endParaRPr lang="en-US" altLang="zh-CN" dirty="0"/>
              </a:p>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𝑃</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𝐺</m:t>
                          </m:r>
                          <m:r>
                            <a:rPr lang="en-US" altLang="zh-CN" i="1" dirty="0">
                              <a:latin typeface="Cambria Math" panose="02040503050406030204" pitchFamily="18" charset="0"/>
                            </a:rPr>
                            <m:t>,</m:t>
                          </m:r>
                          <m:r>
                            <a:rPr lang="en-US" altLang="zh-CN" i="1" dirty="0">
                              <a:latin typeface="Cambria Math" panose="02040503050406030204" pitchFamily="18" charset="0"/>
                            </a:rPr>
                            <m:t>𝐾</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err="1">
                                  <a:latin typeface="Cambria Math" panose="02040503050406030204" pitchFamily="18" charset="0"/>
                                </a:rPr>
                                <m:t>𝑟𝑖</m:t>
                              </m:r>
                              <m:r>
                                <a:rPr lang="en-US" altLang="zh-CN" i="1" dirty="0" err="1">
                                  <a:latin typeface="Cambria Math" panose="02040503050406030204" pitchFamily="18" charset="0"/>
                                </a:rPr>
                                <m:t>,</m:t>
                              </m:r>
                              <m:r>
                                <a:rPr lang="en-US" altLang="zh-CN" i="1" dirty="0" err="1">
                                  <a:latin typeface="Cambria Math" panose="02040503050406030204" pitchFamily="18" charset="0"/>
                                </a:rPr>
                                <m:t>𝑍𝑖</m:t>
                              </m:r>
                            </m:e>
                          </m:d>
                          <m:r>
                            <a:rPr lang="en-US" altLang="zh-CN" i="1" dirty="0" err="1">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𝐾</m:t>
                          </m:r>
                        </m:e>
                      </m:d>
                      <m:r>
                        <a:rPr lang="en-US" altLang="zh-CN" i="1" dirty="0">
                          <a:latin typeface="Cambria Math" panose="02040503050406030204" pitchFamily="18" charset="0"/>
                        </a:rPr>
                        <m:t>𝑃</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𝐺</m:t>
                          </m:r>
                          <m:r>
                            <a:rPr lang="en-US" altLang="zh-CN" i="1" dirty="0">
                              <a:latin typeface="Cambria Math" panose="02040503050406030204" pitchFamily="18" charset="0"/>
                            </a:rPr>
                            <m:t>,</m:t>
                          </m:r>
                          <m:r>
                            <a:rPr lang="en-US" altLang="zh-CN" i="1" dirty="0">
                              <a:latin typeface="Cambria Math" panose="02040503050406030204" pitchFamily="18" charset="0"/>
                            </a:rPr>
                            <m:t>𝐾</m:t>
                          </m:r>
                          <m:r>
                            <a:rPr lang="en-US" altLang="zh-CN" i="1" dirty="0">
                              <a:latin typeface="Cambria Math" panose="02040503050406030204" pitchFamily="18" charset="0"/>
                            </a:rPr>
                            <m:t>,</m:t>
                          </m:r>
                          <m:r>
                            <m:rPr>
                              <m:lit/>
                            </m:rP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𝑟</m:t>
                                  </m:r>
                                </m:e>
                                <m:sub>
                                  <m:r>
                                    <a:rPr lang="en-US" altLang="zh-CN" i="1" dirty="0" err="1">
                                      <a:latin typeface="Cambria Math" panose="02040503050406030204" pitchFamily="18" charset="0"/>
                                    </a:rPr>
                                    <m:t>𝑖</m:t>
                                  </m:r>
                                </m:sub>
                              </m:sSub>
                              <m:r>
                                <a:rPr lang="en-US" altLang="zh-CN" i="1" dirty="0" err="1">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𝑍</m:t>
                                  </m:r>
                                </m:e>
                                <m:sub>
                                  <m:r>
                                    <a:rPr lang="en-US" altLang="zh-CN" i="1" dirty="0" err="1">
                                      <a:latin typeface="Cambria Math" panose="02040503050406030204" pitchFamily="18" charset="0"/>
                                    </a:rPr>
                                    <m:t>𝑖</m:t>
                                  </m:r>
                                </m:sub>
                              </m:sSub>
                            </m:e>
                          </m:d>
                          <m:sSubSup>
                            <m:sSubSupPr>
                              <m:ctrlPr>
                                <a:rPr lang="en-US" altLang="zh-CN" i="1" dirty="0">
                                  <a:latin typeface="Cambria Math" panose="02040503050406030204" pitchFamily="18" charset="0"/>
                                </a:rPr>
                              </m:ctrlPr>
                            </m:sSubSupPr>
                            <m:e>
                              <m:r>
                                <m:rPr>
                                  <m:lit/>
                                </m:rPr>
                                <a:rPr lang="en-US" altLang="zh-CN" i="1" dirty="0">
                                  <a:latin typeface="Cambria Math" panose="02040503050406030204" pitchFamily="18" charset="0"/>
                                </a:rPr>
                                <m:t>}</m:t>
                              </m:r>
                            </m:e>
                            <m:sub>
                              <m:r>
                                <a:rPr lang="en-US" altLang="zh-CN" i="1" dirty="0" err="1">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𝐾</m:t>
                              </m:r>
                            </m:sup>
                          </m:sSubSup>
                        </m:e>
                      </m:d>
                    </m:oMath>
                  </m:oMathPara>
                </a14:m>
                <a:endParaRPr lang="en-US" altLang="zh-CN" dirty="0"/>
              </a:p>
              <a:p>
                <a:endParaRPr lang="en-US" altLang="zh-CN" dirty="0"/>
              </a:p>
              <a:p>
                <a:pPr marL="285750" indent="-285750">
                  <a:buFont typeface="Arial" panose="020B0604020202020204" pitchFamily="34" charset="0"/>
                  <a:buChar char="•"/>
                </a:pPr>
                <a:r>
                  <a:rPr lang="en-US" altLang="zh-CN" dirty="0"/>
                  <a:t>Space group G</a:t>
                </a:r>
              </a:p>
              <a:p>
                <a:pPr marL="285750" indent="-285750">
                  <a:buFont typeface="Arial" panose="020B0604020202020204" pitchFamily="34" charset="0"/>
                  <a:buChar char="•"/>
                </a:pPr>
                <a:r>
                  <a:rPr lang="en-US" altLang="zh-CN" dirty="0"/>
                  <a:t>Number of occupied orbits K</a:t>
                </a:r>
              </a:p>
              <a:p>
                <a:pPr marL="285750" indent="-285750">
                  <a:buFont typeface="Arial" panose="020B0604020202020204" pitchFamily="34" charset="0"/>
                  <a:buChar char="•"/>
                </a:pPr>
                <a:r>
                  <a:rPr lang="en-US" altLang="zh-CN" dirty="0"/>
                  <a:t>Unordered Wyckoff occupations </a:t>
                </a:r>
                <a14:m>
                  <m:oMath xmlns:m="http://schemas.openxmlformats.org/officeDocument/2006/math">
                    <m:d>
                      <m:dPr>
                        <m:ctrlPr>
                          <a:rPr lang="en-US" altLang="zh-CN" i="1" dirty="0" smtClean="0">
                            <a:latin typeface="Cambria Math" panose="02040503050406030204" pitchFamily="18" charset="0"/>
                          </a:rPr>
                        </m:ctrlPr>
                      </m:dPr>
                      <m:e>
                        <m:r>
                          <a:rPr lang="en-US" altLang="zh-CN" i="1" dirty="0" err="1">
                            <a:latin typeface="Cambria Math" panose="02040503050406030204" pitchFamily="18" charset="0"/>
                          </a:rPr>
                          <m:t>𝑟𝑖</m:t>
                        </m:r>
                        <m:r>
                          <a:rPr lang="en-US" altLang="zh-CN" i="1" dirty="0" err="1">
                            <a:latin typeface="Cambria Math" panose="02040503050406030204" pitchFamily="18" charset="0"/>
                          </a:rPr>
                          <m:t>,</m:t>
                        </m:r>
                        <m:r>
                          <a:rPr lang="en-US" altLang="zh-CN" i="1" dirty="0" err="1">
                            <a:latin typeface="Cambria Math" panose="02040503050406030204" pitchFamily="18" charset="0"/>
                          </a:rPr>
                          <m:t>𝑍𝑖</m:t>
                        </m:r>
                      </m:e>
                    </m:d>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𝑟</m:t>
                            </m:r>
                          </m:e>
                          <m:sub>
                            <m:r>
                              <a:rPr lang="en-US" altLang="zh-CN" i="1" dirty="0" err="1">
                                <a:latin typeface="Cambria Math" panose="02040503050406030204" pitchFamily="18" charset="0"/>
                              </a:rPr>
                              <m:t>𝑖</m:t>
                            </m:r>
                          </m:sub>
                        </m:sSub>
                        <m:r>
                          <a:rPr lang="en-US" altLang="zh-CN" i="1" dirty="0" err="1">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𝑍</m:t>
                            </m:r>
                          </m:e>
                          <m:sub>
                            <m:r>
                              <a:rPr lang="en-US" altLang="zh-CN" i="1" dirty="0" err="1">
                                <a:latin typeface="Cambria Math" panose="02040503050406030204" pitchFamily="18" charset="0"/>
                              </a:rPr>
                              <m:t>𝑖</m:t>
                            </m:r>
                          </m:sub>
                        </m:sSub>
                      </m:e>
                    </m:d>
                  </m:oMath>
                </a14:m>
                <a:endParaRPr lang="en-US" altLang="zh-CN" dirty="0"/>
              </a:p>
              <a:p>
                <a:pPr marL="285750" indent="-285750">
                  <a:buFont typeface="Arial" panose="020B0604020202020204" pitchFamily="34" charset="0"/>
                  <a:buChar char="•"/>
                </a:pPr>
                <a:r>
                  <a:rPr lang="en-US" altLang="zh-CN" dirty="0"/>
                  <a:t>No lattice or free coordinates yet</a:t>
                </a:r>
              </a:p>
            </p:txBody>
          </p:sp>
        </mc:Choice>
        <mc:Fallback xmlns="">
          <p:sp>
            <p:nvSpPr>
              <p:cNvPr id="23" name="文本框 22">
                <a:extLst>
                  <a:ext uri="{FF2B5EF4-FFF2-40B4-BE49-F238E27FC236}">
                    <a16:creationId xmlns:a16="http://schemas.microsoft.com/office/drawing/2014/main" id="{C1FB3118-5FD8-BA12-4214-13AD01849CD4}"/>
                  </a:ext>
                </a:extLst>
              </p:cNvPr>
              <p:cNvSpPr txBox="1">
                <a:spLocks noRot="1" noChangeAspect="1" noMove="1" noResize="1" noEditPoints="1" noAdjustHandles="1" noChangeArrowheads="1" noChangeShapeType="1" noTextEdit="1"/>
              </p:cNvSpPr>
              <p:nvPr/>
            </p:nvSpPr>
            <p:spPr>
              <a:xfrm>
                <a:off x="295938" y="2983861"/>
                <a:ext cx="6097772" cy="2343975"/>
              </a:xfrm>
              <a:prstGeom prst="rect">
                <a:avLst/>
              </a:prstGeom>
              <a:blipFill>
                <a:blip r:embed="rId4"/>
                <a:stretch>
                  <a:fillRect l="-832" t="-1613" b="-2688"/>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C6EB5BCC-8DD4-D19E-ED66-E829D9C12649}"/>
              </a:ext>
            </a:extLst>
          </p:cNvPr>
          <p:cNvSpPr txBox="1"/>
          <p:nvPr/>
        </p:nvSpPr>
        <p:spPr>
          <a:xfrm>
            <a:off x="3941133" y="754828"/>
            <a:ext cx="6097772" cy="461665"/>
          </a:xfrm>
          <a:prstGeom prst="rect">
            <a:avLst/>
          </a:prstGeom>
          <a:noFill/>
        </p:spPr>
        <p:txBody>
          <a:bodyPr wrap="square">
            <a:spAutoFit/>
          </a:bodyPr>
          <a:lstStyle/>
          <a:p>
            <a:pPr>
              <a:buNone/>
            </a:pPr>
            <a:r>
              <a:rPr lang="en-US" altLang="zh-CN" sz="1200" dirty="0">
                <a:effectLst/>
              </a:rPr>
              <a:t>Jin, Z. </a:t>
            </a:r>
            <a:r>
              <a:rPr lang="en-US" altLang="zh-CN" sz="1200" i="1" dirty="0">
                <a:effectLst/>
              </a:rPr>
              <a:t>et al.</a:t>
            </a:r>
            <a:r>
              <a:rPr lang="en-US" altLang="zh-CN" sz="1200" dirty="0">
                <a:effectLst/>
              </a:rPr>
              <a:t> </a:t>
            </a:r>
            <a:r>
              <a:rPr lang="en-US" altLang="zh-CN" sz="1200" dirty="0" err="1">
                <a:effectLst/>
              </a:rPr>
              <a:t>DynaCrys</a:t>
            </a:r>
            <a:r>
              <a:rPr lang="en-US" altLang="zh-CN" sz="1200" dirty="0">
                <a:effectLst/>
              </a:rPr>
              <a:t>: Crystal Generation with Dynamic Space-Group Diffusion. Preprint at </a:t>
            </a:r>
            <a:r>
              <a:rPr lang="en-US" altLang="zh-CN" sz="1200" dirty="0">
                <a:effectLst/>
                <a:hlinkClick r:id="rId5"/>
              </a:rPr>
              <a:t>https://doi.org/10.48550/arXiv.2608.07401</a:t>
            </a:r>
            <a:r>
              <a:rPr lang="en-US" altLang="zh-CN" sz="1200" dirty="0">
                <a:effectLst/>
              </a:rPr>
              <a:t> (2026).</a:t>
            </a:r>
          </a:p>
        </p:txBody>
      </p:sp>
      <p:sp>
        <p:nvSpPr>
          <p:cNvPr id="29" name="文本框 28">
            <a:extLst>
              <a:ext uri="{FF2B5EF4-FFF2-40B4-BE49-F238E27FC236}">
                <a16:creationId xmlns:a16="http://schemas.microsoft.com/office/drawing/2014/main" id="{BC756559-F879-2466-C06E-C959D1ED0A48}"/>
              </a:ext>
            </a:extLst>
          </p:cNvPr>
          <p:cNvSpPr txBox="1"/>
          <p:nvPr/>
        </p:nvSpPr>
        <p:spPr>
          <a:xfrm>
            <a:off x="6206626" y="2983861"/>
            <a:ext cx="6097772" cy="2462213"/>
          </a:xfrm>
          <a:prstGeom prst="rect">
            <a:avLst/>
          </a:prstGeom>
          <a:noFill/>
        </p:spPr>
        <p:txBody>
          <a:bodyPr wrap="square">
            <a:spAutoFit/>
          </a:bodyPr>
          <a:lstStyle/>
          <a:p>
            <a:pPr>
              <a:buNone/>
            </a:pPr>
            <a:r>
              <a:rPr lang="en-US" altLang="zh-CN" sz="1400" b="1" dirty="0"/>
              <a:t>② Generation process</a:t>
            </a:r>
          </a:p>
          <a:p>
            <a:pPr>
              <a:buNone/>
            </a:pPr>
            <a:r>
              <a:rPr lang="en-US" altLang="zh-CN" sz="1400" b="1" dirty="0"/>
              <a:t>Symbolic diffusion</a:t>
            </a:r>
            <a:endParaRPr lang="en-US" altLang="zh-CN" sz="1400" dirty="0"/>
          </a:p>
          <a:p>
            <a:r>
              <a:rPr lang="en-US" altLang="zh-CN" sz="1400" dirty="0"/>
              <a:t>set denoising</a:t>
            </a:r>
            <a:r>
              <a:rPr lang="zh-CN" altLang="en-US" sz="1400" dirty="0"/>
              <a:t> </a:t>
            </a:r>
            <a:r>
              <a:rPr lang="en-US" altLang="zh-CN" sz="1400" dirty="0"/>
              <a:t>→</a:t>
            </a:r>
            <a:r>
              <a:rPr lang="zh-CN" altLang="en-US" sz="1400" dirty="0"/>
              <a:t> </a:t>
            </a:r>
            <a:r>
              <a:rPr lang="en-US" altLang="zh-CN" sz="1400" dirty="0"/>
              <a:t>joint legal sampling</a:t>
            </a:r>
            <a:r>
              <a:rPr lang="zh-CN" altLang="en-US" sz="1400" dirty="0"/>
              <a:t> </a:t>
            </a:r>
            <a:r>
              <a:rPr lang="en-US" altLang="zh-CN" sz="1400" dirty="0"/>
              <a:t>→</a:t>
            </a:r>
            <a:r>
              <a:rPr lang="zh-CN" altLang="en-US" sz="1400" dirty="0"/>
              <a:t> </a:t>
            </a:r>
            <a:r>
              <a:rPr lang="en-US" altLang="zh-CN" sz="1400" dirty="0"/>
              <a:t>re-noising</a:t>
            </a:r>
          </a:p>
          <a:p>
            <a:pPr marL="285750" indent="-285750">
              <a:buFont typeface="Arial" panose="020B0604020202020204" pitchFamily="34" charset="0"/>
              <a:buChar char="•"/>
            </a:pPr>
            <a:r>
              <a:rPr lang="en-US" altLang="zh-CN" sz="1400" dirty="0"/>
              <a:t>Jointly updates GG, Wyckoff rows and elements </a:t>
            </a:r>
          </a:p>
          <a:p>
            <a:pPr marL="285750" indent="-285750">
              <a:buFont typeface="Arial" panose="020B0604020202020204" pitchFamily="34" charset="0"/>
              <a:buChar char="•"/>
            </a:pPr>
            <a:r>
              <a:rPr lang="en-US" altLang="zh-CN" sz="1400" dirty="0"/>
              <a:t>Space-group transitions follow group–subgroup relations </a:t>
            </a:r>
          </a:p>
          <a:p>
            <a:pPr marL="285750" indent="-285750">
              <a:buFont typeface="Arial" panose="020B0604020202020204" pitchFamily="34" charset="0"/>
              <a:buChar char="•"/>
            </a:pPr>
            <a:r>
              <a:rPr lang="en-US" altLang="zh-CN" sz="1400" dirty="0"/>
              <a:t>Legal sampling keeps the decoded symbolic state </a:t>
            </a:r>
            <a:r>
              <a:rPr lang="en-US" altLang="zh-CN" sz="1400" dirty="0" err="1"/>
              <a:t>crystallographically</a:t>
            </a:r>
            <a:r>
              <a:rPr lang="en-US" altLang="zh-CN" sz="1400" dirty="0"/>
              <a:t> valid </a:t>
            </a:r>
          </a:p>
          <a:p>
            <a:pPr>
              <a:buNone/>
            </a:pPr>
            <a:r>
              <a:rPr lang="en-US" altLang="zh-CN" sz="1400" b="1" dirty="0"/>
              <a:t>Geometry diffusion</a:t>
            </a:r>
          </a:p>
          <a:p>
            <a:pPr marL="285750" indent="-285750">
              <a:buFont typeface="Arial" panose="020B0604020202020204" pitchFamily="34" charset="0"/>
              <a:buChar char="•"/>
            </a:pPr>
            <a:r>
              <a:rPr lang="en-US" altLang="zh-CN" sz="1400" dirty="0"/>
              <a:t>Generates lattice parameters </a:t>
            </a:r>
          </a:p>
          <a:p>
            <a:pPr marL="285750" indent="-285750">
              <a:buFont typeface="Arial" panose="020B0604020202020204" pitchFamily="34" charset="0"/>
              <a:buChar char="•"/>
            </a:pPr>
            <a:r>
              <a:rPr lang="en-US" altLang="zh-CN" sz="1400" dirty="0"/>
              <a:t>Generates free Wyckoff coordinates </a:t>
            </a:r>
          </a:p>
          <a:p>
            <a:pPr marL="285750" indent="-285750">
              <a:buFont typeface="Arial" panose="020B0604020202020204" pitchFamily="34" charset="0"/>
              <a:buChar char="•"/>
            </a:pPr>
            <a:r>
              <a:rPr lang="en-US" altLang="zh-CN" sz="1400" dirty="0"/>
              <a:t>Expands them into a complete symmetric crystal </a:t>
            </a:r>
          </a:p>
        </p:txBody>
      </p:sp>
      <p:sp>
        <p:nvSpPr>
          <p:cNvPr id="31" name="文本框 30">
            <a:extLst>
              <a:ext uri="{FF2B5EF4-FFF2-40B4-BE49-F238E27FC236}">
                <a16:creationId xmlns:a16="http://schemas.microsoft.com/office/drawing/2014/main" id="{B5C47C08-1D6A-E937-5FCE-98D0F2EEBBAC}"/>
              </a:ext>
            </a:extLst>
          </p:cNvPr>
          <p:cNvSpPr txBox="1"/>
          <p:nvPr/>
        </p:nvSpPr>
        <p:spPr>
          <a:xfrm>
            <a:off x="2053856" y="5736590"/>
            <a:ext cx="8280991" cy="523220"/>
          </a:xfrm>
          <a:prstGeom prst="rect">
            <a:avLst/>
          </a:prstGeom>
          <a:noFill/>
        </p:spPr>
        <p:txBody>
          <a:bodyPr wrap="square">
            <a:spAutoFit/>
          </a:bodyPr>
          <a:lstStyle/>
          <a:p>
            <a:r>
              <a:rPr lang="zh-CN" altLang="en-US" sz="1400" dirty="0">
                <a:solidFill>
                  <a:srgbClr val="B60007"/>
                </a:solidFill>
              </a:rPr>
              <a:t>空间群不是预先给定或一次性采样的条件，而是在 </a:t>
            </a:r>
            <a:r>
              <a:rPr lang="en-US" altLang="zh-CN" sz="1400" dirty="0">
                <a:solidFill>
                  <a:srgbClr val="B60007"/>
                </a:solidFill>
              </a:rPr>
              <a:t>reverse diffusion </a:t>
            </a:r>
            <a:r>
              <a:rPr lang="zh-CN" altLang="en-US" sz="1400" dirty="0">
                <a:solidFill>
                  <a:srgbClr val="B60007"/>
                </a:solidFill>
              </a:rPr>
              <a:t>过程中与 </a:t>
            </a:r>
            <a:r>
              <a:rPr lang="en-US" altLang="zh-CN" sz="1400" dirty="0">
                <a:solidFill>
                  <a:srgbClr val="B60007"/>
                </a:solidFill>
              </a:rPr>
              <a:t>Wyckoff occupations </a:t>
            </a:r>
            <a:r>
              <a:rPr lang="zh-CN" altLang="en-US" sz="1400" dirty="0">
                <a:solidFill>
                  <a:srgbClr val="B60007"/>
                </a:solidFill>
              </a:rPr>
              <a:t>和元素共同修改；最终再通过 </a:t>
            </a:r>
            <a:r>
              <a:rPr lang="en-US" altLang="zh-CN" sz="1400" dirty="0">
                <a:solidFill>
                  <a:srgbClr val="B60007"/>
                </a:solidFill>
              </a:rPr>
              <a:t>symmetry-constrained geometry diffusion </a:t>
            </a:r>
            <a:r>
              <a:rPr lang="zh-CN" altLang="en-US" sz="1400" dirty="0">
                <a:solidFill>
                  <a:srgbClr val="B60007"/>
                </a:solidFill>
              </a:rPr>
              <a:t>生成完整结构。</a:t>
            </a:r>
          </a:p>
        </p:txBody>
      </p:sp>
    </p:spTree>
    <p:extLst>
      <p:ext uri="{BB962C8B-B14F-4D97-AF65-F5344CB8AC3E}">
        <p14:creationId xmlns:p14="http://schemas.microsoft.com/office/powerpoint/2010/main" val="1646307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694C1-7B6F-5555-FDDC-5E344D1BFD9E}"/>
              </a:ext>
            </a:extLst>
          </p:cNvPr>
          <p:cNvSpPr>
            <a:spLocks noGrp="1"/>
          </p:cNvSpPr>
          <p:nvPr>
            <p:ph type="title"/>
          </p:nvPr>
        </p:nvSpPr>
        <p:spPr/>
        <p:txBody>
          <a:bodyPr/>
          <a:lstStyle/>
          <a:p>
            <a:r>
              <a:rPr lang="en-US" dirty="0"/>
              <a:t>Related Work</a:t>
            </a:r>
          </a:p>
        </p:txBody>
      </p:sp>
      <p:sp>
        <p:nvSpPr>
          <p:cNvPr id="4" name="Slide Number Placeholder 3">
            <a:extLst>
              <a:ext uri="{FF2B5EF4-FFF2-40B4-BE49-F238E27FC236}">
                <a16:creationId xmlns:a16="http://schemas.microsoft.com/office/drawing/2014/main" id="{23803555-922C-3010-6599-BF29D37969EA}"/>
              </a:ext>
            </a:extLst>
          </p:cNvPr>
          <p:cNvSpPr>
            <a:spLocks noGrp="1"/>
          </p:cNvSpPr>
          <p:nvPr>
            <p:ph type="sldNum" sz="quarter" idx="4"/>
          </p:nvPr>
        </p:nvSpPr>
        <p:spPr/>
        <p:txBody>
          <a:bodyPr/>
          <a:lstStyle/>
          <a:p>
            <a:fld id="{48D82B17-3AA5-DB4E-A79B-C818A6AD8FB8}" type="slidenum">
              <a:rPr lang="en-CN" smtClean="0"/>
              <a:pPr/>
              <a:t>8</a:t>
            </a:fld>
            <a:endParaRPr lang="en-CN" dirty="0"/>
          </a:p>
        </p:txBody>
      </p:sp>
      <p:sp>
        <p:nvSpPr>
          <p:cNvPr id="6" name="文本框 5">
            <a:extLst>
              <a:ext uri="{FF2B5EF4-FFF2-40B4-BE49-F238E27FC236}">
                <a16:creationId xmlns:a16="http://schemas.microsoft.com/office/drawing/2014/main" id="{57324679-B449-4C40-AF60-D27293A56072}"/>
              </a:ext>
            </a:extLst>
          </p:cNvPr>
          <p:cNvSpPr txBox="1"/>
          <p:nvPr/>
        </p:nvSpPr>
        <p:spPr>
          <a:xfrm>
            <a:off x="986170" y="2199306"/>
            <a:ext cx="10507626" cy="2947025"/>
          </a:xfrm>
          <a:prstGeom prst="rect">
            <a:avLst/>
          </a:prstGeom>
          <a:noFill/>
        </p:spPr>
        <p:txBody>
          <a:bodyPr wrap="square">
            <a:spAutoFit/>
          </a:bodyPr>
          <a:lstStyle/>
          <a:p>
            <a:pPr>
              <a:lnSpc>
                <a:spcPct val="150000"/>
              </a:lnSpc>
            </a:pPr>
            <a:r>
              <a:rPr lang="en-US" altLang="zh-CN" b="1" dirty="0"/>
              <a:t>Wyckoff representation + Transformer</a:t>
            </a:r>
            <a:r>
              <a:rPr lang="zh-CN" altLang="en-US" dirty="0"/>
              <a:t>：</a:t>
            </a:r>
            <a:r>
              <a:rPr lang="en-US" altLang="zh-CN" dirty="0" err="1"/>
              <a:t>WyFormer</a:t>
            </a:r>
            <a:r>
              <a:rPr lang="zh-CN" altLang="en-US" dirty="0"/>
              <a:t>； </a:t>
            </a:r>
            <a:endParaRPr lang="en-US" altLang="zh-CN" dirty="0"/>
          </a:p>
          <a:p>
            <a:pPr>
              <a:lnSpc>
                <a:spcPct val="150000"/>
              </a:lnSpc>
            </a:pPr>
            <a:r>
              <a:rPr lang="en-US" altLang="zh-CN" b="1" dirty="0"/>
              <a:t>Wyckoff occupation + discrete diffusion</a:t>
            </a:r>
            <a:r>
              <a:rPr lang="zh-CN" altLang="en-US" dirty="0"/>
              <a:t>：</a:t>
            </a:r>
            <a:r>
              <a:rPr lang="en-US" altLang="zh-CN" dirty="0" err="1"/>
              <a:t>WyckoffDiff</a:t>
            </a:r>
            <a:r>
              <a:rPr lang="zh-CN" altLang="en-US" dirty="0"/>
              <a:t>； </a:t>
            </a:r>
            <a:endParaRPr lang="en-US" altLang="zh-CN" dirty="0"/>
          </a:p>
          <a:p>
            <a:pPr>
              <a:lnSpc>
                <a:spcPct val="150000"/>
              </a:lnSpc>
            </a:pPr>
            <a:r>
              <a:rPr lang="zh-CN" altLang="en-US" b="1" dirty="0"/>
              <a:t>动态 </a:t>
            </a:r>
            <a:r>
              <a:rPr lang="en-US" altLang="zh-CN" b="1" dirty="0"/>
              <a:t>space group + Wyckoff diffusion/jump process</a:t>
            </a:r>
            <a:r>
              <a:rPr lang="zh-CN" altLang="en-US" dirty="0"/>
              <a:t>：</a:t>
            </a:r>
            <a:r>
              <a:rPr lang="en-US" altLang="zh-CN" dirty="0" err="1"/>
              <a:t>DynaCrys</a:t>
            </a:r>
            <a:r>
              <a:rPr lang="zh-CN" altLang="en-US" dirty="0"/>
              <a:t>、</a:t>
            </a:r>
            <a:r>
              <a:rPr lang="en-US" altLang="zh-CN" dirty="0" err="1"/>
              <a:t>SbCD</a:t>
            </a:r>
            <a:r>
              <a:rPr lang="zh-CN" altLang="en-US" dirty="0"/>
              <a:t>； </a:t>
            </a:r>
            <a:endParaRPr lang="en-US" altLang="zh-CN" dirty="0"/>
          </a:p>
          <a:p>
            <a:pPr>
              <a:lnSpc>
                <a:spcPct val="150000"/>
              </a:lnSpc>
            </a:pPr>
            <a:r>
              <a:rPr lang="en-US" altLang="zh-CN" b="1" dirty="0"/>
              <a:t>Wyckoff AR + space-group-equivariant coordinate diffusion</a:t>
            </a:r>
            <a:r>
              <a:rPr lang="zh-CN" altLang="en-US" dirty="0"/>
              <a:t>：</a:t>
            </a:r>
            <a:r>
              <a:rPr lang="en-US" altLang="zh-CN" dirty="0" err="1"/>
              <a:t>SGEquiDiff</a:t>
            </a:r>
            <a:r>
              <a:rPr lang="zh-CN" altLang="en-US" dirty="0"/>
              <a:t>； </a:t>
            </a:r>
            <a:endParaRPr lang="en-US" altLang="zh-CN" dirty="0"/>
          </a:p>
          <a:p>
            <a:pPr>
              <a:lnSpc>
                <a:spcPct val="150000"/>
              </a:lnSpc>
            </a:pPr>
            <a:r>
              <a:rPr lang="zh-CN" altLang="en-US" b="1" dirty="0"/>
              <a:t>全晶体 </a:t>
            </a:r>
            <a:r>
              <a:rPr lang="en-US" altLang="zh-CN" b="1" dirty="0"/>
              <a:t>token + masked parallel decoding</a:t>
            </a:r>
            <a:r>
              <a:rPr lang="zh-CN" altLang="en-US" dirty="0"/>
              <a:t>：</a:t>
            </a:r>
            <a:r>
              <a:rPr lang="en-US" altLang="zh-CN" dirty="0" err="1"/>
              <a:t>MaskGXT</a:t>
            </a:r>
            <a:r>
              <a:rPr lang="zh-CN" altLang="en-US" dirty="0"/>
              <a:t>； </a:t>
            </a:r>
            <a:endParaRPr lang="en-US" altLang="zh-CN" dirty="0"/>
          </a:p>
          <a:p>
            <a:pPr>
              <a:lnSpc>
                <a:spcPct val="150000"/>
              </a:lnSpc>
            </a:pPr>
            <a:r>
              <a:rPr lang="en-US" altLang="zh-CN" b="1" dirty="0"/>
              <a:t>reciprocal-space representation + diffusion/Transformer</a:t>
            </a:r>
            <a:r>
              <a:rPr lang="zh-CN" altLang="en-US" dirty="0"/>
              <a:t>：</a:t>
            </a:r>
            <a:r>
              <a:rPr lang="en-US" altLang="zh-CN" dirty="0"/>
              <a:t>Fourier-space crystal generation</a:t>
            </a:r>
            <a:r>
              <a:rPr lang="zh-CN" altLang="en-US" dirty="0"/>
              <a:t>； </a:t>
            </a:r>
            <a:endParaRPr lang="en-US" altLang="zh-CN" dirty="0"/>
          </a:p>
          <a:p>
            <a:pPr>
              <a:lnSpc>
                <a:spcPct val="150000"/>
              </a:lnSpc>
            </a:pPr>
            <a:r>
              <a:rPr lang="en-US" altLang="zh-CN" b="1" dirty="0"/>
              <a:t>partial occupancy/disordered crystal generation</a:t>
            </a:r>
            <a:r>
              <a:rPr lang="zh-CN" altLang="en-US" dirty="0"/>
              <a:t>：</a:t>
            </a:r>
            <a:r>
              <a:rPr lang="en-US" altLang="zh-CN" dirty="0"/>
              <a:t>Dis-GEN </a:t>
            </a:r>
            <a:r>
              <a:rPr lang="zh-CN" altLang="en-US" dirty="0"/>
              <a:t>等。</a:t>
            </a:r>
          </a:p>
        </p:txBody>
      </p:sp>
    </p:spTree>
    <p:extLst>
      <p:ext uri="{BB962C8B-B14F-4D97-AF65-F5344CB8AC3E}">
        <p14:creationId xmlns:p14="http://schemas.microsoft.com/office/powerpoint/2010/main" val="4256373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8899F2-87C1-B731-2391-24CA998735CC}"/>
              </a:ext>
            </a:extLst>
          </p:cNvPr>
          <p:cNvSpPr>
            <a:spLocks noGrp="1"/>
          </p:cNvSpPr>
          <p:nvPr>
            <p:ph type="title"/>
          </p:nvPr>
        </p:nvSpPr>
        <p:spPr/>
        <p:txBody>
          <a:bodyPr/>
          <a:lstStyle/>
          <a:p>
            <a:r>
              <a:rPr kumimoji="1" lang="en-US" altLang="zh-CN" dirty="0"/>
              <a:t>What</a:t>
            </a:r>
            <a:r>
              <a:rPr kumimoji="1" lang="zh-CN" altLang="en-US" dirty="0"/>
              <a:t> </a:t>
            </a:r>
            <a:r>
              <a:rPr kumimoji="1" lang="en-US" altLang="zh-CN" dirty="0"/>
              <a:t>we</a:t>
            </a:r>
            <a:r>
              <a:rPr kumimoji="1" lang="zh-CN" altLang="en-US" dirty="0"/>
              <a:t> </a:t>
            </a:r>
            <a:r>
              <a:rPr kumimoji="1" lang="en-US" altLang="zh-CN" dirty="0"/>
              <a:t>can</a:t>
            </a:r>
            <a:r>
              <a:rPr kumimoji="1" lang="zh-CN" altLang="en-US" dirty="0"/>
              <a:t> </a:t>
            </a:r>
            <a:r>
              <a:rPr kumimoji="1" lang="en-US" altLang="zh-CN" dirty="0"/>
              <a:t>do</a:t>
            </a:r>
            <a:r>
              <a:rPr kumimoji="1" lang="zh-CN" altLang="en-US" dirty="0"/>
              <a:t>？</a:t>
            </a:r>
          </a:p>
        </p:txBody>
      </p:sp>
      <p:sp>
        <p:nvSpPr>
          <p:cNvPr id="4" name="灯片编号占位符 3">
            <a:extLst>
              <a:ext uri="{FF2B5EF4-FFF2-40B4-BE49-F238E27FC236}">
                <a16:creationId xmlns:a16="http://schemas.microsoft.com/office/drawing/2014/main" id="{28F29EDE-156E-1C43-2949-AA57FCD6044E}"/>
              </a:ext>
            </a:extLst>
          </p:cNvPr>
          <p:cNvSpPr>
            <a:spLocks noGrp="1"/>
          </p:cNvSpPr>
          <p:nvPr>
            <p:ph type="sldNum" sz="quarter" idx="4"/>
          </p:nvPr>
        </p:nvSpPr>
        <p:spPr/>
        <p:txBody>
          <a:bodyPr/>
          <a:lstStyle/>
          <a:p>
            <a:fld id="{48D82B17-3AA5-DB4E-A79B-C818A6AD8FB8}" type="slidenum">
              <a:rPr lang="en-CN" smtClean="0"/>
              <a:pPr/>
              <a:t>9</a:t>
            </a:fld>
            <a:endParaRPr lang="en-CN" dirty="0"/>
          </a:p>
        </p:txBody>
      </p:sp>
      <p:sp>
        <p:nvSpPr>
          <p:cNvPr id="8" name="文本框 7">
            <a:extLst>
              <a:ext uri="{FF2B5EF4-FFF2-40B4-BE49-F238E27FC236}">
                <a16:creationId xmlns:a16="http://schemas.microsoft.com/office/drawing/2014/main" id="{F0611E1C-2DAA-DF61-100E-F61C7280375B}"/>
              </a:ext>
            </a:extLst>
          </p:cNvPr>
          <p:cNvSpPr txBox="1"/>
          <p:nvPr/>
        </p:nvSpPr>
        <p:spPr>
          <a:xfrm>
            <a:off x="5534024" y="1527125"/>
            <a:ext cx="3895726" cy="400110"/>
          </a:xfrm>
          <a:prstGeom prst="rect">
            <a:avLst/>
          </a:prstGeom>
          <a:noFill/>
        </p:spPr>
        <p:txBody>
          <a:bodyPr wrap="square">
            <a:spAutoFit/>
          </a:bodyPr>
          <a:lstStyle/>
          <a:p>
            <a:r>
              <a:rPr lang="en-US" altLang="zh-CN" sz="2000" dirty="0">
                <a:solidFill>
                  <a:srgbClr val="B60007"/>
                </a:solidFill>
              </a:rPr>
              <a:t>Test-Time Scalable Crystal DLM</a:t>
            </a:r>
            <a:endParaRPr lang="zh-CN" altLang="en-US" sz="2000" dirty="0">
              <a:solidFill>
                <a:srgbClr val="B60007"/>
              </a:solidFill>
            </a:endParaRPr>
          </a:p>
        </p:txBody>
      </p:sp>
      <p:sp>
        <p:nvSpPr>
          <p:cNvPr id="10" name="文本框 9">
            <a:extLst>
              <a:ext uri="{FF2B5EF4-FFF2-40B4-BE49-F238E27FC236}">
                <a16:creationId xmlns:a16="http://schemas.microsoft.com/office/drawing/2014/main" id="{72220D60-B21E-C7DB-9A06-9F0F97301CB0}"/>
              </a:ext>
            </a:extLst>
          </p:cNvPr>
          <p:cNvSpPr txBox="1"/>
          <p:nvPr/>
        </p:nvSpPr>
        <p:spPr>
          <a:xfrm>
            <a:off x="833437" y="2933223"/>
            <a:ext cx="2667001" cy="1169551"/>
          </a:xfrm>
          <a:prstGeom prst="rect">
            <a:avLst/>
          </a:prstGeom>
          <a:noFill/>
        </p:spPr>
        <p:txBody>
          <a:bodyPr wrap="square">
            <a:spAutoFit/>
          </a:bodyPr>
          <a:lstStyle/>
          <a:p>
            <a:r>
              <a:rPr lang="zh-CN" altLang="en-US" sz="1400" dirty="0"/>
              <a:t>[MASK, MASK, MASK, ...]</a:t>
            </a:r>
          </a:p>
          <a:p>
            <a:r>
              <a:rPr lang="zh-CN" altLang="en-US" sz="1400" dirty="0"/>
              <a:t>            ↓</a:t>
            </a:r>
          </a:p>
          <a:p>
            <a:r>
              <a:rPr lang="zh-CN" altLang="en-US" sz="1400" dirty="0"/>
              <a:t>       iterative denoising</a:t>
            </a:r>
          </a:p>
          <a:p>
            <a:r>
              <a:rPr lang="zh-CN" altLang="en-US" sz="1400" dirty="0"/>
              <a:t>            ↓</a:t>
            </a:r>
          </a:p>
          <a:p>
            <a:r>
              <a:rPr lang="zh-CN" altLang="en-US" sz="1400" dirty="0"/>
              <a:t>      one Wyckoff structure</a:t>
            </a:r>
          </a:p>
        </p:txBody>
      </p:sp>
      <p:sp>
        <p:nvSpPr>
          <p:cNvPr id="11" name="文本框 10">
            <a:extLst>
              <a:ext uri="{FF2B5EF4-FFF2-40B4-BE49-F238E27FC236}">
                <a16:creationId xmlns:a16="http://schemas.microsoft.com/office/drawing/2014/main" id="{4350F8C8-B298-51AD-230B-25C785073BBC}"/>
              </a:ext>
            </a:extLst>
          </p:cNvPr>
          <p:cNvSpPr txBox="1"/>
          <p:nvPr/>
        </p:nvSpPr>
        <p:spPr>
          <a:xfrm>
            <a:off x="575269" y="2348447"/>
            <a:ext cx="4153894" cy="369332"/>
          </a:xfrm>
          <a:prstGeom prst="rect">
            <a:avLst/>
          </a:prstGeom>
          <a:noFill/>
        </p:spPr>
        <p:txBody>
          <a:bodyPr wrap="none" rtlCol="0">
            <a:spAutoFit/>
          </a:bodyPr>
          <a:lstStyle/>
          <a:p>
            <a:r>
              <a:rPr kumimoji="1" lang="zh-CN" altLang="en-US" dirty="0"/>
              <a:t>普通的</a:t>
            </a:r>
            <a:r>
              <a:rPr lang="en-US" altLang="zh-CN" dirty="0"/>
              <a:t>Wyckoff DLM </a:t>
            </a:r>
            <a:r>
              <a:rPr lang="zh-CN" altLang="en-US" dirty="0"/>
              <a:t>只有一条去噪路径</a:t>
            </a:r>
            <a:endParaRPr kumimoji="1" lang="zh-CN" altLang="en-US" dirty="0"/>
          </a:p>
        </p:txBody>
      </p:sp>
      <p:sp>
        <p:nvSpPr>
          <p:cNvPr id="14" name="文本框 13">
            <a:extLst>
              <a:ext uri="{FF2B5EF4-FFF2-40B4-BE49-F238E27FC236}">
                <a16:creationId xmlns:a16="http://schemas.microsoft.com/office/drawing/2014/main" id="{B490E9E2-9BE0-EAF5-C9ED-58EBB97D8576}"/>
              </a:ext>
            </a:extLst>
          </p:cNvPr>
          <p:cNvSpPr txBox="1"/>
          <p:nvPr/>
        </p:nvSpPr>
        <p:spPr>
          <a:xfrm>
            <a:off x="6096000" y="2348447"/>
            <a:ext cx="2031325" cy="369332"/>
          </a:xfrm>
          <a:prstGeom prst="rect">
            <a:avLst/>
          </a:prstGeom>
          <a:noFill/>
        </p:spPr>
        <p:txBody>
          <a:bodyPr wrap="none" rtlCol="0">
            <a:spAutoFit/>
          </a:bodyPr>
          <a:lstStyle/>
          <a:p>
            <a:r>
              <a:rPr kumimoji="1" lang="zh-CN" altLang="en-US" dirty="0"/>
              <a:t>改成一个搜索过程</a:t>
            </a:r>
          </a:p>
        </p:txBody>
      </p:sp>
      <p:sp>
        <p:nvSpPr>
          <p:cNvPr id="16" name="文本框 15">
            <a:extLst>
              <a:ext uri="{FF2B5EF4-FFF2-40B4-BE49-F238E27FC236}">
                <a16:creationId xmlns:a16="http://schemas.microsoft.com/office/drawing/2014/main" id="{207C72D3-50AC-0386-2BAE-1860FC778C02}"/>
              </a:ext>
            </a:extLst>
          </p:cNvPr>
          <p:cNvSpPr txBox="1"/>
          <p:nvPr/>
        </p:nvSpPr>
        <p:spPr>
          <a:xfrm>
            <a:off x="5253038" y="2933223"/>
            <a:ext cx="6100762" cy="2031325"/>
          </a:xfrm>
          <a:prstGeom prst="rect">
            <a:avLst/>
          </a:prstGeom>
          <a:noFill/>
        </p:spPr>
        <p:txBody>
          <a:bodyPr wrap="square">
            <a:spAutoFit/>
          </a:bodyPr>
          <a:lstStyle/>
          <a:p>
            <a:pPr>
              <a:buNone/>
            </a:pPr>
            <a:r>
              <a:rPr lang="zh-CN" altLang="en-US" dirty="0"/>
              <a:t>每一步不直接接受模型最高概率的 </a:t>
            </a:r>
            <a:r>
              <a:rPr lang="en-US" altLang="zh-CN" dirty="0"/>
              <a:t>token</a:t>
            </a:r>
            <a:r>
              <a:rPr lang="zh-CN" altLang="en-US" dirty="0"/>
              <a:t>，而是：</a:t>
            </a:r>
          </a:p>
          <a:p>
            <a:pPr>
              <a:buFont typeface="+mj-lt"/>
              <a:buAutoNum type="arabicPeriod"/>
            </a:pPr>
            <a:r>
              <a:rPr lang="en-US" altLang="zh-CN" dirty="0"/>
              <a:t>DLM </a:t>
            </a:r>
            <a:r>
              <a:rPr lang="zh-CN" altLang="en-US" dirty="0"/>
              <a:t>提出 </a:t>
            </a:r>
            <a:r>
              <a:rPr lang="en-US" altLang="zh-CN" dirty="0"/>
              <a:t>K </a:t>
            </a:r>
            <a:r>
              <a:rPr lang="zh-CN" altLang="en-US" dirty="0"/>
              <a:t>个可能的 </a:t>
            </a:r>
            <a:r>
              <a:rPr lang="en-US" altLang="zh-CN" dirty="0"/>
              <a:t>partial orbit sets</a:t>
            </a:r>
            <a:r>
              <a:rPr lang="zh-CN" altLang="en-US" dirty="0"/>
              <a:t>； </a:t>
            </a:r>
          </a:p>
          <a:p>
            <a:pPr>
              <a:buFont typeface="+mj-lt"/>
              <a:buAutoNum type="arabicPeriod"/>
            </a:pPr>
            <a:r>
              <a:rPr lang="en-US" altLang="zh-CN" dirty="0"/>
              <a:t>crystallographic grammar </a:t>
            </a:r>
            <a:r>
              <a:rPr lang="zh-CN" altLang="en-US" dirty="0"/>
              <a:t>排除必然无法满足 </a:t>
            </a:r>
            <a:r>
              <a:rPr lang="en-US" altLang="zh-CN" dirty="0"/>
              <a:t>composition</a:t>
            </a:r>
            <a:r>
              <a:rPr lang="zh-CN" altLang="en-US" dirty="0"/>
              <a:t>、</a:t>
            </a:r>
            <a:r>
              <a:rPr lang="en-US" altLang="zh-CN" dirty="0"/>
              <a:t>multiplicity </a:t>
            </a:r>
            <a:r>
              <a:rPr lang="zh-CN" altLang="en-US" dirty="0"/>
              <a:t>或 </a:t>
            </a:r>
            <a:r>
              <a:rPr lang="en-US" altLang="zh-CN" dirty="0"/>
              <a:t>space group </a:t>
            </a:r>
            <a:r>
              <a:rPr lang="zh-CN" altLang="en-US" dirty="0"/>
              <a:t>的分支； </a:t>
            </a:r>
          </a:p>
          <a:p>
            <a:pPr>
              <a:buFont typeface="+mj-lt"/>
              <a:buAutoNum type="arabicPeriod"/>
            </a:pPr>
            <a:r>
              <a:rPr lang="zh-CN" altLang="en-US" dirty="0"/>
              <a:t>一个 </a:t>
            </a:r>
            <a:r>
              <a:rPr lang="en-US" altLang="zh-CN" b="1" dirty="0"/>
              <a:t>process verifier</a:t>
            </a:r>
            <a:r>
              <a:rPr lang="en-US" altLang="zh-CN" dirty="0"/>
              <a:t> </a:t>
            </a:r>
            <a:r>
              <a:rPr lang="zh-CN" altLang="en-US" dirty="0"/>
              <a:t>预测：这个未完成的 </a:t>
            </a:r>
            <a:r>
              <a:rPr lang="en-US" altLang="zh-CN" dirty="0"/>
              <a:t>Wyckoff state</a:t>
            </a:r>
            <a:r>
              <a:rPr lang="zh-CN" altLang="en-US" dirty="0"/>
              <a:t>，最终有多大概率生成低能、稳定、目标性质良好的结构； </a:t>
            </a:r>
          </a:p>
        </p:txBody>
      </p:sp>
    </p:spTree>
    <p:extLst>
      <p:ext uri="{BB962C8B-B14F-4D97-AF65-F5344CB8AC3E}">
        <p14:creationId xmlns:p14="http://schemas.microsoft.com/office/powerpoint/2010/main" val="1543182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0FDAC-5EE9-D110-8D11-E6D80FE7A69C}"/>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07F126B7-41E4-27F6-40A4-634495848143}"/>
              </a:ext>
            </a:extLst>
          </p:cNvPr>
          <p:cNvSpPr>
            <a:spLocks noGrp="1"/>
          </p:cNvSpPr>
          <p:nvPr>
            <p:ph idx="1"/>
          </p:nvPr>
        </p:nvSpPr>
        <p:spPr>
          <a:xfrm>
            <a:off x="838200" y="3649663"/>
            <a:ext cx="10515600" cy="2189163"/>
          </a:xfrm>
        </p:spPr>
        <p:txBody>
          <a:bodyPr/>
          <a:lstStyle/>
          <a:p>
            <a:r>
              <a:rPr lang="en-US" altLang="zh-CN" dirty="0" err="1"/>
              <a:t>WyFormer</a:t>
            </a:r>
            <a:r>
              <a:rPr lang="en-US" altLang="zh-CN" dirty="0"/>
              <a:t> </a:t>
            </a:r>
            <a:r>
              <a:rPr lang="zh-CN" altLang="en-US" dirty="0"/>
              <a:t>中，空间群 </a:t>
            </a:r>
            <a:r>
              <a:rPr lang="en-US" altLang="zh-CN" dirty="0"/>
              <a:t>225 </a:t>
            </a:r>
            <a:r>
              <a:rPr lang="zh-CN" altLang="en-US" dirty="0"/>
              <a:t>的 </a:t>
            </a:r>
            <a:r>
              <a:rPr lang="en-US" altLang="zh-CN" dirty="0"/>
              <a:t>4a </a:t>
            </a:r>
            <a:r>
              <a:rPr lang="zh-CN" altLang="en-US" dirty="0"/>
              <a:t>和 </a:t>
            </a:r>
            <a:r>
              <a:rPr lang="en-US" altLang="zh-CN" dirty="0"/>
              <a:t>4b </a:t>
            </a:r>
            <a:r>
              <a:rPr lang="zh-CN" altLang="en-US" dirty="0"/>
              <a:t>都具有 </a:t>
            </a:r>
            <a:r>
              <a:rPr lang="en-US" altLang="zh-CN" dirty="0"/>
              <a:t>m-3m site symmetry</a:t>
            </a:r>
            <a:r>
              <a:rPr lang="zh-CN" altLang="en-US" dirty="0"/>
              <a:t>，分别用 </a:t>
            </a:r>
            <a:r>
              <a:rPr lang="en-US" altLang="zh-CN" dirty="0"/>
              <a:t>enumeration 0</a:t>
            </a:r>
            <a:r>
              <a:rPr lang="zh-CN" altLang="en-US" dirty="0"/>
              <a:t>、</a:t>
            </a:r>
            <a:r>
              <a:rPr lang="en-US" altLang="zh-CN" dirty="0"/>
              <a:t>1 </a:t>
            </a:r>
            <a:r>
              <a:rPr lang="zh-CN" altLang="en-US" dirty="0"/>
              <a:t>区分。因此：</a:t>
            </a:r>
            <a:endParaRPr lang="en-US" altLang="zh-CN" dirty="0"/>
          </a:p>
          <a:p>
            <a:r>
              <a:rPr kumimoji="1" lang="en-US" altLang="zh-CN" dirty="0"/>
              <a:t>[SG225 + m-3m] [Na] [0]    </a:t>
            </a:r>
            <a:r>
              <a:rPr kumimoji="1" lang="zh-CN" altLang="en-US" dirty="0"/>
              <a:t>对应 </a:t>
            </a:r>
            <a:r>
              <a:rPr kumimoji="1" lang="en-US" altLang="zh-CN" dirty="0"/>
              <a:t>Na </a:t>
            </a:r>
            <a:r>
              <a:rPr kumimoji="1" lang="zh-CN" altLang="en-US" dirty="0"/>
              <a:t>占据 </a:t>
            </a:r>
            <a:r>
              <a:rPr kumimoji="1" lang="en-US" altLang="zh-CN" dirty="0"/>
              <a:t>4a</a:t>
            </a:r>
          </a:p>
          <a:p>
            <a:r>
              <a:rPr kumimoji="1" lang="en-US" altLang="zh-CN" dirty="0"/>
              <a:t>[SG225 + m-3m] [Cl] [1]    </a:t>
            </a:r>
            <a:r>
              <a:rPr kumimoji="1" lang="zh-CN" altLang="en-US" dirty="0"/>
              <a:t>对应 </a:t>
            </a:r>
            <a:r>
              <a:rPr kumimoji="1" lang="en-US" altLang="zh-CN" dirty="0"/>
              <a:t>Cl </a:t>
            </a:r>
            <a:r>
              <a:rPr kumimoji="1" lang="zh-CN" altLang="en-US" dirty="0"/>
              <a:t>占据 </a:t>
            </a:r>
            <a:r>
              <a:rPr kumimoji="1" lang="en-US" altLang="zh-CN" dirty="0"/>
              <a:t>4b</a:t>
            </a:r>
            <a:endParaRPr kumimoji="1" lang="zh-CN" altLang="en-US" dirty="0"/>
          </a:p>
        </p:txBody>
      </p:sp>
      <p:sp>
        <p:nvSpPr>
          <p:cNvPr id="4" name="灯片编号占位符 3">
            <a:extLst>
              <a:ext uri="{FF2B5EF4-FFF2-40B4-BE49-F238E27FC236}">
                <a16:creationId xmlns:a16="http://schemas.microsoft.com/office/drawing/2014/main" id="{9F7CE70A-39E7-A809-D118-F2248F3BF992}"/>
              </a:ext>
            </a:extLst>
          </p:cNvPr>
          <p:cNvSpPr>
            <a:spLocks noGrp="1"/>
          </p:cNvSpPr>
          <p:nvPr>
            <p:ph type="sldNum" sz="quarter" idx="4"/>
          </p:nvPr>
        </p:nvSpPr>
        <p:spPr/>
        <p:txBody>
          <a:bodyPr/>
          <a:lstStyle/>
          <a:p>
            <a:fld id="{48D82B17-3AA5-DB4E-A79B-C818A6AD8FB8}" type="slidenum">
              <a:rPr lang="en-CN" smtClean="0"/>
              <a:pPr/>
              <a:t>10</a:t>
            </a:fld>
            <a:endParaRPr lang="en-CN" dirty="0"/>
          </a:p>
        </p:txBody>
      </p:sp>
      <p:pic>
        <p:nvPicPr>
          <p:cNvPr id="5" name="图片 4">
            <a:extLst>
              <a:ext uri="{FF2B5EF4-FFF2-40B4-BE49-F238E27FC236}">
                <a16:creationId xmlns:a16="http://schemas.microsoft.com/office/drawing/2014/main" id="{8A98D6C1-D232-C8F9-9883-1B0BFB49E9F9}"/>
              </a:ext>
            </a:extLst>
          </p:cNvPr>
          <p:cNvPicPr>
            <a:picLocks noChangeAspect="1"/>
          </p:cNvPicPr>
          <p:nvPr/>
        </p:nvPicPr>
        <p:blipFill>
          <a:blip r:embed="rId2"/>
          <a:stretch/>
        </p:blipFill>
        <p:spPr>
          <a:xfrm>
            <a:off x="533400" y="1837765"/>
            <a:ext cx="10820400" cy="1591235"/>
          </a:xfrm>
          <a:prstGeom prst="rect">
            <a:avLst/>
          </a:prstGeom>
        </p:spPr>
      </p:pic>
      <p:sp>
        <p:nvSpPr>
          <p:cNvPr id="6" name="文本框 5">
            <a:extLst>
              <a:ext uri="{FF2B5EF4-FFF2-40B4-BE49-F238E27FC236}">
                <a16:creationId xmlns:a16="http://schemas.microsoft.com/office/drawing/2014/main" id="{29D2AA46-52AD-B025-DB53-D116E14FCA51}"/>
              </a:ext>
            </a:extLst>
          </p:cNvPr>
          <p:cNvSpPr txBox="1"/>
          <p:nvPr/>
        </p:nvSpPr>
        <p:spPr>
          <a:xfrm>
            <a:off x="3462696" y="5987018"/>
            <a:ext cx="4961808" cy="369332"/>
          </a:xfrm>
          <a:prstGeom prst="rect">
            <a:avLst/>
          </a:prstGeom>
          <a:noFill/>
        </p:spPr>
        <p:txBody>
          <a:bodyPr wrap="none" rtlCol="0">
            <a:spAutoFit/>
          </a:bodyPr>
          <a:lstStyle/>
          <a:p>
            <a:r>
              <a:rPr kumimoji="1" lang="en-US" altLang="zh-CN" dirty="0"/>
              <a:t>Wyckoff</a:t>
            </a:r>
            <a:r>
              <a:rPr kumimoji="1" lang="zh-CN" altLang="en-US" dirty="0"/>
              <a:t> </a:t>
            </a:r>
            <a:r>
              <a:rPr kumimoji="1" lang="en-US" altLang="zh-CN" dirty="0"/>
              <a:t>position = site </a:t>
            </a:r>
            <a:r>
              <a:rPr kumimoji="1" lang="en-US" altLang="zh-CN" dirty="0" err="1"/>
              <a:t>symmetry+enumeration</a:t>
            </a:r>
            <a:endParaRPr kumimoji="1" lang="zh-CN" altLang="en-US" dirty="0"/>
          </a:p>
        </p:txBody>
      </p:sp>
    </p:spTree>
    <p:extLst>
      <p:ext uri="{BB962C8B-B14F-4D97-AF65-F5344CB8AC3E}">
        <p14:creationId xmlns:p14="http://schemas.microsoft.com/office/powerpoint/2010/main" val="4185793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9CB58B96-5D6F-9AD6-0FE7-CE6FD902EC4E}"/>
              </a:ext>
            </a:extLst>
          </p:cNvPr>
          <p:cNvGraphicFramePr/>
          <p:nvPr>
            <p:extLst>
              <p:ext uri="{D42A27DB-BD31-4B8C-83A1-F6EECF244321}">
                <p14:modId xmlns:p14="http://schemas.microsoft.com/office/powerpoint/2010/main" val="1039137586"/>
              </p:ext>
            </p:extLst>
          </p:nvPr>
        </p:nvGraphicFramePr>
        <p:xfrm>
          <a:off x="1306100" y="1481076"/>
          <a:ext cx="8677275" cy="4514850"/>
        </p:xfrm>
        <a:graphic>
          <a:graphicData uri="http://schemas.openxmlformats.org/drawingml/2006/table">
            <a:tbl>
              <a:tblPr/>
              <a:tblGrid>
                <a:gridCol w="1409700">
                  <a:extLst>
                    <a:ext uri="{9D8B030D-6E8A-4147-A177-3AD203B41FA5}">
                      <a16:colId xmlns:a16="http://schemas.microsoft.com/office/drawing/2014/main" val="20000"/>
                    </a:ext>
                  </a:extLst>
                </a:gridCol>
                <a:gridCol w="2266950">
                  <a:extLst>
                    <a:ext uri="{9D8B030D-6E8A-4147-A177-3AD203B41FA5}">
                      <a16:colId xmlns:a16="http://schemas.microsoft.com/office/drawing/2014/main" val="20001"/>
                    </a:ext>
                  </a:extLst>
                </a:gridCol>
                <a:gridCol w="1781175">
                  <a:extLst>
                    <a:ext uri="{9D8B030D-6E8A-4147-A177-3AD203B41FA5}">
                      <a16:colId xmlns:a16="http://schemas.microsoft.com/office/drawing/2014/main" val="20002"/>
                    </a:ext>
                  </a:extLst>
                </a:gridCol>
                <a:gridCol w="2324100">
                  <a:extLst>
                    <a:ext uri="{9D8B030D-6E8A-4147-A177-3AD203B41FA5}">
                      <a16:colId xmlns:a16="http://schemas.microsoft.com/office/drawing/2014/main" val="20003"/>
                    </a:ext>
                  </a:extLst>
                </a:gridCol>
                <a:gridCol w="895350">
                  <a:extLst>
                    <a:ext uri="{9D8B030D-6E8A-4147-A177-3AD203B41FA5}">
                      <a16:colId xmlns:a16="http://schemas.microsoft.com/office/drawing/2014/main" val="20004"/>
                    </a:ext>
                  </a:extLst>
                </a:gridCol>
              </a:tblGrid>
              <a:tr h="314325">
                <a:tc>
                  <a:txBody>
                    <a:bodyPr/>
                    <a:lstStyle/>
                    <a:p>
                      <a:r>
                        <a:rPr sz="1200" b="1" dirty="0" err="1">
                          <a:solidFill>
                            <a:srgbClr val="FFFFFF"/>
                          </a:solidFill>
                          <a:latin typeface="PingFang SC"/>
                          <a:ea typeface="PingFang SC"/>
                          <a:cs typeface="PingFang SC"/>
                        </a:rPr>
                        <a:t>模型</a:t>
                      </a:r>
                      <a:endParaRPr sz="1200" b="1" dirty="0">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表示 / tokenizer</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生成范式</a:t>
                      </a:r>
                    </a:p>
                  </a:txBody>
                  <a:tcPr marL="76200" marR="66675" marT="47625" marB="47625" anchor="ctr">
                    <a:solidFill>
                      <a:srgbClr val="2D6B5B"/>
                    </a:solidFill>
                  </a:tcPr>
                </a:tc>
                <a:tc>
                  <a:txBody>
                    <a:bodyPr/>
                    <a:lstStyle/>
                    <a:p>
                      <a:r>
                        <a:rPr sz="1200" b="1" dirty="0" err="1">
                          <a:solidFill>
                            <a:srgbClr val="FFFFFF"/>
                          </a:solidFill>
                          <a:latin typeface="PingFang SC"/>
                          <a:ea typeface="PingFang SC"/>
                          <a:cs typeface="PingFang SC"/>
                        </a:rPr>
                        <a:t>条件生成设置</a:t>
                      </a:r>
                      <a:endParaRPr sz="1200" b="1" dirty="0">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直接输出</a:t>
                      </a:r>
                    </a:p>
                  </a:txBody>
                  <a:tcPr marL="76200" marR="66675" marT="47625" marB="47625" anchor="ctr">
                    <a:solidFill>
                      <a:srgbClr val="2D6B5B"/>
                    </a:solidFill>
                  </a:tcPr>
                </a:tc>
                <a:extLst>
                  <a:ext uri="{0D108BD9-81ED-4DB2-BD59-A6C34878D82A}">
                    <a16:rowId xmlns:a16="http://schemas.microsoft.com/office/drawing/2014/main" val="10000"/>
                  </a:ext>
                </a:extLst>
              </a:tr>
              <a:tr h="466725">
                <a:tc>
                  <a:txBody>
                    <a:bodyPr/>
                    <a:lstStyle/>
                    <a:p>
                      <a:r>
                        <a:rPr sz="1125" b="1">
                          <a:solidFill>
                            <a:srgbClr val="17372F"/>
                          </a:solidFill>
                          <a:latin typeface="PingFang SC"/>
                          <a:ea typeface="PingFang SC"/>
                          <a:cs typeface="PingFang SC"/>
                        </a:rPr>
                        <a:t>CrystalFormer</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Wyckoff / 元素字段</a:t>
                      </a:r>
                    </a:p>
                    <a:p>
                      <a:r>
                        <a:rPr sz="1125" b="0">
                          <a:solidFill>
                            <a:srgbClr val="17372F"/>
                          </a:solidFill>
                          <a:latin typeface="PingFang SC"/>
                          <a:ea typeface="PingFang SC"/>
                          <a:cs typeface="PingFang SC"/>
                        </a:rPr>
                        <a:t>连续坐标与晶格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逐位点、逐字段</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空间群、结构补全</a:t>
                      </a:r>
                    </a:p>
                    <a:p>
                      <a:r>
                        <a:rPr sz="1125" b="0">
                          <a:solidFill>
                            <a:srgbClr val="17372F"/>
                          </a:solidFill>
                          <a:latin typeface="PingFang SC"/>
                          <a:ea typeface="PingFang SC"/>
                          <a:cs typeface="PingFang SC"/>
                        </a:rPr>
                        <a:t>性质预测器 + MCMC 引导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1"/>
                  </a:ext>
                </a:extLst>
              </a:tr>
              <a:tr h="466725">
                <a:tc>
                  <a:txBody>
                    <a:bodyPr/>
                    <a:lstStyle/>
                    <a:p>
                      <a:r>
                        <a:rPr sz="1125" b="1">
                          <a:solidFill>
                            <a:srgbClr val="17372F"/>
                          </a:solidFill>
                          <a:latin typeface="PingFang SC"/>
                          <a:ea typeface="PingFang SC"/>
                          <a:cs typeface="PingFang SC"/>
                        </a:rPr>
                        <a:t>Matra-Genoa</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可逆混合字段序列</a:t>
                      </a:r>
                    </a:p>
                    <a:p>
                      <a:r>
                        <a:rPr sz="1125" b="0">
                          <a:solidFill>
                            <a:srgbClr val="17372F"/>
                          </a:solidFill>
                          <a:latin typeface="PingFang SC"/>
                          <a:ea typeface="PingFang SC"/>
                          <a:cs typeface="PingFang SC"/>
                        </a:rPr>
                        <a:t>含自由坐标与晶格</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条件前缀后逐项预测</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稳定性、元素系统</a:t>
                      </a:r>
                    </a:p>
                    <a:p>
                      <a:r>
                        <a:rPr sz="1125" b="0">
                          <a:solidFill>
                            <a:srgbClr val="17372F"/>
                          </a:solidFill>
                          <a:latin typeface="PingFang SC"/>
                          <a:ea typeface="PingFang SC"/>
                          <a:cs typeface="PingFang SC"/>
                        </a:rPr>
                        <a:t>支持空间群 / 位点前缀*</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extLst>
                  <a:ext uri="{0D108BD9-81ED-4DB2-BD59-A6C34878D82A}">
                    <a16:rowId xmlns:a16="http://schemas.microsoft.com/office/drawing/2014/main" val="10002"/>
                  </a:ext>
                </a:extLst>
              </a:tr>
              <a:tr h="466725">
                <a:tc>
                  <a:txBody>
                    <a:bodyPr/>
                    <a:lstStyle/>
                    <a:p>
                      <a:r>
                        <a:rPr sz="1125" b="1">
                          <a:solidFill>
                            <a:srgbClr val="17372F"/>
                          </a:solidFill>
                          <a:latin typeface="PingFang SC"/>
                          <a:ea typeface="PingFang SC"/>
                          <a:cs typeface="PingFang SC"/>
                        </a:rPr>
                        <a:t>WyFormer</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元素 + 位点对称 + 编号</a:t>
                      </a:r>
                    </a:p>
                    <a:p>
                      <a:r>
                        <a:rPr sz="1125" b="1">
                          <a:solidFill>
                            <a:srgbClr val="17372F"/>
                          </a:solidFill>
                          <a:latin typeface="PingFang SC"/>
                          <a:ea typeface="PingFang SC"/>
                          <a:cs typeface="PingFang SC"/>
                        </a:rPr>
                        <a:t>复合 orbit 单元，无坐标</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自回归级联</a:t>
                      </a:r>
                    </a:p>
                    <a:p>
                      <a:r>
                        <a:rPr sz="1125" b="1">
                          <a:solidFill>
                            <a:srgbClr val="17372F"/>
                          </a:solidFill>
                          <a:latin typeface="PingFang SC"/>
                          <a:ea typeface="PingFang SC"/>
                          <a:cs typeface="PingFang SC"/>
                        </a:rPr>
                        <a:t>无位置编码 + 集合打乱</a:t>
                      </a:r>
                    </a:p>
                  </a:txBody>
                  <a:tcPr marL="76200" marR="66675" marT="47625" marB="47625" anchor="ctr">
                    <a:solidFill>
                      <a:srgbClr val="F5F8F5"/>
                    </a:solidFill>
                  </a:tcPr>
                </a:tc>
                <a:tc>
                  <a:txBody>
                    <a:bodyPr/>
                    <a:lstStyle/>
                    <a:p>
                      <a:r>
                        <a:rPr sz="1125" b="1" dirty="0" err="1">
                          <a:solidFill>
                            <a:srgbClr val="17372F"/>
                          </a:solidFill>
                          <a:latin typeface="PingFang SC"/>
                          <a:ea typeface="PingFang SC"/>
                          <a:cs typeface="PingFang SC"/>
                        </a:rPr>
                        <a:t>空间群条件</a:t>
                      </a:r>
                      <a:endParaRPr sz="1125" b="1"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原型结构</a:t>
                      </a:r>
                    </a:p>
                    <a:p>
                      <a:r>
                        <a:rPr sz="1125" b="1">
                          <a:solidFill>
                            <a:srgbClr val="17372F"/>
                          </a:solidFill>
                          <a:latin typeface="PingFang SC"/>
                          <a:ea typeface="PingFang SC"/>
                          <a:cs typeface="PingFang SC"/>
                        </a:rPr>
                        <a:t>再补几何</a:t>
                      </a:r>
                    </a:p>
                  </a:txBody>
                  <a:tcPr marL="76200" marR="66675" marT="47625" marB="47625" anchor="ctr">
                    <a:solidFill>
                      <a:srgbClr val="F5F8F5"/>
                    </a:solidFill>
                  </a:tcPr>
                </a:tc>
                <a:extLst>
                  <a:ext uri="{0D108BD9-81ED-4DB2-BD59-A6C34878D82A}">
                    <a16:rowId xmlns:a16="http://schemas.microsoft.com/office/drawing/2014/main" val="10003"/>
                  </a:ext>
                </a:extLst>
              </a:tr>
              <a:tr h="466725">
                <a:tc>
                  <a:txBody>
                    <a:bodyPr/>
                    <a:lstStyle/>
                    <a:p>
                      <a:r>
                        <a:rPr sz="1125" b="1" dirty="0" err="1">
                          <a:solidFill>
                            <a:srgbClr val="17372F"/>
                          </a:solidFill>
                          <a:latin typeface="PingFang SC"/>
                          <a:ea typeface="PingFang SC"/>
                          <a:cs typeface="PingFang SC"/>
                        </a:rPr>
                        <a:t>WyckoffDiff</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Wyckoff 位点 × 元素</a:t>
                      </a:r>
                    </a:p>
                    <a:p>
                      <a:r>
                        <a:rPr sz="1125" b="1">
                          <a:solidFill>
                            <a:srgbClr val="17372F"/>
                          </a:solidFill>
                          <a:latin typeface="PingFang SC"/>
                          <a:ea typeface="PingFang SC"/>
                          <a:cs typeface="PingFang SC"/>
                        </a:rPr>
                        <a:t>占据 / 计数离散变量</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非自回归</a:t>
                      </a:r>
                    </a:p>
                    <a:p>
                      <a:r>
                        <a:rPr sz="1125" b="1">
                          <a:solidFill>
                            <a:srgbClr val="17372F"/>
                          </a:solidFill>
                          <a:latin typeface="PingFang SC"/>
                          <a:ea typeface="PingFang SC"/>
                          <a:cs typeface="PingFang SC"/>
                        </a:rPr>
                        <a:t>D3PM 离散扩散</a:t>
                      </a:r>
                    </a:p>
                  </a:txBody>
                  <a:tcPr marL="76200" marR="66675" marT="47625" marB="47625" anchor="ctr">
                    <a:solidFill>
                      <a:srgbClr val="EAF0EB"/>
                    </a:solidFill>
                  </a:tcPr>
                </a:tc>
                <a:tc>
                  <a:txBody>
                    <a:bodyPr/>
                    <a:lstStyle/>
                    <a:p>
                      <a:r>
                        <a:rPr sz="1125" b="1" dirty="0" err="1">
                          <a:solidFill>
                            <a:srgbClr val="17372F"/>
                          </a:solidFill>
                          <a:latin typeface="PingFang SC"/>
                          <a:ea typeface="PingFang SC"/>
                          <a:cs typeface="PingFang SC"/>
                        </a:rPr>
                        <a:t>按抽取的空间群去噪</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dirty="0" err="1">
                          <a:solidFill>
                            <a:srgbClr val="17372F"/>
                          </a:solidFill>
                          <a:latin typeface="PingFang SC"/>
                          <a:ea typeface="PingFang SC"/>
                          <a:cs typeface="PingFang SC"/>
                        </a:rPr>
                        <a:t>原型结构</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再补几何</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extLst>
                  <a:ext uri="{0D108BD9-81ED-4DB2-BD59-A6C34878D82A}">
                    <a16:rowId xmlns:a16="http://schemas.microsoft.com/office/drawing/2014/main" val="10004"/>
                  </a:ext>
                </a:extLst>
              </a:tr>
              <a:tr h="466725">
                <a:tc>
                  <a:txBody>
                    <a:bodyPr/>
                    <a:lstStyle/>
                    <a:p>
                      <a:r>
                        <a:rPr sz="1125" b="1">
                          <a:solidFill>
                            <a:srgbClr val="17372F"/>
                          </a:solidFill>
                          <a:latin typeface="PingFang SC"/>
                          <a:ea typeface="PingFang SC"/>
                          <a:cs typeface="PingFang SC"/>
                        </a:rPr>
                        <a:t>SymmCD</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不对称单元、位点对称</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元素、连续坐标与晶格</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离散 + 连续扩散</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空间群输入，按先验采样</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5"/>
                  </a:ext>
                </a:extLst>
              </a:tr>
              <a:tr h="466725">
                <a:tc>
                  <a:txBody>
                    <a:bodyPr/>
                    <a:lstStyle/>
                    <a:p>
                      <a:r>
                        <a:rPr sz="1125" b="1">
                          <a:solidFill>
                            <a:srgbClr val="17372F"/>
                          </a:solidFill>
                          <a:latin typeface="PingFang SC"/>
                          <a:ea typeface="PingFang SC"/>
                          <a:cs typeface="PingFang SC"/>
                        </a:rPr>
                        <a:t>DynaCrys</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动态空间群、无序占据集</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学习的对称</a:t>
                      </a:r>
                      <a:r>
                        <a:rPr sz="1125" b="0" dirty="0">
                          <a:solidFill>
                            <a:srgbClr val="17372F"/>
                          </a:solidFill>
                          <a:latin typeface="PingFang SC"/>
                          <a:ea typeface="PingFang SC"/>
                          <a:cs typeface="PingFang SC"/>
                        </a:rPr>
                        <a:t> codebook</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符号与几何两阶段扩散</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主实验为无条件生成</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几何以自生成</a:t>
                      </a:r>
                      <a:r>
                        <a:rPr lang="en-US" altLang="zh-CN" sz="1125" b="0" dirty="0" err="1">
                          <a:solidFill>
                            <a:srgbClr val="17372F"/>
                          </a:solidFill>
                          <a:latin typeface="PingFang SC"/>
                          <a:ea typeface="PingFang SC"/>
                          <a:cs typeface="PingFang SC"/>
                        </a:rPr>
                        <a:t>prototype</a:t>
                      </a:r>
                      <a:r>
                        <a:rPr sz="1125" b="0" dirty="0" err="1">
                          <a:solidFill>
                            <a:srgbClr val="17372F"/>
                          </a:solidFill>
                          <a:latin typeface="PingFang SC"/>
                          <a:ea typeface="PingFang SC"/>
                          <a:cs typeface="PingFang SC"/>
                        </a:rPr>
                        <a:t>为条件</a:t>
                      </a:r>
                      <a:endParaRPr sz="1125" b="0"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extLst>
                  <a:ext uri="{0D108BD9-81ED-4DB2-BD59-A6C34878D82A}">
                    <a16:rowId xmlns:a16="http://schemas.microsoft.com/office/drawing/2014/main" val="10006"/>
                  </a:ext>
                </a:extLst>
              </a:tr>
              <a:tr h="466725">
                <a:tc>
                  <a:txBody>
                    <a:bodyPr/>
                    <a:lstStyle/>
                    <a:p>
                      <a:r>
                        <a:rPr sz="1125" b="1">
                          <a:solidFill>
                            <a:srgbClr val="17372F"/>
                          </a:solidFill>
                          <a:latin typeface="PingFang SC"/>
                          <a:ea typeface="PingFang SC"/>
                          <a:cs typeface="PingFang SC"/>
                        </a:rPr>
                        <a:t>MaskGXT</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逐原子 / 字段 token</a:t>
                      </a:r>
                    </a:p>
                    <a:p>
                      <a:r>
                        <a:rPr sz="1125" b="0">
                          <a:solidFill>
                            <a:srgbClr val="17372F"/>
                          </a:solidFill>
                          <a:latin typeface="PingFang SC"/>
                          <a:ea typeface="PingFang SC"/>
                          <a:cs typeface="PingFang SC"/>
                        </a:rPr>
                        <a:t>几何量化 + 连续精度修正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非自回归掩码生成</a:t>
                      </a:r>
                    </a:p>
                    <a:p>
                      <a:r>
                        <a:rPr sz="1125" b="0">
                          <a:solidFill>
                            <a:srgbClr val="17372F"/>
                          </a:solidFill>
                          <a:latin typeface="PingFang SC"/>
                          <a:ea typeface="PingFang SC"/>
                          <a:cs typeface="PingFang SC"/>
                        </a:rPr>
                        <a:t>按置信度迭代并行解码</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给定化学组成的</a:t>
                      </a:r>
                      <a:r>
                        <a:rPr sz="1125" b="0" dirty="0">
                          <a:solidFill>
                            <a:srgbClr val="17372F"/>
                          </a:solidFill>
                          <a:latin typeface="PingFang SC"/>
                          <a:ea typeface="PingFang SC"/>
                          <a:cs typeface="PingFang SC"/>
                        </a:rPr>
                        <a:t> CSP</a:t>
                      </a:r>
                    </a:p>
                    <a:p>
                      <a:r>
                        <a:rPr sz="1125" b="0" dirty="0" err="1">
                          <a:solidFill>
                            <a:srgbClr val="17372F"/>
                          </a:solidFill>
                          <a:latin typeface="PingFang SC"/>
                          <a:ea typeface="PingFang SC"/>
                          <a:cs typeface="PingFang SC"/>
                        </a:rPr>
                        <a:t>原子类型与数量已知</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7"/>
                  </a:ext>
                </a:extLst>
              </a:tr>
              <a:tr h="466725">
                <a:tc>
                  <a:txBody>
                    <a:bodyPr/>
                    <a:lstStyle/>
                    <a:p>
                      <a:r>
                        <a:rPr sz="1125" b="1">
                          <a:solidFill>
                            <a:srgbClr val="17372F"/>
                          </a:solidFill>
                          <a:latin typeface="PingFang SC"/>
                          <a:ea typeface="PingFang SC"/>
                          <a:cs typeface="PingFang SC"/>
                        </a:rPr>
                        <a:t>WyckoffDiff-</a:t>
                      </a:r>
                    </a:p>
                    <a:p>
                      <a:r>
                        <a:rPr sz="1125" b="1">
                          <a:solidFill>
                            <a:srgbClr val="17372F"/>
                          </a:solidFill>
                          <a:latin typeface="PingFang SC"/>
                          <a:ea typeface="PingFang SC"/>
                          <a:cs typeface="PingFang SC"/>
                        </a:rPr>
                        <a:t>Adaptor（补充）</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沿用占据 / 计数表示</a:t>
                      </a:r>
                    </a:p>
                    <a:p>
                      <a:r>
                        <a:rPr sz="1125" b="0">
                          <a:solidFill>
                            <a:srgbClr val="17372F"/>
                          </a:solidFill>
                          <a:latin typeface="PingFang SC"/>
                          <a:ea typeface="PingFang SC"/>
                          <a:cs typeface="PingFang SC"/>
                        </a:rPr>
                        <a:t>去噪网络加入条件适配器</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条件离散扩散</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空间群</a:t>
                      </a:r>
                      <a:r>
                        <a:rPr sz="1125" b="0" dirty="0">
                          <a:solidFill>
                            <a:srgbClr val="17372F"/>
                          </a:solidFill>
                          <a:latin typeface="PingFang SC"/>
                          <a:ea typeface="PingFang SC"/>
                          <a:cs typeface="PingFang SC"/>
                        </a:rPr>
                        <a:t> + </a:t>
                      </a:r>
                      <a:r>
                        <a:rPr sz="1125" b="0" dirty="0" err="1">
                          <a:solidFill>
                            <a:srgbClr val="17372F"/>
                          </a:solidFill>
                          <a:latin typeface="PingFang SC"/>
                          <a:ea typeface="PingFang SC"/>
                          <a:cs typeface="PingFang SC"/>
                        </a:rPr>
                        <a:t>元素系统</a:t>
                      </a:r>
                      <a:endParaRPr sz="1125" b="0" dirty="0">
                        <a:solidFill>
                          <a:srgbClr val="17372F"/>
                        </a:solidFill>
                        <a:latin typeface="PingFang SC"/>
                        <a:ea typeface="PingFang SC"/>
                        <a:cs typeface="PingFang SC"/>
                      </a:endParaRPr>
                    </a:p>
                    <a:p>
                      <a:r>
                        <a:rPr sz="1125" b="0" dirty="0">
                          <a:solidFill>
                            <a:srgbClr val="17372F"/>
                          </a:solidFill>
                          <a:latin typeface="PingFang SC"/>
                          <a:ea typeface="PingFang SC"/>
                          <a:cs typeface="PingFang SC"/>
                        </a:rPr>
                        <a:t>+ </a:t>
                      </a:r>
                      <a:r>
                        <a:rPr sz="1125" b="0" dirty="0" err="1">
                          <a:solidFill>
                            <a:srgbClr val="17372F"/>
                          </a:solidFill>
                          <a:latin typeface="PingFang SC"/>
                          <a:ea typeface="PingFang SC"/>
                          <a:cs typeface="PingFang SC"/>
                        </a:rPr>
                        <a:t>凸包上方能量条件</a:t>
                      </a:r>
                      <a:endParaRPr sz="1125" b="0"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原型结构</a:t>
                      </a:r>
                    </a:p>
                    <a:p>
                      <a:r>
                        <a:rPr sz="1125" b="0">
                          <a:solidFill>
                            <a:srgbClr val="17372F"/>
                          </a:solidFill>
                          <a:latin typeface="PingFang SC"/>
                          <a:ea typeface="PingFang SC"/>
                          <a:cs typeface="PingFang SC"/>
                        </a:rPr>
                        <a:t>再补几何</a:t>
                      </a:r>
                    </a:p>
                  </a:txBody>
                  <a:tcPr marL="76200" marR="66675" marT="47625" marB="47625" anchor="ctr">
                    <a:solidFill>
                      <a:srgbClr val="EAF0EB"/>
                    </a:solidFill>
                  </a:tcPr>
                </a:tc>
                <a:extLst>
                  <a:ext uri="{0D108BD9-81ED-4DB2-BD59-A6C34878D82A}">
                    <a16:rowId xmlns:a16="http://schemas.microsoft.com/office/drawing/2014/main" val="10008"/>
                  </a:ext>
                </a:extLst>
              </a:tr>
              <a:tr h="466725">
                <a:tc>
                  <a:txBody>
                    <a:bodyPr/>
                    <a:lstStyle/>
                    <a:p>
                      <a:r>
                        <a:rPr sz="1125" b="1">
                          <a:solidFill>
                            <a:srgbClr val="17372F"/>
                          </a:solidFill>
                          <a:latin typeface="PingFang SC"/>
                          <a:ea typeface="PingFang SC"/>
                          <a:cs typeface="PingFang SC"/>
                        </a:rPr>
                        <a:t>CrystalDLM</a:t>
                      </a:r>
                    </a:p>
                    <a:p>
                      <a:r>
                        <a:rPr sz="1125" b="1">
                          <a:solidFill>
                            <a:srgbClr val="17372F"/>
                          </a:solidFill>
                          <a:latin typeface="PingFang SC"/>
                          <a:ea typeface="PingFang SC"/>
                          <a:cs typeface="PingFang SC"/>
                        </a:rPr>
                        <a:t>（边轨道候选）</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位点约束＋边轨道</a:t>
                      </a:r>
                    </a:p>
                    <a:p>
                      <a:r>
                        <a:rPr sz="1125" b="1">
                          <a:solidFill>
                            <a:srgbClr val="17372F"/>
                          </a:solidFill>
                          <a:latin typeface="PingFang SC"/>
                          <a:ea typeface="PingFang SC"/>
                          <a:cs typeface="PingFang SC"/>
                        </a:rPr>
                        <a:t>离散原型、几何分离</a:t>
                      </a: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非自回归扩散</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并行</a:t>
                      </a:r>
                      <a:r>
                        <a:rPr lang="en-US" altLang="zh-CN" sz="1125" b="1" dirty="0" err="1">
                          <a:solidFill>
                            <a:srgbClr val="17372F"/>
                          </a:solidFill>
                          <a:latin typeface="PingFang SC"/>
                          <a:ea typeface="PingFang SC"/>
                          <a:cs typeface="PingFang SC"/>
                        </a:rPr>
                        <a:t>mask</a:t>
                      </a:r>
                      <a:r>
                        <a:rPr sz="1125" b="1" dirty="0" err="1">
                          <a:solidFill>
                            <a:srgbClr val="17372F"/>
                          </a:solidFill>
                          <a:latin typeface="PingFang SC"/>
                          <a:ea typeface="PingFang SC"/>
                          <a:cs typeface="PingFang SC"/>
                        </a:rPr>
                        <a:t>单级去噪</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原型＋指定晶格</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最终应用条件待定</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原型编码</a:t>
                      </a:r>
                      <a:endParaRPr sz="1125" b="1" dirty="0">
                        <a:solidFill>
                          <a:srgbClr val="17372F"/>
                        </a:solidFill>
                        <a:latin typeface="PingFang SC"/>
                        <a:ea typeface="PingFang SC"/>
                        <a:cs typeface="PingFang SC"/>
                      </a:endParaRPr>
                    </a:p>
                    <a:p>
                      <a:r>
                        <a:rPr lang="zh-CN" altLang="en-US" sz="1125" b="1" dirty="0">
                          <a:solidFill>
                            <a:srgbClr val="17372F"/>
                          </a:solidFill>
                          <a:latin typeface="PingFang SC"/>
                          <a:ea typeface="PingFang SC"/>
                          <a:cs typeface="PingFang SC"/>
                        </a:rPr>
                        <a:t>再补几何</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extLst>
                  <a:ext uri="{0D108BD9-81ED-4DB2-BD59-A6C34878D82A}">
                    <a16:rowId xmlns:a16="http://schemas.microsoft.com/office/drawing/2014/main" val="10009"/>
                  </a:ext>
                </a:extLst>
              </a:tr>
            </a:tbl>
          </a:graphicData>
        </a:graphic>
      </p:graphicFrame>
      <p:sp>
        <p:nvSpPr>
          <p:cNvPr id="2" name="TextBox 1">
            <a:extLst>
              <a:ext uri="{FF2B5EF4-FFF2-40B4-BE49-F238E27FC236}">
                <a16:creationId xmlns:a16="http://schemas.microsoft.com/office/drawing/2014/main" id="{F006ADBE-9EC2-71ED-A573-E4126EE5A546}"/>
              </a:ext>
            </a:extLst>
          </p:cNvPr>
          <p:cNvSpPr txBox="1"/>
          <p:nvPr/>
        </p:nvSpPr>
        <p:spPr>
          <a:xfrm>
            <a:off x="2363190" y="676894"/>
            <a:ext cx="1107996" cy="369332"/>
          </a:xfrm>
          <a:prstGeom prst="rect">
            <a:avLst/>
          </a:prstGeom>
          <a:noFill/>
        </p:spPr>
        <p:txBody>
          <a:bodyPr wrap="none" rtlCol="0">
            <a:spAutoFit/>
          </a:bodyPr>
          <a:lstStyle/>
          <a:p>
            <a:r>
              <a:rPr lang="en-001" dirty="0"/>
              <a:t>论文调研</a:t>
            </a:r>
          </a:p>
        </p:txBody>
      </p:sp>
    </p:spTree>
    <p:extLst>
      <p:ext uri="{BB962C8B-B14F-4D97-AF65-F5344CB8AC3E}">
        <p14:creationId xmlns:p14="http://schemas.microsoft.com/office/powerpoint/2010/main" val="3729829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A1EBC1C-0333-27CA-7615-8500237EA192}"/>
              </a:ext>
            </a:extLst>
          </p:cNvPr>
          <p:cNvSpPr txBox="1"/>
          <p:nvPr/>
        </p:nvSpPr>
        <p:spPr>
          <a:xfrm>
            <a:off x="1581593" y="3858259"/>
            <a:ext cx="8604398" cy="2031325"/>
          </a:xfrm>
          <a:prstGeom prst="rect">
            <a:avLst/>
          </a:prstGeom>
          <a:noFill/>
        </p:spPr>
        <p:txBody>
          <a:bodyPr wrap="square">
            <a:spAutoFit/>
          </a:bodyPr>
          <a:lstStyle/>
          <a:p>
            <a:pPr>
              <a:buNone/>
            </a:pPr>
            <a:r>
              <a:rPr lang="zh-CN" altLang="en-US" dirty="0"/>
              <a:t>比如，</a:t>
            </a:r>
            <a:r>
              <a:rPr lang="en-US" altLang="zh-CN" dirty="0"/>
              <a:t>A </a:t>
            </a:r>
            <a:r>
              <a:rPr lang="zh-CN" altLang="en-US" dirty="0"/>
              <a:t>附近有几个属于同一个 </a:t>
            </a:r>
            <a:r>
              <a:rPr lang="en-US" altLang="zh-CN" dirty="0"/>
              <a:t>Wyckoff </a:t>
            </a:r>
            <a:r>
              <a:rPr lang="zh-CN" altLang="en-US" dirty="0"/>
              <a:t>位点的 </a:t>
            </a:r>
            <a:r>
              <a:rPr lang="en-US" altLang="zh-CN" dirty="0"/>
              <a:t>B </a:t>
            </a:r>
            <a:r>
              <a:rPr lang="zh-CN" altLang="en-US" dirty="0"/>
              <a:t>原子：一个在当前晶胞，一个在相邻晶胞。只写“</a:t>
            </a:r>
            <a:r>
              <a:rPr lang="en-US" altLang="zh-CN" dirty="0"/>
              <a:t>A </a:t>
            </a:r>
            <a:r>
              <a:rPr lang="zh-CN" altLang="en-US" dirty="0"/>
              <a:t>连接 </a:t>
            </a:r>
            <a:r>
              <a:rPr lang="en-US" altLang="zh-CN" dirty="0"/>
              <a:t>B </a:t>
            </a:r>
            <a:r>
              <a:rPr lang="zh-CN" altLang="en-US" dirty="0"/>
              <a:t>位点”，还没有指明具体连接谁。操作和平移标签是在给这个邻居“标地址”。晶体学 </a:t>
            </a:r>
            <a:r>
              <a:rPr lang="en-US" altLang="zh-CN" dirty="0"/>
              <a:t>CIF </a:t>
            </a:r>
            <a:r>
              <a:rPr lang="zh-CN" altLang="en-US" dirty="0"/>
              <a:t>的连接记录也采用类似方式，用对称操作编号和晶胞平移标记连接端点。</a:t>
            </a:r>
            <a:endParaRPr lang="en-US" altLang="zh-CN" dirty="0"/>
          </a:p>
          <a:p>
            <a:pPr>
              <a:buNone/>
            </a:pPr>
            <a:r>
              <a:rPr lang="zh-CN" altLang="en-US" dirty="0"/>
              <a:t>我们希望在生成几何之前，就显式给模型提供周期连接关系时，把它们放进 </a:t>
            </a:r>
            <a:r>
              <a:rPr lang="en-US" altLang="zh-CN" dirty="0"/>
              <a:t>tokenizer </a:t>
            </a:r>
            <a:r>
              <a:rPr lang="zh-CN" altLang="en-US" dirty="0"/>
              <a:t>才有明确用途。这里的晶格平移也不是原子需要学习的连续位移，而是整数晶胞编号。</a:t>
            </a:r>
          </a:p>
        </p:txBody>
      </p:sp>
      <p:pic>
        <p:nvPicPr>
          <p:cNvPr id="6" name="图片 5">
            <a:extLst>
              <a:ext uri="{FF2B5EF4-FFF2-40B4-BE49-F238E27FC236}">
                <a16:creationId xmlns:a16="http://schemas.microsoft.com/office/drawing/2014/main" id="{0E39891D-EC84-3CD0-2A79-EC3364F7A66A}"/>
              </a:ext>
            </a:extLst>
          </p:cNvPr>
          <p:cNvPicPr>
            <a:picLocks noChangeAspect="1"/>
          </p:cNvPicPr>
          <p:nvPr/>
        </p:nvPicPr>
        <p:blipFill>
          <a:blip r:embed="rId2"/>
          <a:stretch>
            <a:fillRect/>
          </a:stretch>
        </p:blipFill>
        <p:spPr>
          <a:xfrm>
            <a:off x="1254432" y="1286541"/>
            <a:ext cx="9683135" cy="1483002"/>
          </a:xfrm>
          <a:prstGeom prst="rect">
            <a:avLst/>
          </a:prstGeom>
        </p:spPr>
      </p:pic>
    </p:spTree>
    <p:extLst>
      <p:ext uri="{BB962C8B-B14F-4D97-AF65-F5344CB8AC3E}">
        <p14:creationId xmlns:p14="http://schemas.microsoft.com/office/powerpoint/2010/main" val="3596328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8178518-54DE-B71F-58F1-6DF176EDE599}"/>
              </a:ext>
            </a:extLst>
          </p:cNvPr>
          <p:cNvSpPr>
            <a:spLocks noGrp="1"/>
          </p:cNvSpPr>
          <p:nvPr>
            <p:ph type="sldNum" sz="quarter" idx="4"/>
          </p:nvPr>
        </p:nvSpPr>
        <p:spPr/>
        <p:txBody>
          <a:bodyPr/>
          <a:lstStyle/>
          <a:p>
            <a:fld id="{48D82B17-3AA5-DB4E-A79B-C818A6AD8FB8}" type="slidenum">
              <a:rPr lang="en-CN" smtClean="0"/>
              <a:pPr/>
              <a:t>13</a:t>
            </a:fld>
            <a:endParaRPr lang="en-CN" dirty="0"/>
          </a:p>
        </p:txBody>
      </p:sp>
      <p:graphicFrame>
        <p:nvGraphicFramePr>
          <p:cNvPr id="5" name="表格 4">
            <a:extLst>
              <a:ext uri="{FF2B5EF4-FFF2-40B4-BE49-F238E27FC236}">
                <a16:creationId xmlns:a16="http://schemas.microsoft.com/office/drawing/2014/main" id="{FB2BAF59-2322-C4B2-79CC-1AD661866A88}"/>
              </a:ext>
            </a:extLst>
          </p:cNvPr>
          <p:cNvGraphicFramePr/>
          <p:nvPr/>
        </p:nvGraphicFramePr>
        <p:xfrm>
          <a:off x="762000" y="1543050"/>
          <a:ext cx="10668000" cy="4457700"/>
        </p:xfrm>
        <a:graphic>
          <a:graphicData uri="http://schemas.openxmlformats.org/drawingml/2006/table">
            <a:tbl>
              <a:tblPr/>
              <a:tblGrid>
                <a:gridCol w="26289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3676650">
                  <a:extLst>
                    <a:ext uri="{9D8B030D-6E8A-4147-A177-3AD203B41FA5}">
                      <a16:colId xmlns:a16="http://schemas.microsoft.com/office/drawing/2014/main" val="20003"/>
                    </a:ext>
                  </a:extLst>
                </a:gridCol>
              </a:tblGrid>
              <a:tr h="342900">
                <a:tc>
                  <a:txBody>
                    <a:bodyPr/>
                    <a:lstStyle/>
                    <a:p>
                      <a:r>
                        <a:rPr sz="1350" b="1" dirty="0" err="1">
                          <a:solidFill>
                            <a:srgbClr val="FFFFFF"/>
                          </a:solidFill>
                          <a:latin typeface="PingFang SC"/>
                          <a:ea typeface="PingFang SC"/>
                          <a:cs typeface="PingFang SC"/>
                        </a:rPr>
                        <a:t>方案</a:t>
                      </a:r>
                      <a:endParaRPr sz="1350" b="1" dirty="0">
                        <a:solidFill>
                          <a:srgbClr val="FFFFFF"/>
                        </a:solidFill>
                        <a:latin typeface="PingFang SC"/>
                        <a:ea typeface="PingFang SC"/>
                        <a:cs typeface="PingFang SC"/>
                      </a:endParaRP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分词 / 表示方法</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验证阶段</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结果与判断</a:t>
                      </a:r>
                    </a:p>
                  </a:txBody>
                  <a:tcPr marL="85725" marR="76200" marT="47625" marB="47625" anchor="ctr">
                    <a:solidFill>
                      <a:srgbClr val="2D6B5B"/>
                    </a:solidFill>
                  </a:tcPr>
                </a:tc>
                <a:extLst>
                  <a:ext uri="{0D108BD9-81ED-4DB2-BD59-A6C34878D82A}">
                    <a16:rowId xmlns:a16="http://schemas.microsoft.com/office/drawing/2014/main" val="10000"/>
                  </a:ext>
                </a:extLst>
              </a:tr>
              <a:tr h="514350">
                <a:tc>
                  <a:txBody>
                    <a:bodyPr/>
                    <a:lstStyle/>
                    <a:p>
                      <a:r>
                        <a:rPr sz="1200" b="1">
                          <a:solidFill>
                            <a:srgbClr val="17372F"/>
                          </a:solidFill>
                          <a:latin typeface="PingFang SC"/>
                          <a:ea typeface="PingFang SC"/>
                          <a:cs typeface="PingFang SC"/>
                        </a:rPr>
                        <a:t>1  完整占位配置大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同一元素的整套 WP 占位配置</a:t>
                      </a:r>
                    </a:p>
                    <a:p>
                      <a:r>
                        <a:rPr sz="1200" b="0">
                          <a:solidFill>
                            <a:srgbClr val="17372F"/>
                          </a:solidFill>
                          <a:latin typeface="PingFang SC"/>
                          <a:ea typeface="PingFang SC"/>
                          <a:cs typeface="PingFang SC"/>
                        </a:rPr>
                        <a:t>独立成词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词表计算</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扫描 230 个空间群，部分组合数量爆炸</a:t>
                      </a:r>
                    </a:p>
                    <a:p>
                      <a:r>
                        <a:rPr sz="1200" b="0">
                          <a:solidFill>
                            <a:srgbClr val="17372F"/>
                          </a:solidFill>
                          <a:latin typeface="PingFang SC"/>
                          <a:ea typeface="PingFang SC"/>
                          <a:cs typeface="PingFang SC"/>
                        </a:rPr>
                        <a:t>不采用全覆盖的大词表</a:t>
                      </a:r>
                    </a:p>
                  </a:txBody>
                  <a:tcPr marL="85725" marR="76200" marT="47625" marB="47625" anchor="ctr">
                    <a:solidFill>
                      <a:srgbClr val="F5F8F5"/>
                    </a:solidFill>
                  </a:tcPr>
                </a:tc>
                <a:extLst>
                  <a:ext uri="{0D108BD9-81ED-4DB2-BD59-A6C34878D82A}">
                    <a16:rowId xmlns:a16="http://schemas.microsoft.com/office/drawing/2014/main" val="10001"/>
                  </a:ext>
                </a:extLst>
              </a:tr>
              <a:tr h="514350">
                <a:tc>
                  <a:txBody>
                    <a:bodyPr/>
                    <a:lstStyle/>
                    <a:p>
                      <a:r>
                        <a:rPr sz="1200" b="1">
                          <a:solidFill>
                            <a:srgbClr val="17372F"/>
                          </a:solidFill>
                          <a:latin typeface="PingFang SC"/>
                          <a:ea typeface="PingFang SC"/>
                          <a:cs typeface="PingFang SC"/>
                        </a:rPr>
                        <a:t>2  完整占位的组合式编码</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将各 WP 占位记录组合</a:t>
                      </a:r>
                    </a:p>
                    <a:p>
                      <a:r>
                        <a:rPr sz="1200" b="0">
                          <a:solidFill>
                            <a:srgbClr val="17372F"/>
                          </a:solidFill>
                          <a:latin typeface="PingFang SC"/>
                          <a:ea typeface="PingFang SC"/>
                          <a:cs typeface="PingFang SC"/>
                        </a:rPr>
                        <a:t>编码成完整配置表示</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模型对照</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相同联合解码下，匹配率仅增 0.20 个百分点</a:t>
                      </a:r>
                    </a:p>
                    <a:p>
                      <a:r>
                        <a:rPr sz="1200" b="0">
                          <a:solidFill>
                            <a:srgbClr val="17372F"/>
                          </a:solidFill>
                          <a:latin typeface="PingFang SC"/>
                          <a:ea typeface="PingFang SC"/>
                          <a:cs typeface="PingFang SC"/>
                        </a:rPr>
                        <a:t>未确认预测收益</a:t>
                      </a:r>
                    </a:p>
                  </a:txBody>
                  <a:tcPr marL="85725" marR="76200" marT="47625" marB="47625" anchor="ctr">
                    <a:solidFill>
                      <a:srgbClr val="EAF0EB"/>
                    </a:solidFill>
                  </a:tcPr>
                </a:tc>
                <a:extLst>
                  <a:ext uri="{0D108BD9-81ED-4DB2-BD59-A6C34878D82A}">
                    <a16:rowId xmlns:a16="http://schemas.microsoft.com/office/drawing/2014/main" val="10002"/>
                  </a:ext>
                </a:extLst>
              </a:tr>
              <a:tr h="514350">
                <a:tc>
                  <a:txBody>
                    <a:bodyPr/>
                    <a:lstStyle/>
                    <a:p>
                      <a:r>
                        <a:rPr sz="1200" b="1">
                          <a:solidFill>
                            <a:srgbClr val="17372F"/>
                          </a:solidFill>
                          <a:latin typeface="PingFang SC"/>
                          <a:ea typeface="PingFang SC"/>
                          <a:cs typeface="PingFang SC"/>
                        </a:rPr>
                        <a:t>3  无序 WP 集合合并</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将常共同出现的同元素</a:t>
                      </a:r>
                    </a:p>
                    <a:p>
                      <a:r>
                        <a:rPr sz="1200" b="0">
                          <a:solidFill>
                            <a:srgbClr val="17372F"/>
                          </a:solidFill>
                          <a:latin typeface="PingFang SC"/>
                          <a:ea typeface="PingFang SC"/>
                          <a:cs typeface="PingFang SC"/>
                        </a:rPr>
                        <a:t>WP 轨道合成一个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可逆编码＋模型</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可以压缩，未证明优于简单计数编码</a:t>
                      </a:r>
                    </a:p>
                    <a:p>
                      <a:r>
                        <a:rPr sz="1200" b="0">
                          <a:solidFill>
                            <a:srgbClr val="17372F"/>
                          </a:solidFill>
                          <a:latin typeface="PingFang SC"/>
                          <a:ea typeface="PingFang SC"/>
                          <a:cs typeface="PingFang SC"/>
                        </a:rPr>
                        <a:t>随后调整为计数块方案</a:t>
                      </a:r>
                    </a:p>
                  </a:txBody>
                  <a:tcPr marL="85725" marR="76200" marT="47625" marB="47625" anchor="ctr">
                    <a:solidFill>
                      <a:srgbClr val="F5F8F5"/>
                    </a:solidFill>
                  </a:tcPr>
                </a:tc>
                <a:extLst>
                  <a:ext uri="{0D108BD9-81ED-4DB2-BD59-A6C34878D82A}">
                    <a16:rowId xmlns:a16="http://schemas.microsoft.com/office/drawing/2014/main" val="10003"/>
                  </a:ext>
                </a:extLst>
              </a:tr>
              <a:tr h="514350">
                <a:tc>
                  <a:txBody>
                    <a:bodyPr/>
                    <a:lstStyle/>
                    <a:p>
                      <a:r>
                        <a:rPr sz="1200" b="1">
                          <a:solidFill>
                            <a:srgbClr val="17372F"/>
                          </a:solidFill>
                          <a:latin typeface="PingFang SC"/>
                          <a:ea typeface="PingFang SC"/>
                          <a:cs typeface="PingFang SC"/>
                        </a:rPr>
                        <a:t>4  WP 计数块合并</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先记录 WP 与出现次数</a:t>
                      </a:r>
                    </a:p>
                    <a:p>
                      <a:r>
                        <a:rPr sz="1200" b="0">
                          <a:solidFill>
                            <a:srgbClr val="17372F"/>
                          </a:solidFill>
                          <a:latin typeface="PingFang SC"/>
                          <a:ea typeface="PingFang SC"/>
                          <a:cs typeface="PingFang SC"/>
                        </a:rPr>
                        <a:t>再合并常见的多条计数记录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三种子模型＋测试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测试编码单元减少约 9.6%</a:t>
                      </a:r>
                    </a:p>
                    <a:p>
                      <a:r>
                        <a:rPr sz="1200" b="0">
                          <a:solidFill>
                            <a:srgbClr val="17372F"/>
                          </a:solidFill>
                          <a:latin typeface="PingFang SC"/>
                          <a:ea typeface="PingFang SC"/>
                          <a:cs typeface="PingFang SC"/>
                        </a:rPr>
                        <a:t>预测质量无稳定提升，停止扩大实验</a:t>
                      </a:r>
                    </a:p>
                  </a:txBody>
                  <a:tcPr marL="85725" marR="76200" marT="47625" marB="47625" anchor="ctr">
                    <a:solidFill>
                      <a:srgbClr val="EAF0EB"/>
                    </a:solidFill>
                  </a:tcPr>
                </a:tc>
                <a:extLst>
                  <a:ext uri="{0D108BD9-81ED-4DB2-BD59-A6C34878D82A}">
                    <a16:rowId xmlns:a16="http://schemas.microsoft.com/office/drawing/2014/main" val="10004"/>
                  </a:ext>
                </a:extLst>
              </a:tr>
              <a:tr h="514350">
                <a:tc>
                  <a:txBody>
                    <a:bodyPr/>
                    <a:lstStyle/>
                    <a:p>
                      <a:r>
                        <a:rPr sz="1200" b="1">
                          <a:solidFill>
                            <a:srgbClr val="17372F"/>
                          </a:solidFill>
                          <a:latin typeface="PingFang SC"/>
                          <a:ea typeface="PingFang SC"/>
                          <a:cs typeface="PingFang SC"/>
                        </a:rPr>
                        <a:t>5  重数组合＋WP 分配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先按对称等价原子组的大小汇总</a:t>
                      </a:r>
                    </a:p>
                    <a:p>
                      <a:r>
                        <a:rPr sz="1200" b="0">
                          <a:solidFill>
                            <a:srgbClr val="17372F"/>
                          </a:solidFill>
                          <a:latin typeface="PingFang SC"/>
                          <a:ea typeface="PingFang SC"/>
                          <a:cs typeface="PingFang SC"/>
                        </a:rPr>
                        <a:t>再补充具体 WP 身份</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模型分解＋消融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层级概率形式未优于共同打分</a:t>
                      </a:r>
                    </a:p>
                    <a:p>
                      <a:r>
                        <a:rPr sz="1200" b="0">
                          <a:solidFill>
                            <a:srgbClr val="17372F"/>
                          </a:solidFill>
                          <a:latin typeface="PingFang SC"/>
                          <a:ea typeface="PingFang SC"/>
                          <a:cs typeface="PingFang SC"/>
                        </a:rPr>
                        <a:t>未确认按重数聚合的收益</a:t>
                      </a:r>
                    </a:p>
                  </a:txBody>
                  <a:tcPr marL="85725" marR="76200" marT="47625" marB="47625" anchor="ctr">
                    <a:solidFill>
                      <a:srgbClr val="F5F8F5"/>
                    </a:solidFill>
                  </a:tcPr>
                </a:tc>
                <a:extLst>
                  <a:ext uri="{0D108BD9-81ED-4DB2-BD59-A6C34878D82A}">
                    <a16:rowId xmlns:a16="http://schemas.microsoft.com/office/drawing/2014/main" val="10005"/>
                  </a:ext>
                </a:extLst>
              </a:tr>
              <a:tr h="514350">
                <a:tc>
                  <a:txBody>
                    <a:bodyPr/>
                    <a:lstStyle/>
                    <a:p>
                      <a:r>
                        <a:rPr sz="1200" b="1">
                          <a:solidFill>
                            <a:srgbClr val="17372F"/>
                          </a:solidFill>
                          <a:latin typeface="PingFang SC"/>
                          <a:ea typeface="PingFang SC"/>
                          <a:cs typeface="PingFang SC"/>
                        </a:rPr>
                        <a:t>6  位点类型计数＋WP 分配</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先按位点点群类型汇总占位</a:t>
                      </a:r>
                    </a:p>
                    <a:p>
                      <a:r>
                        <a:rPr sz="1200" b="0">
                          <a:solidFill>
                            <a:srgbClr val="17372F"/>
                          </a:solidFill>
                          <a:latin typeface="PingFang SC"/>
                          <a:ea typeface="PingFang SC"/>
                          <a:cs typeface="PingFang SC"/>
                        </a:rPr>
                        <a:t>再补充具体 WP 身份</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编码检查＋模型</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未达到预定的模型收益门槛</a:t>
                      </a:r>
                    </a:p>
                    <a:p>
                      <a:r>
                        <a:rPr sz="1200" b="0">
                          <a:solidFill>
                            <a:srgbClr val="17372F"/>
                          </a:solidFill>
                          <a:latin typeface="PingFang SC"/>
                          <a:ea typeface="PingFang SC"/>
                          <a:cs typeface="PingFang SC"/>
                        </a:rPr>
                        <a:t>停止扩大该分支</a:t>
                      </a:r>
                    </a:p>
                  </a:txBody>
                  <a:tcPr marL="85725" marR="76200" marT="47625" marB="47625" anchor="ctr">
                    <a:solidFill>
                      <a:srgbClr val="EAF0EB"/>
                    </a:solidFill>
                  </a:tcPr>
                </a:tc>
                <a:extLst>
                  <a:ext uri="{0D108BD9-81ED-4DB2-BD59-A6C34878D82A}">
                    <a16:rowId xmlns:a16="http://schemas.microsoft.com/office/drawing/2014/main" val="10006"/>
                  </a:ext>
                </a:extLst>
              </a:tr>
              <a:tr h="514350">
                <a:tc>
                  <a:txBody>
                    <a:bodyPr/>
                    <a:lstStyle/>
                    <a:p>
                      <a:r>
                        <a:rPr sz="1200" b="1">
                          <a:solidFill>
                            <a:srgbClr val="17372F"/>
                          </a:solidFill>
                          <a:latin typeface="PingFang SC"/>
                          <a:ea typeface="PingFang SC"/>
                          <a:cs typeface="PingFang SC"/>
                        </a:rPr>
                        <a:t>7  群–子群 / WP 分裂动作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将子群选择与 WP 分裂</a:t>
                      </a:r>
                    </a:p>
                    <a:p>
                      <a:r>
                        <a:rPr sz="1200" b="0">
                          <a:solidFill>
                            <a:srgbClr val="17372F"/>
                          </a:solidFill>
                          <a:latin typeface="PingFang SC"/>
                          <a:ea typeface="PingFang SC"/>
                          <a:cs typeface="PingFang SC"/>
                        </a:rPr>
                        <a:t>编码为生成动作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仅文献筛查</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已有工作明显覆盖相关思路</a:t>
                      </a:r>
                    </a:p>
                    <a:p>
                      <a:r>
                        <a:rPr sz="1200" b="0">
                          <a:solidFill>
                            <a:srgbClr val="17372F"/>
                          </a:solidFill>
                          <a:latin typeface="PingFang SC"/>
                          <a:ea typeface="PingFang SC"/>
                          <a:cs typeface="PingFang SC"/>
                        </a:rPr>
                        <a:t>未进入实现和训练</a:t>
                      </a:r>
                    </a:p>
                  </a:txBody>
                  <a:tcPr marL="85725" marR="76200" marT="47625" marB="47625" anchor="ctr">
                    <a:solidFill>
                      <a:srgbClr val="F5F8F5"/>
                    </a:solidFill>
                  </a:tcPr>
                </a:tc>
                <a:extLst>
                  <a:ext uri="{0D108BD9-81ED-4DB2-BD59-A6C34878D82A}">
                    <a16:rowId xmlns:a16="http://schemas.microsoft.com/office/drawing/2014/main" val="10007"/>
                  </a:ext>
                </a:extLst>
              </a:tr>
              <a:tr h="514350">
                <a:tc>
                  <a:txBody>
                    <a:bodyPr/>
                    <a:lstStyle/>
                    <a:p>
                      <a:r>
                        <a:rPr sz="1200" b="1">
                          <a:solidFill>
                            <a:srgbClr val="17372F"/>
                          </a:solidFill>
                          <a:latin typeface="PingFang SC"/>
                          <a:ea typeface="PingFang SC"/>
                          <a:cs typeface="PingFang SC"/>
                        </a:rPr>
                        <a:t>8  空间群边轨道 tokenizer</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合并对称等价的邻接关系</a:t>
                      </a:r>
                    </a:p>
                    <a:p>
                      <a:r>
                        <a:rPr sz="1200" b="1">
                          <a:solidFill>
                            <a:srgbClr val="17372F"/>
                          </a:solidFill>
                          <a:latin typeface="PingFang SC"/>
                          <a:ea typeface="PingFang SC"/>
                          <a:cs typeface="PingFang SC"/>
                        </a:rPr>
                        <a:t>离散原型与连续几何分开</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编码＋模型＋去噪</a:t>
                      </a:r>
                    </a:p>
                  </a:txBody>
                  <a:tcPr marL="85725" marR="76200" marT="47625" marB="47625" anchor="ctr">
                    <a:solidFill>
                      <a:srgbClr val="DCECE3"/>
                    </a:solidFill>
                  </a:tcPr>
                </a:tc>
                <a:tc>
                  <a:txBody>
                    <a:bodyPr/>
                    <a:lstStyle/>
                    <a:p>
                      <a:r>
                        <a:rPr sz="1200" b="1" dirty="0" err="1">
                          <a:solidFill>
                            <a:srgbClr val="17372F"/>
                          </a:solidFill>
                          <a:latin typeface="PingFang SC"/>
                          <a:ea typeface="PingFang SC"/>
                          <a:cs typeface="PingFang SC"/>
                        </a:rPr>
                        <a:t>保留为候选，指定</a:t>
                      </a:r>
                      <a:r>
                        <a:rPr sz="1200" b="1" dirty="0">
                          <a:solidFill>
                            <a:srgbClr val="17372F"/>
                          </a:solidFill>
                          <a:latin typeface="PingFang SC"/>
                          <a:ea typeface="PingFang SC"/>
                          <a:cs typeface="PingFang SC"/>
                        </a:rPr>
                        <a:t> ASU </a:t>
                      </a:r>
                      <a:r>
                        <a:rPr sz="1200" b="1" dirty="0" err="1">
                          <a:solidFill>
                            <a:srgbClr val="17372F"/>
                          </a:solidFill>
                          <a:latin typeface="PingFang SC"/>
                          <a:ea typeface="PingFang SC"/>
                          <a:cs typeface="PingFang SC"/>
                        </a:rPr>
                        <a:t>对照下显存少</a:t>
                      </a:r>
                      <a:r>
                        <a:rPr sz="1200" b="1" dirty="0">
                          <a:solidFill>
                            <a:srgbClr val="17372F"/>
                          </a:solidFill>
                          <a:latin typeface="PingFang SC"/>
                          <a:ea typeface="PingFang SC"/>
                          <a:cs typeface="PingFang SC"/>
                        </a:rPr>
                        <a:t> 44.6%</a:t>
                      </a:r>
                    </a:p>
                    <a:p>
                      <a:r>
                        <a:rPr sz="1200" b="1" dirty="0" err="1">
                          <a:solidFill>
                            <a:srgbClr val="17372F"/>
                          </a:solidFill>
                          <a:latin typeface="PingFang SC"/>
                          <a:ea typeface="PingFang SC"/>
                          <a:cs typeface="PingFang SC"/>
                        </a:rPr>
                        <a:t>耗时多</a:t>
                      </a:r>
                      <a:r>
                        <a:rPr sz="1200" b="1" dirty="0">
                          <a:solidFill>
                            <a:srgbClr val="17372F"/>
                          </a:solidFill>
                          <a:latin typeface="PingFang SC"/>
                          <a:ea typeface="PingFang SC"/>
                          <a:cs typeface="PingFang SC"/>
                        </a:rPr>
                        <a:t> 11.7%，</a:t>
                      </a:r>
                      <a:r>
                        <a:rPr sz="1200" b="1" dirty="0" err="1">
                          <a:solidFill>
                            <a:srgbClr val="17372F"/>
                          </a:solidFill>
                          <a:latin typeface="PingFang SC"/>
                          <a:ea typeface="PingFang SC"/>
                          <a:cs typeface="PingFang SC"/>
                        </a:rPr>
                        <a:t>完整生成尚待验证</a:t>
                      </a:r>
                      <a:endParaRPr sz="1200" b="1" dirty="0">
                        <a:solidFill>
                          <a:srgbClr val="17372F"/>
                        </a:solidFill>
                        <a:latin typeface="PingFang SC"/>
                        <a:ea typeface="PingFang SC"/>
                        <a:cs typeface="PingFang SC"/>
                      </a:endParaRPr>
                    </a:p>
                  </a:txBody>
                  <a:tcPr marL="85725" marR="76200" marT="47625" marB="47625" anchor="ctr">
                    <a:solidFill>
                      <a:srgbClr val="DCECE3"/>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60488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10959-5479-9DB5-4290-36E84239D523}"/>
              </a:ext>
            </a:extLst>
          </p:cNvPr>
          <p:cNvSpPr>
            <a:spLocks noGrp="1"/>
          </p:cNvSpPr>
          <p:nvPr>
            <p:ph type="title"/>
          </p:nvPr>
        </p:nvSpPr>
        <p:spPr/>
        <p:txBody>
          <a:bodyPr/>
          <a:lstStyle/>
          <a:p>
            <a:r>
              <a:rPr lang="en-US" dirty="0"/>
              <a:t>F</a:t>
            </a:r>
            <a:r>
              <a:rPr lang="en-001" dirty="0"/>
              <a:t>uture</a:t>
            </a:r>
            <a:r>
              <a:rPr lang="zh-CN" altLang="en-US" dirty="0"/>
              <a:t> </a:t>
            </a:r>
            <a:r>
              <a:rPr lang="en-US" altLang="zh-CN" dirty="0"/>
              <a:t>work</a:t>
            </a:r>
            <a:endParaRPr lang="en-001" dirty="0"/>
          </a:p>
        </p:txBody>
      </p:sp>
      <p:sp>
        <p:nvSpPr>
          <p:cNvPr id="3" name="Content Placeholder 2">
            <a:extLst>
              <a:ext uri="{FF2B5EF4-FFF2-40B4-BE49-F238E27FC236}">
                <a16:creationId xmlns:a16="http://schemas.microsoft.com/office/drawing/2014/main" id="{905FD7B3-2BA1-42F0-2CBF-DE09486E8855}"/>
              </a:ext>
            </a:extLst>
          </p:cNvPr>
          <p:cNvSpPr>
            <a:spLocks noGrp="1"/>
          </p:cNvSpPr>
          <p:nvPr>
            <p:ph idx="1"/>
          </p:nvPr>
        </p:nvSpPr>
        <p:spPr/>
        <p:txBody>
          <a:bodyPr/>
          <a:lstStyle/>
          <a:p>
            <a:r>
              <a:rPr lang="en-001" dirty="0"/>
              <a:t>调研一下是不是真的没有文章做过大模型</a:t>
            </a:r>
            <a:r>
              <a:rPr lang="zh-CN" altLang="en-US" dirty="0"/>
              <a:t>？无条件生成的。</a:t>
            </a:r>
            <a:endParaRPr lang="en-001" dirty="0"/>
          </a:p>
          <a:p>
            <a:r>
              <a:rPr lang="en-001" dirty="0"/>
              <a:t>写一个实际的position位点例子展示出来</a:t>
            </a:r>
          </a:p>
          <a:p>
            <a:r>
              <a:rPr lang="en-001" dirty="0"/>
              <a:t>不同</a:t>
            </a:r>
            <a:r>
              <a:rPr lang="zh-CN" altLang="en-US" dirty="0"/>
              <a:t>空间群中的</a:t>
            </a:r>
            <a:r>
              <a:rPr lang="en-US" altLang="zh-CN" dirty="0" err="1"/>
              <a:t>postion</a:t>
            </a:r>
            <a:r>
              <a:rPr lang="zh-CN" altLang="en-US" dirty="0"/>
              <a:t>的交叉表示</a:t>
            </a:r>
            <a:endParaRPr lang="en-US" altLang="zh-CN" dirty="0"/>
          </a:p>
          <a:p>
            <a:r>
              <a:rPr lang="zh-CN" altLang="en-US" dirty="0"/>
              <a:t>大的</a:t>
            </a:r>
            <a:r>
              <a:rPr lang="en-US" altLang="zh-CN" dirty="0"/>
              <a:t>foundation</a:t>
            </a:r>
            <a:r>
              <a:rPr lang="zh-CN" altLang="en-US" dirty="0"/>
              <a:t> </a:t>
            </a:r>
            <a:r>
              <a:rPr lang="en-US" altLang="zh-CN" dirty="0"/>
              <a:t>model</a:t>
            </a:r>
          </a:p>
          <a:p>
            <a:r>
              <a:rPr lang="en-US" dirty="0" err="1"/>
              <a:t>怎么样说明可以复用</a:t>
            </a:r>
            <a:endParaRPr lang="en-001" dirty="0"/>
          </a:p>
        </p:txBody>
      </p:sp>
      <p:sp>
        <p:nvSpPr>
          <p:cNvPr id="4" name="Slide Number Placeholder 3">
            <a:extLst>
              <a:ext uri="{FF2B5EF4-FFF2-40B4-BE49-F238E27FC236}">
                <a16:creationId xmlns:a16="http://schemas.microsoft.com/office/drawing/2014/main" id="{E5FF5520-B6B0-371D-FC54-F7A5B1C3809A}"/>
              </a:ext>
            </a:extLst>
          </p:cNvPr>
          <p:cNvSpPr>
            <a:spLocks noGrp="1"/>
          </p:cNvSpPr>
          <p:nvPr>
            <p:ph type="sldNum" sz="quarter" idx="4"/>
          </p:nvPr>
        </p:nvSpPr>
        <p:spPr/>
        <p:txBody>
          <a:bodyPr/>
          <a:lstStyle/>
          <a:p>
            <a:fld id="{48D82B17-3AA5-DB4E-A79B-C818A6AD8FB8}" type="slidenum">
              <a:rPr lang="en-CN" smtClean="0"/>
              <a:pPr/>
              <a:t>14</a:t>
            </a:fld>
            <a:endParaRPr lang="en-CN" dirty="0"/>
          </a:p>
        </p:txBody>
      </p:sp>
    </p:spTree>
    <p:extLst>
      <p:ext uri="{BB962C8B-B14F-4D97-AF65-F5344CB8AC3E}">
        <p14:creationId xmlns:p14="http://schemas.microsoft.com/office/powerpoint/2010/main" val="394682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232F-5131-4D23-2EF0-4B44163AD72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2733382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ityUHK_PPT_template_202501.potx" id="{7F2BEBF3-9CF0-CB46-AABF-BF87BD277522}" vid="{2EBB819F-E8BA-6E4B-8B83-50690D0D30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主题​​</Template>
  <TotalTime>8199</TotalTime>
  <Words>1926</Words>
  <Application>Microsoft Macintosh PowerPoint</Application>
  <PresentationFormat>Widescreen</PresentationFormat>
  <Paragraphs>251</Paragraphs>
  <Slides>15</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-apple-system</vt:lpstr>
      <vt:lpstr>PingFang SC</vt:lpstr>
      <vt:lpstr>Aptos</vt:lpstr>
      <vt:lpstr>Arial</vt:lpstr>
      <vt:lpstr>Cambria Math</vt:lpstr>
      <vt:lpstr>Office 主题​​</vt:lpstr>
      <vt:lpstr>Crystal DLM</vt:lpstr>
      <vt:lpstr>Outline</vt:lpstr>
      <vt:lpstr>Our work</vt:lpstr>
      <vt:lpstr>Matra-Genoa</vt:lpstr>
      <vt:lpstr>WyFormer</vt:lpstr>
      <vt:lpstr>MaskGXT</vt:lpstr>
      <vt:lpstr>DynaCrys</vt:lpstr>
      <vt:lpstr>Related Work</vt:lpstr>
      <vt:lpstr>What we can do？</vt:lpstr>
      <vt:lpstr>PowerPoint Presentation</vt:lpstr>
      <vt:lpstr>PowerPoint Presentation</vt:lpstr>
      <vt:lpstr>PowerPoint Presentation</vt:lpstr>
      <vt:lpstr>PowerPoint Presentation</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铖 桂</dc:creator>
  <cp:lastModifiedBy>Mr. GUI Cheng</cp:lastModifiedBy>
  <cp:revision>12</cp:revision>
  <dcterms:created xsi:type="dcterms:W3CDTF">2026-09-01T11:44:28Z</dcterms:created>
  <dcterms:modified xsi:type="dcterms:W3CDTF">2026-09-12T04:58:46Z</dcterms:modified>
</cp:coreProperties>
</file>