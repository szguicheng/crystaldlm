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followup20260914_slideLayout1.xml" ContentType="application/vnd.openxmlformats-officedocument.presentationml.slideLayout+xml"/>
  <Override PartName="/ppt/slideMasters/followup20260914_slideMaster1.xml" ContentType="application/vnd.openxmlformats-officedocument.presentationml.slideMaster+xml"/>
  <Override PartName="/ppt/slideMasters/theme/followup20260914_theme2.xml" ContentType="application/vnd.openxmlformats-officedocument.theme+xml"/>
  <Override PartName="/ppt/slideLayouts/followup20260914_slideLayout2.xml" ContentType="application/vnd.openxmlformats-officedocument.presentationml.slideLayout+xml"/>
  <Override PartName="/ppt/slideLayouts/followup20260914_slideLayout3.xml" ContentType="application/vnd.openxmlformats-officedocument.presentationml.slideLayout+xml"/>
  <Override PartName="/ppt/slideLayouts/followup20260914_slideLayout4.xml" ContentType="application/vnd.openxmlformats-officedocument.presentationml.slideLayout+xml"/>
  <Override PartName="/ppt/slideLayouts/followup20260914_slideLayout5.xml" ContentType="application/vnd.openxmlformats-officedocument.presentationml.slideLayout+xml"/>
  <Override PartName="/ppt/slideLayouts/followup20260914_slideLayout6.xml" ContentType="application/vnd.openxmlformats-officedocument.presentationml.slideLayout+xml"/>
  <Override PartName="/ppt/slideLayouts/followup20260914_slideLayout7.xml" ContentType="application/vnd.openxmlformats-officedocument.presentationml.slideLayout+xml"/>
  <Override PartName="/ppt/slideLayouts/followup20260914_slideLayout8.xml" ContentType="application/vnd.openxmlformats-officedocument.presentationml.slideLayout+xml"/>
  <Override PartName="/ppt/slideLayouts/followup20260914_slideLayout9.xml" ContentType="application/vnd.openxmlformats-officedocument.presentationml.slideLayout+xml"/>
  <Override PartName="/ppt/notesSlides/followup20260914_notesSlide16.xml" ContentType="application/vnd.openxmlformats-officedocument.presentationml.notesSlide+xml"/>
  <Override PartName="/ppt/notesMasters/followup20260914_notesMaster1.xml" ContentType="application/vnd.openxmlformats-officedocument.presentationml.notesMaster+xml"/>
  <Override PartName="/ppt/notesMasters/theme/followup20260914_theme3.xml" ContentType="application/vnd.openxmlformats-officedocument.theme+xml"/>
  <Override PartName="/ppt/notesSlides/followup20260914_notesSlide17.xml" ContentType="application/vnd.openxmlformats-officedocument.presentationml.notesSlide+xml"/>
  <Override PartName="/ppt/notesSlides/followup20260914_notesSlide18.xml" ContentType="application/vnd.openxmlformats-officedocument.presentationml.notesSlide+xml"/>
  <Override PartName="/ppt/notesSlides/followup20260914_notesSlide19.xml" ContentType="application/vnd.openxmlformats-officedocument.presentationml.notesSlide+xml"/>
  <Override PartName="/ppt/notesSlides/followup20260914_notesSlide20.xml" ContentType="application/vnd.openxmlformats-officedocument.presentationml.notesSlide+xml"/>
  <Override PartName="/ppt/notesSlides/followup20260914_notesSlide21.xml" ContentType="application/vnd.openxmlformats-officedocument.presentationml.notesSlide+xml"/>
  <Override PartName="/ppt/notesSlides/followup20260914_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r:id="rIdFollowup20260914slideMaster0" id="2147483649"/>
  </p:sldMasterIdLst>
  <p:notesMasterIdLst>
    <p:notesMasterId r:id="rId17"/>
    <p:notesMasterId r:id="rIdFollowup20260914notesMaster0"/>
  </p:notesMasterIdLst>
  <p:handoutMasterIdLst>
    <p:handoutMasterId r:id="rId18"/>
  </p:handoutMasterIdLst>
  <p:sldIdLst>
    <p:sldId id="257" r:id="rId2"/>
    <p:sldId id="258" r:id="rId3"/>
    <p:sldId id="264" r:id="rId4"/>
    <p:sldId id="265" r:id="rId5"/>
    <p:sldId id="261" r:id="rId6"/>
    <p:sldId id="263" r:id="rId7"/>
    <p:sldId id="262" r:id="rId8"/>
    <p:sldId id="259" r:id="rId9"/>
    <p:sldId id="266" r:id="rId10"/>
    <p:sldId id="270" r:id="rId11"/>
    <p:sldId id="267" r:id="rId12"/>
    <p:sldId id="268" r:id="rId13"/>
    <p:sldId id="269" r:id="rId14"/>
    <p:sldId id="271" r:id="rId15"/>
    <p:sldId id="260" r:id="rId16"/>
    <p:sldId id="272" r:id="rIdFollowup20260914Slide16"/>
    <p:sldId id="273" r:id="rIdFollowup20260914Slide17"/>
    <p:sldId id="274" r:id="rIdFollowup20260914Slide18"/>
    <p:sldId id="275" r:id="rIdFollowup20260914Slide19"/>
    <p:sldId id="276" r:id="rIdFollowup20260914Slide20"/>
    <p:sldId id="277" r:id="rIdFollowup20260914Slide21"/>
    <p:sldId id="278" r:id="rIdFollowup20260914Slide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00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86681"/>
  </p:normalViewPr>
  <p:slideViewPr>
    <p:cSldViewPr snapToGrid="0">
      <p:cViewPr varScale="1">
        <p:scale>
          <a:sx n="107" d="100"/>
          <a:sy n="107" d="100"/>
        </p:scale>
        <p:origin x="640"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Followup20260914Slide16" Type="http://schemas.openxmlformats.org/officeDocument/2006/relationships/slide" Target="slides/slide16.xml"/><Relationship Id="rIdFollowup20260914Slide17" Type="http://schemas.openxmlformats.org/officeDocument/2006/relationships/slide" Target="slides/slide17.xml"/><Relationship Id="rIdFollowup20260914Slide18" Type="http://schemas.openxmlformats.org/officeDocument/2006/relationships/slide" Target="slides/slide18.xml"/><Relationship Id="rIdFollowup20260914Slide19" Type="http://schemas.openxmlformats.org/officeDocument/2006/relationships/slide" Target="slides/slide19.xml"/><Relationship Id="rIdFollowup20260914Slide20" Type="http://schemas.openxmlformats.org/officeDocument/2006/relationships/slide" Target="slides/slide20.xml"/><Relationship Id="rIdFollowup20260914Slide21" Type="http://schemas.openxmlformats.org/officeDocument/2006/relationships/slide" Target="slides/slide21.xml"/><Relationship Id="rIdFollowup20260914Slide22" Type="http://schemas.openxmlformats.org/officeDocument/2006/relationships/slide" Target="slides/slide22.xml"/><Relationship Id="rIdFollowup20260914slideMaster0" Type="http://schemas.openxmlformats.org/officeDocument/2006/relationships/slideMaster" Target="slideMasters/followup20260914_slideMaster1.xml"/><Relationship Id="rIdFollowup20260914notesMaster0" Type="http://schemas.openxmlformats.org/officeDocument/2006/relationships/notesMaster" Target="notesMasters/followup20260914_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AFC8F7-AF27-F130-7C82-24EFFBB7B0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a:extLst>
              <a:ext uri="{FF2B5EF4-FFF2-40B4-BE49-F238E27FC236}">
                <a16:creationId xmlns:a16="http://schemas.microsoft.com/office/drawing/2014/main" id="{C5AB00E0-B2F9-6C7A-555C-7A817ED955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8514F1-A004-5B48-BF92-2A67EAD675E3}" type="datetimeFigureOut">
              <a:rPr lang="en-CN" smtClean="0"/>
              <a:t>9/10/26</a:t>
            </a:fld>
            <a:endParaRPr lang="en-CN"/>
          </a:p>
        </p:txBody>
      </p:sp>
      <p:sp>
        <p:nvSpPr>
          <p:cNvPr id="4" name="Footer Placeholder 3">
            <a:extLst>
              <a:ext uri="{FF2B5EF4-FFF2-40B4-BE49-F238E27FC236}">
                <a16:creationId xmlns:a16="http://schemas.microsoft.com/office/drawing/2014/main" id="{F8F16121-F8B1-EB14-652E-D18CA489EE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5" name="Slide Number Placeholder 4">
            <a:extLst>
              <a:ext uri="{FF2B5EF4-FFF2-40B4-BE49-F238E27FC236}">
                <a16:creationId xmlns:a16="http://schemas.microsoft.com/office/drawing/2014/main" id="{D3065ACD-FFA5-8586-3750-5C53301D5D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BB1930-FD93-4348-BEFD-0E8A90AA44AF}" type="slidenum">
              <a:rPr lang="en-CN" smtClean="0"/>
              <a:t>‹#›</a:t>
            </a:fld>
            <a:endParaRPr lang="en-CN"/>
          </a:p>
        </p:txBody>
      </p:sp>
    </p:spTree>
    <p:extLst>
      <p:ext uri="{BB962C8B-B14F-4D97-AF65-F5344CB8AC3E}">
        <p14:creationId xmlns:p14="http://schemas.microsoft.com/office/powerpoint/2010/main" val="42032629"/>
      </p:ext>
    </p:extLst>
  </p:cSld>
  <p:clrMap bg1="lt1" tx1="dk1" bg2="lt2" tx2="dk2" accent1="accent1" accent2="accent2" accent3="accent3" accent4="accent4" accent5="accent5" accent6="accent6" hlink="hlink" folHlink="folHlink"/>
</p:handoutMaster>
</file>

<file path=ppt/notesMasters/_rels/followup20260914_notesMaster1.xml.rels><?xml version='1.0' encoding='UTF-8' standalone='yes'?>
<Relationships xmlns="http://schemas.openxmlformats.org/package/2006/relationships"><Relationship Type="http://schemas.openxmlformats.org/officeDocument/2006/relationships/theme" Target="theme/followup20260914_theme3.xml" Id="R2b99b7ce62514f7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followup2026091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FF414-C241-D84F-96D2-7DA274BED85C}" type="datetimeFigureOut">
              <a:rPr lang="en-CN" smtClean="0"/>
              <a:t>9/10/26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A9F544-7F2B-574D-A23E-126D715F5459}" type="slidenum">
              <a:rPr lang="en-CN" smtClean="0"/>
              <a:t>‹#›</a:t>
            </a:fld>
            <a:endParaRPr lang="en-CN"/>
          </a:p>
        </p:txBody>
      </p:sp>
    </p:spTree>
    <p:extLst>
      <p:ext uri="{BB962C8B-B14F-4D97-AF65-F5344CB8AC3E}">
        <p14:creationId xmlns:p14="http://schemas.microsoft.com/office/powerpoint/2010/main" val="385369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followup20260914_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followup20260914_notesSlide16.xml.rels><?xml version='1.0' encoding='UTF-8' standalone='yes'?>
<Relationships xmlns="http://schemas.openxmlformats.org/package/2006/relationships"><Relationship Type="http://schemas.openxmlformats.org/officeDocument/2006/relationships/slide" Target="../slides/slide16.xml" Id="R03387664a85143a7"/><Relationship Type="http://schemas.openxmlformats.org/officeDocument/2006/relationships/notesMaster" Target="../notesMasters/followup20260914_notesMaster1.xml" Id="Rfe7b7bf1ed914004"/></Relationships>
</file>

<file path=ppt/notesSlides/_rels/followup20260914_notesSlide17.xml.rels><?xml version='1.0' encoding='UTF-8' standalone='yes'?>
<Relationships xmlns="http://schemas.openxmlformats.org/package/2006/relationships"><Relationship Type="http://schemas.openxmlformats.org/officeDocument/2006/relationships/slide" Target="../slides/slide17.xml" Id="R7cba4ec32fe94b30"/><Relationship Type="http://schemas.openxmlformats.org/officeDocument/2006/relationships/notesMaster" Target="../notesMasters/followup20260914_notesMaster1.xml" Id="R2e143798557f4aa5"/></Relationships>
</file>

<file path=ppt/notesSlides/_rels/followup20260914_notesSlide18.xml.rels><?xml version='1.0' encoding='UTF-8' standalone='yes'?>
<Relationships xmlns="http://schemas.openxmlformats.org/package/2006/relationships"><Relationship Type="http://schemas.openxmlformats.org/officeDocument/2006/relationships/slide" Target="../slides/slide18.xml" Id="R647c2a799f774857"/><Relationship Type="http://schemas.openxmlformats.org/officeDocument/2006/relationships/notesMaster" Target="../notesMasters/followup20260914_notesMaster1.xml" Id="R8ede4d2927be4468"/></Relationships>
</file>

<file path=ppt/notesSlides/_rels/followup20260914_notesSlide19.xml.rels><?xml version='1.0' encoding='UTF-8' standalone='yes'?>
<Relationships xmlns="http://schemas.openxmlformats.org/package/2006/relationships"><Relationship Type="http://schemas.openxmlformats.org/officeDocument/2006/relationships/slide" Target="../slides/slide19.xml" Id="R7ad57e3c19bc4894"/><Relationship Type="http://schemas.openxmlformats.org/officeDocument/2006/relationships/notesMaster" Target="../notesMasters/followup20260914_notesMaster1.xml" Id="R95b5e5a7fb7b48bc"/></Relationships>
</file>

<file path=ppt/notesSlides/_rels/followup20260914_notesSlide20.xml.rels><?xml version='1.0' encoding='UTF-8' standalone='yes'?>
<Relationships xmlns="http://schemas.openxmlformats.org/package/2006/relationships"><Relationship Type="http://schemas.openxmlformats.org/officeDocument/2006/relationships/slide" Target="../slides/slide20.xml" Id="R75aed178c43449e3"/><Relationship Type="http://schemas.openxmlformats.org/officeDocument/2006/relationships/notesMaster" Target="../notesMasters/followup20260914_notesMaster1.xml" Id="Rb65002bf961b4e5c"/></Relationships>
</file>

<file path=ppt/notesSlides/_rels/followup20260914_notesSlide21.xml.rels><?xml version='1.0' encoding='UTF-8' standalone='yes'?>
<Relationships xmlns="http://schemas.openxmlformats.org/package/2006/relationships"><Relationship Type="http://schemas.openxmlformats.org/officeDocument/2006/relationships/slide" Target="../slides/slide21.xml" Id="Rfadffc2b483a417a"/><Relationship Type="http://schemas.openxmlformats.org/officeDocument/2006/relationships/notesMaster" Target="../notesMasters/followup20260914_notesMaster1.xml" Id="R50cf9554a48f4e52"/></Relationships>
</file>

<file path=ppt/notesSlides/_rels/followup20260914_notesSlide22.xml.rels><?xml version='1.0' encoding='UTF-8' standalone='yes'?>
<Relationships xmlns="http://schemas.openxmlformats.org/package/2006/relationships"><Relationship Type="http://schemas.openxmlformats.org/officeDocument/2006/relationships/slide" Target="../slides/slide22.xml" Id="Ra089c16259984eca"/><Relationship Type="http://schemas.openxmlformats.org/officeDocument/2006/relationships/notesMaster" Target="../notesMasters/followup20260914_notesMaster1.xml" Id="R307fec97fcc94473"/></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followup20260914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Targeted search current to 2026-09-14. These three papers are the closest examples selected from the fuller survey. No claim of exhaustive prior-art exclusion. LLaMat has Chat/CIF adaptations; NatureLM-Mat3D is separately adapted; ALM Core/Edit/Gen are staged variants.</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CrystalDLM training organization, not an implemented experiment. A naturally absent target has no supervised label. Randomly masked observed fields do have ground truth. Cross-field learning still needs paired data. Distinguish formation energy, total energy and hull energy, units, computation/measurement conditions, and polymorph identity.</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rock-salt assignment with full occupancy. Conventional fcc cell contains four NaCl formula units; primitive cell contains one. Wyckoff multiplicity is per conventional cell. Letter a is local to the WP table for the specified space group and setting. All listed coordinates are fractional and reduced modulo 1.</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Pnma numerical example is illustrative, not a measured structure. SG139 4e standard representative (0,0,z) at z=.290407 is equivalent to the stored mp-30009 representative (.5,.5,.790407). WP family parameters are fractional coordinates. Changes must avoid special values that change orbit multiplicity.</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examples use standard settings. Site symmetries: SG225 4a m-3m, SG216 4a -43m, SG62 4a -1, SG19 4a 1. SG225 and SG216 4a coordinate sets coincide but their site symmetries differ. SG216 4c fixed (.25,.25,.25) versus SG62 4c (x,.25,z). Shared features may be reused while retaining SG/Hall and WP identity.</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Kazeev et al. Wyckoff Transformer: Generation of Symmetric Crystals. https://arxiv.org/abs/2503.02407v4 . Local prior analysis research/model_comparison.md. Oriented site-symmetry and enumeration require the space-group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codec fields: global space_group/hall_number/operations; nodes with Z, wyckoff_letter, affine stabilizer (operation,image) and dof; edge_tokens as [i,j,g,nx,ny,nz]; geometry with lattice and free_vectors. Site stabilizers explicitly encode allowed representative coordinates and can be derived from WP/setting/representative. The current codec is not a trained LM vocabulary.</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Recomputed local example in work/meeting_followup_20260914/example_verified.json. g=16 has R=I and t=(.5,.5,.5). Source Kr q0=(0,0,0), target F representative q1=(.5,.5,.790407), lattice diag(4.383300,4.383300,6.668202) Å. Endpoint (0,0,.290407), separation 1.93649 Å. Seven orbits recover 44 undirected periodic edges, or 88 directed entries after explicit reverse expansion. Grouping sizes [4,16,4,8,2,2,8]. 44/7 is not whole-payload token compression. Fixed abstract connectivity need not remain the same cutoff graph if geometry changes. Multi-step generation remains unimplemented.</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2</a:t>
            </a:fld>
            <a:endParaRPr lang="en-CN"/>
          </a:p>
        </p:txBody>
      </p:sp>
    </p:spTree>
    <p:extLst>
      <p:ext uri="{BB962C8B-B14F-4D97-AF65-F5344CB8AC3E}">
        <p14:creationId xmlns:p14="http://schemas.microsoft.com/office/powerpoint/2010/main" val="28764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我理解的我们想做的工作有两个方向：一个是、、是找一个更好的</a:t>
            </a:r>
            <a:r>
              <a:rPr kumimoji="1" lang="en-US" altLang="zh-CN" dirty="0"/>
              <a:t>tokenizer</a:t>
            </a:r>
            <a:r>
              <a:rPr kumimoji="1" lang="zh-CN" altLang="en-US" dirty="0"/>
              <a:t>，来描述</a:t>
            </a:r>
            <a:r>
              <a:rPr kumimoji="1" lang="en-US" altLang="zh-CN" dirty="0"/>
              <a:t>crystallographic</a:t>
            </a:r>
            <a:r>
              <a:rPr kumimoji="1" lang="zh-CN" altLang="en-US" dirty="0"/>
              <a:t>。在生成和训练的时候，最好是都做到能够</a:t>
            </a:r>
            <a:r>
              <a:rPr kumimoji="1" lang="en-US" altLang="zh-CN" dirty="0"/>
              <a:t>disorder</a:t>
            </a:r>
            <a:r>
              <a:rPr kumimoji="1" lang="zh-CN" altLang="en-US" dirty="0"/>
              <a:t>的一个状态。</a:t>
            </a:r>
            <a:br>
              <a:rPr kumimoji="1" lang="en-US" altLang="zh-CN" dirty="0"/>
            </a:br>
            <a:br>
              <a:rPr kumimoji="1" lang="en-US" altLang="zh-CN" dirty="0"/>
            </a:br>
            <a:r>
              <a:rPr kumimoji="1" lang="zh-CN" altLang="en-US" dirty="0"/>
              <a:t>还有一个就是</a:t>
            </a:r>
            <a:r>
              <a:rPr lang="en-US" altLang="zh-CN" sz="1000" kern="1200" dirty="0" err="1">
                <a:solidFill>
                  <a:srgbClr val="B60007"/>
                </a:solidFill>
                <a:latin typeface="+mn-lt"/>
                <a:ea typeface="+mn-ea"/>
                <a:cs typeface="+mn-cs"/>
              </a:rPr>
              <a:t>WyFormer</a:t>
            </a:r>
            <a:r>
              <a:rPr lang="en-US" altLang="zh-CN" sz="1000" kern="1200" dirty="0">
                <a:solidFill>
                  <a:srgbClr val="B60007"/>
                </a:solidFill>
                <a:latin typeface="+mn-lt"/>
                <a:ea typeface="+mn-ea"/>
                <a:cs typeface="+mn-cs"/>
              </a:rPr>
              <a:t> </a:t>
            </a:r>
            <a:r>
              <a:rPr lang="en-US" altLang="zh-CN" sz="1000" kern="1200" dirty="0" err="1">
                <a:solidFill>
                  <a:srgbClr val="B60007"/>
                </a:solidFill>
                <a:latin typeface="+mn-lt"/>
                <a:ea typeface="+mn-ea"/>
                <a:cs typeface="+mn-cs"/>
              </a:rPr>
              <a:t>representation+masked</a:t>
            </a:r>
            <a:r>
              <a:rPr lang="en-US" altLang="zh-CN" sz="1000" kern="1200" dirty="0">
                <a:solidFill>
                  <a:srgbClr val="B60007"/>
                </a:solidFill>
                <a:latin typeface="+mn-lt"/>
                <a:ea typeface="+mn-ea"/>
                <a:cs typeface="+mn-cs"/>
              </a:rPr>
              <a:t>/discrete diffusion</a:t>
            </a:r>
            <a:r>
              <a:rPr lang="zh-CN" altLang="en-US" sz="1000" kern="1200" dirty="0">
                <a:solidFill>
                  <a:srgbClr val="B60007"/>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zh-CN" dirty="0"/>
            </a:br>
            <a:r>
              <a:rPr kumimoji="1" lang="zh-CN" altLang="en-US" dirty="0"/>
              <a:t>不过您那天又说如果</a:t>
            </a:r>
            <a:r>
              <a:rPr kumimoji="1" lang="en-US" altLang="zh-CN" dirty="0"/>
              <a:t>vocabulary</a:t>
            </a:r>
            <a:r>
              <a:rPr kumimoji="1" lang="zh-CN" altLang="en-US" dirty="0"/>
              <a:t>比较难搞就直接用</a:t>
            </a:r>
            <a:r>
              <a:rPr kumimoji="1" lang="en-US" altLang="zh-CN" dirty="0" err="1"/>
              <a:t>WyFormer</a:t>
            </a:r>
            <a:r>
              <a:rPr kumimoji="1" lang="zh-CN" altLang="en-US" dirty="0"/>
              <a:t>的</a:t>
            </a:r>
            <a:r>
              <a:rPr kumimoji="1" lang="en-US" altLang="zh-CN" dirty="0"/>
              <a:t>tokenizer</a:t>
            </a:r>
            <a:r>
              <a:rPr kumimoji="1" lang="zh-CN" altLang="en-US" dirty="0"/>
              <a:t>也行，然后我就觉得是不是</a:t>
            </a:r>
            <a:r>
              <a:rPr kumimoji="1" lang="en-US" altLang="zh-CN" dirty="0"/>
              <a:t>BPE</a:t>
            </a:r>
            <a:r>
              <a:rPr kumimoji="1" lang="zh-CN" altLang="en-US" dirty="0"/>
              <a:t>的加入也可以单独作为一个点。</a:t>
            </a:r>
            <a:br>
              <a:rPr kumimoji="1" lang="en-US" altLang="zh-CN" dirty="0"/>
            </a:br>
            <a:br>
              <a:rPr kumimoji="1" lang="en-US" altLang="zh-CN" dirty="0"/>
            </a:b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所以我就去调研了一下这几个方向的内容</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3</a:t>
            </a:fld>
            <a:endParaRPr lang="en-CN"/>
          </a:p>
        </p:txBody>
      </p:sp>
    </p:spTree>
    <p:extLst>
      <p:ext uri="{BB962C8B-B14F-4D97-AF65-F5344CB8AC3E}">
        <p14:creationId xmlns:p14="http://schemas.microsoft.com/office/powerpoint/2010/main" val="2658698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2026 </a:t>
            </a:r>
            <a:r>
              <a:rPr lang="zh-CN" altLang="en-US" dirty="0"/>
              <a:t>年的 </a:t>
            </a:r>
            <a:r>
              <a:rPr lang="en-US" altLang="zh-CN" b="1" dirty="0"/>
              <a:t>Matra-Genoa</a:t>
            </a:r>
            <a:r>
              <a:rPr lang="en-US" altLang="zh-CN" dirty="0"/>
              <a:t> </a:t>
            </a:r>
            <a:r>
              <a:rPr lang="zh-CN" altLang="en-US" dirty="0"/>
              <a:t>已经做了一件非常接近的事情：它指出 </a:t>
            </a:r>
            <a:r>
              <a:rPr lang="en-US" altLang="zh-CN" dirty="0"/>
              <a:t>230 </a:t>
            </a:r>
            <a:r>
              <a:rPr lang="zh-CN" altLang="en-US" dirty="0"/>
              <a:t>个空间群一共有 </a:t>
            </a:r>
            <a:r>
              <a:rPr lang="en-US" altLang="zh-CN" dirty="0"/>
              <a:t>1,731 </a:t>
            </a:r>
            <a:r>
              <a:rPr lang="zh-CN" altLang="en-US" dirty="0"/>
              <a:t>个 </a:t>
            </a:r>
            <a:r>
              <a:rPr lang="en-US" altLang="zh-CN" dirty="0"/>
              <a:t>Wyckoff positions</a:t>
            </a:r>
            <a:r>
              <a:rPr lang="zh-CN" altLang="en-US" dirty="0"/>
              <a:t>，但有些 </a:t>
            </a:r>
            <a:r>
              <a:rPr lang="en-US" altLang="zh-CN" dirty="0"/>
              <a:t>positions </a:t>
            </a:r>
            <a:r>
              <a:rPr lang="zh-CN" altLang="en-US" dirty="0"/>
              <a:t>在不同空间群中描述相同的代数 </a:t>
            </a:r>
            <a:r>
              <a:rPr lang="en-US" altLang="zh-CN" dirty="0"/>
              <a:t>orbit</a:t>
            </a:r>
            <a:r>
              <a:rPr lang="zh-CN" altLang="en-US" dirty="0"/>
              <a:t>，因此将其合并为 </a:t>
            </a:r>
            <a:r>
              <a:rPr lang="en-US" altLang="zh-CN" b="1" dirty="0"/>
              <a:t>990 </a:t>
            </a:r>
            <a:r>
              <a:rPr lang="zh-CN" altLang="en-US" b="1" dirty="0"/>
              <a:t>个共享的 </a:t>
            </a:r>
            <a:r>
              <a:rPr lang="en-US" altLang="zh-CN" b="1" dirty="0"/>
              <a:t>unique Wyckoff orbit representations</a:t>
            </a:r>
            <a:r>
              <a:rPr lang="zh-CN" altLang="en-US" dirty="0"/>
              <a:t>，然后使用自回归 </a:t>
            </a:r>
            <a:r>
              <a:rPr lang="en-US" altLang="zh-CN" dirty="0"/>
              <a:t>Transformer </a:t>
            </a:r>
            <a:r>
              <a:rPr lang="zh-CN" altLang="en-US" dirty="0"/>
              <a:t>进行生成</a:t>
            </a:r>
            <a:br>
              <a:rPr lang="en-US" altLang="zh-CN" dirty="0"/>
            </a:br>
            <a:br>
              <a:rPr lang="en-US" altLang="zh-CN" dirty="0"/>
            </a:br>
            <a:r>
              <a:rPr lang="zh-CN" altLang="en-US" dirty="0"/>
              <a:t>他们已经做了一种晶体结构的可逆化表达设计，而且扩展到了</a:t>
            </a:r>
            <a:r>
              <a:rPr lang="zh-CN" altLang="en-US" b="1" dirty="0"/>
              <a:t>晶胞尺寸这个参数</a:t>
            </a:r>
            <a:r>
              <a:rPr lang="zh-CN" altLang="en-US" dirty="0"/>
              <a:t>了：：</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i</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空间群；</a:t>
            </a:r>
            <a:r>
              <a:rPr lang="en-US" altLang="zh-CN" sz="1200" b="0" i="0" kern="1200" dirty="0">
                <a:solidFill>
                  <a:schemeClr val="tx1"/>
                </a:solidFill>
                <a:effectLst/>
                <a:latin typeface="+mn-lt"/>
                <a:ea typeface="+mn-ea"/>
                <a:cs typeface="+mn-cs"/>
              </a:rPr>
              <a:t>(ii) </a:t>
            </a:r>
            <a:r>
              <a:rPr lang="zh-CN" altLang="en-US" sz="1200" b="0" i="0" kern="1200" dirty="0">
                <a:solidFill>
                  <a:schemeClr val="tx1"/>
                </a:solidFill>
                <a:effectLst/>
                <a:latin typeface="+mn-lt"/>
                <a:ea typeface="+mn-ea"/>
                <a:cs typeface="+mn-cs"/>
              </a:rPr>
              <a:t>一组魏科夫位置及其对应的化学元素；</a:t>
            </a:r>
            <a:r>
              <a:rPr lang="en-US" altLang="zh-CN" sz="1200" b="0" i="0" kern="1200" dirty="0">
                <a:solidFill>
                  <a:schemeClr val="tx1"/>
                </a:solidFill>
                <a:effectLst/>
                <a:latin typeface="+mn-lt"/>
                <a:ea typeface="+mn-ea"/>
                <a:cs typeface="+mn-cs"/>
              </a:rPr>
              <a:t>(iii) </a:t>
            </a:r>
            <a:r>
              <a:rPr lang="zh-CN" altLang="en-US" sz="1200" b="0" i="0" kern="1200" dirty="0">
                <a:solidFill>
                  <a:schemeClr val="tx1"/>
                </a:solidFill>
                <a:effectLst/>
                <a:latin typeface="+mn-lt"/>
                <a:ea typeface="+mn-ea"/>
                <a:cs typeface="+mn-cs"/>
              </a:rPr>
              <a:t>魏科夫位置所需的自由参数；以及最后的 </a:t>
            </a:r>
            <a:r>
              <a:rPr lang="en-US" altLang="zh-CN" sz="1200" b="0" i="0" kern="1200" dirty="0">
                <a:solidFill>
                  <a:schemeClr val="tx1"/>
                </a:solidFill>
                <a:effectLst/>
                <a:latin typeface="+mn-lt"/>
                <a:ea typeface="+mn-ea"/>
                <a:cs typeface="+mn-cs"/>
              </a:rPr>
              <a:t>(iv) </a:t>
            </a:r>
            <a:r>
              <a:rPr lang="zh-CN" altLang="en-US" sz="1200" b="0" i="0" kern="1200" dirty="0">
                <a:solidFill>
                  <a:schemeClr val="tx1"/>
                </a:solidFill>
                <a:effectLst/>
                <a:latin typeface="+mn-lt"/>
                <a:ea typeface="+mn-ea"/>
                <a:cs typeface="+mn-cs"/>
              </a:rPr>
              <a:t>晶胞尺寸（</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α</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β</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γ</a:t>
            </a:r>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魏科夫位置通过将给定空间群对称变换下的等价位点映射到单个位点，将一组等价点（轨道）约化为一个点。</a:t>
            </a:r>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4</a:t>
            </a:fld>
            <a:endParaRPr lang="en-CN"/>
          </a:p>
        </p:txBody>
      </p:sp>
    </p:spTree>
    <p:extLst>
      <p:ext uri="{BB962C8B-B14F-4D97-AF65-F5344CB8AC3E}">
        <p14:creationId xmlns:p14="http://schemas.microsoft.com/office/powerpoint/2010/main" val="315014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然后之前我想的是老师你提到的</a:t>
            </a:r>
            <a:r>
              <a:rPr kumimoji="1" lang="en-US" altLang="zh-CN" dirty="0"/>
              <a:t>BPE</a:t>
            </a:r>
            <a:r>
              <a:rPr kumimoji="1" lang="zh-CN" altLang="en-US" dirty="0"/>
              <a:t>，如果只是单独压缩每个晶体内部的</a:t>
            </a:r>
            <a:r>
              <a:rPr kumimoji="1" lang="en-US" altLang="zh-CN" dirty="0"/>
              <a:t>position</a:t>
            </a:r>
            <a:r>
              <a:rPr kumimoji="1" lang="zh-CN" altLang="en-US" dirty="0"/>
              <a:t>表达，这篇文章有提到，所以单个晶体内的表达去压缩可能效果不是很好</a:t>
            </a:r>
          </a:p>
        </p:txBody>
      </p:sp>
      <p:sp>
        <p:nvSpPr>
          <p:cNvPr id="4" name="灯片编号占位符 3"/>
          <p:cNvSpPr>
            <a:spLocks noGrp="1"/>
          </p:cNvSpPr>
          <p:nvPr>
            <p:ph type="sldNum" sz="quarter" idx="5"/>
          </p:nvPr>
        </p:nvSpPr>
        <p:spPr/>
        <p:txBody>
          <a:bodyPr/>
          <a:lstStyle/>
          <a:p>
            <a:fld id="{17A9F544-7F2B-574D-A23E-126D715F5459}" type="slidenum">
              <a:rPr lang="en-CN" smtClean="0"/>
              <a:t>5</a:t>
            </a:fld>
            <a:endParaRPr lang="en-CN"/>
          </a:p>
        </p:txBody>
      </p:sp>
    </p:spTree>
    <p:extLst>
      <p:ext uri="{BB962C8B-B14F-4D97-AF65-F5344CB8AC3E}">
        <p14:creationId xmlns:p14="http://schemas.microsoft.com/office/powerpoint/2010/main" val="364256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MaskGXT</a:t>
            </a:r>
            <a:r>
              <a:rPr lang="zh-CN" altLang="en-US" dirty="0"/>
              <a:t>。它采取了另一条路线：不是先生成一个 </a:t>
            </a:r>
            <a:r>
              <a:rPr lang="en-US" altLang="zh-CN" dirty="0"/>
              <a:t>Wyckoff protostructure</a:t>
            </a:r>
            <a:r>
              <a:rPr lang="zh-CN" altLang="en-US" dirty="0"/>
              <a:t>，再补全几何，而是把整个 </a:t>
            </a:r>
            <a:r>
              <a:rPr lang="en-US" altLang="zh-CN" dirty="0"/>
              <a:t>CSP </a:t>
            </a:r>
            <a:r>
              <a:rPr lang="zh-CN" altLang="en-US" dirty="0"/>
              <a:t>输出离散化为 </a:t>
            </a:r>
            <a:r>
              <a:rPr lang="en-US" altLang="zh-CN" dirty="0"/>
              <a:t>token</a:t>
            </a:r>
            <a:r>
              <a:rPr lang="zh-CN" altLang="en-US" dirty="0"/>
              <a:t>，包括 </a:t>
            </a:r>
            <a:r>
              <a:rPr lang="en-US" altLang="zh-CN" dirty="0"/>
              <a:t>space group</a:t>
            </a:r>
            <a:r>
              <a:rPr lang="zh-CN" altLang="en-US" dirty="0"/>
              <a:t>、</a:t>
            </a:r>
            <a:r>
              <a:rPr lang="en-US" altLang="zh-CN" dirty="0"/>
              <a:t>lattice</a:t>
            </a:r>
            <a:r>
              <a:rPr lang="zh-CN" altLang="en-US" dirty="0"/>
              <a:t>、</a:t>
            </a:r>
            <a:r>
              <a:rPr lang="en-US" altLang="zh-CN" dirty="0"/>
              <a:t>fractional coordinates </a:t>
            </a:r>
            <a:r>
              <a:rPr lang="zh-CN" altLang="en-US" dirty="0"/>
              <a:t>和 </a:t>
            </a:r>
            <a:r>
              <a:rPr lang="en-US" altLang="zh-CN" dirty="0"/>
              <a:t>Wyckoff labels</a:t>
            </a:r>
            <a:r>
              <a:rPr lang="zh-CN" altLang="en-US" dirty="0"/>
              <a:t>。训练时随机 </a:t>
            </a:r>
            <a:r>
              <a:rPr lang="en-US" altLang="zh-CN" dirty="0"/>
              <a:t>mask </a:t>
            </a:r>
            <a:r>
              <a:rPr lang="zh-CN" altLang="en-US" dirty="0"/>
              <a:t>一部分 </a:t>
            </a:r>
            <a:r>
              <a:rPr lang="en-US" altLang="zh-CN" dirty="0"/>
              <a:t>token</a:t>
            </a:r>
            <a:r>
              <a:rPr lang="zh-CN" altLang="en-US" dirty="0"/>
              <a:t>，让双向 </a:t>
            </a:r>
            <a:r>
              <a:rPr lang="en-US" altLang="zh-CN" dirty="0"/>
              <a:t>Transformer </a:t>
            </a:r>
            <a:r>
              <a:rPr lang="zh-CN" altLang="en-US" dirty="0"/>
              <a:t>同时恢复它们；采样时则从 </a:t>
            </a:r>
            <a:r>
              <a:rPr lang="en-US" altLang="zh-CN" dirty="0"/>
              <a:t>fully masked sequence </a:t>
            </a:r>
            <a:r>
              <a:rPr lang="zh-CN" altLang="en-US" dirty="0"/>
              <a:t>开始，逐轮保留高置信度预测，并重新 </a:t>
            </a:r>
            <a:r>
              <a:rPr lang="en-US" altLang="zh-CN" dirty="0"/>
              <a:t>mask </a:t>
            </a:r>
            <a:r>
              <a:rPr lang="zh-CN" altLang="en-US" dirty="0"/>
              <a:t>其余位置。</a:t>
            </a:r>
          </a:p>
          <a:p>
            <a:endParaRPr lang="en-US" altLang="zh-CN" dirty="0"/>
          </a:p>
        </p:txBody>
      </p:sp>
      <p:sp>
        <p:nvSpPr>
          <p:cNvPr id="4" name="灯片编号占位符 3"/>
          <p:cNvSpPr>
            <a:spLocks noGrp="1"/>
          </p:cNvSpPr>
          <p:nvPr>
            <p:ph type="sldNum" sz="quarter" idx="5"/>
          </p:nvPr>
        </p:nvSpPr>
        <p:spPr/>
        <p:txBody>
          <a:bodyPr/>
          <a:lstStyle/>
          <a:p>
            <a:fld id="{17A9F544-7F2B-574D-A23E-126D715F5459}" type="slidenum">
              <a:rPr lang="en-CN" smtClean="0"/>
              <a:t>6</a:t>
            </a:fld>
            <a:endParaRPr lang="en-CN"/>
          </a:p>
        </p:txBody>
      </p:sp>
    </p:spTree>
    <p:extLst>
      <p:ext uri="{BB962C8B-B14F-4D97-AF65-F5344CB8AC3E}">
        <p14:creationId xmlns:p14="http://schemas.microsoft.com/office/powerpoint/2010/main" val="1227596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DynaCrys</a:t>
            </a:r>
            <a:r>
              <a:rPr lang="zh-CN" altLang="en-US" dirty="0"/>
              <a:t>。过去很多 </a:t>
            </a:r>
            <a:r>
              <a:rPr lang="en-US" altLang="zh-CN" dirty="0"/>
              <a:t>symmetry-aware crystal generator </a:t>
            </a:r>
            <a:r>
              <a:rPr lang="zh-CN" altLang="en-US" dirty="0"/>
              <a:t>会先确定一个空间群，然后在固定空间群下生成 </a:t>
            </a:r>
            <a:r>
              <a:rPr lang="en-US" altLang="zh-CN" dirty="0"/>
              <a:t>Wyckoff positions </a:t>
            </a:r>
            <a:r>
              <a:rPr lang="zh-CN" altLang="en-US" dirty="0"/>
              <a:t>或原子坐标。</a:t>
            </a:r>
            <a:r>
              <a:rPr lang="en-US" altLang="zh-CN" dirty="0" err="1"/>
              <a:t>DynaCrys</a:t>
            </a:r>
            <a:r>
              <a:rPr lang="en-US" altLang="zh-CN" dirty="0"/>
              <a:t> </a:t>
            </a:r>
            <a:r>
              <a:rPr lang="zh-CN" altLang="en-US" dirty="0"/>
              <a:t>是把空间群本身也放进 </a:t>
            </a:r>
            <a:r>
              <a:rPr lang="en-US" altLang="zh-CN" dirty="0"/>
              <a:t>diffusion state</a:t>
            </a:r>
            <a:r>
              <a:rPr lang="zh-CN" altLang="en-US" dirty="0"/>
              <a:t>。它首先在 </a:t>
            </a:r>
            <a:r>
              <a:rPr lang="en-US" altLang="zh-CN" dirty="0"/>
              <a:t>symbolic stage </a:t>
            </a:r>
            <a:r>
              <a:rPr lang="zh-CN" altLang="en-US" dirty="0"/>
              <a:t>中联合更新空间群、</a:t>
            </a:r>
            <a:r>
              <a:rPr lang="en-US" altLang="zh-CN" dirty="0"/>
              <a:t>Wyckoff occupations </a:t>
            </a:r>
            <a:r>
              <a:rPr lang="zh-CN" altLang="en-US" dirty="0"/>
              <a:t>和元素，得到 </a:t>
            </a:r>
            <a:r>
              <a:rPr lang="en-US" altLang="zh-CN" dirty="0"/>
              <a:t>protostructure </a:t>
            </a:r>
            <a:r>
              <a:rPr lang="zh-CN" altLang="en-US" dirty="0"/>
              <a:t>之后，再用 </a:t>
            </a:r>
            <a:r>
              <a:rPr lang="en-US" altLang="zh-CN" dirty="0"/>
              <a:t>geometry diffusion </a:t>
            </a:r>
            <a:r>
              <a:rPr lang="zh-CN" altLang="en-US" dirty="0"/>
              <a:t>生成 </a:t>
            </a:r>
            <a:r>
              <a:rPr lang="en-US" altLang="zh-CN" dirty="0"/>
              <a:t>lattice </a:t>
            </a:r>
            <a:r>
              <a:rPr lang="zh-CN" altLang="en-US" dirty="0"/>
              <a:t>和自由 </a:t>
            </a:r>
            <a:r>
              <a:rPr lang="en-US" altLang="zh-CN" dirty="0"/>
              <a:t>Wyckoff coordinates</a:t>
            </a:r>
            <a:r>
              <a:rPr lang="zh-CN" altLang="en-US" dirty="0"/>
              <a:t>。</a:t>
            </a:r>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7</a:t>
            </a:fld>
            <a:endParaRPr lang="en-CN"/>
          </a:p>
        </p:txBody>
      </p:sp>
    </p:spTree>
    <p:extLst>
      <p:ext uri="{BB962C8B-B14F-4D97-AF65-F5344CB8AC3E}">
        <p14:creationId xmlns:p14="http://schemas.microsoft.com/office/powerpoint/2010/main" val="209736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还没有想的很清楚，不过就是结合我之前的工作，我看他们现在都是只用</a:t>
            </a:r>
            <a:r>
              <a:rPr kumimoji="1" lang="en-US" altLang="zh-CN" dirty="0" err="1"/>
              <a:t>ehull</a:t>
            </a:r>
            <a:r>
              <a:rPr kumimoji="1" lang="zh-CN" altLang="en-US" dirty="0"/>
              <a:t>数据库里面的东西直接去说一个</a:t>
            </a:r>
            <a:r>
              <a:rPr kumimoji="1" lang="en-US" altLang="zh-CN" dirty="0"/>
              <a:t>SUN</a:t>
            </a:r>
            <a:r>
              <a:rPr kumimoji="1" lang="zh-CN" altLang="en-US" dirty="0"/>
              <a:t>指标，在材料上面来说不是很可靠，而且也都是静态的一个未弛豫的结构，所以我姐和一些资料就想到了</a:t>
            </a:r>
            <a:r>
              <a:rPr kumimoji="1" lang="en-US" altLang="zh-CN" dirty="0"/>
              <a:t>test-time</a:t>
            </a:r>
            <a:r>
              <a:rPr kumimoji="1" lang="zh-CN" altLang="en-US" dirty="0"/>
              <a:t> </a:t>
            </a:r>
            <a:r>
              <a:rPr kumimoji="1" lang="en-US" altLang="zh-CN" dirty="0"/>
              <a:t>scaling</a:t>
            </a:r>
            <a:r>
              <a:rPr kumimoji="1" lang="zh-CN" altLang="en-US" dirty="0"/>
              <a:t>这种方法，就是边做部分的</a:t>
            </a:r>
            <a:r>
              <a:rPr kumimoji="1" lang="en-US" altLang="zh-CN" dirty="0"/>
              <a:t>denoising</a:t>
            </a:r>
            <a:r>
              <a:rPr kumimoji="1" lang="zh-CN" altLang="en-US" dirty="0"/>
              <a:t>一边用快速的</a:t>
            </a:r>
            <a:r>
              <a:rPr kumimoji="1" lang="en-US" altLang="zh-CN" dirty="0"/>
              <a:t>MLIP</a:t>
            </a:r>
            <a:r>
              <a:rPr kumimoji="1" lang="zh-CN" altLang="en-US" dirty="0"/>
              <a:t>做能量和声子筛查，不过这块只是个初步设想。</a:t>
            </a:r>
          </a:p>
        </p:txBody>
      </p:sp>
      <p:sp>
        <p:nvSpPr>
          <p:cNvPr id="4" name="灯片编号占位符 3"/>
          <p:cNvSpPr>
            <a:spLocks noGrp="1"/>
          </p:cNvSpPr>
          <p:nvPr>
            <p:ph type="sldNum" sz="quarter" idx="5"/>
          </p:nvPr>
        </p:nvSpPr>
        <p:spPr/>
        <p:txBody>
          <a:bodyPr/>
          <a:lstStyle/>
          <a:p>
            <a:fld id="{17A9F544-7F2B-574D-A23E-126D715F5459}" type="slidenum">
              <a:rPr lang="en-CN" smtClean="0"/>
              <a:t>9</a:t>
            </a:fld>
            <a:endParaRPr lang="en-CN"/>
          </a:p>
        </p:txBody>
      </p:sp>
    </p:spTree>
    <p:extLst>
      <p:ext uri="{BB962C8B-B14F-4D97-AF65-F5344CB8AC3E}">
        <p14:creationId xmlns:p14="http://schemas.microsoft.com/office/powerpoint/2010/main" val="3172753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17A9F544-7F2B-574D-A23E-126D715F5459}" type="slidenum">
              <a:rPr lang="en-CN" smtClean="0"/>
              <a:t>11</a:t>
            </a:fld>
            <a:endParaRPr lang="en-CN"/>
          </a:p>
        </p:txBody>
      </p:sp>
    </p:spTree>
    <p:extLst>
      <p:ext uri="{BB962C8B-B14F-4D97-AF65-F5344CB8AC3E}">
        <p14:creationId xmlns:p14="http://schemas.microsoft.com/office/powerpoint/2010/main" val="3482496140"/>
      </p:ext>
    </p:extLst>
  </p:cSld>
  <p:clrMapOvr>
    <a:masterClrMapping/>
  </p:clrMapOvr>
</p:notes>
</file>

<file path=ppt/slideLayouts/_rels/followup20260914_slideLayout1.xml.rels><?xml version='1.0' encoding='UTF-8' standalone='yes'?>
<Relationships xmlns="http://schemas.openxmlformats.org/package/2006/relationships"><Relationship Type="http://schemas.openxmlformats.org/officeDocument/2006/relationships/slideMaster" Target="../slideMasters/followup20260914_slideMaster1.xml" Id="Ra77a467d77024ae9"/><Relationship Type="http://schemas.openxmlformats.org/officeDocument/2006/relationships/image" Target="../media/followup20260914_image.png" Id="R0c1ebe33c0b44ceb"/></Relationships>
</file>

<file path=ppt/slideLayouts/_rels/followup20260914_slideLayout2.xml.rels><?xml version='1.0' encoding='UTF-8' standalone='yes'?>
<Relationships xmlns="http://schemas.openxmlformats.org/package/2006/relationships"><Relationship Type="http://schemas.openxmlformats.org/officeDocument/2006/relationships/slideMaster" Target="../slideMasters/followup20260914_slideMaster1.xml" Id="R6324919e5cc748f2"/><Relationship Type="http://schemas.openxmlformats.org/officeDocument/2006/relationships/image" Target="../media/followup20260914_image2.png" Id="R788d9d3a97d94bd9"/></Relationships>
</file>

<file path=ppt/slideLayouts/_rels/followup20260914_slideLayout3.xml.rels><?xml version='1.0' encoding='UTF-8' standalone='yes'?>
<Relationships xmlns="http://schemas.openxmlformats.org/package/2006/relationships"><Relationship Type="http://schemas.openxmlformats.org/officeDocument/2006/relationships/slideMaster" Target="../slideMasters/followup20260914_slideMaster1.xml" Id="R55cf4f93ea53464e"/><Relationship Type="http://schemas.openxmlformats.org/officeDocument/2006/relationships/image" Target="../media/followup20260914_image3.png" Id="Rd1d7bd93b755427c"/></Relationships>
</file>

<file path=ppt/slideLayouts/_rels/followup20260914_slideLayout4.xml.rels><?xml version='1.0' encoding='UTF-8' standalone='yes'?>
<Relationships xmlns="http://schemas.openxmlformats.org/package/2006/relationships"><Relationship Type="http://schemas.openxmlformats.org/officeDocument/2006/relationships/slideMaster" Target="../slideMasters/followup20260914_slideMaster1.xml" Id="Rc1a61f9746e44f6c"/><Relationship Type="http://schemas.openxmlformats.org/officeDocument/2006/relationships/image" Target="../media/followup20260914_image3.png" Id="R5ffa8bce5b204add"/></Relationships>
</file>

<file path=ppt/slideLayouts/_rels/followup20260914_slideLayout5.xml.rels><?xml version='1.0' encoding='UTF-8' standalone='yes'?>
<Relationships xmlns="http://schemas.openxmlformats.org/package/2006/relationships"><Relationship Type="http://schemas.openxmlformats.org/officeDocument/2006/relationships/slideMaster" Target="../slideMasters/followup20260914_slideMaster1.xml" Id="R1e72eca670b14c20"/><Relationship Type="http://schemas.openxmlformats.org/officeDocument/2006/relationships/image" Target="../media/followup20260914_image3.png" Id="R56cf595a36fe4563"/></Relationships>
</file>

<file path=ppt/slideLayouts/_rels/followup20260914_slideLayout6.xml.rels><?xml version='1.0' encoding='UTF-8' standalone='yes'?>
<Relationships xmlns="http://schemas.openxmlformats.org/package/2006/relationships"><Relationship Type="http://schemas.openxmlformats.org/officeDocument/2006/relationships/slideMaster" Target="../slideMasters/followup20260914_slideMaster1.xml" Id="Ra5bbe0ee438c4802"/><Relationship Type="http://schemas.openxmlformats.org/officeDocument/2006/relationships/image" Target="../media/followup20260914_image3.png" Id="R212d509764304cbf"/></Relationships>
</file>

<file path=ppt/slideLayouts/_rels/followup20260914_slideLayout7.xml.rels><?xml version='1.0' encoding='UTF-8' standalone='yes'?>
<Relationships xmlns="http://schemas.openxmlformats.org/package/2006/relationships"><Relationship Type="http://schemas.openxmlformats.org/officeDocument/2006/relationships/slideMaster" Target="../slideMasters/followup20260914_slideMaster1.xml" Id="R71d2f8d1015c482b"/><Relationship Type="http://schemas.openxmlformats.org/officeDocument/2006/relationships/image" Target="../media/followup20260914_image3.png" Id="Rf36f222a017f4259"/></Relationships>
</file>

<file path=ppt/slideLayouts/_rels/followup20260914_slideLayout8.xml.rels><?xml version='1.0' encoding='UTF-8' standalone='yes'?>
<Relationships xmlns="http://schemas.openxmlformats.org/package/2006/relationships"><Relationship Type="http://schemas.openxmlformats.org/officeDocument/2006/relationships/slideMaster" Target="../slideMasters/followup20260914_slideMaster1.xml" Id="R8d8a8deb40524057"/><Relationship Type="http://schemas.openxmlformats.org/officeDocument/2006/relationships/image" Target="../media/followup20260914_image4.png" Id="R83e8d259c5b94b8a"/></Relationships>
</file>

<file path=ppt/slideLayouts/_rels/followup20260914_slideLayout9.xml.rels><?xml version='1.0' encoding='UTF-8' standalone='yes'?>
<Relationships xmlns="http://schemas.openxmlformats.org/package/2006/relationships"><Relationship Type="http://schemas.openxmlformats.org/officeDocument/2006/relationships/slideMaster" Target="../slideMasters/followup20260914_slideMaster1.xml" Id="Rdc7a1665222a49b1"/></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followup20260914_slideLayout1.xml><?xml version="1.0" encoding="utf-8"?>
<p:sldLayout xmlns:p="http://schemas.openxmlformats.org/presentationml/2006/main" type="secHead" preserve="1">
  <p:cSld name="节标题">
    <p:bg>
      <p:bgPr>
        <a:blipFill xmlns:a="http://schemas.openxmlformats.org/drawingml/2006/main" rotWithShape="1">
          <a:blip xmlns:r="http://schemas.openxmlformats.org/officeDocument/2006/relationships" r:embed="R0c1ebe33c0b44ce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F5E9A1-8520-5146-239F-0FA97511B65B}"/>
              </a:ext>
            </a:extLst>
          </p:cNvPr>
          <p:cNvSpPr>
            <a:spLocks xmlns:a="http://schemas.openxmlformats.org/drawingml/2006/main" noGrp="1"/>
          </p:cNvSpPr>
          <p:nvPr>
            <p:ph type="title" idx="0" hasCustomPrompt="1"/>
          </p:nvPr>
        </p:nvSpPr>
        <p:spPr>
          <a:xfrm xmlns:a="http://schemas.openxmlformats.org/drawingml/2006/main">
            <a:off x="831850" y="1709738"/>
            <a:ext cx="10515600" cy="2852737"/>
          </a:xfrm>
        </p:spPr>
        <p:txBody>
          <a:bodyPr xmlns:a="http://schemas.openxmlformats.org/drawingml/2006/main" anchor="b">
            <a:normAutofit/>
          </a:bodyPr>
          <a:lstStyle xmlns:a="http://schemas.openxmlformats.org/drawingml/2006/main">
            <a:lvl1pPr>
              <a:buNone/>
              <a:defRPr sz="4800" b="1">
                <a:solidFill>
                  <a:srgbClr val="B60007"/>
                </a:solidFill>
              </a:defRPr>
            </a:lvl1pPr>
          </a:lstStyle>
          <a:p xmlns:a="http://schemas.openxmlformats.org/drawingml/2006/main">
            <a:r>
              <a:t>Presentation Title</a:t>
            </a:r>
          </a:p>
        </p:txBody>
      </p:sp>
      <p:sp>
        <p:nvSpPr>
          <p:cNvPr id="3" name="Text Placeholder 2">
            <a:extLst xmlns:a="http://schemas.openxmlformats.org/drawingml/2006/main">
              <a:ext uri="{FF2B5EF4-FFF2-40B4-BE49-F238E27FC236}">
                <a16:creationId xmlns:a16="http://schemas.microsoft.com/office/drawing/2014/main" id="{4EE82710-E1E4-466F-30AE-69A71966AE2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单击此处编辑母版文本样式</a:t>
            </a:r>
          </a:p>
        </p:txBody>
      </p:sp>
    </p:spTree>
  </p:cSld>
</p:sldLayout>
</file>

<file path=ppt/slideLayouts/followup20260914_slideLayout2.xml><?xml version="1.0" encoding="utf-8"?>
<p:sldLayout xmlns:p="http://schemas.openxmlformats.org/presentationml/2006/main" type="title" preserve="1">
  <p:cSld name="标题幻灯片">
    <p:bg>
      <p:bgPr>
        <a:blipFill xmlns:a="http://schemas.openxmlformats.org/drawingml/2006/main" rotWithShape="1">
          <a:blip xmlns:r="http://schemas.openxmlformats.org/officeDocument/2006/relationships" r:embed="R788d9d3a97d94bd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FA7141-DFF9-E7CA-A95A-620E50267A56}"/>
              </a:ext>
            </a:extLst>
          </p:cNvPr>
          <p:cNvSpPr>
            <a:spLocks xmlns:a="http://schemas.openxmlformats.org/drawingml/2006/main" noGrp="1"/>
          </p:cNvSpPr>
          <p:nvPr>
            <p:ph type="ctrTitle" idx="0" hasCustomPrompt="1"/>
          </p:nvPr>
        </p:nvSpPr>
        <p:spPr>
          <a:xfrm xmlns:a="http://schemas.openxmlformats.org/drawingml/2006/main">
            <a:off x="1524000" y="1122363"/>
            <a:ext cx="9144000" cy="2387600"/>
          </a:xfrm>
        </p:spPr>
        <p:txBody>
          <a:bodyPr xmlns:a="http://schemas.openxmlformats.org/drawingml/2006/main" anchor="b">
            <a:normAutofit/>
          </a:bodyPr>
          <a:lstStyle xmlns:a="http://schemas.openxmlformats.org/drawingml/2006/main">
            <a:lvl1pPr algn="l">
              <a:buNone/>
              <a:defRPr sz="5400" b="1">
                <a:solidFill>
                  <a:srgbClr val="B60007"/>
                </a:solidFill>
              </a:defRPr>
            </a:lvl1pPr>
          </a:lstStyle>
          <a:p xmlns:a="http://schemas.openxmlformats.org/drawingml/2006/main">
            <a:r>
              <a:t>Presentation Title</a:t>
            </a:r>
          </a:p>
        </p:txBody>
      </p:sp>
      <p:sp>
        <p:nvSpPr>
          <p:cNvPr id="3" name="Subtitle 2">
            <a:extLst xmlns:a="http://schemas.openxmlformats.org/drawingml/2006/main">
              <a:ext uri="{FF2B5EF4-FFF2-40B4-BE49-F238E27FC236}">
                <a16:creationId xmlns:a16="http://schemas.microsoft.com/office/drawing/2014/main" id="{05641A52-A17E-07B5-1692-6E5DC631A28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endParaRPr/>
          </a:p>
        </p:txBody>
      </p:sp>
    </p:spTree>
  </p:cSld>
</p:sldLayout>
</file>

<file path=ppt/slideLayouts/followup20260914_slideLayout3.xml><?xml version="1.0" encoding="utf-8"?>
<p:sldLayout xmlns:p="http://schemas.openxmlformats.org/presentationml/2006/main" type="obj" preserve="1">
  <p:cSld name="标题和内容">
    <p:bg>
      <p:bgPr>
        <a:blipFill xmlns:a="http://schemas.openxmlformats.org/drawingml/2006/main" rotWithShape="1">
          <a:blip xmlns:r="http://schemas.openxmlformats.org/officeDocument/2006/relationships" r:embed="Rd1d7bd93b755427c">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79DD4F-0AF3-F7C8-6C26-A700CF76F533}"/>
              </a:ext>
            </a:extLst>
          </p:cNvPr>
          <p:cNvSpPr>
            <a:spLocks xmlns:a="http://schemas.openxmlformats.org/drawingml/2006/main" noGrp="1"/>
          </p:cNvSpPr>
          <p:nvPr>
            <p:ph type="title" idx="0"/>
          </p:nvPr>
        </p:nvSpPr>
        <p:spPr>
          <a:xfrm xmlns:a="http://schemas.openxmlformats.org/drawingml/2006/main">
            <a:off x="838200" y="365125"/>
            <a:ext cx="8417312"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A187A4B2-E3CB-CD7E-B61C-DB90D5C43B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A500D57-1613-E8EB-F6FF-C1AF514444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4.xml><?xml version="1.0" encoding="utf-8"?>
<p:sldLayout xmlns:p="http://schemas.openxmlformats.org/presentationml/2006/main" type="twoObj" preserve="1">
  <p:cSld name="两栏内容">
    <p:bg>
      <p:bgPr>
        <a:blipFill xmlns:a="http://schemas.openxmlformats.org/drawingml/2006/main" rotWithShape="1">
          <a:blip xmlns:r="http://schemas.openxmlformats.org/officeDocument/2006/relationships" r:embed="R5ffa8bce5b204add">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2CBD4C-653E-6CF0-91A1-8D087DAE2717}"/>
              </a:ext>
            </a:extLst>
          </p:cNvPr>
          <p:cNvSpPr>
            <a:spLocks xmlns:a="http://schemas.openxmlformats.org/drawingml/2006/main" noGrp="1"/>
          </p:cNvSpPr>
          <p:nvPr>
            <p:ph type="title" idx="0"/>
          </p:nvPr>
        </p:nvSpPr>
        <p:spPr>
          <a:xfrm xmlns:a="http://schemas.openxmlformats.org/drawingml/2006/main">
            <a:off x="838201" y="365125"/>
            <a:ext cx="8406160"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26605617-0FE6-1513-7E9C-B0470E5FC50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Content Placeholder 3">
            <a:extLst xmlns:a="http://schemas.openxmlformats.org/drawingml/2006/main">
              <a:ext uri="{FF2B5EF4-FFF2-40B4-BE49-F238E27FC236}">
                <a16:creationId xmlns:a16="http://schemas.microsoft.com/office/drawing/2014/main" id="{00B2526F-CC14-905B-B4F8-3DA58013D78A}"/>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5" name="Slide Number Placeholder 3">
            <a:extLst xmlns:a="http://schemas.openxmlformats.org/drawingml/2006/main">
              <a:ext uri="{FF2B5EF4-FFF2-40B4-BE49-F238E27FC236}">
                <a16:creationId xmlns:a16="http://schemas.microsoft.com/office/drawing/2014/main" id="{671BA4A5-63AD-67A0-D23D-D9DF7698117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5.xml><?xml version="1.0" encoding="utf-8"?>
<p:sldLayout xmlns:p="http://schemas.openxmlformats.org/presentationml/2006/main" type="blank" preserve="1">
  <p:cSld name="空白">
    <p:bg>
      <p:bgPr>
        <a:blipFill xmlns:a="http://schemas.openxmlformats.org/drawingml/2006/main" rotWithShape="1">
          <a:blip xmlns:r="http://schemas.openxmlformats.org/officeDocument/2006/relationships" r:embed="R56cf595a36fe4563">
            <a:lum/>
          </a:blip>
          <a:srcRect l="0" t="0" r="0" b="0"/>
          <a:stretch>
            <a:fillRect l="0" t="0" r="0" b="0"/>
          </a:stretch>
        </a:blipFill>
      </p:bgPr>
    </p:bg>
    <p:spTree>
      <p:nvGrpSpPr>
        <p:cNvPr id="1" name=""/>
        <p:cNvGrpSpPr/>
        <p:nvPr/>
      </p:nvGrpSpPr>
      <p:grpSpPr>
        <a:xfrm xmlns:a="http://schemas.openxmlformats.org/drawingml/2006/main"/>
      </p:grpSpPr>
      <p:sp>
        <p:nvSpPr>
          <p:cNvPr id="2" name="Slide Number Placeholder 3">
            <a:extLst xmlns:a="http://schemas.openxmlformats.org/drawingml/2006/main">
              <a:ext uri="{FF2B5EF4-FFF2-40B4-BE49-F238E27FC236}">
                <a16:creationId xmlns:a16="http://schemas.microsoft.com/office/drawing/2014/main" id="{9CC3666C-BC10-00D8-077D-FD477333DF2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6.xml><?xml version="1.0" encoding="utf-8"?>
<p:sldLayout xmlns:p="http://schemas.openxmlformats.org/presentationml/2006/main" type="objTx" preserve="1">
  <p:cSld name="内容与标题">
    <p:bg>
      <p:bgPr>
        <a:blipFill xmlns:a="http://schemas.openxmlformats.org/drawingml/2006/main" rotWithShape="1">
          <a:blip xmlns:r="http://schemas.openxmlformats.org/officeDocument/2006/relationships" r:embed="R212d509764304cbf">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1AA3B4-DA5B-C327-0769-E9EBF774653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1EE14E74-BCFC-0E95-9CE3-070A751A14FA}"/>
              </a:ext>
            </a:extLst>
          </p:cNvPr>
          <p:cNvSpPr>
            <a:spLocks xmlns:a="http://schemas.openxmlformats.org/drawingml/2006/main" noGrp="1"/>
          </p:cNvSpPr>
          <p:nvPr>
            <p:ph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Text Placeholder 3">
            <a:extLst xmlns:a="http://schemas.openxmlformats.org/drawingml/2006/main">
              <a:ext uri="{FF2B5EF4-FFF2-40B4-BE49-F238E27FC236}">
                <a16:creationId xmlns:a16="http://schemas.microsoft.com/office/drawing/2014/main" id="{6D5A0A65-1AC3-F886-E086-2AEEE968DBE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77BFCB75-E804-30AC-684E-DAF9F69EB3F5}"/>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7.xml><?xml version="1.0" encoding="utf-8"?>
<p:sldLayout xmlns:p="http://schemas.openxmlformats.org/presentationml/2006/main" type="picTx" preserve="1">
  <p:cSld name="图片与标题">
    <p:bg>
      <p:bgPr>
        <a:blipFill xmlns:a="http://schemas.openxmlformats.org/drawingml/2006/main" rotWithShape="1">
          <a:blip xmlns:r="http://schemas.openxmlformats.org/officeDocument/2006/relationships" r:embed="Rf36f222a017f425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B70E19-8461-6D1B-3777-F2ACE03D8BB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Picture Placeholder 2">
            <a:extLst xmlns:a="http://schemas.openxmlformats.org/drawingml/2006/main">
              <a:ext uri="{FF2B5EF4-FFF2-40B4-BE49-F238E27FC236}">
                <a16:creationId xmlns:a16="http://schemas.microsoft.com/office/drawing/2014/main" id="{7A434AD4-9470-24F9-D1C7-747B24E3E881}"/>
              </a:ext>
            </a:extLst>
          </p:cNvPr>
          <p:cNvSpPr>
            <a:spLocks xmlns:a="http://schemas.openxmlformats.org/drawingml/2006/main" noGrp="1"/>
          </p:cNvSpPr>
          <p:nvPr>
            <p:ph type="pic"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endParaRPr/>
          </a:p>
        </p:txBody>
      </p:sp>
      <p:sp>
        <p:nvSpPr>
          <p:cNvPr id="4" name="Text Placeholder 3">
            <a:extLst xmlns:a="http://schemas.openxmlformats.org/drawingml/2006/main">
              <a:ext uri="{FF2B5EF4-FFF2-40B4-BE49-F238E27FC236}">
                <a16:creationId xmlns:a16="http://schemas.microsoft.com/office/drawing/2014/main" id="{EA022BA7-4769-04C9-C7FE-7359DD5A502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83EE5AD8-D3BB-0D57-A7AB-DE64EEB013D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8.xml><?xml version="1.0" encoding="utf-8"?>
<p:sldLayout xmlns:p="http://schemas.openxmlformats.org/presentationml/2006/main" preserve="1" userDrawn="1">
  <p:cSld name="自定义版式">
    <p:bg>
      <p:bgPr>
        <a:blipFill xmlns:a="http://schemas.openxmlformats.org/drawingml/2006/main" rotWithShape="1">
          <a:blip xmlns:r="http://schemas.openxmlformats.org/officeDocument/2006/relationships" r:embed="R83e8d259c5b94b8a">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004289-8E53-FEC4-517B-14893B0C0BBC}"/>
              </a:ext>
            </a:extLst>
          </p:cNvPr>
          <p:cNvSpPr>
            <a:spLocks xmlns:a="http://schemas.openxmlformats.org/drawingml/2006/main" noGrp="1"/>
          </p:cNvSpPr>
          <p:nvPr>
            <p:ph type="title" idx="0" hasCustomPrompt="1"/>
          </p:nvPr>
        </p:nvSpPr>
        <p:spPr>
          <a:xfrm xmlns:a="http://schemas.openxmlformats.org/drawingml/2006/main">
            <a:off x="838200" y="2743849"/>
            <a:ext cx="10515600" cy="1095508"/>
          </a:xfrm>
        </p:spPr>
        <p:txBody>
          <a:bodyPr xmlns:a="http://schemas.openxmlformats.org/drawingml/2006/main"/>
          <a:lstStyle xmlns:a="http://schemas.openxmlformats.org/drawingml/2006/main">
            <a:lvl1pPr algn="ctr">
              <a:buNone/>
              <a:defRPr/>
            </a:lvl1pPr>
          </a:lstStyle>
          <a:p xmlns:a="http://schemas.openxmlformats.org/drawingml/2006/main">
            <a:r>
              <a:t>Thank you!</a:t>
            </a:r>
          </a:p>
        </p:txBody>
      </p:sp>
    </p:spTree>
  </p:cSld>
</p:sldLayout>
</file>

<file path=ppt/slideLayouts/followup20260914_slideLayout9.xml><?xml version="1.0" encoding="utf-8"?>
<p:sldLayout xmlns:p="http://schemas.openxmlformats.org/presentationml/2006/main" preserve="1" userDrawn="1">
  <p:cSld name="1_Custom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95A5D8-C6CA-3BB5-2670-321D6742C2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Tree>
  </p:cSld>
</p:sldLayout>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E9A1-8520-5146-239F-0FA97511B65B}"/>
              </a:ext>
            </a:extLst>
          </p:cNvPr>
          <p:cNvSpPr>
            <a:spLocks noGrp="1"/>
          </p:cNvSpPr>
          <p:nvPr>
            <p:ph type="title" hasCustomPrompt="1"/>
          </p:nvPr>
        </p:nvSpPr>
        <p:spPr>
          <a:xfrm>
            <a:off x="831850" y="1709738"/>
            <a:ext cx="10515600" cy="2852737"/>
          </a:xfrm>
        </p:spPr>
        <p:txBody>
          <a:bodyPr anchor="b">
            <a:normAutofit/>
          </a:bodyPr>
          <a:lstStyle>
            <a:lvl1pPr>
              <a:defRPr sz="4800" b="1">
                <a:solidFill>
                  <a:srgbClr val="B60007"/>
                </a:solidFill>
              </a:defRPr>
            </a:lvl1pPr>
          </a:lstStyle>
          <a:p>
            <a:r>
              <a:rPr lang="en-US" dirty="0"/>
              <a:t>Presentation Title</a:t>
            </a:r>
          </a:p>
        </p:txBody>
      </p:sp>
      <p:sp>
        <p:nvSpPr>
          <p:cNvPr id="3" name="Text Placeholder 2">
            <a:extLst>
              <a:ext uri="{FF2B5EF4-FFF2-40B4-BE49-F238E27FC236}">
                <a16:creationId xmlns:a16="http://schemas.microsoft.com/office/drawing/2014/main" id="{4EE82710-E1E4-466F-30AE-69A71966AE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3070831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A7141-DFF9-E7CA-A95A-620E50267A56}"/>
              </a:ext>
            </a:extLst>
          </p:cNvPr>
          <p:cNvSpPr>
            <a:spLocks noGrp="1"/>
          </p:cNvSpPr>
          <p:nvPr>
            <p:ph type="ctrTitle" hasCustomPrompt="1"/>
          </p:nvPr>
        </p:nvSpPr>
        <p:spPr>
          <a:xfrm>
            <a:off x="1524000" y="1122363"/>
            <a:ext cx="9144000" cy="2387600"/>
          </a:xfrm>
        </p:spPr>
        <p:txBody>
          <a:bodyPr anchor="b">
            <a:normAutofit/>
          </a:bodyPr>
          <a:lstStyle>
            <a:lvl1pPr algn="l">
              <a:defRPr sz="5400" b="1">
                <a:solidFill>
                  <a:srgbClr val="B60007"/>
                </a:solidFill>
              </a:defRPr>
            </a:lvl1pPr>
          </a:lstStyle>
          <a:p>
            <a:r>
              <a:rPr lang="en-US" dirty="0"/>
              <a:t>Presentation Title</a:t>
            </a:r>
          </a:p>
        </p:txBody>
      </p:sp>
      <p:sp>
        <p:nvSpPr>
          <p:cNvPr id="3" name="Subtitle 2">
            <a:extLst>
              <a:ext uri="{FF2B5EF4-FFF2-40B4-BE49-F238E27FC236}">
                <a16:creationId xmlns:a16="http://schemas.microsoft.com/office/drawing/2014/main" id="{05641A52-A17E-07B5-1692-6E5DC631A289}"/>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extLst>
      <p:ext uri="{BB962C8B-B14F-4D97-AF65-F5344CB8AC3E}">
        <p14:creationId xmlns:p14="http://schemas.microsoft.com/office/powerpoint/2010/main" val="850708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DD4F-0AF3-F7C8-6C26-A700CF76F533}"/>
              </a:ext>
            </a:extLst>
          </p:cNvPr>
          <p:cNvSpPr>
            <a:spLocks noGrp="1"/>
          </p:cNvSpPr>
          <p:nvPr>
            <p:ph type="title"/>
          </p:nvPr>
        </p:nvSpPr>
        <p:spPr>
          <a:xfrm>
            <a:off x="838200" y="365125"/>
            <a:ext cx="8417312"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A187A4B2-E3CB-CD7E-B61C-DB90D5C43BB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Slide Number Placeholder 3">
            <a:extLst>
              <a:ext uri="{FF2B5EF4-FFF2-40B4-BE49-F238E27FC236}">
                <a16:creationId xmlns:a16="http://schemas.microsoft.com/office/drawing/2014/main" id="{5A500D57-1613-E8EB-F6FF-C1AF51444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2548487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CBD4C-653E-6CF0-91A1-8D087DAE2717}"/>
              </a:ext>
            </a:extLst>
          </p:cNvPr>
          <p:cNvSpPr>
            <a:spLocks noGrp="1"/>
          </p:cNvSpPr>
          <p:nvPr>
            <p:ph type="title"/>
          </p:nvPr>
        </p:nvSpPr>
        <p:spPr>
          <a:xfrm>
            <a:off x="838201" y="365125"/>
            <a:ext cx="8406160"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26605617-0FE6-1513-7E9C-B0470E5FC50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a:extLst>
              <a:ext uri="{FF2B5EF4-FFF2-40B4-BE49-F238E27FC236}">
                <a16:creationId xmlns:a16="http://schemas.microsoft.com/office/drawing/2014/main" id="{00B2526F-CC14-905B-B4F8-3DA58013D78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Slide Number Placeholder 3">
            <a:extLst>
              <a:ext uri="{FF2B5EF4-FFF2-40B4-BE49-F238E27FC236}">
                <a16:creationId xmlns:a16="http://schemas.microsoft.com/office/drawing/2014/main" id="{671BA4A5-63AD-67A0-D23D-D9DF769811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6474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CC3666C-BC10-00D8-077D-FD477333D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017997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A3B4-DA5B-C327-0769-E9EBF77465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Content Placeholder 2">
            <a:extLst>
              <a:ext uri="{FF2B5EF4-FFF2-40B4-BE49-F238E27FC236}">
                <a16:creationId xmlns:a16="http://schemas.microsoft.com/office/drawing/2014/main" id="{1EE14E74-BCFC-0E95-9CE3-070A751A14FA}"/>
              </a:ext>
            </a:extLst>
          </p:cNvPr>
          <p:cNvSpPr>
            <a:spLocks noGrp="1"/>
          </p:cNvSpPr>
          <p:nvPr>
            <p:ph idx="1"/>
          </p:nvPr>
        </p:nvSpPr>
        <p:spPr>
          <a:xfrm>
            <a:off x="5183188" y="2049462"/>
            <a:ext cx="6172200" cy="38115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a:extLst>
              <a:ext uri="{FF2B5EF4-FFF2-40B4-BE49-F238E27FC236}">
                <a16:creationId xmlns:a16="http://schemas.microsoft.com/office/drawing/2014/main" id="{6D5A0A65-1AC3-F886-E086-2AEEE968DB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77BFCB75-E804-30AC-684E-DAF9F69EB3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1303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0E19-8461-6D1B-3777-F2ACE03D8B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Picture Placeholder 2">
            <a:extLst>
              <a:ext uri="{FF2B5EF4-FFF2-40B4-BE49-F238E27FC236}">
                <a16:creationId xmlns:a16="http://schemas.microsoft.com/office/drawing/2014/main" id="{7A434AD4-9470-24F9-D1C7-747B24E3E881}"/>
              </a:ext>
            </a:extLst>
          </p:cNvPr>
          <p:cNvSpPr>
            <a:spLocks noGrp="1"/>
          </p:cNvSpPr>
          <p:nvPr>
            <p:ph type="pic" idx="1"/>
          </p:nvPr>
        </p:nvSpPr>
        <p:spPr>
          <a:xfrm>
            <a:off x="5183188" y="2049462"/>
            <a:ext cx="6172200" cy="38115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a:extLst>
              <a:ext uri="{FF2B5EF4-FFF2-40B4-BE49-F238E27FC236}">
                <a16:creationId xmlns:a16="http://schemas.microsoft.com/office/drawing/2014/main" id="{EA022BA7-4769-04C9-C7FE-7359DD5A50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83EE5AD8-D3BB-0D57-A7AB-DE64EEB013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762097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4289-8E53-FEC4-517B-14893B0C0BBC}"/>
              </a:ext>
            </a:extLst>
          </p:cNvPr>
          <p:cNvSpPr>
            <a:spLocks noGrp="1"/>
          </p:cNvSpPr>
          <p:nvPr>
            <p:ph type="title" hasCustomPrompt="1"/>
          </p:nvPr>
        </p:nvSpPr>
        <p:spPr>
          <a:xfrm>
            <a:off x="838200" y="2743849"/>
            <a:ext cx="10515600" cy="1095508"/>
          </a:xfrm>
        </p:spPr>
        <p:txBody>
          <a:bodyPr/>
          <a:lstStyle>
            <a:lvl1pPr algn="ctr">
              <a:defRPr/>
            </a:lvl1pPr>
          </a:lstStyle>
          <a:p>
            <a:r>
              <a:rPr lang="en-US" dirty="0"/>
              <a:t>Thank you!</a:t>
            </a:r>
          </a:p>
        </p:txBody>
      </p:sp>
    </p:spTree>
    <p:extLst>
      <p:ext uri="{BB962C8B-B14F-4D97-AF65-F5344CB8AC3E}">
        <p14:creationId xmlns:p14="http://schemas.microsoft.com/office/powerpoint/2010/main" val="360863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5A5D8-C6CA-3BB5-2670-321D6742C20D}"/>
              </a:ext>
            </a:extLst>
          </p:cNvPr>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1291912519"/>
      </p:ext>
    </p:extLst>
  </p:cSld>
  <p:clrMapOvr>
    <a:masterClrMapping/>
  </p:clrMapOvr>
</p:sldLayout>
</file>

<file path=ppt/slideMasters/_rels/followup20260914_slideMaster1.xml.rels><?xml version='1.0' encoding='UTF-8' standalone='yes'?>
<Relationships xmlns="http://schemas.openxmlformats.org/package/2006/relationships"><Relationship Type="http://schemas.openxmlformats.org/officeDocument/2006/relationships/theme" Target="theme/followup20260914_theme2.xml" Id="R6e079526e2b94278"/><Relationship Type="http://schemas.openxmlformats.org/officeDocument/2006/relationships/slideLayout" Target="../slideLayouts/followup20260914_slideLayout1.xml" Id="R46e829f9cbd44fb2"/><Relationship Type="http://schemas.openxmlformats.org/officeDocument/2006/relationships/slideLayout" Target="../slideLayouts/followup20260914_slideLayout2.xml" Id="R64cf89cd0fac4e74"/><Relationship Type="http://schemas.openxmlformats.org/officeDocument/2006/relationships/slideLayout" Target="../slideLayouts/followup20260914_slideLayout3.xml" Id="Rb740017d3db940ac"/><Relationship Type="http://schemas.openxmlformats.org/officeDocument/2006/relationships/slideLayout" Target="../slideLayouts/followup20260914_slideLayout4.xml" Id="R7af8862d7f0d4e4f"/><Relationship Type="http://schemas.openxmlformats.org/officeDocument/2006/relationships/slideLayout" Target="../slideLayouts/followup20260914_slideLayout5.xml" Id="R76e412d704db465e"/><Relationship Type="http://schemas.openxmlformats.org/officeDocument/2006/relationships/slideLayout" Target="../slideLayouts/followup20260914_slideLayout6.xml" Id="R3f883121d756425b"/><Relationship Type="http://schemas.openxmlformats.org/officeDocument/2006/relationships/slideLayout" Target="../slideLayouts/followup20260914_slideLayout7.xml" Id="R62303dbb1edd462d"/><Relationship Type="http://schemas.openxmlformats.org/officeDocument/2006/relationships/slideLayout" Target="../slideLayouts/followup20260914_slideLayout8.xml" Id="R147b8c9941ae435a"/><Relationship Type="http://schemas.openxmlformats.org/officeDocument/2006/relationships/slideLayout" Target="../slideLayouts/followup20260914_slideLayout9.xml" Id="Rcb3461169ab945e3"/></Relationships>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followup20260914_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DF015CB-7E28-AD44-692E-F693A876D62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D2C282AF-0EB8-0195-21FA-E6FCC6AC556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8346745-5357-82A3-9FDC-B99ED641782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e829f9cbd44fb2"/>
    <p:sldLayoutId xmlns:r="http://schemas.openxmlformats.org/officeDocument/2006/relationships" id="2147483650" r:id="R64cf89cd0fac4e74"/>
    <p:sldLayoutId xmlns:r="http://schemas.openxmlformats.org/officeDocument/2006/relationships" id="2147483651" r:id="Rb740017d3db940ac"/>
    <p:sldLayoutId xmlns:r="http://schemas.openxmlformats.org/officeDocument/2006/relationships" id="2147483652" r:id="R7af8862d7f0d4e4f"/>
    <p:sldLayoutId xmlns:r="http://schemas.openxmlformats.org/officeDocument/2006/relationships" id="2147483653" r:id="R76e412d704db465e"/>
    <p:sldLayoutId xmlns:r="http://schemas.openxmlformats.org/officeDocument/2006/relationships" id="2147483654" r:id="R3f883121d756425b"/>
    <p:sldLayoutId xmlns:r="http://schemas.openxmlformats.org/officeDocument/2006/relationships" id="2147483655" r:id="R62303dbb1edd462d"/>
    <p:sldLayoutId xmlns:r="http://schemas.openxmlformats.org/officeDocument/2006/relationships" id="2147483656" r:id="R147b8c9941ae435a"/>
    <p:sldLayoutId xmlns:r="http://schemas.openxmlformats.org/officeDocument/2006/relationships" id="2147483657" r:id="Rcb3461169ab945e3"/>
  </p:sldLayoutIdLst>
  <p:hf hdr="0" ftr="0" dt="0"/>
  <p:txStyles>
    <p:titleStyle>
      <a:lvl1pPr xmlns:a="http://schemas.openxmlformats.org/drawingml/2006/main" algn="l" defTabSz="914400">
        <a:lnSpc>
          <a:spcPct val="90000"/>
        </a:lnSpc>
        <a:spcBef>
          <a:spcPct val="0"/>
        </a:spcBef>
        <a:buNone/>
        <a:defRPr sz="4400" b="1" kern="1200">
          <a:solidFill>
            <a:srgbClr val="B60007"/>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F015CB-7E28-AD44-692E-F693A876D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a:extLst>
              <a:ext uri="{FF2B5EF4-FFF2-40B4-BE49-F238E27FC236}">
                <a16:creationId xmlns:a16="http://schemas.microsoft.com/office/drawing/2014/main" id="{D2C282AF-0EB8-0195-21FA-E6FCC6AC55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Slide Number Placeholder 3">
            <a:extLst>
              <a:ext uri="{FF2B5EF4-FFF2-40B4-BE49-F238E27FC236}">
                <a16:creationId xmlns:a16="http://schemas.microsoft.com/office/drawing/2014/main" id="{58346745-5357-82A3-9FDC-B99ED6417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603437735"/>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5" r:id="rId5"/>
    <p:sldLayoutId id="2147483656" r:id="rId6"/>
    <p:sldLayoutId id="2147483657" r:id="rId7"/>
    <p:sldLayoutId id="2147483660" r:id="rId8"/>
    <p:sldLayoutId id="2147483661" r:id="rId9"/>
  </p:sldLayoutIdLst>
  <p:hf hdr="0" ftr="0" dt="0"/>
  <p:txStyles>
    <p:titleStyle>
      <a:lvl1pPr algn="l" defTabSz="914400" rtl="0" eaLnBrk="1" latinLnBrk="0" hangingPunct="1">
        <a:lnSpc>
          <a:spcPct val="90000"/>
        </a:lnSpc>
        <a:spcBef>
          <a:spcPct val="0"/>
        </a:spcBef>
        <a:buNone/>
        <a:defRPr sz="4400" b="1" kern="1200">
          <a:solidFill>
            <a:srgbClr val="B6000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followup20260914_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hyperlink" Target="https://doi.org/10.48550/arXiv.2503.02407"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48550/arXiv.2606.22866"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doi.org/10.48550/arXiv.2608.07401"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Type="http://schemas.openxmlformats.org/officeDocument/2006/relationships/slideLayout" Target="../slideLayouts/followup20260914_slideLayout1.xml" Id="R2c225774238d4a3b"/><Relationship Type="http://schemas.openxmlformats.org/officeDocument/2006/relationships/notesSlide" Target="../notesSlides/followup20260914_notesSlide16.xml" Id="Rf67fc0dc94ff4069"/></Relationships>
</file>

<file path=ppt/slides/_rels/slide17.xml.rels><?xml version='1.0' encoding='UTF-8' standalone='yes'?>
<Relationships xmlns="http://schemas.openxmlformats.org/package/2006/relationships"><Relationship Type="http://schemas.openxmlformats.org/officeDocument/2006/relationships/slideLayout" Target="../slideLayouts/followup20260914_slideLayout1.xml" Id="Rff62b3de8bcd436f"/><Relationship Type="http://schemas.openxmlformats.org/officeDocument/2006/relationships/notesSlide" Target="../notesSlides/followup20260914_notesSlide17.xml" Id="Rbba05f4c44df4464"/></Relationships>
</file>

<file path=ppt/slides/_rels/slide18.xml.rels><?xml version='1.0' encoding='UTF-8' standalone='yes'?>
<Relationships xmlns="http://schemas.openxmlformats.org/package/2006/relationships"><Relationship Type="http://schemas.openxmlformats.org/officeDocument/2006/relationships/slideLayout" Target="../slideLayouts/followup20260914_slideLayout1.xml" Id="R3220375aef664e47"/><Relationship Type="http://schemas.openxmlformats.org/officeDocument/2006/relationships/notesSlide" Target="../notesSlides/followup20260914_notesSlide18.xml" Id="R385d290fc2c04d79"/></Relationships>
</file>

<file path=ppt/slides/_rels/slide19.xml.rels><?xml version='1.0' encoding='UTF-8' standalone='yes'?>
<Relationships xmlns="http://schemas.openxmlformats.org/package/2006/relationships"><Relationship Type="http://schemas.openxmlformats.org/officeDocument/2006/relationships/slideLayout" Target="../slideLayouts/followup20260914_slideLayout1.xml" Id="Re56d36d8ade14585"/><Relationship Type="http://schemas.openxmlformats.org/officeDocument/2006/relationships/notesSlide" Target="../notesSlides/followup20260914_notesSlide19.xml" Id="Refc0aae6f76d49f6"/></Relationships>
</file>

<file path=ppt/slides/_rels/slide20.xml.rels><?xml version='1.0' encoding='UTF-8' standalone='yes'?>
<Relationships xmlns="http://schemas.openxmlformats.org/package/2006/relationships"><Relationship Type="http://schemas.openxmlformats.org/officeDocument/2006/relationships/slideLayout" Target="../slideLayouts/followup20260914_slideLayout1.xml" Id="R77a09376d81442ad"/><Relationship Type="http://schemas.openxmlformats.org/officeDocument/2006/relationships/notesSlide" Target="../notesSlides/followup20260914_notesSlide20.xml" Id="Rb161a4d2d5e8410b"/></Relationships>
</file>

<file path=ppt/slides/_rels/slide21.xml.rels><?xml version='1.0' encoding='UTF-8' standalone='yes'?>
<Relationships xmlns="http://schemas.openxmlformats.org/package/2006/relationships"><Relationship Type="http://schemas.openxmlformats.org/officeDocument/2006/relationships/slideLayout" Target="../slideLayouts/followup20260914_slideLayout1.xml" Id="Rb85b9528456244e6"/><Relationship Type="http://schemas.openxmlformats.org/officeDocument/2006/relationships/notesSlide" Target="../notesSlides/followup20260914_notesSlide21.xml" Id="R4b968867fb394401"/></Relationships>
</file>

<file path=ppt/slides/_rels/slide22.xml.rels><?xml version='1.0' encoding='UTF-8' standalone='yes'?>
<Relationships xmlns="http://schemas.openxmlformats.org/package/2006/relationships"><Relationship Type="http://schemas.openxmlformats.org/officeDocument/2006/relationships/slideLayout" Target="../slideLayouts/followup20260914_slideLayout1.xml" Id="Rb4114ad7df184ff2"/><Relationship Type="http://schemas.openxmlformats.org/officeDocument/2006/relationships/notesSlide" Target="../notesSlides/followup20260914_notesSlide22.xml" Id="R44652635f8b7402e"/></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BDD9-47B9-1E29-1F69-D68D76EB692D}"/>
              </a:ext>
            </a:extLst>
          </p:cNvPr>
          <p:cNvSpPr>
            <a:spLocks noGrp="1"/>
          </p:cNvSpPr>
          <p:nvPr>
            <p:ph type="title"/>
          </p:nvPr>
        </p:nvSpPr>
        <p:spPr/>
        <p:txBody>
          <a:bodyPr/>
          <a:lstStyle/>
          <a:p>
            <a:r>
              <a:rPr lang="en-US" dirty="0"/>
              <a:t>Crystal</a:t>
            </a:r>
            <a:r>
              <a:rPr lang="zh-CN" altLang="en-US" dirty="0"/>
              <a:t> </a:t>
            </a:r>
            <a:r>
              <a:rPr lang="en-US" altLang="zh-CN"/>
              <a:t>DLM</a:t>
            </a:r>
            <a:endParaRPr lang="en-US" dirty="0"/>
          </a:p>
        </p:txBody>
      </p:sp>
      <p:sp>
        <p:nvSpPr>
          <p:cNvPr id="3" name="Text Placeholder 2">
            <a:extLst>
              <a:ext uri="{FF2B5EF4-FFF2-40B4-BE49-F238E27FC236}">
                <a16:creationId xmlns:a16="http://schemas.microsoft.com/office/drawing/2014/main" id="{18055D2C-AD5F-2E5F-6EEF-3150641E65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16179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777ECE8-A9E2-F178-9F8F-A812B4821D38}"/>
              </a:ext>
            </a:extLst>
          </p:cNvPr>
          <p:cNvSpPr>
            <a:spLocks noGrp="1"/>
          </p:cNvSpPr>
          <p:nvPr>
            <p:ph type="title"/>
          </p:nvPr>
        </p:nvSpPr>
        <p:spPr/>
        <p:txBody>
          <a:bodyPr/>
          <a:lstStyle/>
          <a:p>
            <a:r>
              <a:rPr lang="en-US" altLang="zh-CN" dirty="0"/>
              <a:t>Outline</a:t>
            </a:r>
            <a:endParaRPr lang="zh-CN" altLang="en-US" dirty="0"/>
          </a:p>
        </p:txBody>
      </p:sp>
      <p:sp>
        <p:nvSpPr>
          <p:cNvPr id="5" name="文本框 4">
            <a:extLst>
              <a:ext uri="{FF2B5EF4-FFF2-40B4-BE49-F238E27FC236}">
                <a16:creationId xmlns:a16="http://schemas.microsoft.com/office/drawing/2014/main" id="{7E0DFF2B-97B4-A635-BBE6-108C62A7D604}"/>
              </a:ext>
            </a:extLst>
          </p:cNvPr>
          <p:cNvSpPr txBox="1"/>
          <p:nvPr/>
        </p:nvSpPr>
        <p:spPr>
          <a:xfrm>
            <a:off x="4327452" y="2505117"/>
            <a:ext cx="2909771" cy="2677656"/>
          </a:xfrm>
          <a:prstGeom prst="rect">
            <a:avLst/>
          </a:prstGeom>
          <a:noFill/>
        </p:spPr>
        <p:txBody>
          <a:bodyPr wrap="none" rtlCol="0">
            <a:spAutoFit/>
          </a:bodyPr>
          <a:lstStyle/>
          <a:p>
            <a:pPr marL="342900" indent="-342900">
              <a:buFont typeface="Arial" panose="020B0604020202020204" pitchFamily="34" charset="0"/>
              <a:buChar char="•"/>
            </a:pPr>
            <a:r>
              <a:rPr kumimoji="1" lang="en-US" altLang="zh-CN" sz="2400" dirty="0"/>
              <a:t>Related</a:t>
            </a:r>
            <a:r>
              <a:rPr kumimoji="1" lang="zh-CN" altLang="en-US" sz="2400" dirty="0"/>
              <a:t> </a:t>
            </a:r>
            <a:r>
              <a:rPr kumimoji="1" lang="en-US" altLang="zh-CN" sz="2400" dirty="0"/>
              <a:t>Work</a:t>
            </a:r>
          </a:p>
          <a:p>
            <a:pPr marL="342900" indent="-342900">
              <a:lnSpc>
                <a:spcPct val="250000"/>
              </a:lnSpc>
              <a:buFont typeface="Arial" panose="020B0604020202020204" pitchFamily="34" charset="0"/>
              <a:buChar char="•"/>
            </a:pPr>
            <a:r>
              <a:rPr kumimoji="1" lang="en-US" altLang="zh-CN" sz="2400" dirty="0"/>
              <a:t>BPE</a:t>
            </a:r>
          </a:p>
          <a:p>
            <a:pPr marL="342900" indent="-342900">
              <a:lnSpc>
                <a:spcPct val="250000"/>
              </a:lnSpc>
              <a:buFont typeface="Arial" panose="020B0604020202020204" pitchFamily="34" charset="0"/>
              <a:buChar char="•"/>
            </a:pPr>
            <a:r>
              <a:rPr kumimoji="1" lang="en-US" altLang="zh-CN" sz="2400" dirty="0"/>
              <a:t>What we can do?</a:t>
            </a:r>
          </a:p>
          <a:p>
            <a:pPr marL="342900" indent="-342900">
              <a:buFont typeface="Arial" panose="020B0604020202020204" pitchFamily="34" charset="0"/>
              <a:buChar char="•"/>
            </a:pPr>
            <a:endParaRPr kumimoji="1" lang="zh-CN" altLang="en-US" sz="2400" dirty="0"/>
          </a:p>
        </p:txBody>
      </p:sp>
    </p:spTree>
    <p:extLst>
      <p:ext uri="{BB962C8B-B14F-4D97-AF65-F5344CB8AC3E}">
        <p14:creationId xmlns:p14="http://schemas.microsoft.com/office/powerpoint/2010/main" val="2069768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8D321-4442-C978-4B85-4C3E40CDB596}"/>
              </a:ext>
            </a:extLst>
          </p:cNvPr>
          <p:cNvSpPr>
            <a:spLocks noGrp="1"/>
          </p:cNvSpPr>
          <p:nvPr>
            <p:ph type="title"/>
          </p:nvPr>
        </p:nvSpPr>
        <p:spPr/>
        <p:txBody>
          <a:bodyPr/>
          <a:lstStyle/>
          <a:p>
            <a:r>
              <a:rPr kumimoji="1" lang="en-US" altLang="zh-CN" dirty="0"/>
              <a:t>Our</a:t>
            </a:r>
            <a:r>
              <a:rPr kumimoji="1" lang="zh-CN" altLang="en-US" dirty="0"/>
              <a:t> </a:t>
            </a:r>
            <a:r>
              <a:rPr kumimoji="1" lang="en-US" altLang="zh-CN" dirty="0"/>
              <a:t>work</a:t>
            </a:r>
            <a:endParaRPr kumimoji="1" lang="zh-CN" altLang="en-US" dirty="0"/>
          </a:p>
        </p:txBody>
      </p:sp>
      <p:sp>
        <p:nvSpPr>
          <p:cNvPr id="4" name="文本框 3">
            <a:extLst>
              <a:ext uri="{FF2B5EF4-FFF2-40B4-BE49-F238E27FC236}">
                <a16:creationId xmlns:a16="http://schemas.microsoft.com/office/drawing/2014/main" id="{4D436626-E804-5470-1331-6111285AC0DB}"/>
              </a:ext>
            </a:extLst>
          </p:cNvPr>
          <p:cNvSpPr txBox="1"/>
          <p:nvPr/>
        </p:nvSpPr>
        <p:spPr>
          <a:xfrm>
            <a:off x="540541" y="1872556"/>
            <a:ext cx="5248275" cy="3970318"/>
          </a:xfrm>
          <a:prstGeom prst="rect">
            <a:avLst/>
          </a:prstGeom>
          <a:noFill/>
        </p:spPr>
        <p:txBody>
          <a:bodyPr wrap="square">
            <a:spAutoFit/>
          </a:bodyPr>
          <a:lstStyle/>
          <a:p>
            <a:pPr>
              <a:buNone/>
            </a:pPr>
            <a:r>
              <a:rPr lang="en-US" altLang="zh-CN" b="1" dirty="0">
                <a:latin typeface="+mj-lt"/>
                <a:ea typeface="+mj-ea"/>
              </a:rPr>
              <a:t>Orbit identity</a:t>
            </a:r>
            <a:r>
              <a:rPr lang="zh-CN" altLang="en-US" b="1" dirty="0">
                <a:latin typeface="+mj-lt"/>
                <a:ea typeface="+mj-ea"/>
              </a:rPr>
              <a:t>：什么时候两个 </a:t>
            </a:r>
            <a:r>
              <a:rPr lang="en-US" altLang="zh-CN" b="1" dirty="0">
                <a:latin typeface="+mj-lt"/>
                <a:ea typeface="+mj-ea"/>
              </a:rPr>
              <a:t>orbit </a:t>
            </a:r>
            <a:r>
              <a:rPr lang="zh-CN" altLang="en-US" b="1" dirty="0">
                <a:latin typeface="+mj-lt"/>
                <a:ea typeface="+mj-ea"/>
              </a:rPr>
              <a:t>是同一个 </a:t>
            </a:r>
            <a:r>
              <a:rPr lang="en-US" altLang="zh-CN" b="1" dirty="0">
                <a:latin typeface="+mj-lt"/>
                <a:ea typeface="+mj-ea"/>
              </a:rPr>
              <a:t>token</a:t>
            </a:r>
            <a:r>
              <a:rPr lang="zh-CN" altLang="en-US" b="1" dirty="0">
                <a:latin typeface="+mj-lt"/>
                <a:ea typeface="+mj-ea"/>
              </a:rPr>
              <a:t>？</a:t>
            </a:r>
          </a:p>
          <a:p>
            <a:pPr>
              <a:buNone/>
            </a:pPr>
            <a:endParaRPr lang="en-US" altLang="zh-CN" dirty="0">
              <a:latin typeface="+mj-lt"/>
              <a:ea typeface="+mj-ea"/>
            </a:endParaRPr>
          </a:p>
          <a:p>
            <a:pPr>
              <a:buNone/>
            </a:pPr>
            <a:r>
              <a:rPr lang="zh-CN" altLang="en-US" dirty="0">
                <a:latin typeface="+mj-lt"/>
                <a:ea typeface="+mj-ea"/>
              </a:rPr>
              <a:t>直接使用“空间群编号 </a:t>
            </a:r>
            <a:r>
              <a:rPr lang="en-US" altLang="zh-CN" dirty="0">
                <a:latin typeface="+mj-lt"/>
                <a:ea typeface="+mj-ea"/>
              </a:rPr>
              <a:t>+ Wyckoff letter”</a:t>
            </a:r>
            <a:r>
              <a:rPr lang="zh-CN" altLang="en-US" dirty="0">
                <a:latin typeface="+mj-lt"/>
                <a:ea typeface="+mj-ea"/>
              </a:rPr>
              <a:t>会造成严重的数据碎片化，因为每个空间群都有自己的 </a:t>
            </a:r>
            <a:r>
              <a:rPr lang="en-US" altLang="zh-CN" dirty="0">
                <a:latin typeface="+mj-lt"/>
                <a:ea typeface="+mj-ea"/>
              </a:rPr>
              <a:t>a</a:t>
            </a:r>
            <a:r>
              <a:rPr lang="zh-CN" altLang="en-US" dirty="0">
                <a:latin typeface="+mj-lt"/>
                <a:ea typeface="+mj-ea"/>
              </a:rPr>
              <a:t>、</a:t>
            </a:r>
            <a:r>
              <a:rPr lang="en-US" altLang="zh-CN" dirty="0">
                <a:latin typeface="+mj-lt"/>
                <a:ea typeface="+mj-ea"/>
              </a:rPr>
              <a:t>b</a:t>
            </a:r>
            <a:r>
              <a:rPr lang="zh-CN" altLang="en-US" dirty="0">
                <a:latin typeface="+mj-lt"/>
                <a:ea typeface="+mj-ea"/>
              </a:rPr>
              <a:t>、</a:t>
            </a:r>
            <a:r>
              <a:rPr lang="en-US" altLang="zh-CN" dirty="0">
                <a:latin typeface="+mj-lt"/>
                <a:ea typeface="+mj-ea"/>
              </a:rPr>
              <a:t>c</a:t>
            </a:r>
            <a:r>
              <a:rPr lang="zh-CN" altLang="en-US" dirty="0">
                <a:latin typeface="+mj-lt"/>
                <a:ea typeface="+mj-ea"/>
              </a:rPr>
              <a:t>；同样的几何或对称形式可能出现在多个空间群中。</a:t>
            </a:r>
            <a:endParaRPr lang="en-US" altLang="zh-CN" dirty="0">
              <a:latin typeface="+mj-lt"/>
              <a:ea typeface="+mj-ea"/>
            </a:endParaRPr>
          </a:p>
          <a:p>
            <a:pPr>
              <a:buNone/>
            </a:pPr>
            <a:endParaRPr lang="zh-CN" altLang="en-US" dirty="0">
              <a:latin typeface="+mj-lt"/>
              <a:ea typeface="+mj-ea"/>
            </a:endParaRPr>
          </a:p>
          <a:p>
            <a:pPr>
              <a:buNone/>
            </a:pPr>
            <a:r>
              <a:rPr lang="en-US" altLang="zh-CN" dirty="0" err="1">
                <a:latin typeface="+mj-lt"/>
                <a:ea typeface="+mj-ea"/>
              </a:rPr>
              <a:t>WyFormer</a:t>
            </a:r>
            <a:r>
              <a:rPr lang="en-US" altLang="zh-CN" dirty="0">
                <a:latin typeface="+mj-lt"/>
                <a:ea typeface="+mj-ea"/>
              </a:rPr>
              <a:t> </a:t>
            </a:r>
            <a:r>
              <a:rPr lang="zh-CN" altLang="en-US" dirty="0">
                <a:latin typeface="+mj-lt"/>
                <a:ea typeface="+mj-ea"/>
              </a:rPr>
              <a:t>的解决办法是用较通用的 </a:t>
            </a:r>
            <a:r>
              <a:rPr lang="en-US" altLang="zh-CN" dirty="0">
                <a:latin typeface="+mj-lt"/>
                <a:ea typeface="+mj-ea"/>
              </a:rPr>
              <a:t>site symmetry</a:t>
            </a:r>
            <a:r>
              <a:rPr lang="zh-CN" altLang="en-US" dirty="0">
                <a:latin typeface="+mj-lt"/>
                <a:ea typeface="+mj-ea"/>
              </a:rPr>
              <a:t>，再加 </a:t>
            </a:r>
            <a:r>
              <a:rPr lang="en-US" altLang="zh-CN" dirty="0">
                <a:latin typeface="+mj-lt"/>
                <a:ea typeface="+mj-ea"/>
              </a:rPr>
              <a:t>enumeration </a:t>
            </a:r>
            <a:r>
              <a:rPr lang="zh-CN" altLang="en-US" dirty="0">
                <a:latin typeface="+mj-lt"/>
                <a:ea typeface="+mj-ea"/>
              </a:rPr>
              <a:t>区分同一空间群中具有相同 </a:t>
            </a:r>
            <a:r>
              <a:rPr lang="en-US" altLang="zh-CN" dirty="0">
                <a:latin typeface="+mj-lt"/>
                <a:ea typeface="+mj-ea"/>
              </a:rPr>
              <a:t>site symmetry </a:t>
            </a:r>
            <a:r>
              <a:rPr lang="zh-CN" altLang="en-US" dirty="0">
                <a:latin typeface="+mj-lt"/>
                <a:ea typeface="+mj-ea"/>
              </a:rPr>
              <a:t>的多个 </a:t>
            </a:r>
            <a:r>
              <a:rPr lang="en-US" altLang="zh-CN" dirty="0">
                <a:latin typeface="+mj-lt"/>
                <a:ea typeface="+mj-ea"/>
              </a:rPr>
              <a:t>Wyckoff positions</a:t>
            </a:r>
            <a:r>
              <a:rPr lang="zh-CN" altLang="en-US" dirty="0">
                <a:latin typeface="+mj-lt"/>
                <a:ea typeface="+mj-ea"/>
              </a:rPr>
              <a:t>。例如在 </a:t>
            </a:r>
            <a:r>
              <a:rPr lang="en-US" altLang="zh-CN" dirty="0">
                <a:latin typeface="+mj-lt"/>
                <a:ea typeface="+mj-ea"/>
              </a:rPr>
              <a:t>space group 225 </a:t>
            </a:r>
            <a:r>
              <a:rPr lang="zh-CN" altLang="en-US" dirty="0">
                <a:latin typeface="+mj-lt"/>
                <a:ea typeface="+mj-ea"/>
              </a:rPr>
              <a:t>中，</a:t>
            </a:r>
            <a:r>
              <a:rPr lang="en-US" altLang="zh-CN" dirty="0">
                <a:latin typeface="+mj-lt"/>
                <a:ea typeface="+mj-ea"/>
              </a:rPr>
              <a:t>4a </a:t>
            </a:r>
            <a:r>
              <a:rPr lang="zh-CN" altLang="en-US" dirty="0">
                <a:latin typeface="+mj-lt"/>
                <a:ea typeface="+mj-ea"/>
              </a:rPr>
              <a:t>和 </a:t>
            </a:r>
            <a:r>
              <a:rPr lang="en-US" altLang="zh-CN" dirty="0">
                <a:latin typeface="+mj-lt"/>
                <a:ea typeface="+mj-ea"/>
              </a:rPr>
              <a:t>4b </a:t>
            </a:r>
            <a:r>
              <a:rPr lang="zh-CN" altLang="en-US" dirty="0">
                <a:latin typeface="+mj-lt"/>
                <a:ea typeface="+mj-ea"/>
              </a:rPr>
              <a:t>都是 </a:t>
            </a:r>
            <a:r>
              <a:rPr lang="en-US" altLang="zh-CN" dirty="0">
                <a:latin typeface="+mj-lt"/>
                <a:ea typeface="+mj-ea"/>
              </a:rPr>
              <a:t>m3ˉmm\bar 3m</a:t>
            </a:r>
            <a:r>
              <a:rPr lang="zh-CN" altLang="en-US" dirty="0">
                <a:latin typeface="+mj-lt"/>
                <a:ea typeface="+mj-ea"/>
              </a:rPr>
              <a:t>，因此分别编码成 </a:t>
            </a:r>
            <a:r>
              <a:rPr lang="en-US" altLang="zh-CN" dirty="0">
                <a:latin typeface="+mj-lt"/>
                <a:ea typeface="+mj-ea"/>
              </a:rPr>
              <a:t>(m3ˉm,0)(m\bar 3m,0) </a:t>
            </a:r>
            <a:r>
              <a:rPr lang="zh-CN" altLang="en-US" dirty="0">
                <a:latin typeface="+mj-lt"/>
                <a:ea typeface="+mj-ea"/>
              </a:rPr>
              <a:t>与 </a:t>
            </a:r>
            <a:r>
              <a:rPr lang="en-US" altLang="zh-CN" dirty="0">
                <a:latin typeface="+mj-lt"/>
                <a:ea typeface="+mj-ea"/>
              </a:rPr>
              <a:t>(m3ˉm,1)</a:t>
            </a:r>
          </a:p>
        </p:txBody>
      </p:sp>
      <p:sp>
        <p:nvSpPr>
          <p:cNvPr id="6" name="文本框 5">
            <a:extLst>
              <a:ext uri="{FF2B5EF4-FFF2-40B4-BE49-F238E27FC236}">
                <a16:creationId xmlns:a16="http://schemas.microsoft.com/office/drawing/2014/main" id="{736916CE-DB0F-4712-01B7-77FF6D4B3452}"/>
              </a:ext>
            </a:extLst>
          </p:cNvPr>
          <p:cNvSpPr txBox="1"/>
          <p:nvPr/>
        </p:nvSpPr>
        <p:spPr>
          <a:xfrm>
            <a:off x="6591302" y="2274838"/>
            <a:ext cx="5060157" cy="2862322"/>
          </a:xfrm>
          <a:prstGeom prst="rect">
            <a:avLst/>
          </a:prstGeom>
          <a:noFill/>
        </p:spPr>
        <p:txBody>
          <a:bodyPr wrap="square">
            <a:spAutoFit/>
          </a:bodyPr>
          <a:lstStyle/>
          <a:p>
            <a:pPr>
              <a:buNone/>
            </a:pPr>
            <a:r>
              <a:rPr lang="zh-CN" altLang="en-US" b="1" dirty="0">
                <a:latin typeface="+mj-lt"/>
              </a:rPr>
              <a:t>哪些 </a:t>
            </a:r>
            <a:r>
              <a:rPr lang="en-US" altLang="zh-CN" b="1" dirty="0">
                <a:latin typeface="+mj-lt"/>
              </a:rPr>
              <a:t>orbit token </a:t>
            </a:r>
            <a:r>
              <a:rPr lang="zh-CN" altLang="en-US" b="1" dirty="0">
                <a:latin typeface="+mj-lt"/>
              </a:rPr>
              <a:t>可以在某个空间群下</a:t>
            </a:r>
            <a:r>
              <a:rPr lang="en-US" altLang="zh-CN" b="1" dirty="0">
                <a:latin typeface="+mj-lt"/>
              </a:rPr>
              <a:t>legally</a:t>
            </a:r>
            <a:r>
              <a:rPr lang="zh-CN" altLang="en-US" b="1" dirty="0">
                <a:latin typeface="+mj-lt"/>
              </a:rPr>
              <a:t>出现？</a:t>
            </a:r>
          </a:p>
          <a:p>
            <a:pPr>
              <a:buNone/>
            </a:pPr>
            <a:endParaRPr lang="en-US" altLang="zh-CN" dirty="0">
              <a:latin typeface="+mj-lt"/>
            </a:endParaRPr>
          </a:p>
          <a:p>
            <a:pPr>
              <a:buNone/>
            </a:pPr>
            <a:r>
              <a:rPr lang="zh-CN" altLang="en-US" dirty="0">
                <a:latin typeface="+mj-lt"/>
              </a:rPr>
              <a:t>除了词表本身，还需要一个 </a:t>
            </a:r>
            <a:r>
              <a:rPr lang="en-US" altLang="zh-CN" dirty="0">
                <a:latin typeface="+mj-lt"/>
              </a:rPr>
              <a:t>compatibility map</a:t>
            </a:r>
            <a:r>
              <a:rPr lang="zh-CN" altLang="en-US" dirty="0">
                <a:latin typeface="+mj-lt"/>
              </a:rPr>
              <a:t>：</a:t>
            </a:r>
          </a:p>
          <a:p>
            <a:pPr>
              <a:buNone/>
            </a:pPr>
            <a:r>
              <a:rPr lang="zh-CN" altLang="en-US" dirty="0">
                <a:latin typeface="+mj-lt"/>
              </a:rPr>
              <a:t>它告诉模型：</a:t>
            </a:r>
          </a:p>
          <a:p>
            <a:pPr>
              <a:buFont typeface="Arial" panose="020B0604020202020204" pitchFamily="34" charset="0"/>
              <a:buChar char="•"/>
            </a:pPr>
            <a:r>
              <a:rPr lang="zh-CN" altLang="en-US" dirty="0">
                <a:latin typeface="+mj-lt"/>
              </a:rPr>
              <a:t> 这个 </a:t>
            </a:r>
            <a:r>
              <a:rPr lang="en-US" altLang="zh-CN" dirty="0">
                <a:latin typeface="+mj-lt"/>
              </a:rPr>
              <a:t>primitive orbit </a:t>
            </a:r>
            <a:r>
              <a:rPr lang="zh-CN" altLang="en-US" dirty="0">
                <a:latin typeface="+mj-lt"/>
              </a:rPr>
              <a:t>是否存在于空间群 </a:t>
            </a:r>
            <a:r>
              <a:rPr lang="en-US" altLang="zh-CN" dirty="0">
                <a:latin typeface="+mj-lt"/>
              </a:rPr>
              <a:t>GG</a:t>
            </a:r>
            <a:r>
              <a:rPr lang="zh-CN" altLang="en-US" dirty="0">
                <a:latin typeface="+mj-lt"/>
              </a:rPr>
              <a:t>； </a:t>
            </a:r>
          </a:p>
          <a:p>
            <a:pPr>
              <a:buFont typeface="Arial" panose="020B0604020202020204" pitchFamily="34" charset="0"/>
              <a:buChar char="•"/>
            </a:pPr>
            <a:r>
              <a:rPr lang="zh-CN" altLang="en-US" dirty="0">
                <a:latin typeface="+mj-lt"/>
              </a:rPr>
              <a:t> 是否能够重复占据； </a:t>
            </a:r>
          </a:p>
          <a:p>
            <a:pPr>
              <a:buFont typeface="Arial" panose="020B0604020202020204" pitchFamily="34" charset="0"/>
              <a:buChar char="•"/>
            </a:pPr>
            <a:r>
              <a:rPr lang="zh-CN" altLang="en-US" dirty="0">
                <a:latin typeface="+mj-lt"/>
              </a:rPr>
              <a:t> </a:t>
            </a:r>
            <a:r>
              <a:rPr lang="en-US" altLang="zh-CN" dirty="0">
                <a:latin typeface="+mj-lt"/>
              </a:rPr>
              <a:t>multiplicity </a:t>
            </a:r>
            <a:r>
              <a:rPr lang="zh-CN" altLang="en-US" dirty="0">
                <a:latin typeface="+mj-lt"/>
              </a:rPr>
              <a:t>是多少； </a:t>
            </a:r>
          </a:p>
          <a:p>
            <a:pPr>
              <a:buFont typeface="Arial" panose="020B0604020202020204" pitchFamily="34" charset="0"/>
              <a:buChar char="•"/>
            </a:pPr>
            <a:r>
              <a:rPr lang="zh-CN" altLang="en-US" dirty="0">
                <a:latin typeface="+mj-lt"/>
              </a:rPr>
              <a:t> 它有几个自由参数； </a:t>
            </a:r>
          </a:p>
          <a:p>
            <a:pPr>
              <a:buFont typeface="Arial" panose="020B0604020202020204" pitchFamily="34" charset="0"/>
              <a:buChar char="•"/>
            </a:pPr>
            <a:r>
              <a:rPr lang="zh-CN" altLang="en-US" dirty="0">
                <a:latin typeface="+mj-lt"/>
              </a:rPr>
              <a:t> 与给定 </a:t>
            </a:r>
            <a:r>
              <a:rPr lang="en-US" altLang="zh-CN" dirty="0">
                <a:latin typeface="+mj-lt"/>
              </a:rPr>
              <a:t>composition </a:t>
            </a:r>
            <a:r>
              <a:rPr lang="zh-CN" altLang="en-US" dirty="0">
                <a:latin typeface="+mj-lt"/>
              </a:rPr>
              <a:t>是否相容。</a:t>
            </a:r>
          </a:p>
        </p:txBody>
      </p:sp>
      <p:sp>
        <p:nvSpPr>
          <p:cNvPr id="8" name="文本框 7">
            <a:extLst>
              <a:ext uri="{FF2B5EF4-FFF2-40B4-BE49-F238E27FC236}">
                <a16:creationId xmlns:a16="http://schemas.microsoft.com/office/drawing/2014/main" id="{79CB4E37-073D-DB54-43A1-534449AC6AD4}"/>
              </a:ext>
            </a:extLst>
          </p:cNvPr>
          <p:cNvSpPr txBox="1"/>
          <p:nvPr/>
        </p:nvSpPr>
        <p:spPr>
          <a:xfrm>
            <a:off x="838200" y="6024742"/>
            <a:ext cx="6100762" cy="369332"/>
          </a:xfrm>
          <a:prstGeom prst="rect">
            <a:avLst/>
          </a:prstGeom>
          <a:noFill/>
        </p:spPr>
        <p:txBody>
          <a:bodyPr wrap="square">
            <a:spAutoFit/>
          </a:bodyPr>
          <a:lstStyle/>
          <a:p>
            <a:r>
              <a:rPr lang="en-US" altLang="zh-CN" dirty="0" err="1">
                <a:solidFill>
                  <a:srgbClr val="B60007"/>
                </a:solidFill>
                <a:latin typeface="+mj-lt"/>
              </a:rPr>
              <a:t>WyFormer</a:t>
            </a:r>
            <a:r>
              <a:rPr lang="en-US" altLang="zh-CN" dirty="0">
                <a:solidFill>
                  <a:srgbClr val="B60007"/>
                </a:solidFill>
                <a:latin typeface="+mj-lt"/>
              </a:rPr>
              <a:t> </a:t>
            </a:r>
            <a:r>
              <a:rPr lang="en-US" altLang="zh-CN" dirty="0" err="1">
                <a:solidFill>
                  <a:srgbClr val="B60007"/>
                </a:solidFill>
                <a:latin typeface="+mj-lt"/>
              </a:rPr>
              <a:t>representation+masked</a:t>
            </a:r>
            <a:r>
              <a:rPr lang="en-US" altLang="zh-CN" dirty="0">
                <a:solidFill>
                  <a:srgbClr val="B60007"/>
                </a:solidFill>
                <a:latin typeface="+mj-lt"/>
              </a:rPr>
              <a:t>/discrete diffusion</a:t>
            </a:r>
            <a:r>
              <a:rPr lang="zh-CN" altLang="en-US" dirty="0">
                <a:solidFill>
                  <a:srgbClr val="B60007"/>
                </a:solidFill>
                <a:latin typeface="+mj-lt"/>
              </a:rPr>
              <a:t>？</a:t>
            </a:r>
          </a:p>
        </p:txBody>
      </p:sp>
      <p:sp>
        <p:nvSpPr>
          <p:cNvPr id="10" name="文本框 9">
            <a:extLst>
              <a:ext uri="{FF2B5EF4-FFF2-40B4-BE49-F238E27FC236}">
                <a16:creationId xmlns:a16="http://schemas.microsoft.com/office/drawing/2014/main" id="{B3E63158-F163-5568-982C-66C9D772E22B}"/>
              </a:ext>
            </a:extLst>
          </p:cNvPr>
          <p:cNvSpPr txBox="1"/>
          <p:nvPr/>
        </p:nvSpPr>
        <p:spPr>
          <a:xfrm>
            <a:off x="6807994" y="6024742"/>
            <a:ext cx="4545806" cy="369332"/>
          </a:xfrm>
          <a:prstGeom prst="rect">
            <a:avLst/>
          </a:prstGeom>
          <a:noFill/>
        </p:spPr>
        <p:txBody>
          <a:bodyPr wrap="square">
            <a:spAutoFit/>
          </a:bodyPr>
          <a:lstStyle/>
          <a:p>
            <a:r>
              <a:rPr lang="zh-CN" altLang="en-US" dirty="0">
                <a:solidFill>
                  <a:srgbClr val="B60007"/>
                </a:solidFill>
              </a:rPr>
              <a:t>发明一种新的 </a:t>
            </a:r>
            <a:r>
              <a:rPr lang="en-US" altLang="zh-CN" dirty="0">
                <a:solidFill>
                  <a:srgbClr val="B60007"/>
                </a:solidFill>
              </a:rPr>
              <a:t>crystallographic tokenizer</a:t>
            </a:r>
            <a:r>
              <a:rPr lang="zh-CN" altLang="en-US" dirty="0">
                <a:solidFill>
                  <a:srgbClr val="B60007"/>
                </a:solidFill>
              </a:rPr>
              <a:t>？</a:t>
            </a:r>
          </a:p>
        </p:txBody>
      </p:sp>
    </p:spTree>
    <p:extLst>
      <p:ext uri="{BB962C8B-B14F-4D97-AF65-F5344CB8AC3E}">
        <p14:creationId xmlns:p14="http://schemas.microsoft.com/office/powerpoint/2010/main" val="1396562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08E3B-7241-F093-86DF-90BA272BB72F}"/>
              </a:ext>
            </a:extLst>
          </p:cNvPr>
          <p:cNvSpPr>
            <a:spLocks noGrp="1"/>
          </p:cNvSpPr>
          <p:nvPr>
            <p:ph type="title"/>
          </p:nvPr>
        </p:nvSpPr>
        <p:spPr/>
        <p:txBody>
          <a:bodyPr/>
          <a:lstStyle/>
          <a:p>
            <a:r>
              <a:rPr lang="en-US" altLang="zh-CN" dirty="0"/>
              <a:t>Matra-Genoa</a:t>
            </a:r>
            <a:endParaRPr kumimoji="1" lang="zh-CN" altLang="en-US" dirty="0"/>
          </a:p>
        </p:txBody>
      </p:sp>
      <p:sp>
        <p:nvSpPr>
          <p:cNvPr id="6" name="文本框 5">
            <a:extLst>
              <a:ext uri="{FF2B5EF4-FFF2-40B4-BE49-F238E27FC236}">
                <a16:creationId xmlns:a16="http://schemas.microsoft.com/office/drawing/2014/main" id="{7EBF4632-524F-CDAF-5CCB-B0029579045E}"/>
              </a:ext>
            </a:extLst>
          </p:cNvPr>
          <p:cNvSpPr txBox="1"/>
          <p:nvPr/>
        </p:nvSpPr>
        <p:spPr>
          <a:xfrm>
            <a:off x="4564856" y="658574"/>
            <a:ext cx="6100762" cy="738664"/>
          </a:xfrm>
          <a:prstGeom prst="rect">
            <a:avLst/>
          </a:prstGeom>
          <a:noFill/>
        </p:spPr>
        <p:txBody>
          <a:bodyPr wrap="square">
            <a:spAutoFit/>
          </a:bodyPr>
          <a:lstStyle/>
          <a:p>
            <a:pPr>
              <a:buNone/>
            </a:pPr>
            <a:r>
              <a:rPr lang="en-US" altLang="zh-CN" sz="1400" dirty="0">
                <a:effectLst/>
              </a:rPr>
              <a:t>De </a:t>
            </a:r>
            <a:r>
              <a:rPr lang="en-US" altLang="zh-CN" sz="1400" dirty="0" err="1">
                <a:effectLst/>
              </a:rPr>
              <a:t>Breuck</a:t>
            </a:r>
            <a:r>
              <a:rPr lang="en-US" altLang="zh-CN" sz="1400" dirty="0">
                <a:effectLst/>
              </a:rPr>
              <a:t>, P.-P., Piracha, H. A., </a:t>
            </a:r>
            <a:r>
              <a:rPr lang="en-US" altLang="zh-CN" sz="1400" dirty="0" err="1">
                <a:effectLst/>
              </a:rPr>
              <a:t>Rignanese</a:t>
            </a:r>
            <a:r>
              <a:rPr lang="en-US" altLang="zh-CN" sz="1400" dirty="0">
                <a:effectLst/>
              </a:rPr>
              <a:t>, G.-M. &amp; Marques, M. A. L. A generative material transformer using Wyckoff representation | </a:t>
            </a:r>
            <a:r>
              <a:rPr lang="en-US" altLang="zh-CN" sz="1400" dirty="0" err="1">
                <a:effectLst/>
              </a:rPr>
              <a:t>npj</a:t>
            </a:r>
            <a:r>
              <a:rPr lang="en-US" altLang="zh-CN" sz="1400" dirty="0">
                <a:effectLst/>
              </a:rPr>
              <a:t> Computational Materials. </a:t>
            </a:r>
            <a:r>
              <a:rPr lang="en-US" altLang="zh-CN" sz="1400" i="1" dirty="0" err="1">
                <a:effectLst/>
              </a:rPr>
              <a:t>npj</a:t>
            </a:r>
            <a:r>
              <a:rPr lang="en-US" altLang="zh-CN" sz="1400" i="1" dirty="0">
                <a:effectLst/>
              </a:rPr>
              <a:t> Computational Materials</a:t>
            </a:r>
            <a:r>
              <a:rPr lang="en-US" altLang="zh-CN" sz="1400" dirty="0">
                <a:effectLst/>
              </a:rPr>
              <a:t> </a:t>
            </a:r>
            <a:r>
              <a:rPr lang="en-US" altLang="zh-CN" sz="1400" b="1" dirty="0">
                <a:effectLst/>
              </a:rPr>
              <a:t>12</a:t>
            </a:r>
            <a:r>
              <a:rPr lang="en-US" altLang="zh-CN" sz="1400" dirty="0">
                <a:effectLst/>
              </a:rPr>
              <a:t>, 60 (2026).</a:t>
            </a:r>
          </a:p>
        </p:txBody>
      </p:sp>
      <p:pic>
        <p:nvPicPr>
          <p:cNvPr id="7" name="图片 6">
            <a:extLst>
              <a:ext uri="{FF2B5EF4-FFF2-40B4-BE49-F238E27FC236}">
                <a16:creationId xmlns:a16="http://schemas.microsoft.com/office/drawing/2014/main" id="{01D00EF7-084F-D5BD-FF84-39A9A9CC3044}"/>
              </a:ext>
            </a:extLst>
          </p:cNvPr>
          <p:cNvPicPr>
            <a:picLocks noChangeAspect="1"/>
          </p:cNvPicPr>
          <p:nvPr/>
        </p:nvPicPr>
        <p:blipFill>
          <a:blip r:embed="rId3"/>
          <a:stretch>
            <a:fillRect/>
          </a:stretch>
        </p:blipFill>
        <p:spPr>
          <a:xfrm>
            <a:off x="5356411" y="1770926"/>
            <a:ext cx="6548438" cy="3316147"/>
          </a:xfrm>
          <a:prstGeom prst="rect">
            <a:avLst/>
          </a:prstGeom>
        </p:spPr>
      </p:pic>
      <p:pic>
        <p:nvPicPr>
          <p:cNvPr id="8" name="图片 7">
            <a:extLst>
              <a:ext uri="{FF2B5EF4-FFF2-40B4-BE49-F238E27FC236}">
                <a16:creationId xmlns:a16="http://schemas.microsoft.com/office/drawing/2014/main" id="{B7CA826D-B8CA-9F1A-72A9-EB8105AB09E6}"/>
              </a:ext>
            </a:extLst>
          </p:cNvPr>
          <p:cNvPicPr>
            <a:picLocks noChangeAspect="1"/>
          </p:cNvPicPr>
          <p:nvPr/>
        </p:nvPicPr>
        <p:blipFill>
          <a:blip r:embed="rId4"/>
          <a:stretch>
            <a:fillRect/>
          </a:stretch>
        </p:blipFill>
        <p:spPr>
          <a:xfrm>
            <a:off x="287151" y="1770926"/>
            <a:ext cx="5274049" cy="3316148"/>
          </a:xfrm>
          <a:prstGeom prst="rect">
            <a:avLst/>
          </a:prstGeom>
        </p:spPr>
      </p:pic>
      <p:sp>
        <p:nvSpPr>
          <p:cNvPr id="9" name="矩形 8">
            <a:extLst>
              <a:ext uri="{FF2B5EF4-FFF2-40B4-BE49-F238E27FC236}">
                <a16:creationId xmlns:a16="http://schemas.microsoft.com/office/drawing/2014/main" id="{DB885C81-DA79-A069-BDC1-CC1333B79E36}"/>
              </a:ext>
            </a:extLst>
          </p:cNvPr>
          <p:cNvSpPr/>
          <p:nvPr/>
        </p:nvSpPr>
        <p:spPr>
          <a:xfrm>
            <a:off x="2814638" y="2971801"/>
            <a:ext cx="2746562" cy="1328738"/>
          </a:xfrm>
          <a:prstGeom prst="rect">
            <a:avLst/>
          </a:prstGeom>
          <a:noFill/>
          <a:ln w="28575">
            <a:solidFill>
              <a:srgbClr val="B600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E9303776-43D4-2FB4-F25C-B98E28036227}"/>
              </a:ext>
            </a:extLst>
          </p:cNvPr>
          <p:cNvSpPr txBox="1"/>
          <p:nvPr/>
        </p:nvSpPr>
        <p:spPr>
          <a:xfrm>
            <a:off x="287151" y="5288152"/>
            <a:ext cx="8501063" cy="1323439"/>
          </a:xfrm>
          <a:prstGeom prst="rect">
            <a:avLst/>
          </a:prstGeom>
          <a:noFill/>
        </p:spPr>
        <p:txBody>
          <a:bodyPr wrap="square">
            <a:spAutoFit/>
          </a:bodyPr>
          <a:lstStyle/>
          <a:p>
            <a:r>
              <a:rPr lang="en-US" altLang="zh-CN" sz="1600" b="0" i="0" dirty="0">
                <a:solidFill>
                  <a:srgbClr val="222222"/>
                </a:solidFill>
                <a:effectLst/>
                <a:latin typeface="-apple-system"/>
              </a:rPr>
              <a:t>The structure is first decomposed into composition, stability, structure and lattice. </a:t>
            </a:r>
            <a:r>
              <a:rPr lang="en-US" altLang="zh-CN" sz="1600" b="1" i="0" dirty="0">
                <a:solidFill>
                  <a:srgbClr val="222222"/>
                </a:solidFill>
                <a:effectLst/>
                <a:latin typeface="-apple-system"/>
              </a:rPr>
              <a:t>b</a:t>
            </a:r>
            <a:r>
              <a:rPr lang="en-US" altLang="zh-CN" sz="1600" b="0" i="0" dirty="0">
                <a:solidFill>
                  <a:srgbClr val="222222"/>
                </a:solidFill>
                <a:effectLst/>
                <a:latin typeface="-apple-system"/>
              </a:rPr>
              <a:t> The structure is then further decomposed into a set of Wyckoff positions, uniquely identified by a set of Wyckoff identifiers. Optional free parameters are also included to make the representation coordinate-aware. </a:t>
            </a:r>
            <a:r>
              <a:rPr lang="en-US" altLang="zh-CN" sz="1600" b="1" i="0" dirty="0">
                <a:solidFill>
                  <a:srgbClr val="222222"/>
                </a:solidFill>
                <a:effectLst/>
                <a:latin typeface="-apple-system"/>
              </a:rPr>
              <a:t>c</a:t>
            </a:r>
            <a:r>
              <a:rPr lang="en-US" altLang="zh-CN" sz="1600" b="0" i="0" dirty="0">
                <a:solidFill>
                  <a:srgbClr val="222222"/>
                </a:solidFill>
                <a:effectLst/>
                <a:latin typeface="-apple-system"/>
              </a:rPr>
              <a:t> All previous information is gathered into a </a:t>
            </a:r>
            <a:r>
              <a:rPr lang="en-US" altLang="zh-CN" sz="1600" b="0" i="0" dirty="0" err="1">
                <a:solidFill>
                  <a:srgbClr val="222222"/>
                </a:solidFill>
                <a:effectLst/>
                <a:latin typeface="-apple-system"/>
              </a:rPr>
              <a:t>tokenenized</a:t>
            </a:r>
            <a:r>
              <a:rPr lang="en-US" altLang="zh-CN" sz="1600" b="0" i="0" dirty="0">
                <a:solidFill>
                  <a:srgbClr val="222222"/>
                </a:solidFill>
                <a:effectLst/>
                <a:latin typeface="-apple-system"/>
              </a:rPr>
              <a:t> and invertible sequence. The color of the tokens represent the type or the Wyckoff position for ease of visualization.</a:t>
            </a:r>
            <a:endParaRPr lang="zh-CN" altLang="en-US" sz="1600" dirty="0"/>
          </a:p>
        </p:txBody>
      </p:sp>
    </p:spTree>
    <p:extLst>
      <p:ext uri="{BB962C8B-B14F-4D97-AF65-F5344CB8AC3E}">
        <p14:creationId xmlns:p14="http://schemas.microsoft.com/office/powerpoint/2010/main" val="403388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F1BF70-BB49-F223-6A6D-477A518E10B0}"/>
              </a:ext>
            </a:extLst>
          </p:cNvPr>
          <p:cNvSpPr>
            <a:spLocks noGrp="1"/>
          </p:cNvSpPr>
          <p:nvPr>
            <p:ph type="title"/>
          </p:nvPr>
        </p:nvSpPr>
        <p:spPr/>
        <p:txBody>
          <a:bodyPr/>
          <a:lstStyle/>
          <a:p>
            <a:r>
              <a:rPr kumimoji="1" lang="en-US" altLang="zh-CN" dirty="0" err="1"/>
              <a:t>WyFormer</a:t>
            </a:r>
            <a:endParaRPr kumimoji="1" lang="zh-CN" altLang="en-US" dirty="0"/>
          </a:p>
        </p:txBody>
      </p:sp>
      <p:sp>
        <p:nvSpPr>
          <p:cNvPr id="4" name="灯片编号占位符 3">
            <a:extLst>
              <a:ext uri="{FF2B5EF4-FFF2-40B4-BE49-F238E27FC236}">
                <a16:creationId xmlns:a16="http://schemas.microsoft.com/office/drawing/2014/main" id="{0C7D6403-C6BE-6640-E2B8-1816573D34A4}"/>
              </a:ext>
            </a:extLst>
          </p:cNvPr>
          <p:cNvSpPr>
            <a:spLocks noGrp="1"/>
          </p:cNvSpPr>
          <p:nvPr>
            <p:ph type="sldNum" sz="quarter" idx="4"/>
          </p:nvPr>
        </p:nvSpPr>
        <p:spPr/>
        <p:txBody>
          <a:bodyPr/>
          <a:lstStyle/>
          <a:p>
            <a:fld id="{48D82B17-3AA5-DB4E-A79B-C818A6AD8FB8}" type="slidenum">
              <a:rPr lang="en-CN" smtClean="0"/>
              <a:pPr/>
              <a:t>5</a:t>
            </a:fld>
            <a:endParaRPr lang="en-CN" dirty="0"/>
          </a:p>
        </p:txBody>
      </p:sp>
      <p:pic>
        <p:nvPicPr>
          <p:cNvPr id="5" name="图片 4">
            <a:extLst>
              <a:ext uri="{FF2B5EF4-FFF2-40B4-BE49-F238E27FC236}">
                <a16:creationId xmlns:a16="http://schemas.microsoft.com/office/drawing/2014/main" id="{CA7C6CF9-A960-85AA-5020-7B29B2085A12}"/>
              </a:ext>
            </a:extLst>
          </p:cNvPr>
          <p:cNvPicPr>
            <a:picLocks noChangeAspect="1"/>
          </p:cNvPicPr>
          <p:nvPr/>
        </p:nvPicPr>
        <p:blipFill>
          <a:blip r:embed="rId3"/>
          <a:stretch/>
        </p:blipFill>
        <p:spPr>
          <a:xfrm>
            <a:off x="685800" y="1690688"/>
            <a:ext cx="10820400" cy="1591235"/>
          </a:xfrm>
          <a:prstGeom prst="rect">
            <a:avLst/>
          </a:prstGeom>
        </p:spPr>
      </p:pic>
      <p:sp>
        <p:nvSpPr>
          <p:cNvPr id="9" name="矩形 8">
            <a:extLst>
              <a:ext uri="{FF2B5EF4-FFF2-40B4-BE49-F238E27FC236}">
                <a16:creationId xmlns:a16="http://schemas.microsoft.com/office/drawing/2014/main" id="{0FACEB02-297B-F17C-A49B-B3C1403EECBF}"/>
              </a:ext>
            </a:extLst>
          </p:cNvPr>
          <p:cNvSpPr>
            <a:spLocks noGrp="1"/>
          </p:cNvSpPr>
          <p:nvPr/>
        </p:nvSpPr>
        <p:spPr>
          <a:xfrm>
            <a:off x="2554030" y="3236330"/>
            <a:ext cx="5484185" cy="266700"/>
          </a:xfrm>
          <a:prstGeom prst="rect">
            <a:avLst/>
          </a:prstGeom>
          <a:noFill/>
          <a:ln w="0">
            <a:noFill/>
            <a:prstDash val="solid"/>
          </a:ln>
        </p:spPr>
        <p:txBody>
          <a:bodyPr/>
          <a:lstStyle/>
          <a:p>
            <a:pPr algn="l">
              <a:buNone/>
              <a:defRPr sz="1050" b="0">
                <a:solidFill>
                  <a:srgbClr val="263732"/>
                </a:solidFill>
              </a:defRPr>
            </a:pPr>
            <a:r>
              <a:rPr sz="1400" b="0" dirty="0" err="1">
                <a:solidFill>
                  <a:srgbClr val="263732"/>
                </a:solidFill>
              </a:rPr>
              <a:t>每个</a:t>
            </a:r>
            <a:r>
              <a:rPr sz="1400" b="0" dirty="0">
                <a:solidFill>
                  <a:srgbClr val="263732"/>
                </a:solidFill>
              </a:rPr>
              <a:t> orbit token = element + site symmetry + enumeration</a:t>
            </a:r>
          </a:p>
        </p:txBody>
      </p:sp>
      <p:sp>
        <p:nvSpPr>
          <p:cNvPr id="11" name="矩形 10">
            <a:extLst>
              <a:ext uri="{FF2B5EF4-FFF2-40B4-BE49-F238E27FC236}">
                <a16:creationId xmlns:a16="http://schemas.microsoft.com/office/drawing/2014/main" id="{452BC616-377C-5C52-80F2-E99C359118D1}"/>
              </a:ext>
            </a:extLst>
          </p:cNvPr>
          <p:cNvSpPr>
            <a:spLocks noGrp="1"/>
          </p:cNvSpPr>
          <p:nvPr/>
        </p:nvSpPr>
        <p:spPr>
          <a:xfrm>
            <a:off x="2554030" y="3512555"/>
            <a:ext cx="5484185" cy="266700"/>
          </a:xfrm>
          <a:prstGeom prst="rect">
            <a:avLst/>
          </a:prstGeom>
          <a:noFill/>
          <a:ln w="0">
            <a:noFill/>
            <a:prstDash val="solid"/>
          </a:ln>
        </p:spPr>
        <p:txBody>
          <a:bodyPr/>
          <a:lstStyle/>
          <a:p>
            <a:pPr algn="l">
              <a:buNone/>
              <a:defRPr sz="1275" b="0">
                <a:solidFill>
                  <a:srgbClr val="263732"/>
                </a:solidFill>
              </a:defRPr>
            </a:pPr>
            <a:r>
              <a:rPr sz="1400" b="0" dirty="0" err="1">
                <a:solidFill>
                  <a:srgbClr val="263732"/>
                </a:solidFill>
              </a:rPr>
              <a:t>不使用位置编码，编码器对输入置换不变</a:t>
            </a:r>
            <a:endParaRPr sz="1400" b="0" dirty="0">
              <a:solidFill>
                <a:srgbClr val="263732"/>
              </a:solidFill>
            </a:endParaRPr>
          </a:p>
        </p:txBody>
      </p:sp>
      <p:sp>
        <p:nvSpPr>
          <p:cNvPr id="13" name="矩形 12">
            <a:extLst>
              <a:ext uri="{FF2B5EF4-FFF2-40B4-BE49-F238E27FC236}">
                <a16:creationId xmlns:a16="http://schemas.microsoft.com/office/drawing/2014/main" id="{D9F44FCB-55C0-0855-6DFE-F99F583EBE9A}"/>
              </a:ext>
            </a:extLst>
          </p:cNvPr>
          <p:cNvSpPr>
            <a:spLocks noGrp="1"/>
          </p:cNvSpPr>
          <p:nvPr/>
        </p:nvSpPr>
        <p:spPr>
          <a:xfrm>
            <a:off x="2554031" y="3788780"/>
            <a:ext cx="5728734" cy="266700"/>
          </a:xfrm>
          <a:prstGeom prst="rect">
            <a:avLst/>
          </a:prstGeom>
          <a:noFill/>
          <a:ln w="0">
            <a:noFill/>
            <a:prstDash val="solid"/>
          </a:ln>
        </p:spPr>
        <p:txBody>
          <a:bodyPr/>
          <a:lstStyle/>
          <a:p>
            <a:pPr algn="l">
              <a:buNone/>
              <a:defRPr sz="1125" b="0">
                <a:solidFill>
                  <a:srgbClr val="263732"/>
                </a:solidFill>
              </a:defRPr>
            </a:pPr>
            <a:r>
              <a:rPr sz="1400" b="0" dirty="0" err="1">
                <a:solidFill>
                  <a:srgbClr val="263732"/>
                </a:solidFill>
              </a:rPr>
              <a:t>生成仍按</a:t>
            </a:r>
            <a:r>
              <a:rPr sz="1400" b="0" dirty="0">
                <a:solidFill>
                  <a:srgbClr val="263732"/>
                </a:solidFill>
              </a:rPr>
              <a:t> element → symmetry → enumeration</a:t>
            </a:r>
          </a:p>
        </p:txBody>
      </p:sp>
      <p:sp>
        <p:nvSpPr>
          <p:cNvPr id="18" name="文本框 17">
            <a:extLst>
              <a:ext uri="{FF2B5EF4-FFF2-40B4-BE49-F238E27FC236}">
                <a16:creationId xmlns:a16="http://schemas.microsoft.com/office/drawing/2014/main" id="{E305DFF7-C9C9-B754-55D3-751F3B9B3567}"/>
              </a:ext>
            </a:extLst>
          </p:cNvPr>
          <p:cNvSpPr txBox="1"/>
          <p:nvPr/>
        </p:nvSpPr>
        <p:spPr>
          <a:xfrm>
            <a:off x="5634539" y="4982646"/>
            <a:ext cx="4490538" cy="369332"/>
          </a:xfrm>
          <a:prstGeom prst="rect">
            <a:avLst/>
          </a:prstGeom>
          <a:noFill/>
        </p:spPr>
        <p:txBody>
          <a:bodyPr wrap="square">
            <a:spAutoFit/>
          </a:bodyPr>
          <a:lstStyle/>
          <a:p>
            <a:r>
              <a:rPr lang="zh-CN" altLang="en-US" b="1" dirty="0">
                <a:solidFill>
                  <a:srgbClr val="B60007"/>
                </a:solidFill>
              </a:rPr>
              <a:t>平均每个晶体约 3 个 Wyckoff positions</a:t>
            </a:r>
          </a:p>
        </p:txBody>
      </p:sp>
      <p:sp>
        <p:nvSpPr>
          <p:cNvPr id="20" name="文本框 19">
            <a:extLst>
              <a:ext uri="{FF2B5EF4-FFF2-40B4-BE49-F238E27FC236}">
                <a16:creationId xmlns:a16="http://schemas.microsoft.com/office/drawing/2014/main" id="{7C61B509-18D5-710F-69CD-EFC41C2A2433}"/>
              </a:ext>
            </a:extLst>
          </p:cNvPr>
          <p:cNvSpPr txBox="1"/>
          <p:nvPr/>
        </p:nvSpPr>
        <p:spPr>
          <a:xfrm>
            <a:off x="2029603" y="6259810"/>
            <a:ext cx="6008612" cy="461665"/>
          </a:xfrm>
          <a:prstGeom prst="rect">
            <a:avLst/>
          </a:prstGeom>
          <a:noFill/>
        </p:spPr>
        <p:txBody>
          <a:bodyPr wrap="square">
            <a:spAutoFit/>
          </a:bodyPr>
          <a:lstStyle/>
          <a:p>
            <a:pPr>
              <a:buNone/>
            </a:pPr>
            <a:r>
              <a:rPr lang="en-US" altLang="zh-CN" sz="1200" dirty="0" err="1">
                <a:effectLst/>
              </a:rPr>
              <a:t>Kazeev</a:t>
            </a:r>
            <a:r>
              <a:rPr lang="en-US" altLang="zh-CN" sz="1200" dirty="0">
                <a:effectLst/>
              </a:rPr>
              <a:t>, N. </a:t>
            </a:r>
            <a:r>
              <a:rPr lang="en-US" altLang="zh-CN" sz="1200" i="1" dirty="0">
                <a:effectLst/>
              </a:rPr>
              <a:t>et al.</a:t>
            </a:r>
            <a:r>
              <a:rPr lang="en-US" altLang="zh-CN" sz="1200" dirty="0">
                <a:effectLst/>
              </a:rPr>
              <a:t> Wyckoff Transformer: Generation of Symmetric Crystals. Preprint at </a:t>
            </a:r>
            <a:r>
              <a:rPr lang="en-US" altLang="zh-CN" sz="1200" dirty="0">
                <a:effectLst/>
                <a:hlinkClick r:id="rId4"/>
              </a:rPr>
              <a:t>https://doi.org/10.48550/arXiv.2503.02407</a:t>
            </a:r>
            <a:r>
              <a:rPr lang="en-US" altLang="zh-CN" sz="1200" dirty="0">
                <a:effectLst/>
              </a:rPr>
              <a:t> (2025).</a:t>
            </a:r>
          </a:p>
        </p:txBody>
      </p:sp>
      <p:pic>
        <p:nvPicPr>
          <p:cNvPr id="21" name="图片 20">
            <a:extLst>
              <a:ext uri="{FF2B5EF4-FFF2-40B4-BE49-F238E27FC236}">
                <a16:creationId xmlns:a16="http://schemas.microsoft.com/office/drawing/2014/main" id="{9F75A331-07EF-95B3-AD31-4108D20BA4D9}"/>
              </a:ext>
            </a:extLst>
          </p:cNvPr>
          <p:cNvPicPr>
            <a:picLocks noChangeAspect="1"/>
          </p:cNvPicPr>
          <p:nvPr/>
        </p:nvPicPr>
        <p:blipFill>
          <a:blip r:embed="rId5"/>
          <a:stretch>
            <a:fillRect/>
          </a:stretch>
        </p:blipFill>
        <p:spPr>
          <a:xfrm>
            <a:off x="655898" y="4210983"/>
            <a:ext cx="4762500" cy="2006600"/>
          </a:xfrm>
          <a:prstGeom prst="rect">
            <a:avLst/>
          </a:prstGeom>
        </p:spPr>
      </p:pic>
    </p:spTree>
    <p:extLst>
      <p:ext uri="{BB962C8B-B14F-4D97-AF65-F5344CB8AC3E}">
        <p14:creationId xmlns:p14="http://schemas.microsoft.com/office/powerpoint/2010/main" val="270768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D9527-D951-2609-0875-1BA031950687}"/>
              </a:ext>
            </a:extLst>
          </p:cNvPr>
          <p:cNvSpPr>
            <a:spLocks noGrp="1"/>
          </p:cNvSpPr>
          <p:nvPr>
            <p:ph type="title"/>
          </p:nvPr>
        </p:nvSpPr>
        <p:spPr/>
        <p:txBody>
          <a:bodyPr/>
          <a:lstStyle/>
          <a:p>
            <a:r>
              <a:rPr kumimoji="1" lang="en-US" altLang="zh-CN" dirty="0" err="1"/>
              <a:t>MaskGXT</a:t>
            </a:r>
            <a:endParaRPr kumimoji="1" lang="zh-CN" altLang="en-US" dirty="0"/>
          </a:p>
        </p:txBody>
      </p:sp>
      <p:sp>
        <p:nvSpPr>
          <p:cNvPr id="4" name="灯片编号占位符 3">
            <a:extLst>
              <a:ext uri="{FF2B5EF4-FFF2-40B4-BE49-F238E27FC236}">
                <a16:creationId xmlns:a16="http://schemas.microsoft.com/office/drawing/2014/main" id="{8B459779-FE5E-0C78-314B-9A677F7547E8}"/>
              </a:ext>
            </a:extLst>
          </p:cNvPr>
          <p:cNvSpPr>
            <a:spLocks noGrp="1"/>
          </p:cNvSpPr>
          <p:nvPr>
            <p:ph type="sldNum" sz="quarter" idx="4"/>
          </p:nvPr>
        </p:nvSpPr>
        <p:spPr/>
        <p:txBody>
          <a:bodyPr/>
          <a:lstStyle/>
          <a:p>
            <a:fld id="{48D82B17-3AA5-DB4E-A79B-C818A6AD8FB8}" type="slidenum">
              <a:rPr lang="en-CN" smtClean="0"/>
              <a:pPr/>
              <a:t>6</a:t>
            </a:fld>
            <a:endParaRPr lang="en-CN" dirty="0"/>
          </a:p>
        </p:txBody>
      </p:sp>
      <p:sp>
        <p:nvSpPr>
          <p:cNvPr id="8" name="文本框 7">
            <a:extLst>
              <a:ext uri="{FF2B5EF4-FFF2-40B4-BE49-F238E27FC236}">
                <a16:creationId xmlns:a16="http://schemas.microsoft.com/office/drawing/2014/main" id="{C2AF689F-8410-5770-4168-1818EB87E91A}"/>
              </a:ext>
            </a:extLst>
          </p:cNvPr>
          <p:cNvSpPr txBox="1"/>
          <p:nvPr/>
        </p:nvSpPr>
        <p:spPr>
          <a:xfrm>
            <a:off x="3536155" y="766296"/>
            <a:ext cx="6922295" cy="523220"/>
          </a:xfrm>
          <a:prstGeom prst="rect">
            <a:avLst/>
          </a:prstGeom>
          <a:noFill/>
        </p:spPr>
        <p:txBody>
          <a:bodyPr wrap="square">
            <a:spAutoFit/>
          </a:bodyPr>
          <a:lstStyle/>
          <a:p>
            <a:pPr>
              <a:buNone/>
            </a:pPr>
            <a:r>
              <a:rPr lang="en-US" altLang="zh-CN" sz="1400" dirty="0">
                <a:effectLst/>
              </a:rPr>
              <a:t>Seong, K., Kim, N. &amp; Ahn, S. Discovering Crystal Structure Prediction Algorithms with an AI Co-Scientist. Preprint at </a:t>
            </a:r>
            <a:r>
              <a:rPr lang="en-US" altLang="zh-CN" sz="1400" dirty="0">
                <a:effectLst/>
                <a:hlinkClick r:id="rId3"/>
              </a:rPr>
              <a:t>https://doi.org/10.48550/arXiv.2606.22866</a:t>
            </a:r>
            <a:r>
              <a:rPr lang="en-US" altLang="zh-CN" sz="1400" dirty="0">
                <a:effectLst/>
              </a:rPr>
              <a:t> (2026).</a:t>
            </a:r>
          </a:p>
        </p:txBody>
      </p:sp>
      <p:pic>
        <p:nvPicPr>
          <p:cNvPr id="9" name="图片 8">
            <a:extLst>
              <a:ext uri="{FF2B5EF4-FFF2-40B4-BE49-F238E27FC236}">
                <a16:creationId xmlns:a16="http://schemas.microsoft.com/office/drawing/2014/main" id="{1D34B139-B541-78FD-25C4-165E98245243}"/>
              </a:ext>
            </a:extLst>
          </p:cNvPr>
          <p:cNvPicPr>
            <a:picLocks noChangeAspect="1"/>
          </p:cNvPicPr>
          <p:nvPr/>
        </p:nvPicPr>
        <p:blipFill>
          <a:blip r:embed="rId4"/>
          <a:stretch>
            <a:fillRect/>
          </a:stretch>
        </p:blipFill>
        <p:spPr>
          <a:xfrm>
            <a:off x="381001" y="1448023"/>
            <a:ext cx="6400800" cy="5150992"/>
          </a:xfrm>
          <a:prstGeom prst="rect">
            <a:avLst/>
          </a:prstGeom>
        </p:spPr>
      </p:pic>
      <p:sp>
        <p:nvSpPr>
          <p:cNvPr id="11" name="文本框 10">
            <a:extLst>
              <a:ext uri="{FF2B5EF4-FFF2-40B4-BE49-F238E27FC236}">
                <a16:creationId xmlns:a16="http://schemas.microsoft.com/office/drawing/2014/main" id="{5BCBFF48-7D2E-4705-C38E-8056052961D5}"/>
              </a:ext>
            </a:extLst>
          </p:cNvPr>
          <p:cNvSpPr txBox="1"/>
          <p:nvPr/>
        </p:nvSpPr>
        <p:spPr>
          <a:xfrm>
            <a:off x="6596063" y="1849195"/>
            <a:ext cx="5595937" cy="1477328"/>
          </a:xfrm>
          <a:prstGeom prst="rect">
            <a:avLst/>
          </a:prstGeom>
          <a:noFill/>
        </p:spPr>
        <p:txBody>
          <a:bodyPr wrap="square">
            <a:spAutoFit/>
          </a:bodyPr>
          <a:lstStyle/>
          <a:p>
            <a:pPr marL="285750" indent="-285750">
              <a:buFont typeface="Arial" panose="020B0604020202020204" pitchFamily="34" charset="0"/>
              <a:buChar char="•"/>
            </a:pPr>
            <a:r>
              <a:rPr lang="en-US" altLang="zh-CN" dirty="0"/>
              <a:t>1 space-group token </a:t>
            </a:r>
          </a:p>
          <a:p>
            <a:pPr marL="285750" indent="-285750">
              <a:buFont typeface="Arial" panose="020B0604020202020204" pitchFamily="34" charset="0"/>
              <a:buChar char="•"/>
            </a:pPr>
            <a:r>
              <a:rPr lang="en-US" altLang="zh-CN" dirty="0"/>
              <a:t>6 lattice tokens </a:t>
            </a:r>
          </a:p>
          <a:p>
            <a:pPr marL="285750" indent="-285750">
              <a:buFont typeface="Arial" panose="020B0604020202020204" pitchFamily="34" charset="0"/>
              <a:buChar char="•"/>
            </a:pPr>
            <a:r>
              <a:rPr lang="en-US" altLang="zh-CN" dirty="0"/>
              <a:t>3 coordinate tokens per site </a:t>
            </a:r>
          </a:p>
          <a:p>
            <a:pPr marL="285750" indent="-285750">
              <a:buFont typeface="Arial" panose="020B0604020202020204" pitchFamily="34" charset="0"/>
              <a:buChar char="•"/>
            </a:pPr>
            <a:r>
              <a:rPr lang="en-US" altLang="zh-CN" dirty="0"/>
              <a:t>1 Wyckoff token per site </a:t>
            </a:r>
          </a:p>
          <a:p>
            <a:pPr marL="285750" indent="-285750">
              <a:buFont typeface="Arial" panose="020B0604020202020204" pitchFamily="34" charset="0"/>
              <a:buChar char="•"/>
            </a:pPr>
            <a:r>
              <a:rPr lang="en-US" altLang="zh-CN" dirty="0"/>
              <a:t>Atom-type tokens as composition conditions</a:t>
            </a:r>
            <a:endParaRPr lang="zh-CN" altLang="en-US" dirty="0"/>
          </a:p>
        </p:txBody>
      </p:sp>
      <p:sp>
        <p:nvSpPr>
          <p:cNvPr id="13" name="文本框 12">
            <a:extLst>
              <a:ext uri="{FF2B5EF4-FFF2-40B4-BE49-F238E27FC236}">
                <a16:creationId xmlns:a16="http://schemas.microsoft.com/office/drawing/2014/main" id="{FC63AC58-56AE-B1B9-B9A8-DDDC117388D3}"/>
              </a:ext>
            </a:extLst>
          </p:cNvPr>
          <p:cNvSpPr txBox="1"/>
          <p:nvPr/>
        </p:nvSpPr>
        <p:spPr>
          <a:xfrm>
            <a:off x="6883191" y="3763090"/>
            <a:ext cx="4744641" cy="646331"/>
          </a:xfrm>
          <a:prstGeom prst="rect">
            <a:avLst/>
          </a:prstGeom>
          <a:noFill/>
        </p:spPr>
        <p:txBody>
          <a:bodyPr wrap="square">
            <a:spAutoFit/>
          </a:bodyPr>
          <a:lstStyle/>
          <a:p>
            <a:r>
              <a:rPr lang="en-US" altLang="zh-CN" dirty="0"/>
              <a:t>random masking</a:t>
            </a:r>
            <a:r>
              <a:rPr lang="zh-CN" altLang="en-US" dirty="0"/>
              <a:t> </a:t>
            </a:r>
            <a:r>
              <a:rPr lang="en-US" altLang="zh-CN" dirty="0"/>
              <a:t>→</a:t>
            </a:r>
            <a:r>
              <a:rPr lang="zh-CN" altLang="en-US" dirty="0"/>
              <a:t> </a:t>
            </a:r>
            <a:r>
              <a:rPr lang="en-US" altLang="zh-CN" dirty="0"/>
              <a:t>bidirectional Transformer</a:t>
            </a:r>
            <a:r>
              <a:rPr lang="zh-CN" altLang="en-US" dirty="0"/>
              <a:t> </a:t>
            </a:r>
            <a:r>
              <a:rPr lang="en-US" altLang="zh-CN" dirty="0"/>
              <a:t>→</a:t>
            </a:r>
            <a:r>
              <a:rPr lang="zh-CN" altLang="en-US" dirty="0"/>
              <a:t> </a:t>
            </a:r>
            <a:r>
              <a:rPr lang="en-US" altLang="zh-CN" dirty="0"/>
              <a:t>masked reconstruction</a:t>
            </a:r>
            <a:endParaRPr lang="zh-CN" altLang="en-US" dirty="0"/>
          </a:p>
        </p:txBody>
      </p:sp>
      <p:sp>
        <p:nvSpPr>
          <p:cNvPr id="15" name="文本框 14">
            <a:extLst>
              <a:ext uri="{FF2B5EF4-FFF2-40B4-BE49-F238E27FC236}">
                <a16:creationId xmlns:a16="http://schemas.microsoft.com/office/drawing/2014/main" id="{E6174E55-831B-33CE-A95D-3F32463D1612}"/>
              </a:ext>
            </a:extLst>
          </p:cNvPr>
          <p:cNvSpPr txBox="1"/>
          <p:nvPr/>
        </p:nvSpPr>
        <p:spPr>
          <a:xfrm>
            <a:off x="6883191" y="5273452"/>
            <a:ext cx="3207544" cy="369332"/>
          </a:xfrm>
          <a:prstGeom prst="rect">
            <a:avLst/>
          </a:prstGeom>
          <a:noFill/>
        </p:spPr>
        <p:txBody>
          <a:bodyPr wrap="square">
            <a:spAutoFit/>
          </a:bodyPr>
          <a:lstStyle/>
          <a:p>
            <a:r>
              <a:rPr lang="en-US" altLang="zh-CN" dirty="0"/>
              <a:t>Parallel iterative sampling</a:t>
            </a:r>
            <a:endParaRPr lang="zh-CN" altLang="en-US" dirty="0"/>
          </a:p>
        </p:txBody>
      </p:sp>
    </p:spTree>
    <p:extLst>
      <p:ext uri="{BB962C8B-B14F-4D97-AF65-F5344CB8AC3E}">
        <p14:creationId xmlns:p14="http://schemas.microsoft.com/office/powerpoint/2010/main" val="1113482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A608A-77D1-1542-8EBD-3E03BE17CB95}"/>
              </a:ext>
            </a:extLst>
          </p:cNvPr>
          <p:cNvSpPr>
            <a:spLocks noGrp="1"/>
          </p:cNvSpPr>
          <p:nvPr>
            <p:ph type="title"/>
          </p:nvPr>
        </p:nvSpPr>
        <p:spPr/>
        <p:txBody>
          <a:bodyPr/>
          <a:lstStyle/>
          <a:p>
            <a:r>
              <a:rPr kumimoji="1" lang="en-US" altLang="zh-CN" dirty="0" err="1"/>
              <a:t>DynaCrys</a:t>
            </a:r>
            <a:endParaRPr kumimoji="1" lang="zh-CN" altLang="en-US" dirty="0"/>
          </a:p>
        </p:txBody>
      </p:sp>
      <p:sp>
        <p:nvSpPr>
          <p:cNvPr id="4" name="灯片编号占位符 3">
            <a:extLst>
              <a:ext uri="{FF2B5EF4-FFF2-40B4-BE49-F238E27FC236}">
                <a16:creationId xmlns:a16="http://schemas.microsoft.com/office/drawing/2014/main" id="{A46AC711-4796-7EEE-A0CD-149AB04B5E0B}"/>
              </a:ext>
            </a:extLst>
          </p:cNvPr>
          <p:cNvSpPr>
            <a:spLocks noGrp="1"/>
          </p:cNvSpPr>
          <p:nvPr>
            <p:ph type="sldNum" sz="quarter" idx="4"/>
          </p:nvPr>
        </p:nvSpPr>
        <p:spPr/>
        <p:txBody>
          <a:bodyPr/>
          <a:lstStyle/>
          <a:p>
            <a:fld id="{48D82B17-3AA5-DB4E-A79B-C818A6AD8FB8}" type="slidenum">
              <a:rPr lang="en-CN" smtClean="0"/>
              <a:pPr/>
              <a:t>7</a:t>
            </a:fld>
            <a:endParaRPr lang="en-CN" dirty="0"/>
          </a:p>
        </p:txBody>
      </p:sp>
      <p:pic>
        <p:nvPicPr>
          <p:cNvPr id="5" name="图片 4">
            <a:extLst>
              <a:ext uri="{FF2B5EF4-FFF2-40B4-BE49-F238E27FC236}">
                <a16:creationId xmlns:a16="http://schemas.microsoft.com/office/drawing/2014/main" id="{A301FAD8-CAAC-AC64-D72D-696486CD7596}"/>
              </a:ext>
            </a:extLst>
          </p:cNvPr>
          <p:cNvPicPr>
            <a:picLocks noChangeAspect="1"/>
          </p:cNvPicPr>
          <p:nvPr/>
        </p:nvPicPr>
        <p:blipFill>
          <a:blip r:embed="rId3"/>
          <a:stretch/>
        </p:blipFill>
        <p:spPr>
          <a:xfrm>
            <a:off x="1926265" y="1315386"/>
            <a:ext cx="8536172" cy="1709626"/>
          </a:xfrm>
          <a:prstGeom prst="rect">
            <a:avLst/>
          </a:prstGeom>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1FB3118-5FD8-BA12-4214-13AD01849CD4}"/>
                  </a:ext>
                </a:extLst>
              </p:cNvPr>
              <p:cNvSpPr txBox="1"/>
              <p:nvPr/>
            </p:nvSpPr>
            <p:spPr>
              <a:xfrm>
                <a:off x="295938" y="2983861"/>
                <a:ext cx="6097772" cy="2343975"/>
              </a:xfrm>
              <a:prstGeom prst="rect">
                <a:avLst/>
              </a:prstGeom>
              <a:noFill/>
            </p:spPr>
            <p:txBody>
              <a:bodyPr wrap="square">
                <a:spAutoFit/>
              </a:bodyPr>
              <a:lstStyle/>
              <a:p>
                <a:pPr>
                  <a:buNone/>
                </a:pPr>
                <a:r>
                  <a:rPr lang="en-US" altLang="zh-CN" b="1" dirty="0"/>
                  <a:t>① Representation</a:t>
                </a:r>
              </a:p>
              <a:p>
                <a:endParaRPr lang="en-US" altLang="zh-CN" dirty="0"/>
              </a:p>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r>
                            <a:rPr lang="en-US" altLang="zh-CN" i="1" dirty="0" err="1">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𝐾</m:t>
                          </m:r>
                        </m:e>
                      </m:d>
                      <m:r>
                        <a:rPr lang="en-US" altLang="zh-CN" i="1" dirty="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r>
                            <m:rPr>
                              <m:lit/>
                            </m:rP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sSubSup>
                            <m:sSubSupPr>
                              <m:ctrlPr>
                                <a:rPr lang="en-US" altLang="zh-CN" i="1" dirty="0">
                                  <a:latin typeface="Cambria Math" panose="02040503050406030204" pitchFamily="18" charset="0"/>
                                </a:rPr>
                              </m:ctrlPr>
                            </m:sSubSupPr>
                            <m:e>
                              <m:r>
                                <m:rPr>
                                  <m:lit/>
                                </m:rPr>
                                <a:rPr lang="en-US" altLang="zh-CN" i="1" dirty="0">
                                  <a:latin typeface="Cambria Math" panose="02040503050406030204" pitchFamily="18" charset="0"/>
                                </a:rPr>
                                <m:t>}</m:t>
                              </m:r>
                            </m:e>
                            <m:sub>
                              <m:r>
                                <a:rPr lang="en-US" altLang="zh-CN" i="1" dirty="0" err="1">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𝐾</m:t>
                              </m:r>
                            </m:sup>
                          </m:sSubSup>
                        </m:e>
                      </m:d>
                    </m:oMath>
                  </m:oMathPara>
                </a14:m>
                <a:endParaRPr lang="en-US" altLang="zh-CN" dirty="0"/>
              </a:p>
              <a:p>
                <a:endParaRPr lang="en-US" altLang="zh-CN" dirty="0"/>
              </a:p>
              <a:p>
                <a:pPr marL="285750" indent="-285750">
                  <a:buFont typeface="Arial" panose="020B0604020202020204" pitchFamily="34" charset="0"/>
                  <a:buChar char="•"/>
                </a:pPr>
                <a:r>
                  <a:rPr lang="en-US" altLang="zh-CN" dirty="0"/>
                  <a:t>Space group G</a:t>
                </a:r>
              </a:p>
              <a:p>
                <a:pPr marL="285750" indent="-285750">
                  <a:buFont typeface="Arial" panose="020B0604020202020204" pitchFamily="34" charset="0"/>
                  <a:buChar char="•"/>
                </a:pPr>
                <a:r>
                  <a:rPr lang="en-US" altLang="zh-CN" dirty="0"/>
                  <a:t>Number of occupied orbits K</a:t>
                </a:r>
              </a:p>
              <a:p>
                <a:pPr marL="285750" indent="-285750">
                  <a:buFont typeface="Arial" panose="020B0604020202020204" pitchFamily="34" charset="0"/>
                  <a:buChar char="•"/>
                </a:pPr>
                <a:r>
                  <a:rPr lang="en-US" altLang="zh-CN" dirty="0"/>
                  <a:t>Unordered Wyckoff occupations </a:t>
                </a:r>
                <a14:m>
                  <m:oMath xmlns:m="http://schemas.openxmlformats.org/officeDocument/2006/math">
                    <m:d>
                      <m:dPr>
                        <m:ctrlPr>
                          <a:rPr lang="en-US" altLang="zh-CN" i="1" dirty="0" smtClean="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oMath>
                </a14:m>
                <a:endParaRPr lang="en-US" altLang="zh-CN" dirty="0"/>
              </a:p>
              <a:p>
                <a:pPr marL="285750" indent="-285750">
                  <a:buFont typeface="Arial" panose="020B0604020202020204" pitchFamily="34" charset="0"/>
                  <a:buChar char="•"/>
                </a:pPr>
                <a:r>
                  <a:rPr lang="en-US" altLang="zh-CN" dirty="0"/>
                  <a:t>No lattice or free coordinates yet</a:t>
                </a:r>
              </a:p>
            </p:txBody>
          </p:sp>
        </mc:Choice>
        <mc:Fallback xmlns="">
          <p:sp>
            <p:nvSpPr>
              <p:cNvPr id="23" name="文本框 22">
                <a:extLst>
                  <a:ext uri="{FF2B5EF4-FFF2-40B4-BE49-F238E27FC236}">
                    <a16:creationId xmlns:a16="http://schemas.microsoft.com/office/drawing/2014/main" id="{C1FB3118-5FD8-BA12-4214-13AD01849CD4}"/>
                  </a:ext>
                </a:extLst>
              </p:cNvPr>
              <p:cNvSpPr txBox="1">
                <a:spLocks noRot="1" noChangeAspect="1" noMove="1" noResize="1" noEditPoints="1" noAdjustHandles="1" noChangeArrowheads="1" noChangeShapeType="1" noTextEdit="1"/>
              </p:cNvSpPr>
              <p:nvPr/>
            </p:nvSpPr>
            <p:spPr>
              <a:xfrm>
                <a:off x="295938" y="2983861"/>
                <a:ext cx="6097772" cy="2343975"/>
              </a:xfrm>
              <a:prstGeom prst="rect">
                <a:avLst/>
              </a:prstGeom>
              <a:blipFill>
                <a:blip r:embed="rId4"/>
                <a:stretch>
                  <a:fillRect l="-832" t="-1613" b="-2688"/>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C6EB5BCC-8DD4-D19E-ED66-E829D9C12649}"/>
              </a:ext>
            </a:extLst>
          </p:cNvPr>
          <p:cNvSpPr txBox="1"/>
          <p:nvPr/>
        </p:nvSpPr>
        <p:spPr>
          <a:xfrm>
            <a:off x="3941133" y="754828"/>
            <a:ext cx="6097772" cy="461665"/>
          </a:xfrm>
          <a:prstGeom prst="rect">
            <a:avLst/>
          </a:prstGeom>
          <a:noFill/>
        </p:spPr>
        <p:txBody>
          <a:bodyPr wrap="square">
            <a:spAutoFit/>
          </a:bodyPr>
          <a:lstStyle/>
          <a:p>
            <a:pPr>
              <a:buNone/>
            </a:pPr>
            <a:r>
              <a:rPr lang="en-US" altLang="zh-CN" sz="1200" dirty="0">
                <a:effectLst/>
              </a:rPr>
              <a:t>Jin, Z. </a:t>
            </a:r>
            <a:r>
              <a:rPr lang="en-US" altLang="zh-CN" sz="1200" i="1" dirty="0">
                <a:effectLst/>
              </a:rPr>
              <a:t>et al.</a:t>
            </a:r>
            <a:r>
              <a:rPr lang="en-US" altLang="zh-CN" sz="1200" dirty="0">
                <a:effectLst/>
              </a:rPr>
              <a:t> </a:t>
            </a:r>
            <a:r>
              <a:rPr lang="en-US" altLang="zh-CN" sz="1200" dirty="0" err="1">
                <a:effectLst/>
              </a:rPr>
              <a:t>DynaCrys</a:t>
            </a:r>
            <a:r>
              <a:rPr lang="en-US" altLang="zh-CN" sz="1200" dirty="0">
                <a:effectLst/>
              </a:rPr>
              <a:t>: Crystal Generation with Dynamic Space-Group Diffusion. Preprint at </a:t>
            </a:r>
            <a:r>
              <a:rPr lang="en-US" altLang="zh-CN" sz="1200" dirty="0">
                <a:effectLst/>
                <a:hlinkClick r:id="rId5"/>
              </a:rPr>
              <a:t>https://doi.org/10.48550/arXiv.2608.07401</a:t>
            </a:r>
            <a:r>
              <a:rPr lang="en-US" altLang="zh-CN" sz="1200" dirty="0">
                <a:effectLst/>
              </a:rPr>
              <a:t> (2026).</a:t>
            </a:r>
          </a:p>
        </p:txBody>
      </p:sp>
      <p:sp>
        <p:nvSpPr>
          <p:cNvPr id="29" name="文本框 28">
            <a:extLst>
              <a:ext uri="{FF2B5EF4-FFF2-40B4-BE49-F238E27FC236}">
                <a16:creationId xmlns:a16="http://schemas.microsoft.com/office/drawing/2014/main" id="{BC756559-F879-2466-C06E-C959D1ED0A48}"/>
              </a:ext>
            </a:extLst>
          </p:cNvPr>
          <p:cNvSpPr txBox="1"/>
          <p:nvPr/>
        </p:nvSpPr>
        <p:spPr>
          <a:xfrm>
            <a:off x="6206626" y="2983861"/>
            <a:ext cx="6097772" cy="2462213"/>
          </a:xfrm>
          <a:prstGeom prst="rect">
            <a:avLst/>
          </a:prstGeom>
          <a:noFill/>
        </p:spPr>
        <p:txBody>
          <a:bodyPr wrap="square">
            <a:spAutoFit/>
          </a:bodyPr>
          <a:lstStyle/>
          <a:p>
            <a:pPr>
              <a:buNone/>
            </a:pPr>
            <a:r>
              <a:rPr lang="en-US" altLang="zh-CN" sz="1400" b="1" dirty="0"/>
              <a:t>② Generation process</a:t>
            </a:r>
          </a:p>
          <a:p>
            <a:pPr>
              <a:buNone/>
            </a:pPr>
            <a:r>
              <a:rPr lang="en-US" altLang="zh-CN" sz="1400" b="1" dirty="0"/>
              <a:t>Symbolic diffusion</a:t>
            </a:r>
            <a:endParaRPr lang="en-US" altLang="zh-CN" sz="1400" dirty="0"/>
          </a:p>
          <a:p>
            <a:r>
              <a:rPr lang="en-US" altLang="zh-CN" sz="1400" dirty="0"/>
              <a:t>set denoising</a:t>
            </a:r>
            <a:r>
              <a:rPr lang="zh-CN" altLang="en-US" sz="1400" dirty="0"/>
              <a:t> </a:t>
            </a:r>
            <a:r>
              <a:rPr lang="en-US" altLang="zh-CN" sz="1400" dirty="0"/>
              <a:t>→</a:t>
            </a:r>
            <a:r>
              <a:rPr lang="zh-CN" altLang="en-US" sz="1400" dirty="0"/>
              <a:t> </a:t>
            </a:r>
            <a:r>
              <a:rPr lang="en-US" altLang="zh-CN" sz="1400" dirty="0"/>
              <a:t>joint legal sampling</a:t>
            </a:r>
            <a:r>
              <a:rPr lang="zh-CN" altLang="en-US" sz="1400" dirty="0"/>
              <a:t> </a:t>
            </a:r>
            <a:r>
              <a:rPr lang="en-US" altLang="zh-CN" sz="1400" dirty="0"/>
              <a:t>→</a:t>
            </a:r>
            <a:r>
              <a:rPr lang="zh-CN" altLang="en-US" sz="1400" dirty="0"/>
              <a:t> </a:t>
            </a:r>
            <a:r>
              <a:rPr lang="en-US" altLang="zh-CN" sz="1400" dirty="0"/>
              <a:t>re-noising</a:t>
            </a:r>
          </a:p>
          <a:p>
            <a:pPr marL="285750" indent="-285750">
              <a:buFont typeface="Arial" panose="020B0604020202020204" pitchFamily="34" charset="0"/>
              <a:buChar char="•"/>
            </a:pPr>
            <a:r>
              <a:rPr lang="en-US" altLang="zh-CN" sz="1400" dirty="0"/>
              <a:t>Jointly updates GG, Wyckoff rows and elements </a:t>
            </a:r>
          </a:p>
          <a:p>
            <a:pPr marL="285750" indent="-285750">
              <a:buFont typeface="Arial" panose="020B0604020202020204" pitchFamily="34" charset="0"/>
              <a:buChar char="•"/>
            </a:pPr>
            <a:r>
              <a:rPr lang="en-US" altLang="zh-CN" sz="1400" dirty="0"/>
              <a:t>Space-group transitions follow group–subgroup relations </a:t>
            </a:r>
          </a:p>
          <a:p>
            <a:pPr marL="285750" indent="-285750">
              <a:buFont typeface="Arial" panose="020B0604020202020204" pitchFamily="34" charset="0"/>
              <a:buChar char="•"/>
            </a:pPr>
            <a:r>
              <a:rPr lang="en-US" altLang="zh-CN" sz="1400" dirty="0"/>
              <a:t>Legal sampling keeps the decoded symbolic state </a:t>
            </a:r>
            <a:r>
              <a:rPr lang="en-US" altLang="zh-CN" sz="1400" dirty="0" err="1"/>
              <a:t>crystallographically</a:t>
            </a:r>
            <a:r>
              <a:rPr lang="en-US" altLang="zh-CN" sz="1400" dirty="0"/>
              <a:t> valid </a:t>
            </a:r>
          </a:p>
          <a:p>
            <a:pPr>
              <a:buNone/>
            </a:pPr>
            <a:r>
              <a:rPr lang="en-US" altLang="zh-CN" sz="1400" b="1" dirty="0"/>
              <a:t>Geometry diffusion</a:t>
            </a:r>
          </a:p>
          <a:p>
            <a:pPr marL="285750" indent="-285750">
              <a:buFont typeface="Arial" panose="020B0604020202020204" pitchFamily="34" charset="0"/>
              <a:buChar char="•"/>
            </a:pPr>
            <a:r>
              <a:rPr lang="en-US" altLang="zh-CN" sz="1400" dirty="0"/>
              <a:t>Generates lattice parameters </a:t>
            </a:r>
          </a:p>
          <a:p>
            <a:pPr marL="285750" indent="-285750">
              <a:buFont typeface="Arial" panose="020B0604020202020204" pitchFamily="34" charset="0"/>
              <a:buChar char="•"/>
            </a:pPr>
            <a:r>
              <a:rPr lang="en-US" altLang="zh-CN" sz="1400" dirty="0"/>
              <a:t>Generates free Wyckoff coordinates </a:t>
            </a:r>
          </a:p>
          <a:p>
            <a:pPr marL="285750" indent="-285750">
              <a:buFont typeface="Arial" panose="020B0604020202020204" pitchFamily="34" charset="0"/>
              <a:buChar char="•"/>
            </a:pPr>
            <a:r>
              <a:rPr lang="en-US" altLang="zh-CN" sz="1400" dirty="0"/>
              <a:t>Expands them into a complete symmetric crystal </a:t>
            </a:r>
          </a:p>
        </p:txBody>
      </p:sp>
      <p:sp>
        <p:nvSpPr>
          <p:cNvPr id="31" name="文本框 30">
            <a:extLst>
              <a:ext uri="{FF2B5EF4-FFF2-40B4-BE49-F238E27FC236}">
                <a16:creationId xmlns:a16="http://schemas.microsoft.com/office/drawing/2014/main" id="{B5C47C08-1D6A-E937-5FCE-98D0F2EEBBAC}"/>
              </a:ext>
            </a:extLst>
          </p:cNvPr>
          <p:cNvSpPr txBox="1"/>
          <p:nvPr/>
        </p:nvSpPr>
        <p:spPr>
          <a:xfrm>
            <a:off x="2053856" y="5736590"/>
            <a:ext cx="8280991" cy="523220"/>
          </a:xfrm>
          <a:prstGeom prst="rect">
            <a:avLst/>
          </a:prstGeom>
          <a:noFill/>
        </p:spPr>
        <p:txBody>
          <a:bodyPr wrap="square">
            <a:spAutoFit/>
          </a:bodyPr>
          <a:lstStyle/>
          <a:p>
            <a:r>
              <a:rPr lang="zh-CN" altLang="en-US" sz="1400" dirty="0">
                <a:solidFill>
                  <a:srgbClr val="B60007"/>
                </a:solidFill>
              </a:rPr>
              <a:t>空间群不是预先给定或一次性采样的条件，而是在 </a:t>
            </a:r>
            <a:r>
              <a:rPr lang="en-US" altLang="zh-CN" sz="1400" dirty="0">
                <a:solidFill>
                  <a:srgbClr val="B60007"/>
                </a:solidFill>
              </a:rPr>
              <a:t>reverse diffusion </a:t>
            </a:r>
            <a:r>
              <a:rPr lang="zh-CN" altLang="en-US" sz="1400" dirty="0">
                <a:solidFill>
                  <a:srgbClr val="B60007"/>
                </a:solidFill>
              </a:rPr>
              <a:t>过程中与 </a:t>
            </a:r>
            <a:r>
              <a:rPr lang="en-US" altLang="zh-CN" sz="1400" dirty="0">
                <a:solidFill>
                  <a:srgbClr val="B60007"/>
                </a:solidFill>
              </a:rPr>
              <a:t>Wyckoff occupations </a:t>
            </a:r>
            <a:r>
              <a:rPr lang="zh-CN" altLang="en-US" sz="1400" dirty="0">
                <a:solidFill>
                  <a:srgbClr val="B60007"/>
                </a:solidFill>
              </a:rPr>
              <a:t>和元素共同修改；最终再通过 </a:t>
            </a:r>
            <a:r>
              <a:rPr lang="en-US" altLang="zh-CN" sz="1400" dirty="0">
                <a:solidFill>
                  <a:srgbClr val="B60007"/>
                </a:solidFill>
              </a:rPr>
              <a:t>symmetry-constrained geometry diffusion </a:t>
            </a:r>
            <a:r>
              <a:rPr lang="zh-CN" altLang="en-US" sz="1400" dirty="0">
                <a:solidFill>
                  <a:srgbClr val="B60007"/>
                </a:solidFill>
              </a:rPr>
              <a:t>生成完整结构。</a:t>
            </a:r>
          </a:p>
        </p:txBody>
      </p:sp>
    </p:spTree>
    <p:extLst>
      <p:ext uri="{BB962C8B-B14F-4D97-AF65-F5344CB8AC3E}">
        <p14:creationId xmlns:p14="http://schemas.microsoft.com/office/powerpoint/2010/main" val="164630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694C1-7B6F-5555-FDDC-5E344D1BFD9E}"/>
              </a:ext>
            </a:extLst>
          </p:cNvPr>
          <p:cNvSpPr>
            <a:spLocks noGrp="1"/>
          </p:cNvSpPr>
          <p:nvPr>
            <p:ph type="title"/>
          </p:nvPr>
        </p:nvSpPr>
        <p:spPr/>
        <p:txBody>
          <a:bodyPr/>
          <a:lstStyle/>
          <a:p>
            <a:r>
              <a:rPr lang="en-US" dirty="0"/>
              <a:t>Related Work</a:t>
            </a:r>
          </a:p>
        </p:txBody>
      </p:sp>
      <p:sp>
        <p:nvSpPr>
          <p:cNvPr id="4" name="Slide Number Placeholder 3">
            <a:extLst>
              <a:ext uri="{FF2B5EF4-FFF2-40B4-BE49-F238E27FC236}">
                <a16:creationId xmlns:a16="http://schemas.microsoft.com/office/drawing/2014/main" id="{23803555-922C-3010-6599-BF29D37969EA}"/>
              </a:ext>
            </a:extLst>
          </p:cNvPr>
          <p:cNvSpPr>
            <a:spLocks noGrp="1"/>
          </p:cNvSpPr>
          <p:nvPr>
            <p:ph type="sldNum" sz="quarter" idx="4"/>
          </p:nvPr>
        </p:nvSpPr>
        <p:spPr/>
        <p:txBody>
          <a:bodyPr/>
          <a:lstStyle/>
          <a:p>
            <a:fld id="{48D82B17-3AA5-DB4E-A79B-C818A6AD8FB8}" type="slidenum">
              <a:rPr lang="en-CN" smtClean="0"/>
              <a:pPr/>
              <a:t>8</a:t>
            </a:fld>
            <a:endParaRPr lang="en-CN" dirty="0"/>
          </a:p>
        </p:txBody>
      </p:sp>
      <p:sp>
        <p:nvSpPr>
          <p:cNvPr id="6" name="文本框 5">
            <a:extLst>
              <a:ext uri="{FF2B5EF4-FFF2-40B4-BE49-F238E27FC236}">
                <a16:creationId xmlns:a16="http://schemas.microsoft.com/office/drawing/2014/main" id="{57324679-B449-4C40-AF60-D27293A56072}"/>
              </a:ext>
            </a:extLst>
          </p:cNvPr>
          <p:cNvSpPr txBox="1"/>
          <p:nvPr/>
        </p:nvSpPr>
        <p:spPr>
          <a:xfrm>
            <a:off x="986170" y="2199306"/>
            <a:ext cx="10507626" cy="2947025"/>
          </a:xfrm>
          <a:prstGeom prst="rect">
            <a:avLst/>
          </a:prstGeom>
          <a:noFill/>
        </p:spPr>
        <p:txBody>
          <a:bodyPr wrap="square">
            <a:spAutoFit/>
          </a:bodyPr>
          <a:lstStyle/>
          <a:p>
            <a:pPr>
              <a:lnSpc>
                <a:spcPct val="150000"/>
              </a:lnSpc>
            </a:pPr>
            <a:r>
              <a:rPr lang="en-US" altLang="zh-CN" b="1" dirty="0"/>
              <a:t>Wyckoff representation + Transformer</a:t>
            </a:r>
            <a:r>
              <a:rPr lang="zh-CN" altLang="en-US" dirty="0"/>
              <a:t>：</a:t>
            </a:r>
            <a:r>
              <a:rPr lang="en-US" altLang="zh-CN" dirty="0" err="1"/>
              <a:t>WyFormer</a:t>
            </a:r>
            <a:r>
              <a:rPr lang="zh-CN" altLang="en-US" dirty="0"/>
              <a:t>； </a:t>
            </a:r>
            <a:endParaRPr lang="en-US" altLang="zh-CN" dirty="0"/>
          </a:p>
          <a:p>
            <a:pPr>
              <a:lnSpc>
                <a:spcPct val="150000"/>
              </a:lnSpc>
            </a:pPr>
            <a:r>
              <a:rPr lang="en-US" altLang="zh-CN" b="1" dirty="0"/>
              <a:t>Wyckoff occupation + discrete diffusion</a:t>
            </a:r>
            <a:r>
              <a:rPr lang="zh-CN" altLang="en-US" dirty="0"/>
              <a:t>：</a:t>
            </a:r>
            <a:r>
              <a:rPr lang="en-US" altLang="zh-CN" dirty="0" err="1"/>
              <a:t>WyckoffDiff</a:t>
            </a:r>
            <a:r>
              <a:rPr lang="zh-CN" altLang="en-US" dirty="0"/>
              <a:t>； </a:t>
            </a:r>
            <a:endParaRPr lang="en-US" altLang="zh-CN" dirty="0"/>
          </a:p>
          <a:p>
            <a:pPr>
              <a:lnSpc>
                <a:spcPct val="150000"/>
              </a:lnSpc>
            </a:pPr>
            <a:r>
              <a:rPr lang="zh-CN" altLang="en-US" b="1" dirty="0"/>
              <a:t>动态 </a:t>
            </a:r>
            <a:r>
              <a:rPr lang="en-US" altLang="zh-CN" b="1" dirty="0"/>
              <a:t>space group + Wyckoff diffusion/jump process</a:t>
            </a:r>
            <a:r>
              <a:rPr lang="zh-CN" altLang="en-US" dirty="0"/>
              <a:t>：</a:t>
            </a:r>
            <a:r>
              <a:rPr lang="en-US" altLang="zh-CN" dirty="0" err="1"/>
              <a:t>DynaCrys</a:t>
            </a:r>
            <a:r>
              <a:rPr lang="zh-CN" altLang="en-US" dirty="0"/>
              <a:t>、</a:t>
            </a:r>
            <a:r>
              <a:rPr lang="en-US" altLang="zh-CN" dirty="0" err="1"/>
              <a:t>SbCD</a:t>
            </a:r>
            <a:r>
              <a:rPr lang="zh-CN" altLang="en-US" dirty="0"/>
              <a:t>； </a:t>
            </a:r>
            <a:endParaRPr lang="en-US" altLang="zh-CN" dirty="0"/>
          </a:p>
          <a:p>
            <a:pPr>
              <a:lnSpc>
                <a:spcPct val="150000"/>
              </a:lnSpc>
            </a:pPr>
            <a:r>
              <a:rPr lang="en-US" altLang="zh-CN" b="1" dirty="0"/>
              <a:t>Wyckoff AR + space-group-equivariant coordinate diffusion</a:t>
            </a:r>
            <a:r>
              <a:rPr lang="zh-CN" altLang="en-US" dirty="0"/>
              <a:t>：</a:t>
            </a:r>
            <a:r>
              <a:rPr lang="en-US" altLang="zh-CN" dirty="0" err="1"/>
              <a:t>SGEquiDiff</a:t>
            </a:r>
            <a:r>
              <a:rPr lang="zh-CN" altLang="en-US" dirty="0"/>
              <a:t>； </a:t>
            </a:r>
            <a:endParaRPr lang="en-US" altLang="zh-CN" dirty="0"/>
          </a:p>
          <a:p>
            <a:pPr>
              <a:lnSpc>
                <a:spcPct val="150000"/>
              </a:lnSpc>
            </a:pPr>
            <a:r>
              <a:rPr lang="zh-CN" altLang="en-US" b="1" dirty="0"/>
              <a:t>全晶体 </a:t>
            </a:r>
            <a:r>
              <a:rPr lang="en-US" altLang="zh-CN" b="1" dirty="0"/>
              <a:t>token + masked parallel decoding</a:t>
            </a:r>
            <a:r>
              <a:rPr lang="zh-CN" altLang="en-US" dirty="0"/>
              <a:t>：</a:t>
            </a:r>
            <a:r>
              <a:rPr lang="en-US" altLang="zh-CN" dirty="0" err="1"/>
              <a:t>MaskGXT</a:t>
            </a:r>
            <a:r>
              <a:rPr lang="zh-CN" altLang="en-US" dirty="0"/>
              <a:t>； </a:t>
            </a:r>
            <a:endParaRPr lang="en-US" altLang="zh-CN" dirty="0"/>
          </a:p>
          <a:p>
            <a:pPr>
              <a:lnSpc>
                <a:spcPct val="150000"/>
              </a:lnSpc>
            </a:pPr>
            <a:r>
              <a:rPr lang="en-US" altLang="zh-CN" b="1" dirty="0"/>
              <a:t>reciprocal-space representation + diffusion/Transformer</a:t>
            </a:r>
            <a:r>
              <a:rPr lang="zh-CN" altLang="en-US" dirty="0"/>
              <a:t>：</a:t>
            </a:r>
            <a:r>
              <a:rPr lang="en-US" altLang="zh-CN" dirty="0"/>
              <a:t>Fourier-space crystal generation</a:t>
            </a:r>
            <a:r>
              <a:rPr lang="zh-CN" altLang="en-US" dirty="0"/>
              <a:t>； </a:t>
            </a:r>
            <a:endParaRPr lang="en-US" altLang="zh-CN" dirty="0"/>
          </a:p>
          <a:p>
            <a:pPr>
              <a:lnSpc>
                <a:spcPct val="150000"/>
              </a:lnSpc>
            </a:pPr>
            <a:r>
              <a:rPr lang="en-US" altLang="zh-CN" b="1" dirty="0"/>
              <a:t>partial occupancy/disordered crystal generation</a:t>
            </a:r>
            <a:r>
              <a:rPr lang="zh-CN" altLang="en-US" dirty="0"/>
              <a:t>：</a:t>
            </a:r>
            <a:r>
              <a:rPr lang="en-US" altLang="zh-CN" dirty="0"/>
              <a:t>Dis-GEN </a:t>
            </a:r>
            <a:r>
              <a:rPr lang="zh-CN" altLang="en-US" dirty="0"/>
              <a:t>等。</a:t>
            </a:r>
          </a:p>
        </p:txBody>
      </p:sp>
    </p:spTree>
    <p:extLst>
      <p:ext uri="{BB962C8B-B14F-4D97-AF65-F5344CB8AC3E}">
        <p14:creationId xmlns:p14="http://schemas.microsoft.com/office/powerpoint/2010/main" val="4256373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8899F2-87C1-B731-2391-24CA998735CC}"/>
              </a:ext>
            </a:extLst>
          </p:cNvPr>
          <p:cNvSpPr>
            <a:spLocks noGrp="1"/>
          </p:cNvSpPr>
          <p:nvPr>
            <p:ph type="title"/>
          </p:nvPr>
        </p:nvSpPr>
        <p:spPr/>
        <p:txBody>
          <a:bodyPr/>
          <a:lstStyle/>
          <a:p>
            <a:r>
              <a:rPr kumimoji="1" lang="en-US" altLang="zh-CN" dirty="0"/>
              <a:t>What</a:t>
            </a:r>
            <a:r>
              <a:rPr kumimoji="1" lang="zh-CN" altLang="en-US" dirty="0"/>
              <a:t> </a:t>
            </a:r>
            <a:r>
              <a:rPr kumimoji="1" lang="en-US" altLang="zh-CN" dirty="0"/>
              <a:t>we</a:t>
            </a:r>
            <a:r>
              <a:rPr kumimoji="1" lang="zh-CN" altLang="en-US" dirty="0"/>
              <a:t> </a:t>
            </a:r>
            <a:r>
              <a:rPr kumimoji="1" lang="en-US" altLang="zh-CN" dirty="0"/>
              <a:t>can</a:t>
            </a:r>
            <a:r>
              <a:rPr kumimoji="1" lang="zh-CN" altLang="en-US" dirty="0"/>
              <a:t> </a:t>
            </a:r>
            <a:r>
              <a:rPr kumimoji="1" lang="en-US" altLang="zh-CN" dirty="0"/>
              <a:t>do</a:t>
            </a:r>
            <a:r>
              <a:rPr kumimoji="1" lang="zh-CN" altLang="en-US" dirty="0"/>
              <a:t>？</a:t>
            </a:r>
          </a:p>
        </p:txBody>
      </p:sp>
      <p:sp>
        <p:nvSpPr>
          <p:cNvPr id="4" name="灯片编号占位符 3">
            <a:extLst>
              <a:ext uri="{FF2B5EF4-FFF2-40B4-BE49-F238E27FC236}">
                <a16:creationId xmlns:a16="http://schemas.microsoft.com/office/drawing/2014/main" id="{28F29EDE-156E-1C43-2949-AA57FCD6044E}"/>
              </a:ext>
            </a:extLst>
          </p:cNvPr>
          <p:cNvSpPr>
            <a:spLocks noGrp="1"/>
          </p:cNvSpPr>
          <p:nvPr>
            <p:ph type="sldNum" sz="quarter" idx="4"/>
          </p:nvPr>
        </p:nvSpPr>
        <p:spPr/>
        <p:txBody>
          <a:bodyPr/>
          <a:lstStyle/>
          <a:p>
            <a:fld id="{48D82B17-3AA5-DB4E-A79B-C818A6AD8FB8}" type="slidenum">
              <a:rPr lang="en-CN" smtClean="0"/>
              <a:pPr/>
              <a:t>9</a:t>
            </a:fld>
            <a:endParaRPr lang="en-CN" dirty="0"/>
          </a:p>
        </p:txBody>
      </p:sp>
      <p:sp>
        <p:nvSpPr>
          <p:cNvPr id="8" name="文本框 7">
            <a:extLst>
              <a:ext uri="{FF2B5EF4-FFF2-40B4-BE49-F238E27FC236}">
                <a16:creationId xmlns:a16="http://schemas.microsoft.com/office/drawing/2014/main" id="{F0611E1C-2DAA-DF61-100E-F61C7280375B}"/>
              </a:ext>
            </a:extLst>
          </p:cNvPr>
          <p:cNvSpPr txBox="1"/>
          <p:nvPr/>
        </p:nvSpPr>
        <p:spPr>
          <a:xfrm>
            <a:off x="5534024" y="1527125"/>
            <a:ext cx="3895726" cy="400110"/>
          </a:xfrm>
          <a:prstGeom prst="rect">
            <a:avLst/>
          </a:prstGeom>
          <a:noFill/>
        </p:spPr>
        <p:txBody>
          <a:bodyPr wrap="square">
            <a:spAutoFit/>
          </a:bodyPr>
          <a:lstStyle/>
          <a:p>
            <a:r>
              <a:rPr lang="en-US" altLang="zh-CN" sz="2000" dirty="0">
                <a:solidFill>
                  <a:srgbClr val="B60007"/>
                </a:solidFill>
              </a:rPr>
              <a:t>Test-Time Scalable Crystal DLM</a:t>
            </a:r>
            <a:endParaRPr lang="zh-CN" altLang="en-US" sz="2000" dirty="0">
              <a:solidFill>
                <a:srgbClr val="B60007"/>
              </a:solidFill>
            </a:endParaRPr>
          </a:p>
        </p:txBody>
      </p:sp>
      <p:sp>
        <p:nvSpPr>
          <p:cNvPr id="10" name="文本框 9">
            <a:extLst>
              <a:ext uri="{FF2B5EF4-FFF2-40B4-BE49-F238E27FC236}">
                <a16:creationId xmlns:a16="http://schemas.microsoft.com/office/drawing/2014/main" id="{72220D60-B21E-C7DB-9A06-9F0F97301CB0}"/>
              </a:ext>
            </a:extLst>
          </p:cNvPr>
          <p:cNvSpPr txBox="1"/>
          <p:nvPr/>
        </p:nvSpPr>
        <p:spPr>
          <a:xfrm>
            <a:off x="833437" y="2933223"/>
            <a:ext cx="2667001" cy="1169551"/>
          </a:xfrm>
          <a:prstGeom prst="rect">
            <a:avLst/>
          </a:prstGeom>
          <a:noFill/>
        </p:spPr>
        <p:txBody>
          <a:bodyPr wrap="square">
            <a:spAutoFit/>
          </a:bodyPr>
          <a:lstStyle/>
          <a:p>
            <a:r>
              <a:rPr lang="zh-CN" altLang="en-US" sz="1400" dirty="0"/>
              <a:t>[MASK, MASK, MASK, ...]</a:t>
            </a:r>
          </a:p>
          <a:p>
            <a:r>
              <a:rPr lang="zh-CN" altLang="en-US" sz="1400" dirty="0"/>
              <a:t>            ↓</a:t>
            </a:r>
          </a:p>
          <a:p>
            <a:r>
              <a:rPr lang="zh-CN" altLang="en-US" sz="1400" dirty="0"/>
              <a:t>       iterative denoising</a:t>
            </a:r>
          </a:p>
          <a:p>
            <a:r>
              <a:rPr lang="zh-CN" altLang="en-US" sz="1400" dirty="0"/>
              <a:t>            ↓</a:t>
            </a:r>
          </a:p>
          <a:p>
            <a:r>
              <a:rPr lang="zh-CN" altLang="en-US" sz="1400" dirty="0"/>
              <a:t>      one Wyckoff structure</a:t>
            </a:r>
          </a:p>
        </p:txBody>
      </p:sp>
      <p:sp>
        <p:nvSpPr>
          <p:cNvPr id="11" name="文本框 10">
            <a:extLst>
              <a:ext uri="{FF2B5EF4-FFF2-40B4-BE49-F238E27FC236}">
                <a16:creationId xmlns:a16="http://schemas.microsoft.com/office/drawing/2014/main" id="{4350F8C8-B298-51AD-230B-25C785073BBC}"/>
              </a:ext>
            </a:extLst>
          </p:cNvPr>
          <p:cNvSpPr txBox="1"/>
          <p:nvPr/>
        </p:nvSpPr>
        <p:spPr>
          <a:xfrm>
            <a:off x="575269" y="2348447"/>
            <a:ext cx="4153894" cy="369332"/>
          </a:xfrm>
          <a:prstGeom prst="rect">
            <a:avLst/>
          </a:prstGeom>
          <a:noFill/>
        </p:spPr>
        <p:txBody>
          <a:bodyPr wrap="none" rtlCol="0">
            <a:spAutoFit/>
          </a:bodyPr>
          <a:lstStyle/>
          <a:p>
            <a:r>
              <a:rPr kumimoji="1" lang="zh-CN" altLang="en-US" dirty="0"/>
              <a:t>普通的</a:t>
            </a:r>
            <a:r>
              <a:rPr lang="en-US" altLang="zh-CN" dirty="0"/>
              <a:t>Wyckoff DLM </a:t>
            </a:r>
            <a:r>
              <a:rPr lang="zh-CN" altLang="en-US" dirty="0"/>
              <a:t>只有一条去噪路径</a:t>
            </a:r>
            <a:endParaRPr kumimoji="1" lang="zh-CN" altLang="en-US" dirty="0"/>
          </a:p>
        </p:txBody>
      </p:sp>
      <p:sp>
        <p:nvSpPr>
          <p:cNvPr id="14" name="文本框 13">
            <a:extLst>
              <a:ext uri="{FF2B5EF4-FFF2-40B4-BE49-F238E27FC236}">
                <a16:creationId xmlns:a16="http://schemas.microsoft.com/office/drawing/2014/main" id="{B490E9E2-9BE0-EAF5-C9ED-58EBB97D8576}"/>
              </a:ext>
            </a:extLst>
          </p:cNvPr>
          <p:cNvSpPr txBox="1"/>
          <p:nvPr/>
        </p:nvSpPr>
        <p:spPr>
          <a:xfrm>
            <a:off x="6096000" y="2348447"/>
            <a:ext cx="2031325" cy="369332"/>
          </a:xfrm>
          <a:prstGeom prst="rect">
            <a:avLst/>
          </a:prstGeom>
          <a:noFill/>
        </p:spPr>
        <p:txBody>
          <a:bodyPr wrap="none" rtlCol="0">
            <a:spAutoFit/>
          </a:bodyPr>
          <a:lstStyle/>
          <a:p>
            <a:r>
              <a:rPr kumimoji="1" lang="zh-CN" altLang="en-US" dirty="0"/>
              <a:t>改成一个搜索过程</a:t>
            </a:r>
          </a:p>
        </p:txBody>
      </p:sp>
      <p:sp>
        <p:nvSpPr>
          <p:cNvPr id="16" name="文本框 15">
            <a:extLst>
              <a:ext uri="{FF2B5EF4-FFF2-40B4-BE49-F238E27FC236}">
                <a16:creationId xmlns:a16="http://schemas.microsoft.com/office/drawing/2014/main" id="{207C72D3-50AC-0386-2BAE-1860FC778C02}"/>
              </a:ext>
            </a:extLst>
          </p:cNvPr>
          <p:cNvSpPr txBox="1"/>
          <p:nvPr/>
        </p:nvSpPr>
        <p:spPr>
          <a:xfrm>
            <a:off x="5253038" y="2933223"/>
            <a:ext cx="6100762" cy="2031325"/>
          </a:xfrm>
          <a:prstGeom prst="rect">
            <a:avLst/>
          </a:prstGeom>
          <a:noFill/>
        </p:spPr>
        <p:txBody>
          <a:bodyPr wrap="square">
            <a:spAutoFit/>
          </a:bodyPr>
          <a:lstStyle/>
          <a:p>
            <a:pPr>
              <a:buNone/>
            </a:pPr>
            <a:r>
              <a:rPr lang="zh-CN" altLang="en-US" dirty="0"/>
              <a:t>每一步不直接接受模型最高概率的 </a:t>
            </a:r>
            <a:r>
              <a:rPr lang="en-US" altLang="zh-CN" dirty="0"/>
              <a:t>token</a:t>
            </a:r>
            <a:r>
              <a:rPr lang="zh-CN" altLang="en-US" dirty="0"/>
              <a:t>，而是：</a:t>
            </a:r>
          </a:p>
          <a:p>
            <a:pPr>
              <a:buFont typeface="+mj-lt"/>
              <a:buAutoNum type="arabicPeriod"/>
            </a:pPr>
            <a:r>
              <a:rPr lang="en-US" altLang="zh-CN" dirty="0"/>
              <a:t>DLM </a:t>
            </a:r>
            <a:r>
              <a:rPr lang="zh-CN" altLang="en-US" dirty="0"/>
              <a:t>提出 </a:t>
            </a:r>
            <a:r>
              <a:rPr lang="en-US" altLang="zh-CN" dirty="0"/>
              <a:t>K </a:t>
            </a:r>
            <a:r>
              <a:rPr lang="zh-CN" altLang="en-US" dirty="0"/>
              <a:t>个可能的 </a:t>
            </a:r>
            <a:r>
              <a:rPr lang="en-US" altLang="zh-CN" dirty="0"/>
              <a:t>partial orbit sets</a:t>
            </a:r>
            <a:r>
              <a:rPr lang="zh-CN" altLang="en-US" dirty="0"/>
              <a:t>； </a:t>
            </a:r>
          </a:p>
          <a:p>
            <a:pPr>
              <a:buFont typeface="+mj-lt"/>
              <a:buAutoNum type="arabicPeriod"/>
            </a:pPr>
            <a:r>
              <a:rPr lang="en-US" altLang="zh-CN" dirty="0"/>
              <a:t>crystallographic grammar </a:t>
            </a:r>
            <a:r>
              <a:rPr lang="zh-CN" altLang="en-US" dirty="0"/>
              <a:t>排除必然无法满足 </a:t>
            </a:r>
            <a:r>
              <a:rPr lang="en-US" altLang="zh-CN" dirty="0"/>
              <a:t>composition</a:t>
            </a:r>
            <a:r>
              <a:rPr lang="zh-CN" altLang="en-US" dirty="0"/>
              <a:t>、</a:t>
            </a:r>
            <a:r>
              <a:rPr lang="en-US" altLang="zh-CN" dirty="0"/>
              <a:t>multiplicity </a:t>
            </a:r>
            <a:r>
              <a:rPr lang="zh-CN" altLang="en-US" dirty="0"/>
              <a:t>或 </a:t>
            </a:r>
            <a:r>
              <a:rPr lang="en-US" altLang="zh-CN" dirty="0"/>
              <a:t>space group </a:t>
            </a:r>
            <a:r>
              <a:rPr lang="zh-CN" altLang="en-US" dirty="0"/>
              <a:t>的分支； </a:t>
            </a:r>
          </a:p>
          <a:p>
            <a:pPr>
              <a:buFont typeface="+mj-lt"/>
              <a:buAutoNum type="arabicPeriod"/>
            </a:pPr>
            <a:r>
              <a:rPr lang="zh-CN" altLang="en-US" dirty="0"/>
              <a:t>一个 </a:t>
            </a:r>
            <a:r>
              <a:rPr lang="en-US" altLang="zh-CN" b="1" dirty="0"/>
              <a:t>process verifier</a:t>
            </a:r>
            <a:r>
              <a:rPr lang="en-US" altLang="zh-CN" dirty="0"/>
              <a:t> </a:t>
            </a:r>
            <a:r>
              <a:rPr lang="zh-CN" altLang="en-US" dirty="0"/>
              <a:t>预测：这个未完成的 </a:t>
            </a:r>
            <a:r>
              <a:rPr lang="en-US" altLang="zh-CN" dirty="0"/>
              <a:t>Wyckoff state</a:t>
            </a:r>
            <a:r>
              <a:rPr lang="zh-CN" altLang="en-US" dirty="0"/>
              <a:t>，最终有多大概率生成低能、稳定、目标性质良好的结构； </a:t>
            </a:r>
          </a:p>
        </p:txBody>
      </p:sp>
    </p:spTree>
    <p:extLst>
      <p:ext uri="{BB962C8B-B14F-4D97-AF65-F5344CB8AC3E}">
        <p14:creationId xmlns:p14="http://schemas.microsoft.com/office/powerpoint/2010/main" val="1543182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FDAC-5EE9-D110-8D11-E6D80FE7A69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07F126B7-41E4-27F6-40A4-634495848143}"/>
              </a:ext>
            </a:extLst>
          </p:cNvPr>
          <p:cNvSpPr>
            <a:spLocks noGrp="1"/>
          </p:cNvSpPr>
          <p:nvPr>
            <p:ph idx="1"/>
          </p:nvPr>
        </p:nvSpPr>
        <p:spPr>
          <a:xfrm>
            <a:off x="838200" y="3649663"/>
            <a:ext cx="10515600" cy="2189163"/>
          </a:xfrm>
        </p:spPr>
        <p:txBody>
          <a:bodyPr/>
          <a:lstStyle/>
          <a:p>
            <a:r>
              <a:rPr lang="en-US" altLang="zh-CN" dirty="0" err="1"/>
              <a:t>WyFormer</a:t>
            </a:r>
            <a:r>
              <a:rPr lang="en-US" altLang="zh-CN" dirty="0"/>
              <a:t> </a:t>
            </a:r>
            <a:r>
              <a:rPr lang="zh-CN" altLang="en-US" dirty="0"/>
              <a:t>中，空间群 </a:t>
            </a:r>
            <a:r>
              <a:rPr lang="en-US" altLang="zh-CN" dirty="0"/>
              <a:t>225 </a:t>
            </a:r>
            <a:r>
              <a:rPr lang="zh-CN" altLang="en-US" dirty="0"/>
              <a:t>的 </a:t>
            </a:r>
            <a:r>
              <a:rPr lang="en-US" altLang="zh-CN" dirty="0"/>
              <a:t>4a </a:t>
            </a:r>
            <a:r>
              <a:rPr lang="zh-CN" altLang="en-US" dirty="0"/>
              <a:t>和 </a:t>
            </a:r>
            <a:r>
              <a:rPr lang="en-US" altLang="zh-CN" dirty="0"/>
              <a:t>4b </a:t>
            </a:r>
            <a:r>
              <a:rPr lang="zh-CN" altLang="en-US" dirty="0"/>
              <a:t>都具有 </a:t>
            </a:r>
            <a:r>
              <a:rPr lang="en-US" altLang="zh-CN" dirty="0"/>
              <a:t>m-3m site symmetry</a:t>
            </a:r>
            <a:r>
              <a:rPr lang="zh-CN" altLang="en-US" dirty="0"/>
              <a:t>，分别用 </a:t>
            </a:r>
            <a:r>
              <a:rPr lang="en-US" altLang="zh-CN" dirty="0"/>
              <a:t>enumeration 0</a:t>
            </a:r>
            <a:r>
              <a:rPr lang="zh-CN" altLang="en-US" dirty="0"/>
              <a:t>、</a:t>
            </a:r>
            <a:r>
              <a:rPr lang="en-US" altLang="zh-CN" dirty="0"/>
              <a:t>1 </a:t>
            </a:r>
            <a:r>
              <a:rPr lang="zh-CN" altLang="en-US" dirty="0"/>
              <a:t>区分。因此：</a:t>
            </a:r>
            <a:endParaRPr lang="en-US" altLang="zh-CN" dirty="0"/>
          </a:p>
          <a:p>
            <a:r>
              <a:rPr kumimoji="1" lang="en-US" altLang="zh-CN" dirty="0"/>
              <a:t>[SG225 + m-3m] [Na] [0]    </a:t>
            </a:r>
            <a:r>
              <a:rPr kumimoji="1" lang="zh-CN" altLang="en-US" dirty="0"/>
              <a:t>对应 </a:t>
            </a:r>
            <a:r>
              <a:rPr kumimoji="1" lang="en-US" altLang="zh-CN" dirty="0"/>
              <a:t>Na </a:t>
            </a:r>
            <a:r>
              <a:rPr kumimoji="1" lang="zh-CN" altLang="en-US" dirty="0"/>
              <a:t>占据 </a:t>
            </a:r>
            <a:r>
              <a:rPr kumimoji="1" lang="en-US" altLang="zh-CN" dirty="0"/>
              <a:t>4a</a:t>
            </a:r>
          </a:p>
          <a:p>
            <a:r>
              <a:rPr kumimoji="1" lang="en-US" altLang="zh-CN" dirty="0"/>
              <a:t>[SG225 + m-3m] [Cl] [1]    </a:t>
            </a:r>
            <a:r>
              <a:rPr kumimoji="1" lang="zh-CN" altLang="en-US" dirty="0"/>
              <a:t>对应 </a:t>
            </a:r>
            <a:r>
              <a:rPr kumimoji="1" lang="en-US" altLang="zh-CN" dirty="0"/>
              <a:t>Cl </a:t>
            </a:r>
            <a:r>
              <a:rPr kumimoji="1" lang="zh-CN" altLang="en-US" dirty="0"/>
              <a:t>占据 </a:t>
            </a:r>
            <a:r>
              <a:rPr kumimoji="1" lang="en-US" altLang="zh-CN" dirty="0"/>
              <a:t>4b</a:t>
            </a:r>
            <a:endParaRPr kumimoji="1" lang="zh-CN" altLang="en-US" dirty="0"/>
          </a:p>
        </p:txBody>
      </p:sp>
      <p:sp>
        <p:nvSpPr>
          <p:cNvPr id="4" name="灯片编号占位符 3">
            <a:extLst>
              <a:ext uri="{FF2B5EF4-FFF2-40B4-BE49-F238E27FC236}">
                <a16:creationId xmlns:a16="http://schemas.microsoft.com/office/drawing/2014/main" id="{9F7CE70A-39E7-A809-D118-F2248F3BF992}"/>
              </a:ext>
            </a:extLst>
          </p:cNvPr>
          <p:cNvSpPr>
            <a:spLocks noGrp="1"/>
          </p:cNvSpPr>
          <p:nvPr>
            <p:ph type="sldNum" sz="quarter" idx="4"/>
          </p:nvPr>
        </p:nvSpPr>
        <p:spPr/>
        <p:txBody>
          <a:bodyPr/>
          <a:lstStyle/>
          <a:p>
            <a:fld id="{48D82B17-3AA5-DB4E-A79B-C818A6AD8FB8}" type="slidenum">
              <a:rPr lang="en-CN" smtClean="0"/>
              <a:pPr/>
              <a:t>10</a:t>
            </a:fld>
            <a:endParaRPr lang="en-CN" dirty="0"/>
          </a:p>
        </p:txBody>
      </p:sp>
      <p:pic>
        <p:nvPicPr>
          <p:cNvPr id="5" name="图片 4">
            <a:extLst>
              <a:ext uri="{FF2B5EF4-FFF2-40B4-BE49-F238E27FC236}">
                <a16:creationId xmlns:a16="http://schemas.microsoft.com/office/drawing/2014/main" id="{8A98D6C1-D232-C8F9-9883-1B0BFB49E9F9}"/>
              </a:ext>
            </a:extLst>
          </p:cNvPr>
          <p:cNvPicPr>
            <a:picLocks noChangeAspect="1"/>
          </p:cNvPicPr>
          <p:nvPr/>
        </p:nvPicPr>
        <p:blipFill>
          <a:blip r:embed="rId2"/>
          <a:stretch/>
        </p:blipFill>
        <p:spPr>
          <a:xfrm>
            <a:off x="533400" y="1837765"/>
            <a:ext cx="10820400" cy="1591235"/>
          </a:xfrm>
          <a:prstGeom prst="rect">
            <a:avLst/>
          </a:prstGeom>
        </p:spPr>
      </p:pic>
      <p:sp>
        <p:nvSpPr>
          <p:cNvPr id="6" name="文本框 5">
            <a:extLst>
              <a:ext uri="{FF2B5EF4-FFF2-40B4-BE49-F238E27FC236}">
                <a16:creationId xmlns:a16="http://schemas.microsoft.com/office/drawing/2014/main" id="{29D2AA46-52AD-B025-DB53-D116E14FCA51}"/>
              </a:ext>
            </a:extLst>
          </p:cNvPr>
          <p:cNvSpPr txBox="1"/>
          <p:nvPr/>
        </p:nvSpPr>
        <p:spPr>
          <a:xfrm>
            <a:off x="3462696" y="5987018"/>
            <a:ext cx="4961808" cy="369332"/>
          </a:xfrm>
          <a:prstGeom prst="rect">
            <a:avLst/>
          </a:prstGeom>
          <a:noFill/>
        </p:spPr>
        <p:txBody>
          <a:bodyPr wrap="none" rtlCol="0">
            <a:spAutoFit/>
          </a:bodyPr>
          <a:lstStyle/>
          <a:p>
            <a:r>
              <a:rPr kumimoji="1" lang="en-US" altLang="zh-CN" dirty="0"/>
              <a:t>Wyckoff</a:t>
            </a:r>
            <a:r>
              <a:rPr kumimoji="1" lang="zh-CN" altLang="en-US" dirty="0"/>
              <a:t> </a:t>
            </a:r>
            <a:r>
              <a:rPr kumimoji="1" lang="en-US" altLang="zh-CN" dirty="0"/>
              <a:t>position = site </a:t>
            </a:r>
            <a:r>
              <a:rPr kumimoji="1" lang="en-US" altLang="zh-CN" dirty="0" err="1"/>
              <a:t>symmetry+enumeration</a:t>
            </a:r>
            <a:endParaRPr kumimoji="1" lang="zh-CN" altLang="en-US" dirty="0"/>
          </a:p>
        </p:txBody>
      </p:sp>
    </p:spTree>
    <p:extLst>
      <p:ext uri="{BB962C8B-B14F-4D97-AF65-F5344CB8AC3E}">
        <p14:creationId xmlns:p14="http://schemas.microsoft.com/office/powerpoint/2010/main" val="418579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CB58B96-5D6F-9AD6-0FE7-CE6FD902EC4E}"/>
              </a:ext>
            </a:extLst>
          </p:cNvPr>
          <p:cNvGraphicFramePr/>
          <p:nvPr>
            <p:extLst>
              <p:ext uri="{D42A27DB-BD31-4B8C-83A1-F6EECF244321}">
                <p14:modId xmlns:p14="http://schemas.microsoft.com/office/powerpoint/2010/main" val="1039137586"/>
              </p:ext>
            </p:extLst>
          </p:nvPr>
        </p:nvGraphicFramePr>
        <p:xfrm>
          <a:off x="1306100" y="1481076"/>
          <a:ext cx="8677275" cy="4514850"/>
        </p:xfrm>
        <a:graphic>
          <a:graphicData uri="http://schemas.openxmlformats.org/drawingml/2006/table">
            <a:tbl>
              <a:tblPr/>
              <a:tblGrid>
                <a:gridCol w="1409700">
                  <a:extLst>
                    <a:ext uri="{9D8B030D-6E8A-4147-A177-3AD203B41FA5}">
                      <a16:colId xmlns:a16="http://schemas.microsoft.com/office/drawing/2014/main" val="20000"/>
                    </a:ext>
                  </a:extLst>
                </a:gridCol>
                <a:gridCol w="2266950">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895350">
                  <a:extLst>
                    <a:ext uri="{9D8B030D-6E8A-4147-A177-3AD203B41FA5}">
                      <a16:colId xmlns:a16="http://schemas.microsoft.com/office/drawing/2014/main" val="20004"/>
                    </a:ext>
                  </a:extLst>
                </a:gridCol>
              </a:tblGrid>
              <a:tr h="314325">
                <a:tc>
                  <a:txBody>
                    <a:bodyPr/>
                    <a:lstStyle/>
                    <a:p>
                      <a:r>
                        <a:rPr sz="1200" b="1" dirty="0" err="1">
                          <a:solidFill>
                            <a:srgbClr val="FFFFFF"/>
                          </a:solidFill>
                          <a:latin typeface="PingFang SC"/>
                          <a:ea typeface="PingFang SC"/>
                          <a:cs typeface="PingFang SC"/>
                        </a:rPr>
                        <a:t>模型</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dirty="0" err="1">
                          <a:solidFill>
                            <a:srgbClr val="FFFFFF"/>
                          </a:solidFill>
                          <a:latin typeface="PingFang SC"/>
                          <a:ea typeface="PingFang SC"/>
                          <a:cs typeface="PingFang SC"/>
                        </a:rPr>
                        <a:t>条件生成设置</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extLst>
                  <a:ext uri="{0D108BD9-81ED-4DB2-BD59-A6C34878D82A}">
                    <a16:rowId xmlns:a16="http://schemas.microsoft.com/office/drawing/2014/main" val="10000"/>
                  </a:ext>
                </a:extLst>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1"/>
                  </a:ext>
                </a:extLst>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2"/>
                  </a:ext>
                </a:extLst>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dirty="0" err="1">
                          <a:solidFill>
                            <a:srgbClr val="17372F"/>
                          </a:solidFill>
                          <a:latin typeface="PingFang SC"/>
                          <a:ea typeface="PingFang SC"/>
                          <a:cs typeface="PingFang SC"/>
                        </a:rPr>
                        <a:t>空间群条件</a:t>
                      </a:r>
                      <a:endParaRPr sz="1125" b="1"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extLst>
                  <a:ext uri="{0D108BD9-81ED-4DB2-BD59-A6C34878D82A}">
                    <a16:rowId xmlns:a16="http://schemas.microsoft.com/office/drawing/2014/main" val="10003"/>
                  </a:ext>
                </a:extLst>
              </a:tr>
              <a:tr h="466725">
                <a:tc>
                  <a:txBody>
                    <a:bodyPr/>
                    <a:lstStyle/>
                    <a:p>
                      <a:r>
                        <a:rPr sz="1125" b="1" dirty="0" err="1">
                          <a:solidFill>
                            <a:srgbClr val="17372F"/>
                          </a:solidFill>
                          <a:latin typeface="PingFang SC"/>
                          <a:ea typeface="PingFang SC"/>
                          <a:cs typeface="PingFang SC"/>
                        </a:rPr>
                        <a:t>WyckoffDiff</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按抽取的空间群去噪</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原型结构</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extLst>
                  <a:ext uri="{0D108BD9-81ED-4DB2-BD59-A6C34878D82A}">
                    <a16:rowId xmlns:a16="http://schemas.microsoft.com/office/drawing/2014/main" val="10004"/>
                  </a:ext>
                </a:extLst>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不对称单元、位点对称</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元素、连续坐标与晶格</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空间群输入，按先验采样</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5"/>
                  </a:ext>
                </a:extLst>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动态空间群、无序占据集</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学习的对称</a:t>
                      </a:r>
                      <a:r>
                        <a:rPr sz="1125" b="0" dirty="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主实验为无条件生成</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几何以自生成</a:t>
                      </a:r>
                      <a:r>
                        <a:rPr lang="en-US" altLang="zh-CN" sz="1125" b="0" dirty="0" err="1">
                          <a:solidFill>
                            <a:srgbClr val="17372F"/>
                          </a:solidFill>
                          <a:latin typeface="PingFang SC"/>
                          <a:ea typeface="PingFang SC"/>
                          <a:cs typeface="PingFang SC"/>
                        </a:rPr>
                        <a:t>prototype</a:t>
                      </a:r>
                      <a:r>
                        <a:rPr sz="1125" b="0" dirty="0" err="1">
                          <a:solidFill>
                            <a:srgbClr val="17372F"/>
                          </a:solidFill>
                          <a:latin typeface="PingFang SC"/>
                          <a:ea typeface="PingFang SC"/>
                          <a:cs typeface="PingFang SC"/>
                        </a:rPr>
                        <a:t>为条件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6"/>
                  </a:ext>
                </a:extLst>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给定化学组成的</a:t>
                      </a:r>
                      <a:r>
                        <a:rPr sz="1125" b="0" dirty="0">
                          <a:solidFill>
                            <a:srgbClr val="17372F"/>
                          </a:solidFill>
                          <a:latin typeface="PingFang SC"/>
                          <a:ea typeface="PingFang SC"/>
                          <a:cs typeface="PingFang SC"/>
                        </a:rPr>
                        <a:t> CSP</a:t>
                      </a:r>
                    </a:p>
                    <a:p>
                      <a:r>
                        <a:rPr sz="1125" b="0" dirty="0" err="1">
                          <a:solidFill>
                            <a:srgbClr val="17372F"/>
                          </a:solidFill>
                          <a:latin typeface="PingFang SC"/>
                          <a:ea typeface="PingFang SC"/>
                          <a:cs typeface="PingFang SC"/>
                        </a:rPr>
                        <a:t>原子类型与数量已知</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7"/>
                  </a:ext>
                </a:extLst>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空间群</a:t>
                      </a:r>
                      <a:r>
                        <a:rPr sz="1125" b="0" dirty="0">
                          <a:solidFill>
                            <a:srgbClr val="17372F"/>
                          </a:solidFill>
                          <a:latin typeface="PingFang SC"/>
                          <a:ea typeface="PingFang SC"/>
                          <a:cs typeface="PingFang SC"/>
                        </a:rPr>
                        <a:t> + </a:t>
                      </a:r>
                      <a:r>
                        <a:rPr sz="1125" b="0" dirty="0" err="1">
                          <a:solidFill>
                            <a:srgbClr val="17372F"/>
                          </a:solidFill>
                          <a:latin typeface="PingFang SC"/>
                          <a:ea typeface="PingFang SC"/>
                          <a:cs typeface="PingFang SC"/>
                        </a:rPr>
                        <a:t>元素系统</a:t>
                      </a:r>
                      <a:endParaRPr sz="1125" b="0" dirty="0">
                        <a:solidFill>
                          <a:srgbClr val="17372F"/>
                        </a:solidFill>
                        <a:latin typeface="PingFang SC"/>
                        <a:ea typeface="PingFang SC"/>
                        <a:cs typeface="PingFang SC"/>
                      </a:endParaRPr>
                    </a:p>
                    <a:p>
                      <a:r>
                        <a:rPr sz="1125" b="0" dirty="0">
                          <a:solidFill>
                            <a:srgbClr val="17372F"/>
                          </a:solidFill>
                          <a:latin typeface="PingFang SC"/>
                          <a:ea typeface="PingFang SC"/>
                          <a:cs typeface="PingFang SC"/>
                        </a:rPr>
                        <a:t>+ </a:t>
                      </a:r>
                      <a:r>
                        <a:rPr sz="1125" b="0" dirty="0" err="1">
                          <a:solidFill>
                            <a:srgbClr val="17372F"/>
                          </a:solidFill>
                          <a:latin typeface="PingFang SC"/>
                          <a:ea typeface="PingFang SC"/>
                          <a:cs typeface="PingFang SC"/>
                        </a:rPr>
                        <a:t>凸包上方能量条件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extLst>
                  <a:ext uri="{0D108BD9-81ED-4DB2-BD59-A6C34878D82A}">
                    <a16:rowId xmlns:a16="http://schemas.microsoft.com/office/drawing/2014/main" val="10008"/>
                  </a:ext>
                </a:extLst>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非自回归扩散</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并行</a:t>
                      </a:r>
                      <a:r>
                        <a:rPr lang="en-US" altLang="zh-CN" sz="1125" b="1" dirty="0" err="1">
                          <a:solidFill>
                            <a:srgbClr val="17372F"/>
                          </a:solidFill>
                          <a:latin typeface="PingFang SC"/>
                          <a:ea typeface="PingFang SC"/>
                          <a:cs typeface="PingFang SC"/>
                        </a:rPr>
                        <a:t>mask</a:t>
                      </a:r>
                      <a:r>
                        <a:rPr sz="1125" b="1" dirty="0" err="1">
                          <a:solidFill>
                            <a:srgbClr val="17372F"/>
                          </a:solidFill>
                          <a:latin typeface="PingFang SC"/>
                          <a:ea typeface="PingFang SC"/>
                          <a:cs typeface="PingFang SC"/>
                        </a:rPr>
                        <a:t>单级去噪</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原型＋指定晶格</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最终应用条件待定</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原型编码</a:t>
                      </a:r>
                      <a:endParaRPr sz="1125" b="1" dirty="0">
                        <a:solidFill>
                          <a:srgbClr val="17372F"/>
                        </a:solidFill>
                        <a:latin typeface="PingFang SC"/>
                        <a:ea typeface="PingFang SC"/>
                        <a:cs typeface="PingFang SC"/>
                      </a:endParaRPr>
                    </a:p>
                    <a:p>
                      <a:r>
                        <a:rPr lang="zh-CN" altLang="en-US" sz="1125" b="1" dirty="0">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extLst>
                  <a:ext uri="{0D108BD9-81ED-4DB2-BD59-A6C34878D82A}">
                    <a16:rowId xmlns:a16="http://schemas.microsoft.com/office/drawing/2014/main" val="10009"/>
                  </a:ext>
                </a:extLst>
              </a:tr>
            </a:tbl>
          </a:graphicData>
        </a:graphic>
      </p:graphicFrame>
      <p:sp>
        <p:nvSpPr>
          <p:cNvPr id="2" name="TextBox 1">
            <a:extLst>
              <a:ext uri="{FF2B5EF4-FFF2-40B4-BE49-F238E27FC236}">
                <a16:creationId xmlns:a16="http://schemas.microsoft.com/office/drawing/2014/main" id="{F006ADBE-9EC2-71ED-A573-E4126EE5A546}"/>
              </a:ext>
            </a:extLst>
          </p:cNvPr>
          <p:cNvSpPr txBox="1"/>
          <p:nvPr/>
        </p:nvSpPr>
        <p:spPr>
          <a:xfrm>
            <a:off x="2363190" y="676894"/>
            <a:ext cx="1107996" cy="369332"/>
          </a:xfrm>
          <a:prstGeom prst="rect">
            <a:avLst/>
          </a:prstGeom>
          <a:noFill/>
        </p:spPr>
        <p:txBody>
          <a:bodyPr wrap="none" rtlCol="0">
            <a:spAutoFit/>
          </a:bodyPr>
          <a:lstStyle/>
          <a:p>
            <a:r>
              <a:rPr lang="en-001" dirty="0"/>
              <a:t>论文调研</a:t>
            </a:r>
          </a:p>
        </p:txBody>
      </p:sp>
    </p:spTree>
    <p:extLst>
      <p:ext uri="{BB962C8B-B14F-4D97-AF65-F5344CB8AC3E}">
        <p14:creationId xmlns:p14="http://schemas.microsoft.com/office/powerpoint/2010/main" val="372982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A1EBC1C-0333-27CA-7615-8500237EA192}"/>
              </a:ext>
            </a:extLst>
          </p:cNvPr>
          <p:cNvSpPr txBox="1"/>
          <p:nvPr/>
        </p:nvSpPr>
        <p:spPr>
          <a:xfrm>
            <a:off x="1581593" y="3858259"/>
            <a:ext cx="8604398" cy="2031325"/>
          </a:xfrm>
          <a:prstGeom prst="rect">
            <a:avLst/>
          </a:prstGeom>
          <a:noFill/>
        </p:spPr>
        <p:txBody>
          <a:bodyPr wrap="square">
            <a:spAutoFit/>
          </a:bodyPr>
          <a:lstStyle/>
          <a:p>
            <a:pPr>
              <a:buNone/>
            </a:pPr>
            <a:r>
              <a:rPr lang="zh-CN" altLang="en-US" dirty="0"/>
              <a:t>比如，</a:t>
            </a:r>
            <a:r>
              <a:rPr lang="en-US" altLang="zh-CN" dirty="0"/>
              <a:t>A </a:t>
            </a:r>
            <a:r>
              <a:rPr lang="zh-CN" altLang="en-US" dirty="0"/>
              <a:t>附近有几个属于同一个 </a:t>
            </a:r>
            <a:r>
              <a:rPr lang="en-US" altLang="zh-CN" dirty="0"/>
              <a:t>Wyckoff </a:t>
            </a:r>
            <a:r>
              <a:rPr lang="zh-CN" altLang="en-US" dirty="0"/>
              <a:t>位点的 </a:t>
            </a:r>
            <a:r>
              <a:rPr lang="en-US" altLang="zh-CN" dirty="0"/>
              <a:t>B </a:t>
            </a:r>
            <a:r>
              <a:rPr lang="zh-CN" altLang="en-US" dirty="0"/>
              <a:t>原子：一个在当前晶胞，一个在相邻晶胞。只写“</a:t>
            </a:r>
            <a:r>
              <a:rPr lang="en-US" altLang="zh-CN" dirty="0"/>
              <a:t>A </a:t>
            </a:r>
            <a:r>
              <a:rPr lang="zh-CN" altLang="en-US" dirty="0"/>
              <a:t>连接 </a:t>
            </a:r>
            <a:r>
              <a:rPr lang="en-US" altLang="zh-CN" dirty="0"/>
              <a:t>B </a:t>
            </a:r>
            <a:r>
              <a:rPr lang="zh-CN" altLang="en-US" dirty="0"/>
              <a:t>位点”，还没有指明具体连接谁。操作和平移标签是在给这个邻居“标地址”。晶体学 </a:t>
            </a:r>
            <a:r>
              <a:rPr lang="en-US" altLang="zh-CN" dirty="0"/>
              <a:t>CIF </a:t>
            </a:r>
            <a:r>
              <a:rPr lang="zh-CN" altLang="en-US" dirty="0"/>
              <a:t>的连接记录也采用类似方式，用对称操作编号和晶胞平移标记连接端点。</a:t>
            </a:r>
            <a:endParaRPr lang="en-US" altLang="zh-CN" dirty="0"/>
          </a:p>
          <a:p>
            <a:pPr>
              <a:buNone/>
            </a:pPr>
            <a:r>
              <a:rPr lang="zh-CN" altLang="en-US" dirty="0"/>
              <a:t>我们希望在生成几何之前，就显式给模型提供周期连接关系时，把它们放进 </a:t>
            </a:r>
            <a:r>
              <a:rPr lang="en-US" altLang="zh-CN" dirty="0"/>
              <a:t>tokenizer </a:t>
            </a:r>
            <a:r>
              <a:rPr lang="zh-CN" altLang="en-US" dirty="0"/>
              <a:t>才有明确用途。这里的晶格平移也不是原子需要学习的连续位移，而是整数晶胞编号。</a:t>
            </a:r>
          </a:p>
        </p:txBody>
      </p:sp>
      <p:pic>
        <p:nvPicPr>
          <p:cNvPr id="6" name="图片 5">
            <a:extLst>
              <a:ext uri="{FF2B5EF4-FFF2-40B4-BE49-F238E27FC236}">
                <a16:creationId xmlns:a16="http://schemas.microsoft.com/office/drawing/2014/main" id="{0E39891D-EC84-3CD0-2A79-EC3364F7A66A}"/>
              </a:ext>
            </a:extLst>
          </p:cNvPr>
          <p:cNvPicPr>
            <a:picLocks noChangeAspect="1"/>
          </p:cNvPicPr>
          <p:nvPr/>
        </p:nvPicPr>
        <p:blipFill>
          <a:blip r:embed="rId2"/>
          <a:stretch>
            <a:fillRect/>
          </a:stretch>
        </p:blipFill>
        <p:spPr>
          <a:xfrm>
            <a:off x="1254432" y="1286541"/>
            <a:ext cx="9683135" cy="1483002"/>
          </a:xfrm>
          <a:prstGeom prst="rect">
            <a:avLst/>
          </a:prstGeom>
        </p:spPr>
      </p:pic>
    </p:spTree>
    <p:extLst>
      <p:ext uri="{BB962C8B-B14F-4D97-AF65-F5344CB8AC3E}">
        <p14:creationId xmlns:p14="http://schemas.microsoft.com/office/powerpoint/2010/main" val="359632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178518-54DE-B71F-58F1-6DF176EDE599}"/>
              </a:ext>
            </a:extLst>
          </p:cNvPr>
          <p:cNvSpPr>
            <a:spLocks noGrp="1"/>
          </p:cNvSpPr>
          <p:nvPr>
            <p:ph type="sldNum" sz="quarter" idx="4"/>
          </p:nvPr>
        </p:nvSpPr>
        <p:spPr/>
        <p:txBody>
          <a:bodyPr/>
          <a:lstStyle/>
          <a:p>
            <a:fld id="{48D82B17-3AA5-DB4E-A79B-C818A6AD8FB8}" type="slidenum">
              <a:rPr lang="en-CN" smtClean="0"/>
              <a:pPr/>
              <a:t>13</a:t>
            </a:fld>
            <a:endParaRPr lang="en-CN" dirty="0"/>
          </a:p>
        </p:txBody>
      </p:sp>
      <p:graphicFrame>
        <p:nvGraphicFramePr>
          <p:cNvPr id="5" name="表格 4">
            <a:extLst>
              <a:ext uri="{FF2B5EF4-FFF2-40B4-BE49-F238E27FC236}">
                <a16:creationId xmlns:a16="http://schemas.microsoft.com/office/drawing/2014/main" id="{FB2BAF59-2322-C4B2-79CC-1AD661866A88}"/>
              </a:ext>
            </a:extLst>
          </p:cNvPr>
          <p:cNvGraphicFramePr/>
          <p:nvPr/>
        </p:nvGraphicFramePr>
        <p:xfrm>
          <a:off x="762000" y="1543050"/>
          <a:ext cx="10668000" cy="4457700"/>
        </p:xfrm>
        <a:graphic>
          <a:graphicData uri="http://schemas.openxmlformats.org/drawingml/2006/table">
            <a:tbl>
              <a:tblPr/>
              <a:tblGrid>
                <a:gridCol w="26289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3676650">
                  <a:extLst>
                    <a:ext uri="{9D8B030D-6E8A-4147-A177-3AD203B41FA5}">
                      <a16:colId xmlns:a16="http://schemas.microsoft.com/office/drawing/2014/main" val="20003"/>
                    </a:ext>
                  </a:extLst>
                </a:gridCol>
              </a:tblGrid>
              <a:tr h="342900">
                <a:tc>
                  <a:txBody>
                    <a:bodyPr/>
                    <a:lstStyle/>
                    <a:p>
                      <a:r>
                        <a:rPr sz="1350" b="1" dirty="0" err="1">
                          <a:solidFill>
                            <a:srgbClr val="FFFFFF"/>
                          </a:solidFill>
                          <a:latin typeface="PingFang SC"/>
                          <a:ea typeface="PingFang SC"/>
                          <a:cs typeface="PingFang SC"/>
                        </a:rPr>
                        <a:t>方案</a:t>
                      </a:r>
                      <a:endParaRPr sz="1350" b="1" dirty="0">
                        <a:solidFill>
                          <a:srgbClr val="FFFFFF"/>
                        </a:solidFill>
                        <a:latin typeface="PingFang SC"/>
                        <a:ea typeface="PingFang SC"/>
                        <a:cs typeface="PingFang SC"/>
                      </a:endParaRP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extLst>
                  <a:ext uri="{0D108BD9-81ED-4DB2-BD59-A6C34878D82A}">
                    <a16:rowId xmlns:a16="http://schemas.microsoft.com/office/drawing/2014/main" val="10000"/>
                  </a:ext>
                </a:extLst>
              </a:tr>
              <a:tr h="514350">
                <a:tc>
                  <a:txBody>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extLst>
                  <a:ext uri="{0D108BD9-81ED-4DB2-BD59-A6C34878D82A}">
                    <a16:rowId xmlns:a16="http://schemas.microsoft.com/office/drawing/2014/main" val="10001"/>
                  </a:ext>
                </a:extLst>
              </a:tr>
              <a:tr h="514350">
                <a:tc>
                  <a:txBody>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extLst>
                  <a:ext uri="{0D108BD9-81ED-4DB2-BD59-A6C34878D82A}">
                    <a16:rowId xmlns:a16="http://schemas.microsoft.com/office/drawing/2014/main" val="10002"/>
                  </a:ext>
                </a:extLst>
              </a:tr>
              <a:tr h="514350">
                <a:tc>
                  <a:txBody>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extLst>
                  <a:ext uri="{0D108BD9-81ED-4DB2-BD59-A6C34878D82A}">
                    <a16:rowId xmlns:a16="http://schemas.microsoft.com/office/drawing/2014/main" val="10003"/>
                  </a:ext>
                </a:extLst>
              </a:tr>
              <a:tr h="514350">
                <a:tc>
                  <a:txBody>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extLst>
                  <a:ext uri="{0D108BD9-81ED-4DB2-BD59-A6C34878D82A}">
                    <a16:rowId xmlns:a16="http://schemas.microsoft.com/office/drawing/2014/main" val="10004"/>
                  </a:ext>
                </a:extLst>
              </a:tr>
              <a:tr h="514350">
                <a:tc>
                  <a:txBody>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extLst>
                  <a:ext uri="{0D108BD9-81ED-4DB2-BD59-A6C34878D82A}">
                    <a16:rowId xmlns:a16="http://schemas.microsoft.com/office/drawing/2014/main" val="10005"/>
                  </a:ext>
                </a:extLst>
              </a:tr>
              <a:tr h="514350">
                <a:tc>
                  <a:txBody>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extLst>
                  <a:ext uri="{0D108BD9-81ED-4DB2-BD59-A6C34878D82A}">
                    <a16:rowId xmlns:a16="http://schemas.microsoft.com/office/drawing/2014/main" val="10006"/>
                  </a:ext>
                </a:extLst>
              </a:tr>
              <a:tr h="514350">
                <a:tc>
                  <a:txBody>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extLst>
                  <a:ext uri="{0D108BD9-81ED-4DB2-BD59-A6C34878D82A}">
                    <a16:rowId xmlns:a16="http://schemas.microsoft.com/office/drawing/2014/main" val="10007"/>
                  </a:ext>
                </a:extLst>
              </a:tr>
              <a:tr h="514350">
                <a:tc>
                  <a:txBody>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lstStyle/>
                    <a:p>
                      <a:r>
                        <a:rPr sz="1200" b="1" dirty="0" err="1">
                          <a:solidFill>
                            <a:srgbClr val="17372F"/>
                          </a:solidFill>
                          <a:latin typeface="PingFang SC"/>
                          <a:ea typeface="PingFang SC"/>
                          <a:cs typeface="PingFang SC"/>
                        </a:rPr>
                        <a:t>保留为候选，指定</a:t>
                      </a:r>
                      <a:r>
                        <a:rPr sz="1200" b="1" dirty="0">
                          <a:solidFill>
                            <a:srgbClr val="17372F"/>
                          </a:solidFill>
                          <a:latin typeface="PingFang SC"/>
                          <a:ea typeface="PingFang SC"/>
                          <a:cs typeface="PingFang SC"/>
                        </a:rPr>
                        <a:t> ASU </a:t>
                      </a:r>
                      <a:r>
                        <a:rPr sz="1200" b="1" dirty="0" err="1">
                          <a:solidFill>
                            <a:srgbClr val="17372F"/>
                          </a:solidFill>
                          <a:latin typeface="PingFang SC"/>
                          <a:ea typeface="PingFang SC"/>
                          <a:cs typeface="PingFang SC"/>
                        </a:rPr>
                        <a:t>对照下显存少</a:t>
                      </a:r>
                      <a:r>
                        <a:rPr sz="1200" b="1" dirty="0">
                          <a:solidFill>
                            <a:srgbClr val="17372F"/>
                          </a:solidFill>
                          <a:latin typeface="PingFang SC"/>
                          <a:ea typeface="PingFang SC"/>
                          <a:cs typeface="PingFang SC"/>
                        </a:rPr>
                        <a:t> 44.6%</a:t>
                      </a:r>
                    </a:p>
                    <a:p>
                      <a:r>
                        <a:rPr sz="1200" b="1" dirty="0" err="1">
                          <a:solidFill>
                            <a:srgbClr val="17372F"/>
                          </a:solidFill>
                          <a:latin typeface="PingFang SC"/>
                          <a:ea typeface="PingFang SC"/>
                          <a:cs typeface="PingFang SC"/>
                        </a:rPr>
                        <a:t>耗时多</a:t>
                      </a:r>
                      <a:r>
                        <a:rPr sz="1200" b="1" dirty="0">
                          <a:solidFill>
                            <a:srgbClr val="17372F"/>
                          </a:solidFill>
                          <a:latin typeface="PingFang SC"/>
                          <a:ea typeface="PingFang SC"/>
                          <a:cs typeface="PingFang SC"/>
                        </a:rPr>
                        <a:t> 11.7%，</a:t>
                      </a:r>
                      <a:r>
                        <a:rPr sz="1200" b="1" dirty="0" err="1">
                          <a:solidFill>
                            <a:srgbClr val="17372F"/>
                          </a:solidFill>
                          <a:latin typeface="PingFang SC"/>
                          <a:ea typeface="PingFang SC"/>
                          <a:cs typeface="PingFang SC"/>
                        </a:rPr>
                        <a:t>完整生成尚待验证</a:t>
                      </a:r>
                      <a:endParaRPr sz="1200" b="1" dirty="0">
                        <a:solidFill>
                          <a:srgbClr val="17372F"/>
                        </a:solidFill>
                        <a:latin typeface="PingFang SC"/>
                        <a:ea typeface="PingFang SC"/>
                        <a:cs typeface="PingFang SC"/>
                      </a:endParaRPr>
                    </a:p>
                  </a:txBody>
                  <a:tcPr marL="85725" marR="76200" marT="47625" marB="47625" anchor="ctr">
                    <a:solidFill>
                      <a:srgbClr val="DCECE3"/>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60488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10959-5479-9DB5-4290-36E84239D523}"/>
              </a:ext>
            </a:extLst>
          </p:cNvPr>
          <p:cNvSpPr>
            <a:spLocks noGrp="1"/>
          </p:cNvSpPr>
          <p:nvPr>
            <p:ph type="title"/>
          </p:nvPr>
        </p:nvSpPr>
        <p:spPr/>
        <p:txBody>
          <a:bodyPr/>
          <a:lstStyle/>
          <a:p>
            <a:r>
              <a:rPr lang="en-US" dirty="0"/>
              <a:t>F</a:t>
            </a:r>
            <a:r>
              <a:rPr lang="en-001" dirty="0"/>
              <a:t>uture</a:t>
            </a:r>
            <a:r>
              <a:rPr lang="zh-CN" altLang="en-US" dirty="0"/>
              <a:t> </a:t>
            </a:r>
            <a:r>
              <a:rPr lang="en-US" altLang="zh-CN" dirty="0"/>
              <a:t>work</a:t>
            </a:r>
            <a:endParaRPr lang="en-001" dirty="0"/>
          </a:p>
        </p:txBody>
      </p:sp>
      <p:sp>
        <p:nvSpPr>
          <p:cNvPr id="3" name="Content Placeholder 2">
            <a:extLst>
              <a:ext uri="{FF2B5EF4-FFF2-40B4-BE49-F238E27FC236}">
                <a16:creationId xmlns:a16="http://schemas.microsoft.com/office/drawing/2014/main" id="{905FD7B3-2BA1-42F0-2CBF-DE09486E8855}"/>
              </a:ext>
            </a:extLst>
          </p:cNvPr>
          <p:cNvSpPr>
            <a:spLocks noGrp="1"/>
          </p:cNvSpPr>
          <p:nvPr>
            <p:ph idx="1"/>
          </p:nvPr>
        </p:nvSpPr>
        <p:spPr/>
        <p:txBody>
          <a:bodyPr/>
          <a:lstStyle/>
          <a:p>
            <a:r>
              <a:rPr lang="en-001" dirty="0"/>
              <a:t>调研一下是不是真的没有文章做过大模型</a:t>
            </a:r>
            <a:r>
              <a:rPr lang="zh-CN" altLang="en-US" dirty="0"/>
              <a:t>？无条件生成的。</a:t>
            </a:r>
            <a:endParaRPr lang="en-001" dirty="0"/>
          </a:p>
          <a:p>
            <a:r>
              <a:rPr lang="en-001" dirty="0"/>
              <a:t>写一个实际的position位点例子展示出来</a:t>
            </a:r>
          </a:p>
          <a:p>
            <a:r>
              <a:rPr lang="en-001" dirty="0"/>
              <a:t>不同</a:t>
            </a:r>
            <a:r>
              <a:rPr lang="zh-CN" altLang="en-US" dirty="0"/>
              <a:t>空间群中的</a:t>
            </a:r>
            <a:r>
              <a:rPr lang="en-US" altLang="zh-CN" dirty="0" err="1"/>
              <a:t>postion</a:t>
            </a:r>
            <a:r>
              <a:rPr lang="zh-CN" altLang="en-US" dirty="0"/>
              <a:t>的交叉表示</a:t>
            </a:r>
            <a:endParaRPr lang="en-US" altLang="zh-CN" dirty="0"/>
          </a:p>
          <a:p>
            <a:r>
              <a:rPr lang="zh-CN" altLang="en-US" dirty="0"/>
              <a:t>大的</a:t>
            </a:r>
            <a:r>
              <a:rPr lang="en-US" altLang="zh-CN" dirty="0"/>
              <a:t>foundation</a:t>
            </a:r>
            <a:r>
              <a:rPr lang="zh-CN" altLang="en-US" dirty="0"/>
              <a:t> </a:t>
            </a:r>
            <a:r>
              <a:rPr lang="en-US" altLang="zh-CN" dirty="0"/>
              <a:t>model</a:t>
            </a:r>
          </a:p>
          <a:p>
            <a:r>
              <a:rPr lang="en-US" dirty="0" err="1"/>
              <a:t>怎么样说明可以复用</a:t>
            </a:r>
            <a:endParaRPr lang="en-001" dirty="0"/>
          </a:p>
        </p:txBody>
      </p:sp>
      <p:sp>
        <p:nvSpPr>
          <p:cNvPr id="4" name="Slide Number Placeholder 3">
            <a:extLst>
              <a:ext uri="{FF2B5EF4-FFF2-40B4-BE49-F238E27FC236}">
                <a16:creationId xmlns:a16="http://schemas.microsoft.com/office/drawing/2014/main" id="{E5FF5520-B6B0-371D-FC54-F7A5B1C3809A}"/>
              </a:ext>
            </a:extLst>
          </p:cNvPr>
          <p:cNvSpPr>
            <a:spLocks noGrp="1"/>
          </p:cNvSpPr>
          <p:nvPr>
            <p:ph type="sldNum" sz="quarter" idx="4"/>
          </p:nvPr>
        </p:nvSpPr>
        <p:spPr/>
        <p:txBody>
          <a:bodyPr/>
          <a:lstStyle/>
          <a:p>
            <a:fld id="{48D82B17-3AA5-DB4E-A79B-C818A6AD8FB8}" type="slidenum">
              <a:rPr lang="en-CN" smtClean="0"/>
              <a:pPr/>
              <a:t>14</a:t>
            </a:fld>
            <a:endParaRPr lang="en-CN" dirty="0"/>
          </a:p>
        </p:txBody>
      </p:sp>
    </p:spTree>
    <p:extLst>
      <p:ext uri="{BB962C8B-B14F-4D97-AF65-F5344CB8AC3E}">
        <p14:creationId xmlns:p14="http://schemas.microsoft.com/office/powerpoint/2010/main" val="394682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232F-5131-4D23-2EF0-4B44163AD72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27333822"/>
      </p:ext>
    </p:extLst>
  </p:cSld>
  <p:clrMapOvr>
    <a:masterClrMapping/>
  </p:clrMapOvr>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AF5F0D4-B851-4437-BBC5-50E9E3DC954D}"/>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① 这种材料基础大模型，有人做过吗？</a:t>
            </a:r>
          </a:p>
        </p:txBody>
      </p:sp>
      <p:sp>
        <p:nvSpPr>
          <p:cNvPr id="2" name="text-1">
            <a:extLst xmlns:a="http://schemas.openxmlformats.org/drawingml/2006/main">
              <a:ext uri="{FF2B5EF4-FFF2-40B4-BE49-F238E27FC236}">
                <a16:creationId xmlns:a16="http://schemas.microsoft.com/office/drawing/2014/main" id="{01D6A0E5-F103-4088-8716-E4D64329BAB5}"/>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有。把材料、性质和文字放在一起训练，已有直接相关工作。</a:t>
            </a:r>
          </a:p>
        </p:txBody>
      </p:sp>
      <p:sp>
        <p:nvSpPr>
          <p:cNvPr id="3" name="text-2">
            <a:extLst xmlns:a="http://schemas.openxmlformats.org/drawingml/2006/main">
              <a:ext uri="{FF2B5EF4-FFF2-40B4-BE49-F238E27FC236}">
                <a16:creationId xmlns:a16="http://schemas.microsoft.com/office/drawing/2014/main" id="{118F2418-0A62-4B4A-B67B-45194F5D5304}"/>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16</a:t>
            </a:r>
          </a:p>
        </p:txBody>
      </p:sp>
      <p:graphicFrame>
        <p:nvGraphicFramePr>
          <p:cNvPr id="9" name=""/>
          <p:cNvGraphicFramePr/>
          <p:nvPr/>
        </p:nvGraphicFramePr>
        <p:xfrm>
          <a:off xmlns:a="http://schemas.openxmlformats.org/drawingml/2006/main" x="762000" y="2381250"/>
          <a:ext xmlns:a="http://schemas.openxmlformats.org/drawingml/2006/main" cx="10668000" cy="3009900"/>
        </p:xfrm>
        <a:graphic xmlns:a="http://schemas.openxmlformats.org/drawingml/2006/main">
          <a:graphicData uri="http://schemas.openxmlformats.org/drawingml/2006/table">
            <a:tbl>
              <a:tblPr firstRow="0" bandRow="0"/>
              <a:tblGrid>
                <a:gridCol w="2381250"/>
                <a:gridCol w="4143375"/>
                <a:gridCol w="4143375"/>
              </a:tblGrid>
              <a:tr h="438150">
                <a:tc>
                  <a:txBody>
                    <a:bodyPr>
                      <a:noAutofit/>
                    </a:bodyPr>
                    <a:lstStyle/>
                    <a:p>
                      <a:r>
                        <a:rPr sz="1875" b="1">
                          <a:solidFill>
                            <a:srgbClr val="FFFFFF"/>
                          </a:solidFill>
                          <a:latin typeface="PingFang SC"/>
                          <a:ea typeface="PingFang SC"/>
                          <a:cs typeface="PingFang SC"/>
                        </a:rPr>
                        <a:t>最相关的工作</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已经做了什么</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和老师设想的关系</a:t>
                      </a:r>
                    </a:p>
                  </a:txBody>
                  <a:tcPr marL="133350" marR="114300" marT="76200" marB="66675" anchor="ctr">
                    <a:solidFill>
                      <a:srgbClr val="2D6B5B"/>
                    </a:solidFill>
                  </a:tcPr>
                </a:tc>
              </a:tr>
              <a:tr h="857250">
                <a:tc>
                  <a:txBody>
                    <a:bodyPr>
                      <a:noAutofit/>
                    </a:bodyPr>
                    <a:lstStyle/>
                    <a:p>
                      <a:r>
                        <a:rPr sz="1875" b="1">
                          <a:solidFill>
                            <a:srgbClr val="17372F"/>
                          </a:solidFill>
                          <a:latin typeface="PingFang SC"/>
                          <a:ea typeface="PingFang SC"/>
                          <a:cs typeface="PingFang SC"/>
                        </a:rPr>
                        <a:t>NatureLM（2025）</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材料组成、空间群、性质与文字</a:t>
                      </a:r>
                    </a:p>
                    <a:p>
                      <a:r>
                        <a:rPr sz="1875" b="0">
                          <a:solidFill>
                            <a:srgbClr val="17372F"/>
                          </a:solidFill>
                          <a:latin typeface="PingFang SC"/>
                          <a:ea typeface="PingFang SC"/>
                          <a:cs typeface="PingFang SC"/>
                        </a:rPr>
                        <a:t>都写成序列，放在一起训练</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最接近“都放进 text space”</a:t>
                      </a:r>
                    </a:p>
                    <a:p>
                      <a:r>
                        <a:rPr sz="1875" b="0">
                          <a:solidFill>
                            <a:srgbClr val="17372F"/>
                          </a:solidFill>
                          <a:latin typeface="PingFang SC"/>
                          <a:ea typeface="PingFang SC"/>
                          <a:cs typeface="PingFang SC"/>
                        </a:rPr>
                        <a:t>完整晶体用 Mat3D 另行训练</a:t>
                      </a:r>
                    </a:p>
                  </a:txBody>
                  <a:tcPr marL="133350" marR="114300" marT="76200" marB="66675" anchor="ctr">
                    <a:solidFill>
                      <a:srgbClr val="F7FAF7"/>
                    </a:solidFill>
                  </a:tcPr>
                </a:tc>
              </a:tr>
              <a:tr h="857250">
                <a:tc>
                  <a:txBody>
                    <a:bodyPr>
                      <a:noAutofit/>
                    </a:bodyPr>
                    <a:lstStyle/>
                    <a:p>
                      <a:r>
                        <a:rPr sz="1875" b="1">
                          <a:solidFill>
                            <a:srgbClr val="17372F"/>
                          </a:solidFill>
                          <a:latin typeface="PingFang SC"/>
                          <a:ea typeface="PingFang SC"/>
                          <a:cs typeface="PingFang SC"/>
                        </a:rPr>
                        <a:t>LLaMat（2024/26）</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材料论文和晶体文件参与训练</a:t>
                      </a:r>
                    </a:p>
                    <a:p>
                      <a:r>
                        <a:rPr sz="1875" b="0">
                          <a:solidFill>
                            <a:srgbClr val="17372F"/>
                          </a:solidFill>
                          <a:latin typeface="PingFang SC"/>
                          <a:ea typeface="PingFang SC"/>
                          <a:cs typeface="PingFang SC"/>
                        </a:rPr>
                        <a:t>再训练问答、提取、生成等任务</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没有晶体结构的论文也能用</a:t>
                      </a:r>
                    </a:p>
                    <a:p>
                      <a:r>
                        <a:rPr sz="1875" b="0">
                          <a:solidFill>
                            <a:srgbClr val="17372F"/>
                          </a:solidFill>
                          <a:latin typeface="PingFang SC"/>
                          <a:ea typeface="PingFang SC"/>
                          <a:cs typeface="PingFang SC"/>
                        </a:rPr>
                        <a:t>但不同任务有不同模型版本</a:t>
                      </a:r>
                    </a:p>
                  </a:txBody>
                  <a:tcPr marL="133350" marR="114300" marT="76200" marB="66675" anchor="ctr">
                    <a:solidFill>
                      <a:srgbClr val="EDF3EE"/>
                    </a:solidFill>
                  </a:tcPr>
                </a:tc>
              </a:tr>
              <a:tr h="857250">
                <a:tc>
                  <a:txBody>
                    <a:bodyPr>
                      <a:noAutofit/>
                    </a:bodyPr>
                    <a:lstStyle/>
                    <a:p>
                      <a:r>
                        <a:rPr sz="1875" b="1">
                          <a:solidFill>
                            <a:srgbClr val="17372F"/>
                          </a:solidFill>
                          <a:latin typeface="PingFang SC"/>
                          <a:ea typeface="PingFang SC"/>
                          <a:cs typeface="PingFang SC"/>
                        </a:rPr>
                        <a:t>ALM（2026）</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同一理解模型训练结构任务</a:t>
                      </a:r>
                    </a:p>
                    <a:p>
                      <a:r>
                        <a:rPr sz="1875" b="0">
                          <a:solidFill>
                            <a:srgbClr val="17372F"/>
                          </a:solidFill>
                          <a:latin typeface="PingFang SC"/>
                          <a:ea typeface="PingFang SC"/>
                          <a:cs typeface="PingFang SC"/>
                        </a:rPr>
                        <a:t>和纯文本任务，再接扩散生成器</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最接近“有结构 / 无结构都用”</a:t>
                      </a:r>
                    </a:p>
                    <a:p>
                      <a:r>
                        <a:rPr sz="1875" b="0">
                          <a:solidFill>
                            <a:srgbClr val="17372F"/>
                          </a:solidFill>
                          <a:latin typeface="PingFang SC"/>
                          <a:ea typeface="PingFang SC"/>
                          <a:cs typeface="PingFang SC"/>
                        </a:rPr>
                        <a:t>但不是全部变成离散文字</a:t>
                      </a:r>
                    </a:p>
                  </a:txBody>
                  <a:tcPr marL="133350" marR="11430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E430316E-1900-414A-B72A-57B8A19F525D}"/>
              </a:ext>
            </a:extLst>
          </p:cNvPr>
          <p:cNvSpPr>
            <a:spLocks xmlns:a="http://schemas.openxmlformats.org/drawingml/2006/main" noGrp="1"/>
          </p:cNvSpPr>
          <p:nvPr/>
        </p:nvSpPr>
        <p:spPr>
          <a:xfrm xmlns:a="http://schemas.openxmlformats.org/drawingml/2006/main">
            <a:off x="781050" y="56483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所以，我们需要说明：自己的表示或训练方法，究竟多解决了什么问题。</a:t>
            </a:r>
          </a:p>
        </p:txBody>
      </p:sp>
    </p:spTree>
    <p:extLst>
      <p:ext uri="{BB962C8B-B14F-4D97-AF65-F5344CB8AC3E}">
        <p14:creationId xmlns:p14="http://schemas.microsoft.com/office/powerpoint/2010/main" val="15813833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9850480-D7DF-486F-9829-FA798ED7B40B}"/>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① 没有结构、没有性质的数据，能不能用？</a:t>
            </a:r>
          </a:p>
        </p:txBody>
      </p:sp>
      <p:sp>
        <p:nvSpPr>
          <p:cNvPr id="2" name="text-1">
            <a:extLst xmlns:a="http://schemas.openxmlformats.org/drawingml/2006/main">
              <a:ext uri="{FF2B5EF4-FFF2-40B4-BE49-F238E27FC236}">
                <a16:creationId xmlns:a16="http://schemas.microsoft.com/office/drawing/2014/main" id="{F1805E99-1899-4CA3-B593-EAFAE43CC546}"/>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能用。每条数据只训练它实际提供的内容。</a:t>
            </a:r>
          </a:p>
        </p:txBody>
      </p:sp>
      <p:sp>
        <p:nvSpPr>
          <p:cNvPr id="3" name="text-2">
            <a:extLst xmlns:a="http://schemas.openxmlformats.org/drawingml/2006/main">
              <a:ext uri="{FF2B5EF4-FFF2-40B4-BE49-F238E27FC236}">
                <a16:creationId xmlns:a16="http://schemas.microsoft.com/office/drawing/2014/main" id="{F599D373-A67B-4F1E-BC53-BB93B8044D84}"/>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17</a:t>
            </a:r>
          </a:p>
        </p:txBody>
      </p:sp>
      <p:graphicFrame>
        <p:nvGraphicFramePr>
          <p:cNvPr id="10" name=""/>
          <p:cNvGraphicFramePr/>
          <p:nvPr/>
        </p:nvGraphicFramePr>
        <p:xfrm>
          <a:off xmlns:a="http://schemas.openxmlformats.org/drawingml/2006/main" x="762000" y="2390775"/>
          <a:ext xmlns:a="http://schemas.openxmlformats.org/drawingml/2006/main" cx="10668000" cy="2952750"/>
        </p:xfrm>
        <a:graphic xmlns:a="http://schemas.openxmlformats.org/drawingml/2006/main">
          <a:graphicData uri="http://schemas.openxmlformats.org/drawingml/2006/table">
            <a:tbl>
              <a:tblPr firstRow="0" bandRow="0"/>
              <a:tblGrid>
                <a:gridCol w="4572000"/>
                <a:gridCol w="6096000"/>
              </a:tblGrid>
              <a:tr h="438150">
                <a:tc>
                  <a:txBody>
                    <a:bodyPr>
                      <a:noAutofit/>
                    </a:bodyPr>
                    <a:lstStyle/>
                    <a:p>
                      <a:r>
                        <a:rPr sz="2025" b="1">
                          <a:solidFill>
                            <a:srgbClr val="FFFFFF"/>
                          </a:solidFill>
                          <a:latin typeface="PingFang SC"/>
                          <a:ea typeface="PingFang SC"/>
                          <a:cs typeface="PingFang SC"/>
                        </a:rPr>
                        <a:t>这条数据有什么</a:t>
                      </a:r>
                    </a:p>
                  </a:txBody>
                  <a:tcPr marL="133350" marR="114300" marT="76200" marB="66675" anchor="ctr">
                    <a:solidFill>
                      <a:srgbClr val="2D6B5B"/>
                    </a:solidFill>
                  </a:tcPr>
                </a:tc>
                <a:tc>
                  <a:txBody>
                    <a:bodyPr>
                      <a:noAutofit/>
                    </a:bodyPr>
                    <a:lstStyle/>
                    <a:p>
                      <a:r>
                        <a:rPr sz="2025" b="1">
                          <a:solidFill>
                            <a:srgbClr val="FFFFFF"/>
                          </a:solidFill>
                          <a:latin typeface="PingFang SC"/>
                          <a:ea typeface="PingFang SC"/>
                          <a:cs typeface="PingFang SC"/>
                        </a:rPr>
                        <a:t>可以拿它训练什么</a:t>
                      </a:r>
                    </a:p>
                  </a:txBody>
                  <a:tcPr marL="133350" marR="114300" marT="76200" marB="66675" anchor="ctr">
                    <a:solidFill>
                      <a:srgbClr val="2D6B5B"/>
                    </a:solidFill>
                  </a:tcPr>
                </a:tc>
              </a:tr>
              <a:tr h="628650">
                <a:tc>
                  <a:txBody>
                    <a:bodyPr>
                      <a:noAutofit/>
                    </a:bodyPr>
                    <a:lstStyle/>
                    <a:p>
                      <a:r>
                        <a:rPr sz="2025" b="1">
                          <a:solidFill>
                            <a:srgbClr val="17372F"/>
                          </a:solidFill>
                          <a:latin typeface="PingFang SC"/>
                          <a:ea typeface="PingFang SC"/>
                          <a:cs typeface="PingFang SC"/>
                        </a:rPr>
                        <a:t>组成 + 能量，没有晶体结构</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根据组成预测能量</a:t>
                      </a:r>
                    </a:p>
                  </a:txBody>
                  <a:tcPr marL="133350" marR="114300" marT="76200" marB="66675" anchor="ctr">
                    <a:solidFill>
                      <a:srgbClr val="F7FAF7"/>
                    </a:solidFill>
                  </a:tcPr>
                </a:tc>
              </a:tr>
              <a:tr h="628650">
                <a:tc>
                  <a:txBody>
                    <a:bodyPr>
                      <a:noAutofit/>
                    </a:bodyPr>
                    <a:lstStyle/>
                    <a:p>
                      <a:r>
                        <a:rPr sz="2025" b="1">
                          <a:solidFill>
                            <a:srgbClr val="17372F"/>
                          </a:solidFill>
                          <a:latin typeface="PingFang SC"/>
                          <a:ea typeface="PingFang SC"/>
                          <a:cs typeface="PingFang SC"/>
                        </a:rPr>
                        <a:t>晶体结构，没有性质标签</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遮住一部分结构，让模型补回来</a:t>
                      </a:r>
                    </a:p>
                  </a:txBody>
                  <a:tcPr marL="133350" marR="114300" marT="76200" marB="66675" anchor="ctr">
                    <a:solidFill>
                      <a:srgbClr val="EDF3EE"/>
                    </a:solidFill>
                  </a:tcPr>
                </a:tc>
              </a:tr>
              <a:tr h="628650">
                <a:tc>
                  <a:txBody>
                    <a:bodyPr>
                      <a:noAutofit/>
                    </a:bodyPr>
                    <a:lstStyle/>
                    <a:p>
                      <a:r>
                        <a:rPr sz="2025" b="1">
                          <a:solidFill>
                            <a:srgbClr val="17372F"/>
                          </a:solidFill>
                          <a:latin typeface="PingFang SC"/>
                          <a:ea typeface="PingFang SC"/>
                          <a:cs typeface="PingFang SC"/>
                        </a:rPr>
                        <a:t>结构 + 部分性质</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用已知内容，预测其余有真值的内容</a:t>
                      </a:r>
                    </a:p>
                  </a:txBody>
                  <a:tcPr marL="133350" marR="114300" marT="76200" marB="66675" anchor="ctr">
                    <a:solidFill>
                      <a:srgbClr val="F7FAF7"/>
                    </a:solidFill>
                  </a:tcPr>
                </a:tc>
              </a:tr>
              <a:tr h="628650">
                <a:tc>
                  <a:txBody>
                    <a:bodyPr>
                      <a:noAutofit/>
                    </a:bodyPr>
                    <a:lstStyle/>
                    <a:p>
                      <a:r>
                        <a:rPr sz="2025" b="1">
                          <a:solidFill>
                            <a:srgbClr val="17372F"/>
                          </a:solidFill>
                          <a:latin typeface="PingFang SC"/>
                          <a:ea typeface="PingFang SC"/>
                          <a:cs typeface="PingFang SC"/>
                        </a:rPr>
                        <a:t>只有材料文字</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学习材料知识、文字补全或问答</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B87F66E1-8857-4B78-92C5-82E76F361220}"/>
              </a:ext>
            </a:extLst>
          </p:cNvPr>
          <p:cNvSpPr>
            <a:spLocks xmlns:a="http://schemas.openxmlformats.org/drawingml/2006/main" noGrp="1"/>
          </p:cNvSpPr>
          <p:nvPr/>
        </p:nvSpPr>
        <p:spPr>
          <a:xfrm xmlns:a="http://schemas.openxmlformats.org/drawingml/2006/main">
            <a:off x="781050" y="5629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不知道的值不能当成 0，也不能编一个结构当答案。</a:t>
            </a:r>
          </a:p>
        </p:txBody>
      </p:sp>
      <p:sp>
        <p:nvSpPr>
          <p:cNvPr id="6" name="text-4">
            <a:extLst xmlns:a="http://schemas.openxmlformats.org/drawingml/2006/main">
              <a:ext uri="{FF2B5EF4-FFF2-40B4-BE49-F238E27FC236}">
                <a16:creationId xmlns:a16="http://schemas.microsoft.com/office/drawing/2014/main" id="{E93F97E8-4E2D-4330-82B7-758076697302}"/>
              </a:ext>
            </a:extLst>
          </p:cNvPr>
          <p:cNvSpPr>
            <a:spLocks xmlns:a="http://schemas.openxmlformats.org/drawingml/2006/main" noGrp="1"/>
          </p:cNvSpPr>
          <p:nvPr/>
        </p:nvSpPr>
        <p:spPr>
          <a:xfrm xmlns:a="http://schemas.openxmlformats.org/drawingml/2006/main">
            <a:off x="781050" y="61055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同用文字只是统一输入格式。还需要有对应关系的数据，模型才能学会“这种材料对应什么性质”。</a:t>
            </a:r>
          </a:p>
        </p:txBody>
      </p:sp>
    </p:spTree>
    <p:extLst>
      <p:ext uri="{BB962C8B-B14F-4D97-AF65-F5344CB8AC3E}">
        <p14:creationId xmlns:p14="http://schemas.microsoft.com/office/powerpoint/2010/main" val="100009022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CC325BD-C2DF-4A85-B13D-28DDF66F5238}"/>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② 4a 里的“4”和“a”是什么意思？</a:t>
            </a:r>
          </a:p>
        </p:txBody>
      </p:sp>
      <p:sp>
        <p:nvSpPr>
          <p:cNvPr id="2" name="text-1">
            <a:extLst xmlns:a="http://schemas.openxmlformats.org/drawingml/2006/main">
              <a:ext uri="{FF2B5EF4-FFF2-40B4-BE49-F238E27FC236}">
                <a16:creationId xmlns:a16="http://schemas.microsoft.com/office/drawing/2014/main" id="{F001AAF1-4C21-42CB-A236-054A0B755404}"/>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例子：NaCl，空间群 #225（Fm−3m），使用常规立方晶胞。</a:t>
            </a:r>
          </a:p>
        </p:txBody>
      </p:sp>
      <p:sp>
        <p:nvSpPr>
          <p:cNvPr id="3" name="text-2">
            <a:extLst xmlns:a="http://schemas.openxmlformats.org/drawingml/2006/main">
              <a:ext uri="{FF2B5EF4-FFF2-40B4-BE49-F238E27FC236}">
                <a16:creationId xmlns:a16="http://schemas.microsoft.com/office/drawing/2014/main" id="{CB8288B3-069A-446A-80DF-3E3F753EAE0E}"/>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18</a:t>
            </a:r>
          </a:p>
        </p:txBody>
      </p:sp>
      <p:sp>
        <p:nvSpPr>
          <p:cNvPr id="4" name="text-3">
            <a:extLst xmlns:a="http://schemas.openxmlformats.org/drawingml/2006/main">
              <a:ext uri="{FF2B5EF4-FFF2-40B4-BE49-F238E27FC236}">
                <a16:creationId xmlns:a16="http://schemas.microsoft.com/office/drawing/2014/main" id="{551668B7-F1D5-4BE0-83F5-EEF0986E8086}"/>
              </a:ext>
            </a:extLst>
          </p:cNvPr>
          <p:cNvSpPr>
            <a:spLocks xmlns:a="http://schemas.openxmlformats.org/drawingml/2006/main" noGrp="1"/>
          </p:cNvSpPr>
          <p:nvPr/>
        </p:nvSpPr>
        <p:spPr>
          <a:xfrm xmlns:a="http://schemas.openxmlformats.org/drawingml/2006/main">
            <a:off x="895350" y="23907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D6B5B"/>
                </a:solidFill>
                <a:latin typeface="PingFang SC"/>
                <a:ea typeface="PingFang SC"/>
                <a:cs typeface="PingFang SC"/>
              </a:defRPr>
            </a:pPr>
            <a:r>
              <a:rPr sz="6000" b="1">
                <a:solidFill>
                  <a:srgbClr val="2D6B5B"/>
                </a:solidFill>
                <a:latin typeface="PingFang SC"/>
                <a:ea typeface="PingFang SC"/>
                <a:cs typeface="PingFang SC"/>
              </a:rPr>
              <a:t>4</a:t>
            </a:r>
          </a:p>
        </p:txBody>
      </p:sp>
      <p:sp>
        <p:nvSpPr>
          <p:cNvPr id="5" name="text-4">
            <a:extLst xmlns:a="http://schemas.openxmlformats.org/drawingml/2006/main">
              <a:ext uri="{FF2B5EF4-FFF2-40B4-BE49-F238E27FC236}">
                <a16:creationId xmlns:a16="http://schemas.microsoft.com/office/drawing/2014/main" id="{EB47B897-3823-4D75-B14A-76107BD9F162}"/>
              </a:ext>
            </a:extLst>
          </p:cNvPr>
          <p:cNvSpPr>
            <a:spLocks xmlns:a="http://schemas.openxmlformats.org/drawingml/2006/main" noGrp="1"/>
          </p:cNvSpPr>
          <p:nvPr/>
        </p:nvSpPr>
        <p:spPr>
          <a:xfrm xmlns:a="http://schemas.openxmlformats.org/drawingml/2006/main">
            <a:off x="2333625" y="2524125"/>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一个代表点按对称规则展开，</a:t>
            </a:r>
          </a:p>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在一个常规晶胞里得到 4 个位置。</a:t>
            </a:r>
          </a:p>
        </p:txBody>
      </p:sp>
      <p:sp>
        <p:nvSpPr>
          <p:cNvPr id="6" name="text-5">
            <a:extLst xmlns:a="http://schemas.openxmlformats.org/drawingml/2006/main">
              <a:ext uri="{FF2B5EF4-FFF2-40B4-BE49-F238E27FC236}">
                <a16:creationId xmlns:a16="http://schemas.microsoft.com/office/drawing/2014/main" id="{95785FE4-932F-4996-AE83-5D4E488532F7}"/>
              </a:ext>
            </a:extLst>
          </p:cNvPr>
          <p:cNvSpPr>
            <a:spLocks xmlns:a="http://schemas.openxmlformats.org/drawingml/2006/main" noGrp="1"/>
          </p:cNvSpPr>
          <p:nvPr/>
        </p:nvSpPr>
        <p:spPr>
          <a:xfrm xmlns:a="http://schemas.openxmlformats.org/drawingml/2006/main">
            <a:off x="6619875" y="23907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D6B5B"/>
                </a:solidFill>
                <a:latin typeface="PingFang SC"/>
                <a:ea typeface="PingFang SC"/>
                <a:cs typeface="PingFang SC"/>
              </a:defRPr>
            </a:pPr>
            <a:r>
              <a:rPr sz="6000" b="1">
                <a:solidFill>
                  <a:srgbClr val="2D6B5B"/>
                </a:solidFill>
                <a:latin typeface="PingFang SC"/>
                <a:ea typeface="PingFang SC"/>
                <a:cs typeface="PingFang SC"/>
              </a:rPr>
              <a:t>a</a:t>
            </a:r>
          </a:p>
        </p:txBody>
      </p:sp>
      <p:sp>
        <p:nvSpPr>
          <p:cNvPr id="7" name="text-6">
            <a:extLst xmlns:a="http://schemas.openxmlformats.org/drawingml/2006/main">
              <a:ext uri="{FF2B5EF4-FFF2-40B4-BE49-F238E27FC236}">
                <a16:creationId xmlns:a16="http://schemas.microsoft.com/office/drawing/2014/main" id="{0224D3BF-F1D2-4CEF-A4BA-06453D7B180C}"/>
              </a:ext>
            </a:extLst>
          </p:cNvPr>
          <p:cNvSpPr>
            <a:spLocks xmlns:a="http://schemas.openxmlformats.org/drawingml/2006/main" noGrp="1"/>
          </p:cNvSpPr>
          <p:nvPr/>
        </p:nvSpPr>
        <p:spPr>
          <a:xfrm xmlns:a="http://schemas.openxmlformats.org/drawingml/2006/main">
            <a:off x="7810500" y="2524125"/>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该空间群位点表里的标签。</a:t>
            </a:r>
          </a:p>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它不是元素，也不是坐标。</a:t>
            </a:r>
          </a:p>
        </p:txBody>
      </p:sp>
      <p:graphicFrame>
        <p:nvGraphicFramePr>
          <p:cNvPr id="17" name=""/>
          <p:cNvGraphicFramePr/>
          <p:nvPr/>
        </p:nvGraphicFramePr>
        <p:xfrm>
          <a:off xmlns:a="http://schemas.openxmlformats.org/drawingml/2006/main" x="762000" y="3619500"/>
          <a:ext xmlns:a="http://schemas.openxmlformats.org/drawingml/2006/main" cx="10668000" cy="2143125"/>
        </p:xfrm>
        <a:graphic xmlns:a="http://schemas.openxmlformats.org/drawingml/2006/main">
          <a:graphicData uri="http://schemas.openxmlformats.org/drawingml/2006/table">
            <a:tbl>
              <a:tblPr firstRow="0" bandRow="0"/>
              <a:tblGrid>
                <a:gridCol w="5334000"/>
                <a:gridCol w="5334000"/>
              </a:tblGrid>
              <a:tr h="447675">
                <a:tc>
                  <a:txBody>
                    <a:bodyPr>
                      <a:noAutofit/>
                    </a:bodyPr>
                    <a:lstStyle/>
                    <a:p>
                      <a:r>
                        <a:rPr sz="1950" b="1">
                          <a:solidFill>
                            <a:srgbClr val="FFFFFF"/>
                          </a:solidFill>
                          <a:latin typeface="PingFang SC"/>
                          <a:ea typeface="PingFang SC"/>
                          <a:cs typeface="PingFang SC"/>
                        </a:rPr>
                        <a:t>Na 占据 4a</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Cl 占据 4b</a:t>
                      </a:r>
                    </a:p>
                  </a:txBody>
                  <a:tcPr marL="133350" marR="114300" marT="76200" marB="66675" anchor="ctr">
                    <a:solidFill>
                      <a:srgbClr val="2D6B5B"/>
                    </a:solidFill>
                  </a:tcPr>
                </a:tc>
              </a:tr>
              <a:tr h="523875">
                <a:tc>
                  <a:txBody>
                    <a:bodyPr>
                      <a:noAutofit/>
                    </a:bodyPr>
                    <a:lstStyle/>
                    <a:p>
                      <a:r>
                        <a:rPr sz="1950" b="1">
                          <a:solidFill>
                            <a:srgbClr val="17372F"/>
                          </a:solidFill>
                          <a:latin typeface="PingFang SC"/>
                          <a:ea typeface="PingFang SC"/>
                          <a:cs typeface="PingFang SC"/>
                        </a:rPr>
                        <a:t>代表点：(0,0,0)</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代表点：(½,½,½)</a:t>
                      </a:r>
                    </a:p>
                  </a:txBody>
                  <a:tcPr marL="133350" marR="114300" marT="76200" marB="66675" anchor="ctr">
                    <a:solidFill>
                      <a:srgbClr val="F7FAF7"/>
                    </a:solidFill>
                  </a:tcPr>
                </a:tc>
              </a:tr>
              <a:tr h="1171575">
                <a:tc>
                  <a:txBody>
                    <a:bodyPr>
                      <a:noAutofit/>
                    </a:bodyPr>
                    <a:lstStyle/>
                    <a:p>
                      <a:r>
                        <a:rPr sz="1950" b="1">
                          <a:solidFill>
                            <a:srgbClr val="17372F"/>
                          </a:solidFill>
                          <a:latin typeface="PingFang SC"/>
                          <a:ea typeface="PingFang SC"/>
                          <a:cs typeface="PingFang SC"/>
                        </a:rPr>
                        <a:t>全部位置：</a:t>
                      </a:r>
                    </a:p>
                    <a:p>
                      <a:r>
                        <a:rPr sz="1950" b="1">
                          <a:solidFill>
                            <a:srgbClr val="17372F"/>
                          </a:solidFill>
                          <a:latin typeface="PingFang SC"/>
                          <a:ea typeface="PingFang SC"/>
                          <a:cs typeface="PingFang SC"/>
                        </a:rPr>
                        <a:t>(0,0,0)   (0,½,½)</a:t>
                      </a:r>
                    </a:p>
                    <a:p>
                      <a:r>
                        <a:rPr sz="1950" b="1">
                          <a:solidFill>
                            <a:srgbClr val="17372F"/>
                          </a:solidFill>
                          <a:latin typeface="PingFang SC"/>
                          <a:ea typeface="PingFang SC"/>
                          <a:cs typeface="PingFang SC"/>
                        </a:rPr>
                        <a:t>(½,0,½)   (½,½,0)</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全部位置：</a:t>
                      </a:r>
                    </a:p>
                    <a:p>
                      <a:r>
                        <a:rPr sz="1950" b="0">
                          <a:solidFill>
                            <a:srgbClr val="17372F"/>
                          </a:solidFill>
                          <a:latin typeface="PingFang SC"/>
                          <a:ea typeface="PingFang SC"/>
                          <a:cs typeface="PingFang SC"/>
                        </a:rPr>
                        <a:t>(½,½,½)   (½,0,0)</a:t>
                      </a:r>
                    </a:p>
                    <a:p>
                      <a:r>
                        <a:rPr sz="1950" b="0">
                          <a:solidFill>
                            <a:srgbClr val="17372F"/>
                          </a:solidFill>
                          <a:latin typeface="PingFang SC"/>
                          <a:ea typeface="PingFang SC"/>
                          <a:cs typeface="PingFang SC"/>
                        </a:rPr>
                        <a:t>(0,½,0)   (0,0,½)</a:t>
                      </a:r>
                    </a:p>
                  </a:txBody>
                  <a:tcPr marL="133350" marR="114300" marT="76200" marB="66675" anchor="ctr">
                    <a:solidFill>
                      <a:srgbClr val="EDF3EE"/>
                    </a:solidFill>
                  </a:tcPr>
                </a:tc>
              </a:tr>
            </a:tbl>
          </a:graphicData>
        </a:graphic>
      </p:graphicFrame>
      <p:sp>
        <p:nvSpPr>
          <p:cNvPr id="9" name="text-7">
            <a:extLst xmlns:a="http://schemas.openxmlformats.org/drawingml/2006/main">
              <a:ext uri="{FF2B5EF4-FFF2-40B4-BE49-F238E27FC236}">
                <a16:creationId xmlns:a16="http://schemas.microsoft.com/office/drawing/2014/main" id="{F4906EE4-DCEF-4D61-8FCA-FCA6F3D0BF2D}"/>
              </a:ext>
            </a:extLst>
          </p:cNvPr>
          <p:cNvSpPr>
            <a:spLocks xmlns:a="http://schemas.openxmlformats.org/drawingml/2006/main" noGrp="1"/>
          </p:cNvSpPr>
          <p:nvPr/>
        </p:nvSpPr>
        <p:spPr>
          <a:xfrm xmlns:a="http://schemas.openxmlformats.org/drawingml/2006/main">
            <a:off x="781050" y="61055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两条位点记录就能表示 4 个 Na 和 4 个 Cl。这里的 4 是位置数，不是 Na 的配位数 6。</a:t>
            </a:r>
          </a:p>
        </p:txBody>
      </p:sp>
    </p:spTree>
    <p:extLst>
      <p:ext uri="{BB962C8B-B14F-4D97-AF65-F5344CB8AC3E}">
        <p14:creationId xmlns:p14="http://schemas.microsoft.com/office/powerpoint/2010/main" val="12609460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3ABBDA59-6483-4ECA-B4FB-0DC769517652}"/>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② 一个 Wyckoff 位点，可以在哪些地方？</a:t>
            </a:r>
          </a:p>
        </p:txBody>
      </p:sp>
      <p:sp>
        <p:nvSpPr>
          <p:cNvPr id="2" name="text-1">
            <a:extLst xmlns:a="http://schemas.openxmlformats.org/drawingml/2006/main">
              <a:ext uri="{FF2B5EF4-FFF2-40B4-BE49-F238E27FC236}">
                <a16:creationId xmlns:a16="http://schemas.microsoft.com/office/drawing/2014/main" id="{68FEEC19-B12C-446E-B4B2-AC154033A693}"/>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有的位点固定不动；有的允许沿某个方向移动。</a:t>
            </a:r>
          </a:p>
        </p:txBody>
      </p:sp>
      <p:sp>
        <p:nvSpPr>
          <p:cNvPr id="3" name="text-2">
            <a:extLst xmlns:a="http://schemas.openxmlformats.org/drawingml/2006/main">
              <a:ext uri="{FF2B5EF4-FFF2-40B4-BE49-F238E27FC236}">
                <a16:creationId xmlns:a16="http://schemas.microsoft.com/office/drawing/2014/main" id="{ABD0F7C5-A636-49CC-A633-9CA069210E98}"/>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19</a:t>
            </a:r>
          </a:p>
        </p:txBody>
      </p:sp>
      <p:graphicFrame>
        <p:nvGraphicFramePr>
          <p:cNvPr id="10" name=""/>
          <p:cNvGraphicFramePr/>
          <p:nvPr/>
        </p:nvGraphicFramePr>
        <p:xfrm>
          <a:off xmlns:a="http://schemas.openxmlformats.org/drawingml/2006/main" x="762000" y="2371725"/>
          <a:ext xmlns:a="http://schemas.openxmlformats.org/drawingml/2006/main" cx="10668000" cy="2628900"/>
        </p:xfrm>
        <a:graphic xmlns:a="http://schemas.openxmlformats.org/drawingml/2006/main">
          <a:graphicData uri="http://schemas.openxmlformats.org/drawingml/2006/table">
            <a:tbl>
              <a:tblPr firstRow="0" bandRow="0"/>
              <a:tblGrid>
                <a:gridCol w="4143375"/>
                <a:gridCol w="2714625"/>
                <a:gridCol w="3810000"/>
              </a:tblGrid>
              <a:tr h="457200">
                <a:tc>
                  <a:txBody>
                    <a:bodyPr>
                      <a:noAutofit/>
                    </a:bodyPr>
                    <a:lstStyle/>
                    <a:p>
                      <a:r>
                        <a:rPr sz="1950" b="1">
                          <a:solidFill>
                            <a:srgbClr val="FFFFFF"/>
                          </a:solidFill>
                          <a:latin typeface="PingFang SC"/>
                          <a:ea typeface="PingFang SC"/>
                          <a:cs typeface="PingFang SC"/>
                        </a:rPr>
                        <a:t>例子</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代表位置</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还有多少坐标可以选择</a:t>
                      </a:r>
                    </a:p>
                  </a:txBody>
                  <a:tcPr marL="133350" marR="114300" marT="76200" marB="66675" anchor="ctr">
                    <a:solidFill>
                      <a:srgbClr val="2D6B5B"/>
                    </a:solidFill>
                  </a:tcPr>
                </a:tc>
              </a:tr>
              <a:tr h="723900">
                <a:tc>
                  <a:txBody>
                    <a:bodyPr>
                      <a:noAutofit/>
                    </a:bodyPr>
                    <a:lstStyle/>
                    <a:p>
                      <a:r>
                        <a:rPr sz="1950" b="1">
                          <a:solidFill>
                            <a:srgbClr val="17372F"/>
                          </a:solidFill>
                          <a:latin typeface="PingFang SC"/>
                          <a:ea typeface="PingFang SC"/>
                          <a:cs typeface="PingFang SC"/>
                        </a:rPr>
                        <a:t>NaCl：#225 的 4a</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(0, 0, 0)</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0 个：位置已经固定</a:t>
                      </a:r>
                    </a:p>
                  </a:txBody>
                  <a:tcPr marL="133350" marR="114300" marT="76200" marB="66675" anchor="ctr">
                    <a:solidFill>
                      <a:srgbClr val="F7FAF7"/>
                    </a:solidFill>
                  </a:tcPr>
                </a:tc>
              </a:tr>
              <a:tr h="723900">
                <a:tc>
                  <a:txBody>
                    <a:bodyPr>
                      <a:noAutofit/>
                    </a:bodyPr>
                    <a:lstStyle/>
                    <a:p>
                      <a:r>
                        <a:rPr sz="1950" b="1">
                          <a:solidFill>
                            <a:srgbClr val="17372F"/>
                          </a:solidFill>
                          <a:latin typeface="PingFang SC"/>
                          <a:ea typeface="PingFang SC"/>
                          <a:cs typeface="PingFang SC"/>
                        </a:rPr>
                        <a:t>KrF₂ 中的 F：#139 的 4e</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(0, 0, z)</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1 个：只需要选 z</a:t>
                      </a:r>
                    </a:p>
                  </a:txBody>
                  <a:tcPr marL="133350" marR="114300" marT="76200" marB="66675" anchor="ctr">
                    <a:solidFill>
                      <a:srgbClr val="EDF3EE"/>
                    </a:solidFill>
                  </a:tcPr>
                </a:tc>
              </a:tr>
              <a:tr h="723900">
                <a:tc>
                  <a:txBody>
                    <a:bodyPr>
                      <a:noAutofit/>
                    </a:bodyPr>
                    <a:lstStyle/>
                    <a:p>
                      <a:r>
                        <a:rPr sz="1950" b="1">
                          <a:solidFill>
                            <a:srgbClr val="17372F"/>
                          </a:solidFill>
                          <a:latin typeface="PingFang SC"/>
                          <a:ea typeface="PingFang SC"/>
                          <a:cs typeface="PingFang SC"/>
                        </a:rPr>
                        <a:t>#62 Pnma 的 4c</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(x, ¼, z)</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2 个：可以选 x 和 z，y 固定</a:t>
                      </a:r>
                    </a:p>
                  </a:txBody>
                  <a:tcPr marL="133350" marR="11430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D11757E5-4596-4CCF-AE69-B259B71030C5}"/>
              </a:ext>
            </a:extLst>
          </p:cNvPr>
          <p:cNvSpPr>
            <a:spLocks xmlns:a="http://schemas.openxmlformats.org/drawingml/2006/main" noGrp="1"/>
          </p:cNvSpPr>
          <p:nvPr/>
        </p:nvSpPr>
        <p:spPr>
          <a:xfrm xmlns:a="http://schemas.openxmlformats.org/drawingml/2006/main">
            <a:off x="781050" y="53149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实际例子：KrF₂ 的 F 可以取 z = 0.290407。</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写下 4e，就确定了允许的位置；再给 z，才确定具体坐标。</a:t>
            </a:r>
          </a:p>
        </p:txBody>
      </p:sp>
      <p:sp>
        <p:nvSpPr>
          <p:cNvPr id="6" name="text-4">
            <a:extLst xmlns:a="http://schemas.openxmlformats.org/drawingml/2006/main">
              <a:ext uri="{FF2B5EF4-FFF2-40B4-BE49-F238E27FC236}">
                <a16:creationId xmlns:a16="http://schemas.microsoft.com/office/drawing/2014/main" id="{CF749508-4B32-480F-A61A-D97B2F487308}"/>
              </a:ext>
            </a:extLst>
          </p:cNvPr>
          <p:cNvSpPr>
            <a:spLocks xmlns:a="http://schemas.openxmlformats.org/drawingml/2006/main" noGrp="1"/>
          </p:cNvSpPr>
          <p:nvPr/>
        </p:nvSpPr>
        <p:spPr>
          <a:xfrm xmlns:a="http://schemas.openxmlformats.org/drawingml/2006/main">
            <a:off x="781050" y="62388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4e 展开后有 4 个等价位置。4 表示位置数量，1 表示需要选择的自由参数数量。</a:t>
            </a:r>
          </a:p>
        </p:txBody>
      </p:sp>
    </p:spTree>
    <p:extLst>
      <p:ext uri="{BB962C8B-B14F-4D97-AF65-F5344CB8AC3E}">
        <p14:creationId xmlns:p14="http://schemas.microsoft.com/office/powerpoint/2010/main" val="9602090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CD6DD191-F98E-4C11-AEE4-7D19F04255EE}"/>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③ 不同空间群里的“4a”，是同一个位点吗？</a:t>
            </a:r>
          </a:p>
        </p:txBody>
      </p:sp>
      <p:sp>
        <p:nvSpPr>
          <p:cNvPr id="2" name="text-1">
            <a:extLst xmlns:a="http://schemas.openxmlformats.org/drawingml/2006/main">
              <a:ext uri="{FF2B5EF4-FFF2-40B4-BE49-F238E27FC236}">
                <a16:creationId xmlns:a16="http://schemas.microsoft.com/office/drawing/2014/main" id="{BE61AA3B-61DE-46A4-8ACC-67E2F79835BF}"/>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不是。同名 4a 可以有不同的对称规则，甚至不同的可移动范围。</a:t>
            </a:r>
          </a:p>
        </p:txBody>
      </p:sp>
      <p:sp>
        <p:nvSpPr>
          <p:cNvPr id="3" name="text-2">
            <a:extLst xmlns:a="http://schemas.openxmlformats.org/drawingml/2006/main">
              <a:ext uri="{FF2B5EF4-FFF2-40B4-BE49-F238E27FC236}">
                <a16:creationId xmlns:a16="http://schemas.microsoft.com/office/drawing/2014/main" id="{66AB64E0-C6B6-45D4-B8B9-195DA2FF990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20</a:t>
            </a:r>
          </a:p>
        </p:txBody>
      </p:sp>
      <p:graphicFrame>
        <p:nvGraphicFramePr>
          <p:cNvPr id="10" name=""/>
          <p:cNvGraphicFramePr/>
          <p:nvPr/>
        </p:nvGraphicFramePr>
        <p:xfrm>
          <a:off xmlns:a="http://schemas.openxmlformats.org/drawingml/2006/main" x="762000" y="2333625"/>
          <a:ext xmlns:a="http://schemas.openxmlformats.org/drawingml/2006/main" cx="10668000" cy="2933700"/>
        </p:xfrm>
        <a:graphic xmlns:a="http://schemas.openxmlformats.org/drawingml/2006/main">
          <a:graphicData uri="http://schemas.openxmlformats.org/drawingml/2006/table">
            <a:tbl>
              <a:tblPr firstRow="0" bandRow="0"/>
              <a:tblGrid>
                <a:gridCol w="3190875"/>
                <a:gridCol w="4619625"/>
                <a:gridCol w="2857500"/>
              </a:tblGrid>
              <a:tr h="457200">
                <a:tc>
                  <a:txBody>
                    <a:bodyPr>
                      <a:noAutofit/>
                    </a:bodyPr>
                    <a:lstStyle/>
                    <a:p>
                      <a:r>
                        <a:rPr sz="1875" b="1">
                          <a:solidFill>
                            <a:srgbClr val="FFFFFF"/>
                          </a:solidFill>
                          <a:latin typeface="PingFang SC"/>
                          <a:ea typeface="PingFang SC"/>
                          <a:cs typeface="PingFang SC"/>
                        </a:rPr>
                        <a:t>空间群</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同样叫 4a，代表位置却可以是</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这个点允许的局部对称</a:t>
                      </a:r>
                    </a:p>
                  </a:txBody>
                  <a:tcPr marL="133350" marR="114300" marT="76200" marB="66675" anchor="ctr">
                    <a:solidFill>
                      <a:srgbClr val="2D6B5B"/>
                    </a:solidFill>
                  </a:tcPr>
                </a:tc>
              </a:tr>
              <a:tr h="619125">
                <a:tc>
                  <a:txBody>
                    <a:bodyPr>
                      <a:noAutofit/>
                    </a:bodyPr>
                    <a:lstStyle/>
                    <a:p>
                      <a:r>
                        <a:rPr sz="1875" b="1">
                          <a:solidFill>
                            <a:srgbClr val="17372F"/>
                          </a:solidFill>
                          <a:latin typeface="PingFang SC"/>
                          <a:ea typeface="PingFang SC"/>
                          <a:cs typeface="PingFang SC"/>
                        </a:rPr>
                        <a:t>#225  Fm−3m</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m−3m</a:t>
                      </a:r>
                    </a:p>
                  </a:txBody>
                  <a:tcPr marL="133350" marR="114300" marT="76200" marB="66675" anchor="ctr">
                    <a:solidFill>
                      <a:srgbClr val="F7FAF7"/>
                    </a:solidFill>
                  </a:tcPr>
                </a:tc>
              </a:tr>
              <a:tr h="619125">
                <a:tc>
                  <a:txBody>
                    <a:bodyPr>
                      <a:noAutofit/>
                    </a:bodyPr>
                    <a:lstStyle/>
                    <a:p>
                      <a:r>
                        <a:rPr sz="1875" b="1">
                          <a:solidFill>
                            <a:srgbClr val="17372F"/>
                          </a:solidFill>
                          <a:latin typeface="PingFang SC"/>
                          <a:ea typeface="PingFang SC"/>
                          <a:cs typeface="PingFang SC"/>
                        </a:rPr>
                        <a:t>#216  F−43m</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−43m</a:t>
                      </a:r>
                    </a:p>
                  </a:txBody>
                  <a:tcPr marL="133350" marR="114300" marT="76200" marB="66675" anchor="ctr">
                    <a:solidFill>
                      <a:srgbClr val="EDF3EE"/>
                    </a:solidFill>
                  </a:tcPr>
                </a:tc>
              </a:tr>
              <a:tr h="619125">
                <a:tc>
                  <a:txBody>
                    <a:bodyPr>
                      <a:noAutofit/>
                    </a:bodyPr>
                    <a:lstStyle/>
                    <a:p>
                      <a:r>
                        <a:rPr sz="1875" b="1">
                          <a:solidFill>
                            <a:srgbClr val="17372F"/>
                          </a:solidFill>
                          <a:latin typeface="PingFang SC"/>
                          <a:ea typeface="PingFang SC"/>
                          <a:cs typeface="PingFang SC"/>
                        </a:rPr>
                        <a:t>#62  Pnma</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−1（反演）</a:t>
                      </a:r>
                    </a:p>
                  </a:txBody>
                  <a:tcPr marL="133350" marR="114300" marT="76200" marB="66675" anchor="ctr">
                    <a:solidFill>
                      <a:srgbClr val="F7FAF7"/>
                    </a:solidFill>
                  </a:tcPr>
                </a:tc>
              </a:tr>
              <a:tr h="619125">
                <a:tc>
                  <a:txBody>
                    <a:bodyPr>
                      <a:noAutofit/>
                    </a:bodyPr>
                    <a:lstStyle/>
                    <a:p>
                      <a:r>
                        <a:rPr sz="1875" b="1">
                          <a:solidFill>
                            <a:srgbClr val="17372F"/>
                          </a:solidFill>
                          <a:latin typeface="PingFang SC"/>
                          <a:ea typeface="PingFang SC"/>
                          <a:cs typeface="PingFang SC"/>
                        </a:rPr>
                        <a:t>#19  P2₁2₁2₁</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(x,y,z)，三个坐标都可以选</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1（只有恒等操作）</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DCB95C7B-95AC-4DFC-84BB-3D8929B640EB}"/>
              </a:ext>
            </a:extLst>
          </p:cNvPr>
          <p:cNvSpPr>
            <a:spLocks xmlns:a="http://schemas.openxmlformats.org/drawingml/2006/main" noGrp="1"/>
          </p:cNvSpPr>
          <p:nvPr/>
        </p:nvSpPr>
        <p:spPr>
          <a:xfrm xmlns:a="http://schemas.openxmlformats.org/drawingml/2006/main">
            <a:off x="781050" y="55054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另一个例子：#216 的 4c 是固定点 (¼,¼,¼)；</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#62 的 4c 是 (x,¼,z)，还能选 x 和 z。</a:t>
            </a:r>
          </a:p>
        </p:txBody>
      </p:sp>
      <p:sp>
        <p:nvSpPr>
          <p:cNvPr id="6" name="text-4">
            <a:extLst xmlns:a="http://schemas.openxmlformats.org/drawingml/2006/main">
              <a:ext uri="{FF2B5EF4-FFF2-40B4-BE49-F238E27FC236}">
                <a16:creationId xmlns:a16="http://schemas.microsoft.com/office/drawing/2014/main" id="{8B625368-2853-408D-BC29-FD0C66CA937A}"/>
              </a:ext>
            </a:extLst>
          </p:cNvPr>
          <p:cNvSpPr>
            <a:spLocks xmlns:a="http://schemas.openxmlformats.org/drawingml/2006/main" noGrp="1"/>
          </p:cNvSpPr>
          <p:nvPr/>
        </p:nvSpPr>
        <p:spPr>
          <a:xfrm xmlns:a="http://schemas.openxmlformats.org/drawingml/2006/main">
            <a:off x="781050" y="62674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因此不能只用“4a”当作通用身份。可以共享对称特征，但还要保留空间群和具体位点。</a:t>
            </a:r>
          </a:p>
        </p:txBody>
      </p:sp>
    </p:spTree>
    <p:extLst>
      <p:ext uri="{BB962C8B-B14F-4D97-AF65-F5344CB8AC3E}">
        <p14:creationId xmlns:p14="http://schemas.microsoft.com/office/powerpoint/2010/main" val="20724882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46320F0-FE66-4087-98AD-4412267A2046}"/>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④ 边轨道 tokenizer，到底记录什么？</a:t>
            </a:r>
          </a:p>
        </p:txBody>
      </p:sp>
      <p:sp>
        <p:nvSpPr>
          <p:cNvPr id="2" name="text-1">
            <a:extLst xmlns:a="http://schemas.openxmlformats.org/drawingml/2006/main">
              <a:ext uri="{FF2B5EF4-FFF2-40B4-BE49-F238E27FC236}">
                <a16:creationId xmlns:a16="http://schemas.microsoft.com/office/drawing/2014/main" id="{386C3B18-88A3-4552-A0C9-D2F1B6DD38DA}"/>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把对称重复的原子和连接各存一份，再用规则展开。</a:t>
            </a:r>
          </a:p>
        </p:txBody>
      </p:sp>
      <p:sp>
        <p:nvSpPr>
          <p:cNvPr id="3" name="text-2">
            <a:extLst xmlns:a="http://schemas.openxmlformats.org/drawingml/2006/main">
              <a:ext uri="{FF2B5EF4-FFF2-40B4-BE49-F238E27FC236}">
                <a16:creationId xmlns:a16="http://schemas.microsoft.com/office/drawing/2014/main" id="{F1082478-6287-4F65-8956-DDF40160EF27}"/>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21</a:t>
            </a:r>
          </a:p>
        </p:txBody>
      </p:sp>
      <p:graphicFrame>
        <p:nvGraphicFramePr>
          <p:cNvPr id="10" name=""/>
          <p:cNvGraphicFramePr/>
          <p:nvPr/>
        </p:nvGraphicFramePr>
        <p:xfrm>
          <a:off xmlns:a="http://schemas.openxmlformats.org/drawingml/2006/main" x="762000" y="2333625"/>
          <a:ext xmlns:a="http://schemas.openxmlformats.org/drawingml/2006/main" cx="10668000" cy="3143250"/>
        </p:xfrm>
        <a:graphic xmlns:a="http://schemas.openxmlformats.org/drawingml/2006/main">
          <a:graphicData uri="http://schemas.openxmlformats.org/drawingml/2006/table">
            <a:tbl>
              <a:tblPr firstRow="0" bandRow="0"/>
              <a:tblGrid>
                <a:gridCol w="1952625"/>
                <a:gridCol w="4333875"/>
                <a:gridCol w="4381500"/>
              </a:tblGrid>
              <a:tr h="438150">
                <a:tc>
                  <a:txBody>
                    <a:bodyPr>
                      <a:noAutofit/>
                    </a:bodyPr>
                    <a:lstStyle/>
                    <a:p>
                      <a:r>
                        <a:rPr sz="1875" b="1">
                          <a:solidFill>
                            <a:srgbClr val="FFFFFF"/>
                          </a:solidFill>
                          <a:latin typeface="PingFang SC"/>
                          <a:ea typeface="PingFang SC"/>
                          <a:cs typeface="PingFang SC"/>
                        </a:rPr>
                        <a:t>组件</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记录什么</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为什么需要</a:t>
                      </a:r>
                    </a:p>
                  </a:txBody>
                  <a:tcPr marL="133350" marR="114300" marT="76200" marB="66675" anchor="ctr">
                    <a:solidFill>
                      <a:srgbClr val="2D6B5B"/>
                    </a:solidFill>
                  </a:tcPr>
                </a:tc>
              </a:tr>
              <a:tr h="638175">
                <a:tc>
                  <a:txBody>
                    <a:bodyPr>
                      <a:noAutofit/>
                    </a:bodyPr>
                    <a:lstStyle/>
                    <a:p>
                      <a:r>
                        <a:rPr sz="1875" b="1">
                          <a:solidFill>
                            <a:srgbClr val="17372F"/>
                          </a:solidFill>
                          <a:latin typeface="PingFang SC"/>
                          <a:ea typeface="PingFang SC"/>
                          <a:cs typeface="PingFang SC"/>
                        </a:rPr>
                        <a:t>全局规则</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空间群、坐标设置、对称操作表</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告诉模型怎样复制原子和连接</a:t>
                      </a:r>
                    </a:p>
                  </a:txBody>
                  <a:tcPr marL="133350" marR="114300" marT="76200" marB="66675" anchor="ctr">
                    <a:solidFill>
                      <a:srgbClr val="F7FAF7"/>
                    </a:solidFill>
                  </a:tcPr>
                </a:tc>
              </a:tr>
              <a:tr h="638175">
                <a:tc>
                  <a:txBody>
                    <a:bodyPr>
                      <a:noAutofit/>
                    </a:bodyPr>
                    <a:lstStyle/>
                    <a:p>
                      <a:r>
                        <a:rPr sz="1875" b="1">
                          <a:solidFill>
                            <a:srgbClr val="17372F"/>
                          </a:solidFill>
                          <a:latin typeface="PingFang SC"/>
                          <a:ea typeface="PingFang SC"/>
                          <a:cs typeface="PingFang SC"/>
                        </a:rPr>
                        <a:t>位点记录</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元素、Wyckoff 位点、位置约束</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同一组等价原子，只记一个代表</a:t>
                      </a:r>
                    </a:p>
                  </a:txBody>
                  <a:tcPr marL="133350" marR="114300" marT="76200" marB="66675" anchor="ctr">
                    <a:solidFill>
                      <a:srgbClr val="EDF3EE"/>
                    </a:solidFill>
                  </a:tcPr>
                </a:tc>
              </a:tr>
              <a:tr h="790575">
                <a:tc>
                  <a:txBody>
                    <a:bodyPr>
                      <a:noAutofit/>
                    </a:bodyPr>
                    <a:lstStyle/>
                    <a:p>
                      <a:r>
                        <a:rPr sz="1875" b="1">
                          <a:solidFill>
                            <a:srgbClr val="17372F"/>
                          </a:solidFill>
                          <a:latin typeface="PingFang SC"/>
                          <a:ea typeface="PingFang SC"/>
                          <a:cs typeface="PingFang SC"/>
                        </a:rPr>
                        <a:t>连接记录</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从哪个位点，连到哪个对称像</a:t>
                      </a:r>
                    </a:p>
                    <a:p>
                      <a:r>
                        <a:rPr sz="1875" b="0">
                          <a:solidFill>
                            <a:srgbClr val="17372F"/>
                          </a:solidFill>
                          <a:latin typeface="PingFang SC"/>
                          <a:ea typeface="PingFang SC"/>
                          <a:cs typeface="PingFang SC"/>
                        </a:rPr>
                        <a:t>以及哪个相邻晶胞</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指出具体连到谁；等价连接合并存</a:t>
                      </a:r>
                    </a:p>
                  </a:txBody>
                  <a:tcPr marL="133350" marR="114300" marT="76200" marB="66675" anchor="ctr">
                    <a:solidFill>
                      <a:srgbClr val="F7FAF7"/>
                    </a:solidFill>
                  </a:tcPr>
                </a:tc>
              </a:tr>
              <a:tr h="638175">
                <a:tc>
                  <a:txBody>
                    <a:bodyPr>
                      <a:noAutofit/>
                    </a:bodyPr>
                    <a:lstStyle/>
                    <a:p>
                      <a:r>
                        <a:rPr sz="1875" b="1">
                          <a:solidFill>
                            <a:srgbClr val="17372F"/>
                          </a:solidFill>
                          <a:latin typeface="PingFang SC"/>
                          <a:ea typeface="PingFang SC"/>
                          <a:cs typeface="PingFang SC"/>
                        </a:rPr>
                        <a:t>具体几何</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晶格大小 / 形状、可变坐标</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把抽象的位点和连接变成实际晶体</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9374EA8D-559B-4280-A034-1CA3C0AE9BE3}"/>
              </a:ext>
            </a:extLst>
          </p:cNvPr>
          <p:cNvSpPr>
            <a:spLocks xmlns:a="http://schemas.openxmlformats.org/drawingml/2006/main" noGrp="1"/>
          </p:cNvSpPr>
          <p:nvPr/>
        </p:nvSpPr>
        <p:spPr>
          <a:xfrm xmlns:a="http://schemas.openxmlformats.org/drawingml/2006/main">
            <a:off x="781050" y="57531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编码顺序：全局规则 + 位点记录 + 连接记录，另存具体几何。</a:t>
            </a:r>
          </a:p>
        </p:txBody>
      </p:sp>
      <p:sp>
        <p:nvSpPr>
          <p:cNvPr id="6" name="text-4">
            <a:extLst xmlns:a="http://schemas.openxmlformats.org/drawingml/2006/main">
              <a:ext uri="{FF2B5EF4-FFF2-40B4-BE49-F238E27FC236}">
                <a16:creationId xmlns:a16="http://schemas.microsoft.com/office/drawing/2014/main" id="{161F97FA-AF0F-4013-9CBC-C888F58BD505}"/>
              </a:ext>
            </a:extLst>
          </p:cNvPr>
          <p:cNvSpPr>
            <a:spLocks xmlns:a="http://schemas.openxmlformats.org/drawingml/2006/main" noGrp="1"/>
          </p:cNvSpPr>
          <p:nvPr/>
        </p:nvSpPr>
        <p:spPr>
          <a:xfrm xmlns:a="http://schemas.openxmlformats.org/drawingml/2006/main">
            <a:off x="781050" y="63055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当前记录的是 4.5 Å 内的近邻关系，不能把每条连接都叫作化学键。</a:t>
            </a:r>
          </a:p>
        </p:txBody>
      </p:sp>
    </p:spTree>
    <p:extLst>
      <p:ext uri="{BB962C8B-B14F-4D97-AF65-F5344CB8AC3E}">
        <p14:creationId xmlns:p14="http://schemas.microsoft.com/office/powerpoint/2010/main" val="106573413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6BD49C8-2647-4786-A422-C8DD5462A0E6}"/>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④ 一条真实记录，怎样读成一条连接？</a:t>
            </a:r>
          </a:p>
        </p:txBody>
      </p:sp>
      <p:sp>
        <p:nvSpPr>
          <p:cNvPr id="2" name="text-1">
            <a:extLst xmlns:a="http://schemas.openxmlformats.org/drawingml/2006/main">
              <a:ext uri="{FF2B5EF4-FFF2-40B4-BE49-F238E27FC236}">
                <a16:creationId xmlns:a16="http://schemas.microsoft.com/office/drawing/2014/main" id="{8B26865F-C9AF-4629-A818-82CEA07E4059}"/>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KrF₂ 的实际记录：[0, 1, 16, −1, −1, −1]</a:t>
            </a:r>
          </a:p>
        </p:txBody>
      </p:sp>
      <p:sp>
        <p:nvSpPr>
          <p:cNvPr id="3" name="text-2">
            <a:extLst xmlns:a="http://schemas.openxmlformats.org/drawingml/2006/main">
              <a:ext uri="{FF2B5EF4-FFF2-40B4-BE49-F238E27FC236}">
                <a16:creationId xmlns:a16="http://schemas.microsoft.com/office/drawing/2014/main" id="{EB6D0E92-37CC-4140-896A-94DCF9594B86}"/>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22</a:t>
            </a:r>
          </a:p>
        </p:txBody>
      </p:sp>
      <p:graphicFrame>
        <p:nvGraphicFramePr>
          <p:cNvPr id="11" name=""/>
          <p:cNvGraphicFramePr/>
          <p:nvPr/>
        </p:nvGraphicFramePr>
        <p:xfrm>
          <a:off xmlns:a="http://schemas.openxmlformats.org/drawingml/2006/main" x="762000" y="2295525"/>
          <a:ext xmlns:a="http://schemas.openxmlformats.org/drawingml/2006/main" cx="10668000" cy="1714500"/>
        </p:xfrm>
        <a:graphic xmlns:a="http://schemas.openxmlformats.org/drawingml/2006/main">
          <a:graphicData uri="http://schemas.openxmlformats.org/drawingml/2006/table">
            <a:tbl>
              <a:tblPr firstRow="0" bandRow="0"/>
              <a:tblGrid>
                <a:gridCol w="2524125"/>
                <a:gridCol w="8143875"/>
              </a:tblGrid>
              <a:tr h="571500">
                <a:tc>
                  <a:txBody>
                    <a:bodyPr>
                      <a:noAutofit/>
                    </a:bodyPr>
                    <a:lstStyle/>
                    <a:p>
                      <a:r>
                        <a:rPr sz="2025" b="1">
                          <a:solidFill>
                            <a:srgbClr val="FFFFFF"/>
                          </a:solidFill>
                          <a:latin typeface="PingFang SC"/>
                          <a:ea typeface="PingFang SC"/>
                          <a:cs typeface="PingFang SC"/>
                        </a:rPr>
                        <a:t>0、1</a:t>
                      </a:r>
                    </a:p>
                  </a:txBody>
                  <a:tcPr marL="133350" marR="114300" marT="76200" marB="66675" anchor="ctr">
                    <a:solidFill>
                      <a:srgbClr val="2D6B5B"/>
                    </a:solidFill>
                  </a:tcPr>
                </a:tc>
                <a:tc>
                  <a:txBody>
                    <a:bodyPr>
                      <a:noAutofit/>
                    </a:bodyPr>
                    <a:lstStyle/>
                    <a:p>
                      <a:r>
                        <a:rPr sz="2025" b="1">
                          <a:solidFill>
                            <a:srgbClr val="FFFFFF"/>
                          </a:solidFill>
                          <a:latin typeface="PingFang SC"/>
                          <a:ea typeface="PingFang SC"/>
                          <a:cs typeface="PingFang SC"/>
                        </a:rPr>
                        <a:t>从 Kr 的代表点，连到 F 的代表点的一个复制像</a:t>
                      </a:r>
                    </a:p>
                  </a:txBody>
                  <a:tcPr marL="133350" marR="114300" marT="76200" marB="66675" anchor="ctr">
                    <a:solidFill>
                      <a:srgbClr val="2D6B5B"/>
                    </a:solidFill>
                  </a:tcPr>
                </a:tc>
              </a:tr>
              <a:tr h="571500">
                <a:tc>
                  <a:txBody>
                    <a:bodyPr>
                      <a:noAutofit/>
                    </a:bodyPr>
                    <a:lstStyle/>
                    <a:p>
                      <a:r>
                        <a:rPr sz="2025" b="1">
                          <a:solidFill>
                            <a:srgbClr val="17372F"/>
                          </a:solidFill>
                          <a:latin typeface="PingFang SC"/>
                          <a:ea typeface="PingFang SC"/>
                          <a:cs typeface="PingFang SC"/>
                        </a:rPr>
                        <a:t>16</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查操作表：把 F 的坐标加上 (½,½,½)</a:t>
                      </a:r>
                    </a:p>
                  </a:txBody>
                  <a:tcPr marL="133350" marR="114300" marT="76200" marB="66675" anchor="ctr">
                    <a:solidFill>
                      <a:srgbClr val="F7FAF7"/>
                    </a:solidFill>
                  </a:tcPr>
                </a:tc>
              </a:tr>
              <a:tr h="571500">
                <a:tc>
                  <a:txBody>
                    <a:bodyPr>
                      <a:noAutofit/>
                    </a:bodyPr>
                    <a:lstStyle/>
                    <a:p>
                      <a:r>
                        <a:rPr sz="2025" b="1">
                          <a:solidFill>
                            <a:srgbClr val="17372F"/>
                          </a:solidFill>
                          <a:latin typeface="PingFang SC"/>
                          <a:ea typeface="PingFang SC"/>
                          <a:cs typeface="PingFang SC"/>
                        </a:rPr>
                        <a:t>−1、−1、−1</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再沿三个晶格方向，各退一个晶胞</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48B1BA56-569C-44A7-8A81-5A33A9A409C9}"/>
              </a:ext>
            </a:extLst>
          </p:cNvPr>
          <p:cNvSpPr>
            <a:spLocks xmlns:a="http://schemas.openxmlformats.org/drawingml/2006/main" noGrp="1"/>
          </p:cNvSpPr>
          <p:nvPr/>
        </p:nvSpPr>
        <p:spPr>
          <a:xfrm xmlns:a="http://schemas.openxmlformats.org/drawingml/2006/main">
            <a:off x="781050" y="4286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F 代表点 (½,½,0.790407)</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加上 (½,½,½)，再减去 (1,1,1)</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得到实际邻居 (0,0,0.290407)，距 Kr 约 1.93649 Å。</a:t>
            </a:r>
          </a:p>
        </p:txBody>
      </p:sp>
      <p:sp>
        <p:nvSpPr>
          <p:cNvPr id="6" name="text-4">
            <a:extLst xmlns:a="http://schemas.openxmlformats.org/drawingml/2006/main">
              <a:ext uri="{FF2B5EF4-FFF2-40B4-BE49-F238E27FC236}">
                <a16:creationId xmlns:a16="http://schemas.microsoft.com/office/drawing/2014/main" id="{31E1E73A-5F76-4658-A2CD-B1FF75F0AA37}"/>
              </a:ext>
            </a:extLst>
          </p:cNvPr>
          <p:cNvSpPr>
            <a:spLocks xmlns:a="http://schemas.openxmlformats.org/drawingml/2006/main" noGrp="1"/>
          </p:cNvSpPr>
          <p:nvPr/>
        </p:nvSpPr>
        <p:spPr>
          <a:xfrm xmlns:a="http://schemas.openxmlformats.org/drawingml/2006/main">
            <a:off x="781050" y="56102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这个晶体：2 条位点记录展开成 6 个原子，</a:t>
            </a:r>
          </a:p>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7 条连接记录展开成 44 条无向周期边。</a:t>
            </a:r>
          </a:p>
        </p:txBody>
      </p:sp>
      <p:sp>
        <p:nvSpPr>
          <p:cNvPr id="7" name="text-5">
            <a:extLst xmlns:a="http://schemas.openxmlformats.org/drawingml/2006/main">
              <a:ext uri="{FF2B5EF4-FFF2-40B4-BE49-F238E27FC236}">
                <a16:creationId xmlns:a16="http://schemas.microsoft.com/office/drawing/2014/main" id="{8782840E-E71A-4537-98E6-0B7F9D037A7A}"/>
              </a:ext>
            </a:extLst>
          </p:cNvPr>
          <p:cNvSpPr>
            <a:spLocks xmlns:a="http://schemas.openxmlformats.org/drawingml/2006/main" noGrp="1"/>
          </p:cNvSpPr>
          <p:nvPr/>
        </p:nvSpPr>
        <p:spPr>
          <a:xfrm xmlns:a="http://schemas.openxmlformats.org/drawingml/2006/main">
            <a:off x="781050" y="63531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已验证的是编码和解码。完整生成模型还没有完成；操作编号 16 只在本份操作表里有意义。</a:t>
            </a:r>
          </a:p>
        </p:txBody>
      </p:sp>
    </p:spTree>
    <p:extLst>
      <p:ext uri="{BB962C8B-B14F-4D97-AF65-F5344CB8AC3E}">
        <p14:creationId xmlns:p14="http://schemas.microsoft.com/office/powerpoint/2010/main" val="1259016477"/>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ityUHK_PPT_template_202501.potx" id="{7F2BEBF3-9CF0-CB46-AABF-BF87BD277522}" vid="{2EBB819F-E8BA-6E4B-8B83-50690D0D30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主题​​</Template>
  <TotalTime>8199</TotalTime>
  <Words>1926</Words>
  <Application>Microsoft Macintosh PowerPoint</Application>
  <PresentationFormat>Widescreen</PresentationFormat>
  <Paragraphs>251</Paragraphs>
  <Slides>22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PingFang SC</vt:lpstr>
      <vt:lpstr>Aptos</vt:lpstr>
      <vt:lpstr>Arial</vt:lpstr>
      <vt:lpstr>Cambria Math</vt:lpstr>
      <vt:lpstr>Office 主题​​</vt:lpstr>
      <vt:lpstr>Crystal DLM</vt:lpstr>
      <vt:lpstr>Outline</vt:lpstr>
      <vt:lpstr>Our work</vt:lpstr>
      <vt:lpstr>Matra-Genoa</vt:lpstr>
      <vt:lpstr>WyFormer</vt:lpstr>
      <vt:lpstr>MaskGXT</vt:lpstr>
      <vt:lpstr>DynaCrys</vt:lpstr>
      <vt:lpstr>Related Work</vt:lpstr>
      <vt:lpstr>What we can do？</vt:lpstr>
      <vt:lpstr>PowerPoint Presentation</vt:lpstr>
      <vt:lpstr>PowerPoint Presentation</vt:lpstr>
      <vt:lpstr>PowerPoint Presentation</vt:lpstr>
      <vt:lpstr>PowerPoint Presentation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铖 桂</dc:creator>
  <cp:lastModifiedBy>Mr. GUI Cheng</cp:lastModifiedBy>
  <cp:revision>12</cp:revision>
  <dcterms:created xsi:type="dcterms:W3CDTF">2026-09-01T11:44:28Z</dcterms:created>
  <dcterms:modified xsi:type="dcterms:W3CDTF">2026-09-12T04:58:46Z</dcterms:modified>
</cp:coreProperties>
</file>