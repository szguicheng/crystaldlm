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ee5a47cf04009" /><Relationship Type="http://schemas.openxmlformats.org/officeDocument/2006/relationships/extended-properties" Target="/docProps/app.xml" Id="R9780213981d847d3" /><Relationship Type="http://schemas.openxmlformats.org/officeDocument/2006/relationships/officeDocument" Target="/ppt/presentation.xml" Id="Rfcf556d6f604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e590d5a524926"/>
  </p:sldMasterIdLst>
  <p:notesMasterIdLst>
    <p:notesMasterId xmlns:r="http://schemas.openxmlformats.org/officeDocument/2006/relationships" r:id="R603f5a6f6c364bbe"/>
  </p:notesMasterIdLst>
  <p:sldIdLst>
    <p:sldId xmlns:r="http://schemas.openxmlformats.org/officeDocument/2006/relationships" id="256" r:id="Rbebf7ed5c5174c3c"/>
    <p:sldId xmlns:r="http://schemas.openxmlformats.org/officeDocument/2006/relationships" id="257" r:id="R3f01e6166d7a453c"/>
    <p:sldId xmlns:r="http://schemas.openxmlformats.org/officeDocument/2006/relationships" id="258" r:id="R78cf6ebb2d134133"/>
    <p:sldId xmlns:r="http://schemas.openxmlformats.org/officeDocument/2006/relationships" id="259" r:id="Re5bd7c191b9b48b1"/>
    <p:sldId xmlns:r="http://schemas.openxmlformats.org/officeDocument/2006/relationships" id="260" r:id="Ra5cc9cc4d9634ad6"/>
    <p:sldId xmlns:r="http://schemas.openxmlformats.org/officeDocument/2006/relationships" id="261" r:id="Rb966794735754d8d"/>
    <p:sldId xmlns:r="http://schemas.openxmlformats.org/officeDocument/2006/relationships" id="262" r:id="R766be6169f084ad6"/>
    <p:sldId xmlns:r="http://schemas.openxmlformats.org/officeDocument/2006/relationships" id="263" r:id="R2f97fbac09874c14"/>
    <p:sldId xmlns:r="http://schemas.openxmlformats.org/officeDocument/2006/relationships" id="264" r:id="Re416d598dd7e47be"/>
    <p:sldId xmlns:r="http://schemas.openxmlformats.org/officeDocument/2006/relationships" id="265" r:id="R7c034e8c1b8f4fc2"/>
    <p:sldId xmlns:r="http://schemas.openxmlformats.org/officeDocument/2006/relationships" id="266" r:id="Ra47dd567ac6e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0615e77d64db4" /><Relationship Type="http://schemas.openxmlformats.org/officeDocument/2006/relationships/slideMaster" Target="/ppt/slideMasters/slideMaster1.xml" Id="Rd8be590d5a524926" /><Relationship Type="http://schemas.openxmlformats.org/officeDocument/2006/relationships/notesMaster" Target="/ppt/notesMasters/notesMaster1.xml" Id="R603f5a6f6c364bbe" /><Relationship Type="http://schemas.openxmlformats.org/officeDocument/2006/relationships/presProps" Target="/ppt/presProps.xml" Id="R7c463194e0bc4901" /><Relationship Type="http://schemas.openxmlformats.org/officeDocument/2006/relationships/viewProps" Target="/ppt/viewProps.xml" Id="R21134ca4e0bc42af" /><Relationship Type="http://schemas.openxmlformats.org/officeDocument/2006/relationships/tableStyles" Target="/ppt/tableStyles.xml" Id="Rc2f801a40f0044cc" /><Relationship Type="http://schemas.openxmlformats.org/officeDocument/2006/relationships/slide" Target="/ppt/slides/slide1.xml" Id="Rbebf7ed5c5174c3c" /><Relationship Type="http://schemas.openxmlformats.org/officeDocument/2006/relationships/slide" Target="/ppt/slides/slide2.xml" Id="R3f01e6166d7a453c" /><Relationship Type="http://schemas.openxmlformats.org/officeDocument/2006/relationships/slide" Target="/ppt/slides/slide3.xml" Id="R78cf6ebb2d134133" /><Relationship Type="http://schemas.openxmlformats.org/officeDocument/2006/relationships/slide" Target="/ppt/slides/slide4.xml" Id="Re5bd7c191b9b48b1" /><Relationship Type="http://schemas.openxmlformats.org/officeDocument/2006/relationships/slide" Target="/ppt/slides/slide5.xml" Id="Ra5cc9cc4d9634ad6" /><Relationship Type="http://schemas.openxmlformats.org/officeDocument/2006/relationships/slide" Target="/ppt/slides/slide6.xml" Id="Rb966794735754d8d" /><Relationship Type="http://schemas.openxmlformats.org/officeDocument/2006/relationships/slide" Target="/ppt/slides/slide7.xml" Id="R766be6169f084ad6" /><Relationship Type="http://schemas.openxmlformats.org/officeDocument/2006/relationships/slide" Target="/ppt/slides/slide8.xml" Id="R2f97fbac09874c14" /><Relationship Type="http://schemas.openxmlformats.org/officeDocument/2006/relationships/slide" Target="/ppt/slides/slide9.xml" Id="Re416d598dd7e47be" /><Relationship Type="http://schemas.openxmlformats.org/officeDocument/2006/relationships/slide" Target="/ppt/slides/slide10.xml" Id="R7c034e8c1b8f4fc2" /><Relationship Type="http://schemas.openxmlformats.org/officeDocument/2006/relationships/slide" Target="/ppt/slides/slide11.xml" Id="Ra47dd567ac6e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824ff9452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84d8bcc3f4f13" /><Relationship Type="http://schemas.openxmlformats.org/officeDocument/2006/relationships/notesMaster" Target="/ppt/notesMasters/notesMaster1.xml" Id="R110cf4ae5c9d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ca494492f74838" /><Relationship Type="http://schemas.openxmlformats.org/officeDocument/2006/relationships/notesMaster" Target="/ppt/notesMasters/notesMaster1.xml" Id="Rc0d2c9c4a5ec4a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dee69fd364ee2" /><Relationship Type="http://schemas.openxmlformats.org/officeDocument/2006/relationships/notesMaster" Target="/ppt/notesMasters/notesMaster1.xml" Id="R65d15427ad02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1dc63e5f4241a5" /><Relationship Type="http://schemas.openxmlformats.org/officeDocument/2006/relationships/notesMaster" Target="/ppt/notesMasters/notesMaster1.xml" Id="R72527550c9c045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e155e240b4072" /><Relationship Type="http://schemas.openxmlformats.org/officeDocument/2006/relationships/notesMaster" Target="/ppt/notesMasters/notesMaster1.xml" Id="R6118eedb980a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22fd258a6497d" /><Relationship Type="http://schemas.openxmlformats.org/officeDocument/2006/relationships/notesMaster" Target="/ppt/notesMasters/notesMaster1.xml" Id="R89a22868115743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c4b5acab3e4bd9" /><Relationship Type="http://schemas.openxmlformats.org/officeDocument/2006/relationships/notesMaster" Target="/ppt/notesMasters/notesMaster1.xml" Id="R5b50cbf2386c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834bed50984aba" /><Relationship Type="http://schemas.openxmlformats.org/officeDocument/2006/relationships/notesMaster" Target="/ppt/notesMasters/notesMaster1.xml" Id="Rd92a4c51505c4a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18484c72894f15" /><Relationship Type="http://schemas.openxmlformats.org/officeDocument/2006/relationships/notesMaster" Target="/ppt/notesMasters/notesMaster1.xml" Id="R58f17231064d42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a7c3ff85b04ce0" /><Relationship Type="http://schemas.openxmlformats.org/officeDocument/2006/relationships/notesMaster" Target="/ppt/notesMasters/notesMaster1.xml" Id="R5bdeafea6b374d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fa98e98231497b" /><Relationship Type="http://schemas.openxmlformats.org/officeDocument/2006/relationships/notesMaster" Target="/ppt/notesMasters/notesMaster1.xml" Id="Rfab55793a16d43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title page: https://arxiv.org/abs/2608.07401</a:t>
            </a:r>
          </a:p>
          <a:p xmlns:a="http://schemas.openxmlformats.org/drawingml/2006/main">
            <a:r>
              <a:t>- MaskGXT title page: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Introduction and symmetry representation: https://arxiv.org/abs/2608.07401 (paper pages 1-4)</a:t>
            </a:r>
          </a:p>
          <a:p xmlns:a="http://schemas.openxmlformats.org/drawingml/2006/main">
            <a:r>
              <a:t>- SymmCD Introduction and representation: https://arxiv.org/abs/2502.03638 (paper pages 1, 4-6)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Figure 4 and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Figure 1 and Method: https://arxiv.org/abs/2608.07401 (paper pages 2, 4-6)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MaskGXT Figure 3 and Sampling: https://arxiv.org/abs/2606.22866 (paper pages 6,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Table 1: https://arxiv.org/abs/2608.07401 (paper page 8)</a:t>
            </a:r>
          </a:p>
          <a:p xmlns:a="http://schemas.openxmlformats.org/drawingml/2006/main">
            <a:r>
              <a:t>- MaskGXT Tables 2 and 4: https://arxiv.org/abs/2606.22866 (paper pages 11-12)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CrystalFormer: https://arxiv.org/abs/2403.15734</a:t>
            </a:r>
          </a:p>
          <a:p xmlns:a="http://schemas.openxmlformats.org/drawingml/2006/main">
            <a:r>
              <a:t>- Matra-Genoa: https://arxiv.org/abs/2501.16051</a:t>
            </a:r>
          </a:p>
          <a:p xmlns:a="http://schemas.openxmlformats.org/drawingml/2006/main">
            <a:r>
              <a:t>- WyckoffDiff: https://arxiv.org/abs/2502.06485</a:t>
            </a:r>
          </a:p>
          <a:p xmlns:a="http://schemas.openxmlformats.org/drawingml/2006/main">
            <a:r>
              <a:t>- SymmCD: https://arxiv.org/abs/2502.03638</a:t>
            </a:r>
          </a:p>
          <a:p xmlns:a="http://schemas.openxmlformats.org/drawingml/2006/main">
            <a:r>
              <a:t>- DynaCrys: https://arxiv.org/abs/2608.07401</a:t>
            </a:r>
          </a:p>
          <a:p xmlns:a="http://schemas.openxmlformats.org/drawingml/2006/main">
            <a:r>
              <a:t>- MaskGXT: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- DynaCrys Method: https://arxiv.org/abs/2608.07401 (paper pages 4-6)</a:t>
            </a:r>
          </a:p>
          <a:p xmlns:a="http://schemas.openxmlformats.org/drawingml/2006/main">
            <a:r>
              <a:t>- MaskGXT Method: https://arxiv.org/abs/2606.22866 (paper pages 5-9)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Evaluation: https://arxiv.org/abs/2608.07401 (paper pages 7-10)</a:t>
            </a:r>
          </a:p>
          <a:p xmlns:a="http://schemas.openxmlformats.org/drawingml/2006/main">
            <a:r>
              <a:t>- MaskGXT Experiments: https://arxiv.org/abs/2606.22866 (paper pages 9-12)</a:t>
            </a:r>
          </a:p>
          <a:p xmlns:a="http://schemas.openxmlformats.org/drawingml/2006/main">
            <a:r>
              <a:t>- WyFormer Experiments: https://arxiv.org/abs/2503.02407 (paper pages 6-9)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Conclusion: https://arxiv.org/abs/2608.07401 (paper page 10)</a:t>
            </a:r>
          </a:p>
          <a:p xmlns:a="http://schemas.openxmlformats.org/drawingml/2006/main">
            <a:r>
              <a:t>- MaskGXT Conclusion and Limitations: https://arxiv.org/abs/2606.22866 (paper pages 11-12)</a:t>
            </a:r>
          </a:p>
          <a:p xmlns:a="http://schemas.openxmlformats.org/drawingml/2006/main">
            <a:r>
              <a:t>- Bounded related-work scan recorded in work/source-notes.txt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晶体条件生成模型对比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文献核对日期：2026-09-07；方案更新：2026-09-09。范围为本地找到的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模型对比表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| 模型 | 表示 / tokenizer 的基本单元 | 生成范式与解码方式 | 条件生成：原文做了什么 | 模型直接输出 | 与我们拟议方案的主要关系 |</a:t>
            </a:r>
          </a:p>
          <a:p xmlns:a="http://schemas.openxmlformats.org/drawingml/2006/main">
            <a:r>
              <a:t>|---|---|---|---|---|---|</a:t>
            </a:r>
          </a:p>
          <a:p xmlns:a="http://schemas.openxmlformats.org/drawingml/2006/main"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 xmlns:a="http://schemas.openxmlformats.org/drawingml/2006/main"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空间群边轨道 tokenizer 与非 AR 去噪的作用 |</a:t>
            </a:r>
          </a:p>
          <a:p xmlns:a="http://schemas.openxmlformats.org/drawingml/2006/main"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创新，待比较离散连接原型与非AR生成 |</a:t>
            </a:r>
          </a:p>
          <a:p xmlns:a="http://schemas.openxmlformats.org/drawingml/2006/main"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 xmlns:a="http://schemas.openxmlformats.org/drawingml/2006/main"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扩散；我们的潜在区别在边轨道连接表示及选定后的条件任务 |</a:t>
            </a:r>
          </a:p>
          <a:p xmlns:a="http://schemas.openxmlformats.org/drawingml/2006/main"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 xmlns:a="http://schemas.openxmlformats.org/drawingml/2006/main"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 xmlns:a="http://schemas.openxmlformats.org/drawingml/2006/main"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 xmlns:a="http://schemas.openxmlformats.org/drawingml/2006/main">
            <a:r>
              <a:t>| **我们的模型：CrystalDLM（边轨道候选）** | **位点约束＋空间群边轨道**；整数prototype保留周期连接，自由坐标与晶格分离 | **拟采用非AR扩散 / DLM**；已验证并行单级几何去噪，完整采样尚未实现 | **最终应用条件仍待定**；已测prototype＋指定晶格条件的几何去噪 | 已实现prototype编码与去噪位移；完整生成器待实现 | 新差别限定为边轨道合并与离散/连续接口；ASU、仿射边和扩散均已有先例。相对ASU省显存但稍慢，未声称生成质量领先 |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表格结论与用词边界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 xmlns:a="http://schemas.openxmlformats.org/drawingml/2006/main"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 xmlns:a="http://schemas.openxmlformats.org/drawingml/2006/main">
            <a:r>
              <a:t>3. **“Tokenizer 不同”需要落到编码单元上。** 已有工作分别采用复合 orbit 单元、占据矩阵、混合连续/离散字段、固定量化 bins 和对称 codebook。当前候选把位点约束与边轨道连接组成离散prototype，并把自由几何分离；已验证编码与模型组件用途，不能外推成完整生成优势。[1–8；本地 PPT 第 8 页]</a:t>
            </a:r>
          </a:p>
          <a:p xmlns:a="http://schemas.openxmlformats.org/drawingml/2006/main"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可用于汇报的当前定位：**我们拟研究空间群边轨道tokenizer与非自回归条件生成。离散prototype和单级几何去噪已实现；完整扩散生成仍拟议，最终应用条件类型尚未确定。**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补充的直接先例包括SLICES、coGN/Ruff与SGEquiDiff。已有ASU节点及仿射边不能作为首次贡献；当前差别和实验证据见 [边轨道方案](edge_orbit_tokenizer_proposal.md)。独立复核的去噪误差下降不是相对ASU的精度提升；同参数两路径保持一致，边压缩提供显存—耗时权衡。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原文证据与阅读版本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以下页码均为对应版本 PDF 页码。链接固定到本次所读版本，避免后续改版造成页码漂移。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 xmlns:a="http://schemas.openxmlformats.org/drawingml/2006/main"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 xmlns:a="http://schemas.openxmlformats.org/drawingml/2006/main"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 xmlns:a="http://schemas.openxmlformats.org/drawingml/2006/main"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 xmlns:a="http://schemas.openxmlformats.org/drawingml/2006/main"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 xmlns:a="http://schemas.openxmlformats.org/drawingml/2006/main"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 xmlns:a="http://schemas.openxmlformats.org/drawingml/2006/main"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  <a:endParaRPr/>
          </a:p>
          <a:p xmlns:a="http://schemas.openxmlformats.org/drawingml/2006/main"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核对范围与限制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 xmlns:a="http://schemas.openxmlformats.org/drawingml/2006/main"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 xmlns:a="http://schemas.openxmlformats.org/drawingml/2006/main"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  <a:endParaRPr/>
          </a:p>
          <a:p xmlns:a="http://schemas.openxmlformats.org/drawingml/2006/main">
            <a:r>
              <a:t>- 本文由 AI 辅助阅读全文与汇总；不代表用户已人工读完全部论文。逐篇详细核对笔记保存在 `notes/`。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 建议方案：空间群边轨道 tokenizer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更新：2026-09-09。建议把这条路线作为下一阶段模型开发的候选主线：**离散prototype保留位点约束和周期连接；自由坐标与晶格单独表示。** 已完成可逆编码、模型计算对照和独立数据上的条件去噪复核。完整多步扩散生成器仍未实现。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方法是什么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以空间群作用下的等价类作为编码单元，使用已有晶体学概念，不引入新的物理对象。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| 层次 | 记录内容 | 晶体学含义 |</a:t>
            </a:r>
            <a:endParaRPr/>
          </a:p>
          <a:p xmlns:a="http://schemas.openxmlformats.org/drawingml/2006/main">
            <a:r>
              <a:t>|---|---|---|</a:t>
            </a:r>
            <a:endParaRPr/>
          </a:p>
          <a:p xmlns:a="http://schemas.openxmlformats.org/drawingml/2006/main">
            <a:r>
              <a:t>| 全局 | 空间群与当前设置的Seitz操作表 | 旋转和分数平移；可共享字典 |</a:t>
            </a:r>
            <a:endParaRPr/>
          </a:p>
          <a:p xmlns:a="http://schemas.openxmlformats.org/drawingml/2006/main">
            <a:r>
              <a:t>| 位点轨道 | 元素、Wyckoff标签、仿射位点稳定子 | 哪些操作固定该代表位点，定义允许的位置族 |</a:t>
            </a:r>
            <a:endParaRPr/>
          </a:p>
          <a:p xmlns:a="http://schemas.openxmlformats.org/drawingml/2006/main">
            <a:r>
              <a:t>| 边轨道 | 源位点、目标位点、操作编号、整数晶格平移 | 一条记录代表一组对称等价的周期邻接关系 |</a:t>
            </a:r>
            <a:endParaRPr/>
          </a:p>
          <a:p xmlns:a="http://schemas.openxmlformats.org/drawingml/2006/main">
            <a:r>
              <a:t>| 几何载荷 | 晶格、各位点的自由参数 | 由后续几何模型处理，不放进离散prototype |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一条边记录 `(i,j,g,n)` 表示代表位点 `q_i` 连接到 `R_g q_j+t_g+n`。应用空间群后可恢复该边轨道的全部邻接。当前实验使用4.5Å近邻图，不能把这些边全部称为化学键。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对位点稳定子中的操作，减去相应整数平移后得到精确固定位点的仿射操作。平均旋转为P、平均平移为b，则允许的坐标写成 **q=b+P u**。P、b由离散记录确定，u是连续自由参数；有效自由度为rank(P)。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例如训练数据中的 `mp-30009`（KrF₂，空间群139）包含固定的Kr位点和具有一个自由参数的F位点。当前代表选择下，Kr的位置族为 `(0,0,0)`，F的位置族为 `(1/2,1/2,z)`；prototype保留这些位置约束及边轨道，具体z和晶格放在独立几何载荷中。这是从实际编码结果提取的例子，不是新造的晶体学规则。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相对已有工作，区别在哪里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| 直接先例 | 已有内容 | 本方案的限定差别 |</a:t>
            </a:r>
            <a:endParaRPr/>
          </a:p>
          <a:p xmlns:a="http://schemas.openxmlformats.org/drawingml/2006/main">
            <a:r>
              <a:t>|---|---|---|</a:t>
            </a:r>
            <a:endParaRPr/>
          </a:p>
          <a:p xmlns:a="http://schemas.openxmlformats.org/drawingml/2006/main">
            <a:r>
              <a:t>| WyFormer | 每个orbit的元素、定向site-symmetry符号、enumeration | 进一步表达显式周期连接，并分离离散prototype与自由几何 |</a:t>
            </a:r>
            <a:endParaRPr/>
          </a:p>
          <a:p xmlns:a="http://schemas.openxmlformats.org/drawingml/2006/main">
            <a:r>
              <a:t>| SLICES / SLICES-PLUS | 平移标记的周期图；PLUS另编码对称操作 | 用完整空间群的边轨道组织连接单元，结合位点约束作可逆prototype |</a:t>
            </a:r>
            <a:endParaRPr/>
          </a:p>
          <a:p xmlns:a="http://schemas.openxmlformats.org/drawingml/2006/main">
            <a:r>
              <a:t>| coGN / Ruff等 | ASU节点、仿射像边、multiplicity-aware readout；官方构图逐条保留邻居边 | 进一步合并完整边轨道，并以重数和方向和进行网络计算 |</a:t>
            </a:r>
            <a:endParaRPr/>
          </a:p>
          <a:p xmlns:a="http://schemas.openxmlformats.org/drawingml/2006/main">
            <a:r>
              <a:t>| SGEquiDiff / SymmCD | 已有ASU/Wyckoff代表、对称约束和非AR扩散 | 差别不能放在“首次ASU/扩散”，而应放在离散边轨道单元与条件接口 |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创新定位应是**对已有晶体学表示的一种具体重参数化和模型接口设计**。ASU、位点稳定子、仿射边、加权聚合都不是新概念；梯度等价检查是正确性验证，也不是独立创新。已查到的直接先例没有给出这里这套边轨道合并＋整数prototype/自由几何分离的相同实现，但这不等于全球首创或足以保证论文录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主要原始来源：[WyFormer](https://arxiv.org/abs/2503.02407v4)、[SLICES](https://www.nature.com/articles/s41467-023-42870-7)、[SLICES-PLUS](https://arxiv.org/abs/2410.22828)、[coGN论文](https://doi.org/10.1039/D4DD00018H)、[coGN官方构图代码](https://github.com/aimat-lab/gcnn_keras/blob/v3.0.1/kgcnn/crystal/graph_builder.py)、[SGEquiDiff](https://arxiv.org/abs/2505.10994)。逐篇实际阅读范围与尚未取得的正文/代码明确记录在 `research/notes/`，没有把摘要或“未找到”当作全面排除先例。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已获得的证据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**表示本身：** 512个真实结构全部完成编码往返；每个prototype替换三套独立随机自由参数后，抽象周期图仍一致。418个prototype具有实际变化的自由坐标。prototype仅包含整数、字符串与容器，未夹带晶格数值或自由坐标。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**模型计算：** 在相同权重下，原胞图、ASU逐邻居图与边轨道图的输出、向量预测和梯度通过对应精度检查。相对更强的ASU逐邻居基线：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| 批次 | 峰值分配内存减少 | 前向＋反向时间变化 |</a:t>
            </a:r>
            <a:endParaRPr/>
          </a:p>
          <a:p xmlns:a="http://schemas.openxmlformats.org/drawingml/2006/main">
            <a:r>
              <a:t>|---|---:|---:|</a:t>
            </a:r>
            <a:endParaRPr/>
          </a:p>
          <a:p xmlns:a="http://schemas.openxmlformats.org/drawingml/2006/main">
            <a:r>
              <a:t>| 32图 | 28.6% | 慢7.1% |</a:t>
            </a:r>
            <a:endParaRPr/>
          </a:p>
          <a:p xmlns:a="http://schemas.openxmlformats.org/drawingml/2006/main">
            <a:r>
              <a:t>| 512图 | 44.6% | 慢11.7% |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因此已证实的是显存—耗时权衡，不能宣称相对ASU图更快。该结果限于所测径向消息与向量输出网络、固定拓扑，不包括在线构图。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**条件几何学习：** 给定离散prototype和指定晶格，训练非AR单级去噪网络，噪声sigma=0.1Å，所有位点同时更新。用22024个结构训练，固定20000步最终模型：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| 评价集合 | 可评价结构 | identity归一化MSE | 模型归一化MSE | MSE下降 |</a:t>
            </a:r>
            <a:endParaRPr/>
          </a:p>
          <a:p xmlns:a="http://schemas.openxmlformats.org/drawingml/2006/main">
            <a:r>
              <a:t>|---|---:|---:|---:|---:|</a:t>
            </a:r>
            <a:endParaRPr/>
          </a:p>
          <a:p xmlns:a="http://schemas.openxmlformats.org/drawingml/2006/main">
            <a:r>
              <a:t>| 固定开发集 | 1644 | 0.0098844 | 0.0027318 | 72.36% |</a:t>
            </a:r>
            <a:endParaRPr/>
          </a:p>
          <a:p xmlns:a="http://schemas.openxmlformats.org/drawingml/2006/main">
            <a:r>
              <a:t>| 独立保留集 | 5343 | 0.0097624 | 0.0028157 | 71.16% |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独立复核不再训练或选择checkpoint，5343个结构中5248个平均误差改善；差值的结构配对95%区间为 `[-0.007048,-0.006842]`。同权重ASU/边轨道预测最大差异约1.72e-6。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**71.16%不是新增tokenizer相对ASU的精度提升。** 两条路径预测本应一致；这个结果说明离散prototype作为条件可以被模型学习。新增边压缩的隔离收益是前面的显存减少。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与目标conditional diffusion怎么连接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采用两阶段设计：首先以选定条件c生成离散prototype，再以prototype为条件生成允许的自由坐标与晶格。离散边轨道可以成为并行mask/恢复单元；几何模型在对应位点位置族内更新。最终c可以是组成、性质或部分结构，用户尚未确定，本次没有替最终任务定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现在实际实现的是tokenizer、可逆接口和“prototype＋给定晶格”的单级并行几何去噪。**尚未训练离散边token生成器，尚未实现多噪声级反向采样，也未验证新生成材料的稳定性。** 因此不能把这些结果写成一个已完成的端到端扩散模型。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晶格必须满足给定空间群的度量约束；位点/边轨道的固定分组也要求对应对称性维持。若采样中改变空间群、允许轨道分裂，或动态改变连接，须另行定义token状态转换，不能直接沿用当前固定分组。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## 研究决策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相比继续只改WP计数的组合方式，这条路线已经有明确的连接语义、离散/连续分工和模型组件用途，值得作为后续开发对象。下一步应优先验证实际的离散边token学习与多步条件采样，而不是继续用编解码成功或单级去噪误差代替生成质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实现与详细证据入口：`experiments/wyckoff_tokenizer_search/discrete_graph_prototype.py`、`prototype_conditions.py`；`DISCRETE_PROTOTYPE_RESULTS.md`、`ASU_CONTROL_RESULTS.md`、`FULL_PROTOTYPE_DENOISING_RESULTS.md`及独立复核结果文件。失败的小样本试验亦单独保留。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a2d30e417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768ac59c54781" /><Relationship Type="http://schemas.openxmlformats.org/officeDocument/2006/relationships/slideLayout" Target="/ppt/slideLayouts/slideLayout1.xml" Id="Rc1780945c37d4d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80945c37d4d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eeeb443c44f64" /><Relationship Type="http://schemas.openxmlformats.org/officeDocument/2006/relationships/notesSlide" Target="/ppt/notesSlides/notesSlide1.xml" Id="R40ea93a60b6b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11be7e60d42ea" /><Relationship Type="http://schemas.openxmlformats.org/officeDocument/2006/relationships/notesSlide" Target="/ppt/notesSlides/notesSlide2.xml" Id="R076f444d16fc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0d70b367b4db4" /><Relationship Type="http://schemas.openxmlformats.org/officeDocument/2006/relationships/image" Target="/ppt/media/image.png" Id="R8a4f658ef0894894" /><Relationship Type="http://schemas.openxmlformats.org/officeDocument/2006/relationships/notesSlide" Target="/ppt/notesSlides/notesSlide3.xml" Id="Rb23730d364b2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82357522e41e2" /><Relationship Type="http://schemas.openxmlformats.org/officeDocument/2006/relationships/image" Target="/ppt/media/image2.png" Id="R0fe81ea98272412b" /><Relationship Type="http://schemas.openxmlformats.org/officeDocument/2006/relationships/notesSlide" Target="/ppt/notesSlides/notesSlide4.xml" Id="Ra15194b42b6b4b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a721bf764d9e" /><Relationship Type="http://schemas.openxmlformats.org/officeDocument/2006/relationships/image" Target="/ppt/media/image3.png" Id="Raf4f736c991c4dc3" /><Relationship Type="http://schemas.openxmlformats.org/officeDocument/2006/relationships/notesSlide" Target="/ppt/notesSlides/notesSlide5.xml" Id="Rc3f119effc83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47ad5b1c84bec" /><Relationship Type="http://schemas.openxmlformats.org/officeDocument/2006/relationships/notesSlide" Target="/ppt/notesSlides/notesSlide6.xml" Id="R6785c1fa85e545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31a20e5c5468b" /><Relationship Type="http://schemas.openxmlformats.org/officeDocument/2006/relationships/notesSlide" Target="/ppt/notesSlides/notesSlide7.xml" Id="R469dd158e90c4e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04ac2a5614b77" /><Relationship Type="http://schemas.openxmlformats.org/officeDocument/2006/relationships/notesSlide" Target="/ppt/notesSlides/notesSlide8.xml" Id="R950118fef0024b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72eff9cee4a71" /><Relationship Type="http://schemas.openxmlformats.org/officeDocument/2006/relationships/notesSlide" Target="/ppt/notesSlides/notesSlide9.xml" Id="R80d5cfa2316d43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ec6e1f4f4ba5" /><Relationship Type="http://schemas.openxmlformats.org/officeDocument/2006/relationships/notesSlide" Target="/ppt/notesSlides/notesSlide10.xml" Id="R243a76b1479149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e605713d4342" /><Relationship Type="http://schemas.openxmlformats.org/officeDocument/2006/relationships/notesSlide" Target="/ppt/notesSlides/notesSlide11.xml" Id="Rdb7b04cad2404a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 本身不新，结构化 tokenization + legal set diffusion 才是主线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f658ef0894894"/>
          <a:stretch xmlns:a="http://schemas.openxmlformats.org/drawingml/2006/main"/>
        </p:blipFill>
        <p:spPr>
          <a:xfrm xmlns:a="http://schemas.openxmlformats.org/drawingml/2006/main">
            <a:off x="685800" y="2061882"/>
            <a:ext cx="10820400" cy="1591235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1ea98272412b"/>
          <a:stretch xmlns:a="http://schemas.openxmlformats.org/drawingml/2006/main"/>
        </p:blipFill>
        <p:spPr>
          <a:xfrm xmlns:a="http://schemas.openxmlformats.org/drawingml/2006/main">
            <a:off x="685800" y="1773945"/>
            <a:ext cx="10820400" cy="2167111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f736c991c4dc3"/>
          <a:stretch xmlns:a="http://schemas.openxmlformats.org/drawingml/2006/main"/>
        </p:blipFill>
        <p:spPr>
          <a:xfrm xmlns:a="http://schemas.openxmlformats.org/drawingml/2006/main">
            <a:off x="685800" y="1494926"/>
            <a:ext cx="5981700" cy="3791948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9817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98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763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 同时表示 </a:t>
            </a:r>
            <a:r>
              <a:rPr sz="1275">
                <a:solidFill>
                  <a:srgbClr val="263732"/>
                </a:solidFill>
              </a:rPr>
              <a:t>space group</a:t>
            </a:r>
            <a:r>
              <a:rPr sz="1275" b="0">
                <a:solidFill>
                  <a:srgbClr val="263732"/>
                </a:solidFill>
              </a:rPr>
              <a:t>、晶格、坐标、Wyckoff position、元素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 xmlns:a="http://schemas.openxmlformats.org/drawingml/2006/main"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 xmlns:a="http://schemas.openxmlformats.org/drawingml/2006/main"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 xmlns:a="http://schemas.openxmlformats.org/drawingml/2006/main"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 xmlns:a="http://schemas.openxmlformats.org/drawingml/2006/main"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set-level merge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 xmlns:a="http://schemas.openxmlformats.org/drawingml/2006/main"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 xmlns:a="http://schemas.openxmlformats.org/drawingml/2006/main"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 xmlns:a="http://schemas.openxmlformats.org/drawingml/2006/main"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 xmlns:a="http://schemas.openxmlformats.org/drawingml/2006/main"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legal set-level byte-pair encoding prototype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DDED9C3-3D4B-4C96-B7C2-025AB0A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E47C345-5CA8-485C-99B7-93E6D0E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38A60D-8AF1-400D-8F9B-5535F2C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mlns:a="http://schemas.openxmlformats.org/drawingml/2006/main" x="1757362" y="1457325"/>
          <a:ext xmlns:a="http://schemas.openxmlformats.org/drawingml/2006/main" cx="8677275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09700"/>
                <a:gridCol w="2266950"/>
                <a:gridCol w="1781175"/>
                <a:gridCol w="2324100"/>
                <a:gridCol w="895350"/>
              </a:tblGrid>
              <a:tr h="314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</a:t>
                      </a:r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</a:t>
                      </a:r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prototype</a:t>
                      </a:r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为条件</a:t>
                      </a:r>
                      <a:endParaRPr sz="1125" b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（边轨道候选）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位点约束＋边轨道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离散原型、几何分离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拟非自回归扩散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已做并行单级去噪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已测：原型＋指定晶格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最终应用条件待定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原型编码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去噪位移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</a:tr>
            </a:tbl>
          </a:graphicData>
        </a:graphic>
      </p:graphicFrame>
      <p:sp>
        <p:nvSpPr>
          <p:cNvPr id="6" name="definitions">
            <a:extLst xmlns:a="http://schemas.openxmlformats.org/drawingml/2006/main">
              <a:ext uri="{FF2B5EF4-FFF2-40B4-BE49-F238E27FC236}">
                <a16:creationId xmlns:a16="http://schemas.microsoft.com/office/drawing/2014/main" id="{936DBE54-42A9-4C57-84D7-F0CDA02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文献中的原型结构通常不含完整几何。* 条件字段已有，缺少专门基准。本方案完整生成仍拟议。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B1B5FAA-746E-431C-810A-5F23ED7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1085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论文核对：2026-09-07；本方案更新：2026-09-09。原文、直接先例与实验边界见备注。</a:t>
            </a:r>
          </a:p>
        </p:txBody>
      </p:sp>
    </p:spTree>
    <p:extLst>
      <p:ext uri="{BB962C8B-B14F-4D97-AF65-F5344CB8AC3E}">
        <p14:creationId xmlns:p14="http://schemas.microsoft.com/office/powerpoint/2010/main" val="211451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2026-09-08T18:23:02.3990000Z</dcterms:created>
  <dcterms:modified xsi:type="dcterms:W3CDTF">2026-09-08T18:23:02.3990000Z</dcterms:modified>
</coreProperties>
</file>