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title page: https://arxiv.org/abs/2608.07401</a:t>
            </a:r>
          </a:p>
          <a:p>
            <a:r>
              <a:t>- MaskGXT title page: https://arxiv.org/abs/2606.22866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Introduction and symmetry representation: https://arxiv.org/abs/2608.07401 (paper pages 1-4)</a:t>
            </a:r>
          </a:p>
          <a:p>
            <a:r>
              <a:t>- SymmCD Introduction and representation: https://arxiv.org/abs/2502.03638 (paper pages 1, 4-6)</a:t>
            </a:r>
          </a:p>
          <a:p>
            <a:r>
              <a:t>- WyFormer Tokenization: https://arxiv.org/abs/2503.02407 (paper pages 4-5)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WyFormer Figure 4 and Tokenization: https://arxiv.org/abs/2503.02407 (paper pages 4-5)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Figure 1 and Method: https://arxiv.org/abs/2608.07401 (paper pages 2, 4-6)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MaskGXT Figure 3 and Sampling: https://arxiv.org/abs/2606.22866 (paper pages 6, 9)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Table 1: https://arxiv.org/abs/2608.07401 (paper page 8)</a:t>
            </a:r>
          </a:p>
          <a:p>
            <a:r>
              <a:t>- MaskGXT Tables 2 and 4: https://arxiv.org/abs/2606.22866 (paper pages 11-12)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CrystalFormer: https://arxiv.org/abs/2403.15734</a:t>
            </a:r>
          </a:p>
          <a:p>
            <a:r>
              <a:t>- Matra-Genoa: https://arxiv.org/abs/2501.16051</a:t>
            </a:r>
          </a:p>
          <a:p>
            <a:r>
              <a:t>- WyckoffDiff: https://arxiv.org/abs/2502.06485</a:t>
            </a:r>
          </a:p>
          <a:p>
            <a:r>
              <a:t>- SymmCD: https://arxiv.org/abs/2502.03638</a:t>
            </a:r>
          </a:p>
          <a:p>
            <a:r>
              <a:t>- DynaCrys: https://arxiv.org/abs/2608.07401</a:t>
            </a:r>
          </a:p>
          <a:p>
            <a:r>
              <a:t>- MaskGXT: https://arxiv.org/abs/2606.22866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WyFormer Tokenization: https://arxiv.org/abs/2503.02407 (paper pages 4-5)</a:t>
            </a:r>
          </a:p>
          <a:p>
            <a:r>
              <a:t>- DynaCrys Method: https://arxiv.org/abs/2608.07401 (paper pages 4-6)</a:t>
            </a:r>
          </a:p>
          <a:p>
            <a:r>
              <a:t>- MaskGXT Method: https://arxiv.org/abs/2606.22866 (paper pages 5-9)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Evaluation: https://arxiv.org/abs/2608.07401 (paper pages 7-10)</a:t>
            </a:r>
          </a:p>
          <a:p>
            <a:r>
              <a:t>- MaskGXT Experiments: https://arxiv.org/abs/2606.22866 (paper pages 9-12)</a:t>
            </a:r>
          </a:p>
          <a:p>
            <a:r>
              <a:t>- WyFormer Experiments: https://arxiv.org/abs/2503.02407 (paper pages 6-9)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Conclusion: https://arxiv.org/abs/2608.07401 (paper page 10)</a:t>
            </a:r>
          </a:p>
          <a:p>
            <a:r>
              <a:t>- MaskGXT Conclusion and Limitations: https://arxiv.org/abs/2606.22866 (paper pages 11-12)</a:t>
            </a:r>
          </a:p>
          <a:p>
            <a:r>
              <a:t>- Bounded related-work scan recorded in work/source-notes.txt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 晶体条件生成模型对比</a:t>
            </a:r>
          </a:p>
          <a:p>
            <a:endParaRPr/>
          </a:p>
          <a:p>
            <a:r>
              <a:t>核对日期：2026-09-07。范围为本地找到的 2026-09-01 报告 `group_meeting_draft.pptx` 中的 7 个相关模型，并补入直接相关的 WyckoffDiff-Adaptor。以下依据论文正文、方法、实验及相关附录整理，不以摘要或旧 PPT 的结论代替原文。我们的模型尚属拟议方案；用户本次确认条件类型尚未确定。</a:t>
            </a:r>
          </a:p>
          <a:p>
            <a:endParaRPr/>
          </a:p>
          <a:p>
            <a:r>
              <a:t>## 模型对比表</a:t>
            </a:r>
          </a:p>
          <a:p>
            <a:endParaRPr/>
          </a:p>
          <a:p>
            <a:r>
              <a:t>AR = autoregressive，自回归；非 AR = non-autoregressive，非自回归。**生成范式与是否条件生成是两个独立维度**。Protostructure 指空间群和元素占据的 Wyckoff 描述，尚缺完整晶格与自由坐标。</a:t>
            </a:r>
          </a:p>
          <a:p>
            <a:endParaRPr/>
          </a:p>
          <a:p>
            <a:r>
              <a:t>| 模型 | 表示 / tokenizer 的基本单元 | 生成范式与解码方式 | 条件生成：原文做了什么 | 模型直接输出 | 与我们拟议方案的主要关系 |</a:t>
            </a:r>
          </a:p>
          <a:p>
            <a:r>
              <a:t>|---|---|---|---|---|---|</a:t>
            </a:r>
          </a:p>
          <a:p>
            <a:r>
              <a:t>| **CrystalFormer** [1] | 人工定义的 Wyckoff letter、元素字段；自由坐标与晶格用连续分布建模，无 BPE 合并 | **AR**；按 Wyckoff 字母序，依次生成位点、元素、坐标，最后晶格 | 空间群条件；已做结构补全，以及外接性质预测器的 **MCMC 性质引导采样**，包括带隙、形成能 | **完整晶体结构** | 条件生成和结构补全已有先例；我们拟更换 tokenizer 和 AR 生成机制 |</a:t>
            </a:r>
          </a:p>
          <a:p>
            <a:r>
              <a:t>| **Matra-Genoa** [2] | 可逆的晶体字段序列：元素、计量、稳定性、空间群、Wyckoff 位点、自由坐标、晶格；离散与连续嵌入混合 | **AR**；条件前缀后逐项预测 | 已做稳定性 LOW/HIGH 前缀、元素化学系统条件；空间群和 Wyckoff 位点可作为前缀约束，但没有同等完整的独立条件基准 | **完整晶体结构** | 已有结构化编码与条件生成；主要需比较 motif/set tokenizer 与非 AR 去噪的作用 |</a:t>
            </a:r>
          </a:p>
          <a:p>
            <a:r>
              <a:t>| **WyFormer / Wyckoff Transformer** [3] | 每个 orbit 用 **元素 + site symmetry + enumeration** 复合单元表示；不含自由坐标；字段分别嵌入，无 BPE 合并 | **AR**；element → symmetry → enumeration 级联；编码器无位置编码，训练打乱 orbit 顺序 | 空间群条件生成；性质预测是另一任务；化学计量条件 CSP 列为未来工作 | **Protostructure**；后接 PyXtal / 几何生成与弛豫 | 与我们的 Wyckoff 集合表示最接近；“输入无序”本身不能作为非 AR 创新，差异在 motif 编码与扩散生成 |</a:t>
            </a:r>
          </a:p>
          <a:p>
            <a:r>
              <a:t>| **WyckoffDiff** [4] | 固定空间群下的 **Wyckoff 位点 × 元素占据/计数** 离散变量；不是文本分词器 | **非 AR，D3PM 离散扩散**；WyckoffGNN 联合去噪 | 结构上以空间群为条件，主流程从经验分布抽取空间群；主实验为 de novo 生成，未做性质或给定化学式的条件任务 | **Protostructure**；PyXtal 等补几何 | 已覆盖 Wyckoff 表示 + 非 AR 离散扩散；我们的 tokenizer 必须有比占据矩阵更具体的区别 |</a:t>
            </a:r>
          </a:p>
          <a:p>
            <a:r>
              <a:t>| **SymmCD** [5] | 不对称单元：orbit 代表原子、位点对称矩阵、元素、连续坐标和晶格；不是文本 BPE | **非 AR，离散 + 连续联合扩散** | 空间群作为输入，主流程按先验采样；未报告化学式、性质或部分结构条件基准，组成条件 CSP 是已述局限 | **完整晶体结构**；投影到合法 Wyckoff 位后展开 | 已有对称压缩表示与非 AR 扩散；我们的潜在区别在离散 motif 编码及选定后的条件任务 |</a:t>
            </a:r>
          </a:p>
          <a:p>
            <a:r>
              <a:t>| **DynaCrys** [6] | **空间群 + orbit 数 + 无序的 Wyckoff row / 元素占据集合**；共享学习的对称 codebook，无 BPE 合并 | **非 AR，两阶段扩散**；动态空间群的符号扩散，再生成几何 | 主实验明确为 **unconditional generation**；第二阶段以自生成 protostructure 为条件，不等于用户指定条件的任务 | **完整晶体结构**；中间为 protostructure | 已有无序集合、对称 codebook 与扩散；我们的条件任务定位不同，tokenizer 仍需与其 codebook 机制区分 |</a:t>
            </a:r>
          </a:p>
          <a:p>
            <a:r>
              <a:t>| **MaskGXT** [7] | **逐原子/逐字段 token**：空间群、晶格 bins、坐标 bins、Wyckoff、元素；附 sub-bin 连续修正 | **非 AR，掩码生成模型**；MaskGIT 式按置信度迭代并行解 mask | 已做 **给定化学组成的 CSP**；原子类型及数量已知，预测晶格、坐标及对称信息 | **完整晶体结构** | 已覆盖 conditional + 非 AR masked generation；若我们选组成条件，它是最直接的比较对象之一，差异不能只写“不是 AR” |</a:t>
            </a:r>
          </a:p>
          <a:p>
            <a:r>
              <a:t>| **WyckoffDiff-Adaptor**（补充）[8] | 沿用 WyckoffDiff 的占据/计数表示，在 WyckoffGNN 中加入条件 Adaptor | **非 AR，条件离散扩散** | 已联合使用 **空间群 + 元素化学系统 + energy above hull** 条件；元素系统不等同于固定化学计量式 | **Protostructure**；PyXtal 补几何，再弛豫 | 已覆盖对称感知条件扩散；若我们选稳定性/元素条件，需要明确与该方法的 tokenizer 和条件处理差别 |</a:t>
            </a:r>
          </a:p>
          <a:p>
            <a:r>
              <a:t>| **我们的模型：CrystalDLM（拟议）** | **新 Wyckoff tokenizer**；PPT 候选为 set-level BPE，将合法共现 orbit 合并为可逆 motif，保留集合/对称信息；具体规则待定 | **非 AR diffusion / DLM**；拟以双向去噪恢复 masked 单元，具体目标与采样算法待定 | **以 conditional generation 为主要任务；条件类型待定**，暂不选定化学式、性质或部分结构 | **待定**：protostructure 或完整结构；PPT 尚未定案 | 拟验证的组合是 **新的集合/motif tokenizer + 非 AR 扩散 + 明确的条件任务**；效果与创新性尚待实验 |</a:t>
            </a:r>
          </a:p>
          <a:p>
            <a:endParaRPr/>
          </a:p>
          <a:p>
            <a:r>
              <a:t>## 表格结论与用词边界</a:t>
            </a:r>
          </a:p>
          <a:p>
            <a:endParaRPr/>
          </a:p>
          <a:p>
            <a:r>
              <a:t>1. **不能把已有模型概括为“AR、无条件生成”。** WyckoffDiff、SymmCD、DynaCrys 已做非 AR 扩散；MaskGXT 已做组成条件的非 AR 掩码生成；WyckoffDiff-Adaptor 已做条件离散扩散。[4–8]</a:t>
            </a:r>
          </a:p>
          <a:p>
            <a:r>
              <a:t>2. **条件生成也不是 AR 模型缺失的通用能力。** CrystalFormer 有结构补全和性质引导 MCMC；Matra-Genoa 有稳定性/化学系统条件。需要比较条件进入方式和实际任务，而不是只勾选“支持条件”。[1–2]</a:t>
            </a:r>
          </a:p>
          <a:p>
            <a:r>
              <a:t>3. **“Tokenizer 不同”需要落到编码单元上。** 已有工作分别采用复合 orbit 单元、占据矩阵、混合连续/离散字段、固定量化 bins 和对称 codebook。PPT 的候选区别是可学习合并的 orbit motif，以及集合等价性下的稳定、可逆编码；这仍是设计假设，不能写成已证明的性能优势。[1–8；本地 PPT 第 8 页]</a:t>
            </a:r>
          </a:p>
          <a:p>
            <a:r>
              <a:t>4. **MaskGXT 保留原文分类。** 表中写 MaskGIT 式掩码生成与迭代并行解码，不将它直接等同于 D3PM，也不武断排除它与 masked diffusion 的数学联系。[7，§2、§4.3–4.5]</a:t>
            </a:r>
          </a:p>
          <a:p>
            <a:endParaRPr/>
          </a:p>
          <a:p>
            <a:r>
              <a:t>“无条件”是没有用户指定目标条件，不代表盲目的均匀随机生成；条件生成同样可以随机采样。表中用 unconditional / conditional，比“随机生成 / 非随机生成”更准确。</a:t>
            </a:r>
          </a:p>
          <a:p>
            <a:endParaRPr/>
          </a:p>
          <a:p>
            <a:r>
              <a:t>可用于汇报的当前定位：**我们拟研究面向条件晶体生成的 Wyckoff 集合/motif tokenizer，并结合非自回归扩散生成；要验证的差异是 token 单元及其对条件任务的作用，而非单独宣称首次使用扩散或条件生成。条件类型与输出层级尚待确定。**</a:t>
            </a:r>
          </a:p>
          <a:p>
            <a:endParaRPr/>
          </a:p>
          <a:p>
            <a:r>
              <a:t>## 原文证据与阅读版本</a:t>
            </a:r>
          </a:p>
          <a:p>
            <a:endParaRPr/>
          </a:p>
          <a:p>
            <a:r>
              <a:t>以下页码均为对应版本 PDF 页码。链接固定到本次所读版本，避免后续改版造成页码漂移。</a:t>
            </a:r>
          </a:p>
          <a:p>
            <a:endParaRPr/>
          </a:p>
          <a:p>
            <a:r>
              <a:t>- **[1] CrystalFormer** — *Space Group Informed Transformer for Crystalline Materials Generation*, [arXiv:2403.15734v3](https://arxiv.org/abs/2403.15734v3)。§II.A、Eq.1：表示与 AR 分解，PDF pp.2–5；§III.B、Fig.8：结构条件元素替换/补全，pp.9–10；§III.C、Fig.9 及 Appendix E：性质后验与 MCMC，pp.10–11、28–29。特别区分外接预测器引导与生成器内部条件 token。</a:t>
            </a:r>
          </a:p>
          <a:p>
            <a:r>
              <a:t>- **[2] Matra-Genoa** — *A generative material transformer using Wyckoff representation*, [arXiv:2501.16051v2](https://arxiv.org/abs/2501.16051v2)。§II.A–B、Fig.1：可逆混合表示、条件前缀与 AR 采样，pp.2–3；§II.C、Fig.3：Al–Ca–Cu 化学系统实验，p.4。稳定性 LOW/HIGH 以 0.075 eV/atom 的 hull distance 为界；该化学系统实验没有给定完整化学式。</a:t>
            </a:r>
          </a:p>
          <a:p>
            <a:r>
              <a:t>- **[3] WyFormer** — *Wyckoff Transformer: Generation of Symmetric Crystals*, [arXiv:2503.02407v4](https://arxiv.org/abs/2503.02407v4)。§2.1–2.4、Fig.4：复合 orbit 单元、无位置编码、AR cascade 与几何后处理，pp.4–5；§3.2 是性质预测；结论 p.9 将 stoichiometry-conditioned CSP 列为未来工作。Appendix R p.29 补充 token 词表分析。</a:t>
            </a:r>
          </a:p>
          <a:p>
            <a:r>
              <a:t>- **[4] WyckoffDiff** — *WyckoffDiff — A Generative Diffusion Model for Crystal Symmetry*, [arXiv:2502.06485v4](https://arxiv.org/abs/2502.06485v4)。§3.1–3.4、Eq.3–6：占据/计数变量、`p(s,z)=p(s)p(z|s)` 与 D3PM，pp.3–5；§5、Fig.3：protostructure 后的 PyXtal/MACE/DFT 发现流程，pp.8–9。后处理稳定性筛选不等于性质条件去噪。</a:t>
            </a:r>
          </a:p>
          <a:p>
            <a:r>
              <a:t>- **[5] SymmCD** — *SymmCD: Symmetry-Preserving Crystal Generation with Diffusion Models*, [arXiv:2502.03638v3](https://arxiv.org/abs/2502.03638v3)。§4.1–4.3：不对称单元与混合扩散，pp.4–7；Algorithm 2 p.7：空间群输入、合法位点投影与展开；Conclusion p.10：composition-conditioned CSP 局限。</a:t>
            </a:r>
          </a:p>
          <a:p>
            <a:r>
              <a:t>- **[6] DynaCrys** — *DynaCrys: Crystal Generation with Dynamic Space-Group Diffusion*, [arXiv:2608.07401v1](https://arxiv.org/abs/2608.07401v1)。§4.1–4.4：无序 occupation 集合、codebook、动态空间群、几何阶段，pp.4–6；§5.1 p.7 明确主实验为 unconditional；Appendices C–F 细化 codebook、去噪与几何。学习的 embedding/codebook 不等于 BPE 合并词表。</a:t>
            </a:r>
          </a:p>
          <a:p>
            <a:r>
              <a:t>- **[7] MaskGXT** — *Discovering Crystal Structure Prediction Algorithms with an AI Co-Scientist*, [arXiv:2606.22866v1](https://arxiv.org/abs/2606.22866v1)。§4.1、Fig.3：`1+6+5N` 编码，pp.5–7；§4.3–4.5：掩码学习与采样，pp.7–9；§5.3 p.10：composition-conditioned CSP；Appendix A p.16 允许固定空间群的可选接口，但本文主结果不是独立给定 SG 基准。§4.1 说明对称 token 与几何的一致性通过训练鼓励，并非硬约束。</a:t>
            </a:r>
          </a:p>
          <a:p>
            <a:r>
              <a:t>- **[8] WyckoffDiff-Adaptor** — *Symmetry-aware Conditional Generation of Crystal Structures Using Diffusion Models*, [arXiv:2601.08115v1](https://arxiv.org/abs/2601.08115v1)。§2.1–2.2：条件 Adaptor 注入 WyckoffGNN 与 SG/chemical system/energy above hull 条件，pp.4–5；§3、Figs.2–5：相图、对称保持与几何限制，pp.6–8。PyXtal 是几何后处理；Adaptor 本身参与去噪网络，不能说成仅做后处理。</a:t>
            </a:r>
          </a:p>
          <a:p>
            <a:endParaRPr/>
          </a:p>
          <a:p>
            <a:r>
              <a:t>## 核对范围与限制</a:t>
            </a:r>
          </a:p>
          <a:p>
            <a:endParaRPr/>
          </a:p>
          <a:p>
            <a:r>
              <a:t>- 3 个 Luna 子智能体分别通读论文正文及相关附录，主智能体汇总，并复核了影响比较结论的关键原文：MaskGXT 的条件任务和分类、WyckoffDiff 的 SG 条件分解、CrystalFormer 的补全/性质引导、WyFormer 的未来工作、Adaptor 的条件类型等。</a:t>
            </a:r>
          </a:p>
          <a:p>
            <a:r>
              <a:t>- 8 份本地 PDF 的 SHA-256 均与已有完整性预检匹配，PDF 页数与提取文本页标记一致。`source_manifest.json` 保存具体映射；旧目录的 `dynacrys.pdf` 实际是 WyckoffDiff，`maskgxt.pdf` 实际是 WyFormer，已按内容和 arXiv 编号辨认。</a:t>
            </a:r>
          </a:p>
          <a:p>
            <a:r>
              <a:t>- 这是基于报告范围的比较，不是对整个晶体生成领域的系统综述，也不支持“全球首个”或“尚无人做过”的结论。未运行这些模型，不横比任务和评价协议不同的性能数字。</a:t>
            </a:r>
          </a:p>
          <a:p>
            <a:r>
              <a:t>- 本文由 AI 辅助阅读全文与汇总；不代表用户已人工读完全部论文。逐篇详细核对笔记保存在 `notes/`。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8B64B96-934D-4D9C-B4A4-DFADDEAE534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D6B5B"/>
                </a:solidFill>
              </a:defRPr>
            </a:pPr>
            <a:r>
              <a:rPr sz="975" b="1">
                <a:solidFill>
                  <a:srgbClr val="2D6B5B"/>
                </a:solidFill>
              </a:rPr>
              <a:t>组会汇报｜文献调研 + 新 idea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263B16-B335-424F-A1F5-7F4D5021943C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8953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17372F"/>
                </a:solidFill>
              </a:defRPr>
            </a:pPr>
            <a:r>
              <a:rPr sz="2850" b="1">
                <a:solidFill>
                  <a:srgbClr val="17372F"/>
                </a:solidFill>
              </a:rPr>
              <a:t>Wyckoff DLM：从已有结果到可验证的新 idea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B915E2-8345-463D-9F2B-F9175F8413CC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2736C"/>
                </a:solidFill>
              </a:defRPr>
            </a:pPr>
            <a:r>
              <a:rPr sz="1275" b="0">
                <a:solidFill>
                  <a:srgbClr val="62736C"/>
                </a:solidFill>
              </a:rPr>
              <a:t>DynaCrys · MaskGXT · WyFormer-based proposal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EE55CF-0070-4DCB-90B7-11B3D1FAADE0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914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263732"/>
                </a:solidFill>
              </a:defRPr>
            </a:pPr>
            <a:r>
              <a:rPr sz="1725" b="0">
                <a:solidFill>
                  <a:srgbClr val="263732"/>
                </a:solidFill>
              </a:rPr>
              <a:t>结论：DLM 本身不新，结构化 tokenization + legal set diffusion 才是主线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53A145-EBA8-464F-8F62-47A3731F6DF6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120ECC-69C1-4C80-8DC5-9198D6DA7682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/ MaskGXT title pages · paper page 1</a:t>
            </a:r>
          </a:p>
        </p:txBody>
      </p:sp>
    </p:spTree>
    <p:extLst>
      <p:ext uri="{BB962C8B-B14F-4D97-AF65-F5344CB8AC3E}">
        <p14:creationId xmlns:p14="http://schemas.microsoft.com/office/powerpoint/2010/main" val="13073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2BFAE90-A316-4928-B60D-A37265881D5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1363A6-2F6E-4AB0-A744-3F05915B84A4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研究问题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5BD12E-FBC5-4212-A957-6D80D08B60A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瓶颈不是扩散，而是如何保留晶体对称性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B27186-CD0E-4CBD-969D-8BE7C00865D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168844-9B17-4ADC-947C-A1C60873B68B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晶体生成同时面对离散对称、可变轨道集合和连续几何；空间群决定合法 Wyckoff vocabulary。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FF8D576-FBAF-4C00-A92E-B30CADE42702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6C25C4-97C0-4481-A59A-4C879D286BFA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把空间群都当作 P1 会扩大搜索空间并弱化对称性先验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61019A5-E63A-4BDB-96D0-98A3FB6113A7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9880BD-AD81-4CC9-B6BC-47A99E372A52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Wyckoff 表示压缩 orbit，但不同方法保留的信息不同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907DEA6-96B0-4C92-8639-F683D16095C4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2BF9E4-B4FE-420A-9812-BB0207D735A3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本次问题：DLM 的新增价值究竟来自哪里？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510D81-4AD0-4D16-89B4-9992DC53806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1D95F5-67F6-4002-A673-2530409FD257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Introduction · paper pages 1–4; SymmCD Representation · paper pages 1, 4–6; WyFormer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998187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06E49A7A-BA2B-4B83-8237-50528BB9A38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53970F-6D96-4DF3-883A-9391E04BF7E3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表示基础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4E6053-8404-4674-9A64-6ADF1564D72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WyFormer 把晶体压成无序 Wyckoff token set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522442-6BFE-4D7E-8A76-678170214EF9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61882"/>
            <a:ext cx="10820400" cy="159123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8DA82E6-5B19-43A5-A144-CCB82B14FFE1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3200400"/>
          </a:xfrm>
          <a:prstGeom prst="rect">
            <a:avLst/>
          </a:prstGeom>
          <a:noFill/>
          <a:ln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8FE7E7-538A-47FE-839A-FFB2C7999013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4 · paper page 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8BD9E2-D976-4663-B43B-3A7C06175882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66800" cy="247650"/>
          </a:xfrm>
          <a:prstGeom prst="rect">
            <a:avLst/>
          </a:prstGeom>
          <a:solidFill>
            <a:srgbClr val="E5EFE9"/>
          </a:solidFill>
          <a:ln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5E7883-828C-4D91-8E45-702A9C5AC2D9}"/>
              </a:ext>
            </a:extLst>
          </p:cNvPr>
          <p:cNvSpPr>
            <a:spLocks noGrp="1"/>
          </p:cNvSpPr>
          <p:nvPr/>
        </p:nvSpPr>
        <p:spPr>
          <a:xfrm>
            <a:off x="800100" y="481012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45E1879-33AE-4A47-B78D-F194F9352B5A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6D9A0E-53A5-46F8-A26E-2FCB27CAADFF}"/>
              </a:ext>
            </a:extLst>
          </p:cNvPr>
          <p:cNvSpPr>
            <a:spLocks noGrp="1"/>
          </p:cNvSpPr>
          <p:nvPr/>
        </p:nvSpPr>
        <p:spPr>
          <a:xfrm>
            <a:off x="895350" y="508635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每个 orbit token = element + site symmetry + enumeration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7107DA1-E1AC-4509-AB3B-59FD966D5D26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4D8CAB-A34B-4B8A-AD02-E88D53AEF9B6}"/>
              </a:ext>
            </a:extLst>
          </p:cNvPr>
          <p:cNvSpPr>
            <a:spLocks noGrp="1"/>
          </p:cNvSpPr>
          <p:nvPr/>
        </p:nvSpPr>
        <p:spPr>
          <a:xfrm>
            <a:off x="895350" y="5362575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不使用位置编码，编码器对输入置换不变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5F3F808-5816-49F2-A800-E18B420C2E7B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70D19E-9480-4B45-AC30-C40E695184F6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生成仍按 element → symmetry → enumeration 级联 autoregressive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1A5375-BFC1-477C-9D42-CFB1967B9777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solidFill>
            <a:srgbClr val="FFF9E5"/>
          </a:solidFill>
          <a:ln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E6775F-B0F4-4710-B10A-7189AAA921DC}"/>
              </a:ext>
            </a:extLst>
          </p:cNvPr>
          <p:cNvSpPr>
            <a:spLocks noGrp="1"/>
          </p:cNvSpPr>
          <p:nvPr/>
        </p:nvSpPr>
        <p:spPr>
          <a:xfrm>
            <a:off x="857250" y="6048375"/>
            <a:ext cx="10458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平均每个晶体约 3 个 Wyckoff positions；压缩收益需实验证明。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EFB241-B20B-45B3-A57C-739E4E4C55F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31AF4D-1639-499E-B657-F03DBC15D2EF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Figure 4 · paper page 5;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24386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CA2881F-04B0-4302-97D7-D18C9B8A269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E43E6A-0C8E-4D64-A99F-B66F64A64DA8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DynaCrys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A481EF-A0D1-4205-8B33-D78036B190C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1">
                <a:solidFill>
                  <a:srgbClr val="17372F"/>
                </a:solidFill>
              </a:defRPr>
            </a:pPr>
            <a:r>
              <a:rPr sz="2475" b="1">
                <a:solidFill>
                  <a:srgbClr val="17372F"/>
                </a:solidFill>
              </a:rPr>
              <a:t>DynaCrys 把空间群放进 symbolic diffusion state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4DB87C-36E6-49ED-B656-1ECD80459D44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73945"/>
            <a:ext cx="10820400" cy="216711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EBA8111-1D4F-4883-A8DE-1184892BEB40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3200400"/>
          </a:xfrm>
          <a:prstGeom prst="rect">
            <a:avLst/>
          </a:prstGeom>
          <a:noFill/>
          <a:ln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8B1A64-230B-4994-866C-17FB5BAA6371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1 · paper page 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6F2AF1-795A-4FFA-BBE2-0E33B27F62A2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66800" cy="247650"/>
          </a:xfrm>
          <a:prstGeom prst="rect">
            <a:avLst/>
          </a:prstGeom>
          <a:solidFill>
            <a:srgbClr val="E5EFE9"/>
          </a:solidFill>
          <a:ln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4EE5F8-CD81-468D-A1AE-F6942C1FA309}"/>
              </a:ext>
            </a:extLst>
          </p:cNvPr>
          <p:cNvSpPr>
            <a:spLocks noGrp="1"/>
          </p:cNvSpPr>
          <p:nvPr/>
        </p:nvSpPr>
        <p:spPr>
          <a:xfrm>
            <a:off x="800100" y="481012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0C66C22-C58A-4194-8983-02994E9D63FE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44A544-DE7A-46F2-8322-D9FEBB46176E}"/>
              </a:ext>
            </a:extLst>
          </p:cNvPr>
          <p:cNvSpPr>
            <a:spLocks noGrp="1"/>
          </p:cNvSpPr>
          <p:nvPr/>
        </p:nvSpPr>
        <p:spPr>
          <a:xfrm>
            <a:off x="895350" y="508635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联合更新 space group、orbit count、Wyckoff rows 与 elements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A97D902-69ED-474A-938D-3DE1DBDD1E9C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6C402F-28A7-4B57-9036-97B6DF3ADFE1}"/>
              </a:ext>
            </a:extLst>
          </p:cNvPr>
          <p:cNvSpPr>
            <a:spLocks noGrp="1"/>
          </p:cNvSpPr>
          <p:nvPr/>
        </p:nvSpPr>
        <p:spPr>
          <a:xfrm>
            <a:off x="895350" y="5362575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group–subgroup graph 让 G 可沿晶体学关系演化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C8D999C-5C4F-435A-A97D-6FAC5BE2A268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1A5DD1-1B73-468D-AB84-3026A20AB3FD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legal sample 再接 symmetry-constrained geometry diffusion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7FF89C-4AA7-48A4-85B1-138399E62B70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solidFill>
            <a:srgbClr val="FFF9E5"/>
          </a:solidFill>
          <a:ln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B4CF09-ABFA-4002-A379-F787F8FEAB16}"/>
              </a:ext>
            </a:extLst>
          </p:cNvPr>
          <p:cNvSpPr>
            <a:spLocks noGrp="1"/>
          </p:cNvSpPr>
          <p:nvPr/>
        </p:nvSpPr>
        <p:spPr>
          <a:xfrm>
            <a:off x="857250" y="6048375"/>
            <a:ext cx="10458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贡献重点是动态 G + 合法采样，不是普通 masked LM。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12C742-D715-477E-BE7F-EFCC82CFDE14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0F26BA-6F8D-4B10-9575-E602CC18AA96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Figure 1 · paper page 2; Method · paper pages 4–6</a:t>
            </a:r>
          </a:p>
        </p:txBody>
      </p:sp>
    </p:spTree>
    <p:extLst>
      <p:ext uri="{BB962C8B-B14F-4D97-AF65-F5344CB8AC3E}">
        <p14:creationId xmlns:p14="http://schemas.microsoft.com/office/powerpoint/2010/main" val="42781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80B56CDE-76E1-4E60-97D0-94E49DAEF44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62A268-5640-4FDB-85E1-B68D0B89D0F7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MaskGXT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B31F89-6A2B-4D68-A8E9-13A1DF04D52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MaskGXT 用 masked decoding 覆盖完整晶体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F179B0-CF47-4664-A043-E67F938D5B7B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94926"/>
            <a:ext cx="5981700" cy="379194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60CFE24-8D15-4CA3-AD23-50B493958A97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5981700" cy="4191000"/>
          </a:xfrm>
          <a:prstGeom prst="rect">
            <a:avLst/>
          </a:prstGeom>
          <a:noFill/>
          <a:ln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9A4251-1128-42C8-AD45-B1107E65B5D6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5981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3 · paper page 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BB2876-465D-4CC3-887B-2E2ACA4BFE20}"/>
              </a:ext>
            </a:extLst>
          </p:cNvPr>
          <p:cNvSpPr>
            <a:spLocks noGrp="1"/>
          </p:cNvSpPr>
          <p:nvPr/>
        </p:nvSpPr>
        <p:spPr>
          <a:xfrm>
            <a:off x="7334250" y="1428750"/>
            <a:ext cx="1066800" cy="247650"/>
          </a:xfrm>
          <a:prstGeom prst="rect">
            <a:avLst/>
          </a:prstGeom>
          <a:solidFill>
            <a:srgbClr val="E5EFE9"/>
          </a:solidFill>
          <a:ln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2A374B-CCB8-4EDC-8B00-FAF7972F22B9}"/>
              </a:ext>
            </a:extLst>
          </p:cNvPr>
          <p:cNvSpPr>
            <a:spLocks noGrp="1"/>
          </p:cNvSpPr>
          <p:nvPr/>
        </p:nvSpPr>
        <p:spPr>
          <a:xfrm>
            <a:off x="7448550" y="14763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E234792-3D80-40FF-9B6F-7479FA2B9214}"/>
              </a:ext>
            </a:extLst>
          </p:cNvPr>
          <p:cNvSpPr>
            <a:spLocks noGrp="1"/>
          </p:cNvSpPr>
          <p:nvPr/>
        </p:nvSpPr>
        <p:spPr>
          <a:xfrm>
            <a:off x="7334250" y="21145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C35142-3E85-4E98-8224-2CCECDCCDD01}"/>
              </a:ext>
            </a:extLst>
          </p:cNvPr>
          <p:cNvSpPr>
            <a:spLocks noGrp="1"/>
          </p:cNvSpPr>
          <p:nvPr/>
        </p:nvSpPr>
        <p:spPr>
          <a:xfrm>
            <a:off x="7543800" y="2019300"/>
            <a:ext cx="388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一组 tokens 同时表示 </a:t>
            </a:r>
            <a:r>
              <a:rPr sz="1275">
                <a:solidFill>
                  <a:srgbClr val="263732"/>
                </a:solidFill>
              </a:rPr>
              <a:t>space group</a:t>
            </a:r>
            <a:r>
              <a:rPr sz="1275" b="0">
                <a:solidFill>
                  <a:srgbClr val="263732"/>
                </a:solidFill>
              </a:rPr>
              <a:t>、晶格、坐标、Wyckoff position、元素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159253F-CAAA-4BFE-906D-7ECE44D23EB6}"/>
              </a:ext>
            </a:extLst>
          </p:cNvPr>
          <p:cNvSpPr>
            <a:spLocks noGrp="1"/>
          </p:cNvSpPr>
          <p:nvPr/>
        </p:nvSpPr>
        <p:spPr>
          <a:xfrm>
            <a:off x="7334250" y="29527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0547F8-6F56-4C00-8DFE-61C15FEC8F95}"/>
              </a:ext>
            </a:extLst>
          </p:cNvPr>
          <p:cNvSpPr>
            <a:spLocks noGrp="1"/>
          </p:cNvSpPr>
          <p:nvPr/>
        </p:nvSpPr>
        <p:spPr>
          <a:xfrm>
            <a:off x="7543800" y="2857500"/>
            <a:ext cx="388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全 mask → 空间群分支 → confidence-ranked greedy unmask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D8E5278-9E1E-4AD4-A44A-F1B24CD67894}"/>
              </a:ext>
            </a:extLst>
          </p:cNvPr>
          <p:cNvSpPr>
            <a:spLocks noGrp="1"/>
          </p:cNvSpPr>
          <p:nvPr/>
        </p:nvSpPr>
        <p:spPr>
          <a:xfrm>
            <a:off x="7334250" y="3790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1900D8-D297-4536-9510-C6ACDCCBBCD7}"/>
              </a:ext>
            </a:extLst>
          </p:cNvPr>
          <p:cNvSpPr>
            <a:spLocks noGrp="1"/>
          </p:cNvSpPr>
          <p:nvPr/>
        </p:nvSpPr>
        <p:spPr>
          <a:xfrm>
            <a:off x="7543800" y="3695700"/>
            <a:ext cx="388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周期 label smoothing + sub-bin offset 保住坐标精度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68E756-05FF-4802-828F-86A01B712447}"/>
              </a:ext>
            </a:extLst>
          </p:cNvPr>
          <p:cNvSpPr>
            <a:spLocks noGrp="1"/>
          </p:cNvSpPr>
          <p:nvPr/>
        </p:nvSpPr>
        <p:spPr>
          <a:xfrm>
            <a:off x="7334250" y="4762500"/>
            <a:ext cx="4171950" cy="723900"/>
          </a:xfrm>
          <a:prstGeom prst="rect">
            <a:avLst/>
          </a:prstGeom>
          <a:solidFill>
            <a:srgbClr val="FFF9E5"/>
          </a:solidFill>
          <a:ln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40CBCB-381E-418A-90D0-7E5CC05D4DAB}"/>
              </a:ext>
            </a:extLst>
          </p:cNvPr>
          <p:cNvSpPr>
            <a:spLocks noGrp="1"/>
          </p:cNvSpPr>
          <p:nvPr/>
        </p:nvSpPr>
        <p:spPr>
          <a:xfrm>
            <a:off x="7524750" y="4914900"/>
            <a:ext cx="3790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705717"/>
                </a:solidFill>
              </a:defRPr>
            </a:pPr>
            <a:r>
              <a:rPr sz="1200" b="1">
                <a:solidFill>
                  <a:srgbClr val="705717"/>
                </a:solidFill>
              </a:rPr>
              <a:t>论文报告的结果来自 composition-conditioned crystal structure prediction；不是本 idea 的实验。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680BD2-0D2A-432F-B782-BC8DDBC250E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7AFBD3-2615-4D10-9053-D6755329CEF7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MaskGXT Figure 3 · paper page 6; Sampling · paper page 9</a:t>
            </a:r>
          </a:p>
        </p:txBody>
      </p:sp>
    </p:spTree>
    <p:extLst>
      <p:ext uri="{BB962C8B-B14F-4D97-AF65-F5344CB8AC3E}">
        <p14:creationId xmlns:p14="http://schemas.microsoft.com/office/powerpoint/2010/main" val="12544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8066CC5-19CE-425E-B48A-45F602F40FE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9CE949-408D-4EC0-8B81-00222B8F1424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结果定位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20D63E-4803-4FEA-A222-9957087A367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最新结果把 DLM 可行性推到了高起点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6AECFD-36B4-4F8D-A6CD-E2B60E193F78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097A91-AE35-4B74-98F7-BBE923C2BAE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不同 benchmark / metric 不可直接横比；这里只用来定位各自的设计收益。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B97BA65-6DB6-4E4F-9CF0-DD90CC151BB0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D3BAAE-C767-401B-A5FF-A74399C108C9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63732"/>
                </a:solidFill>
              </a:defRPr>
            </a:pPr>
            <a:r>
              <a:rPr sz="1500" b="0">
                <a:solidFill>
                  <a:srgbClr val="263732"/>
                </a:solidFill>
              </a:rPr>
              <a:t>DynaCrys：CHGNet 下，稳定-唯一-新颖率 / 稳定-对称-唯一-新颖率为 9.39% / 9.31%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A613634-C947-49DE-BFAC-E265D3C497B1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AB48BF-97AA-4C43-95E0-139E5132F4D5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MaskGXT：MP-20 polymorph split 的 match-every-reference accuracy 为 79.06%（baseline 70.87%）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455F931-5AF1-412F-BECE-ED91FB57C599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E5FB66-8E8E-4CFC-8F54-E4242771CDE2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去掉 symmetry tokens 后，polymorph split 的 match-every-reference accuracy 为 74.98%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327A4D-3539-4054-B2CA-0BB83BED6F3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CB8FE6-A743-47D9-B7B2-64D88A2F6236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Table 1 · paper page 8; MaskGXT Tables 2, 4 · paper pages 11–12</a:t>
            </a:r>
          </a:p>
        </p:txBody>
      </p:sp>
    </p:spTree>
    <p:extLst>
      <p:ext uri="{BB962C8B-B14F-4D97-AF65-F5344CB8AC3E}">
        <p14:creationId xmlns:p14="http://schemas.microsoft.com/office/powerpoint/2010/main" val="7015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ADF0D04-6849-40F0-8BAE-63D6673E6A2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07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FDF284-B196-4F8B-AF12-BCDA02CCABDD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相关工作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A22E82-E136-4587-BA4B-A47E36C48354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“Wyckoff + diffusion”已经不是空白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0C746D-4D2A-4DCB-BE65-3C54AED27E0D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1A2EDC-A913-404F-ADF4-C87BEBF43CCB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重叠关系决定了新 idea 的创新门槛。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746AABE-6D89-49C2-AFCB-27A1D352FDAD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392C4B-87B6-4582-99EF-589B30C9D136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autoregressive / Wyckoff：CrystalFormer、WyFormer、Matra-Genoa 已建立可压缩 representation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4E6EA62-AC54-4720-BC9F-09AAFB811A45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31C472-5690-455A-92B9-7F5A3C666D5D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Diffusion / symmetry：WyckoffDiff、SymmCD、DynaCrys 已覆盖不同粒度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B11CA2D-95C5-45A0-92E6-C97DBD91C45C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939391-D26F-4A7D-A5CB-3403B6042A34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Masked full crystal：MaskGXT 已把 space group + Wyckoff position + coordinates 联合解码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917CEE-A549-4CCC-9D2D-A0E159CB6AB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5F0C69-C1F4-468E-8883-8F300B03EEA0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CrystalFormer Method · paper pages 3–5; Matra-Genoa · paper pages 2–4; WyckoffDiff · paper pages 3–6; SymmCD · paper pages 4–7; DynaCrys / MaskGXT related work · paper pages 2–6</a:t>
            </a:r>
          </a:p>
        </p:txBody>
      </p:sp>
    </p:spTree>
    <p:extLst>
      <p:ext uri="{BB962C8B-B14F-4D97-AF65-F5344CB8AC3E}">
        <p14:creationId xmlns:p14="http://schemas.microsoft.com/office/powerpoint/2010/main" val="196271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A4E73FC-4A5D-483A-B2CD-AB33DC751B2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08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89306A-3301-4272-A162-32C53E0723AA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新 idea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03A1CA-41BA-4092-9521-DDA7E804299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新 idea：set-level byte-pair encoding + Wyckoff DLM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109B07-100B-45BC-BD4D-068C22130EC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BC88B35-47CB-43AF-AE34-A6DE50FBC154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CD4950-3DBF-4565-B14A-5A840D3D2523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核心：按合法共现的 orbit motif 合并，不按伪邻接合并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766647E-E99C-40AA-98F4-FDB49681768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C98F87-49D4-40DF-881D-3E569369C839}"/>
              </a:ext>
            </a:extLst>
          </p:cNvPr>
          <p:cNvSpPr>
            <a:spLocks noGrp="1"/>
          </p:cNvSpPr>
          <p:nvPr/>
        </p:nvSpPr>
        <p:spPr>
          <a:xfrm>
            <a:off x="895350" y="2762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训练：随机 mask motif 与 leaf，双向联合恢复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F5A6F07-94F0-4C83-A704-45704CB06786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1B4ECE-9BDE-4CF5-99C8-36EFC40210B6}"/>
              </a:ext>
            </a:extLst>
          </p:cNvPr>
          <p:cNvSpPr>
            <a:spLocks noGrp="1"/>
          </p:cNvSpPr>
          <p:nvPr/>
        </p:nvSpPr>
        <p:spPr>
          <a:xfrm>
            <a:off x="895350" y="3733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解码：space-group legality + 可逆展开回原始 set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DEA3F7-B75F-4BF9-B124-671B05EF46A9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B46B78-C039-4B37-B99E-313D48E91EEA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Tokenization · paper pages 4–5; DynaCrys Method · paper pages 4–6; MaskGXT Method · paper pages 5–9</a:t>
            </a:r>
          </a:p>
        </p:txBody>
      </p:sp>
      <p:sp>
        <p:nvSpPr>
          <p:cNvPr id="14" name="proposal-path-label">
            <a:extLst>
              <a:ext uri="{FF2B5EF4-FFF2-40B4-BE49-F238E27FC236}">
                <a16:creationId xmlns:a16="http://schemas.microsoft.com/office/drawing/2014/main" id="{416170D2-46D7-4821-BB5A-BED83AA6E8C9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2736C"/>
                </a:solidFill>
              </a:defRPr>
            </a:pPr>
            <a:r>
              <a:rPr sz="1050" b="1">
                <a:solidFill>
                  <a:srgbClr val="62736C"/>
                </a:solidFill>
              </a:rPr>
              <a:t>拟议流水线</a:t>
            </a:r>
          </a:p>
        </p:txBody>
      </p:sp>
      <p:sp>
        <p:nvSpPr>
          <p:cNvPr id="15" name="proposal-stage-1">
            <a:extLst>
              <a:ext uri="{FF2B5EF4-FFF2-40B4-BE49-F238E27FC236}">
                <a16:creationId xmlns:a16="http://schemas.microsoft.com/office/drawing/2014/main" id="{898B9192-4372-43B6-8201-070B8C571DE3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238375" cy="666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1 统计合法共现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orbit motif</a:t>
            </a:r>
          </a:p>
        </p:txBody>
      </p:sp>
      <p:sp>
        <p:nvSpPr>
          <p:cNvPr id="16" name="proposal-arrow-1">
            <a:extLst>
              <a:ext uri="{FF2B5EF4-FFF2-40B4-BE49-F238E27FC236}">
                <a16:creationId xmlns:a16="http://schemas.microsoft.com/office/drawing/2014/main" id="{537A4C7D-6793-47DD-8353-30FD15CB90FE}"/>
              </a:ext>
            </a:extLst>
          </p:cNvPr>
          <p:cNvSpPr>
            <a:spLocks noGrp="1"/>
          </p:cNvSpPr>
          <p:nvPr/>
        </p:nvSpPr>
        <p:spPr>
          <a:xfrm>
            <a:off x="3000375" y="5238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7" name="proposal-stage-2">
            <a:extLst>
              <a:ext uri="{FF2B5EF4-FFF2-40B4-BE49-F238E27FC236}">
                <a16:creationId xmlns:a16="http://schemas.microsoft.com/office/drawing/2014/main" id="{401D38D4-5F48-4C93-B75C-12DD71F3E6C5}"/>
              </a:ext>
            </a:extLst>
          </p:cNvPr>
          <p:cNvSpPr>
            <a:spLocks noGrp="1"/>
          </p:cNvSpPr>
          <p:nvPr/>
        </p:nvSpPr>
        <p:spPr>
          <a:xfrm>
            <a:off x="3333750" y="5048250"/>
            <a:ext cx="2238375" cy="666750"/>
          </a:xfrm>
          <a:prstGeom prst="rect">
            <a:avLst/>
          </a:prstGeom>
          <a:solidFill>
            <a:srgbClr val="E5EFE9"/>
          </a:solidFill>
          <a:ln w="9525">
            <a:solidFill>
              <a:srgbClr val="2D6B5B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2 set-level merge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可逆展开</a:t>
            </a:r>
          </a:p>
        </p:txBody>
      </p:sp>
      <p:sp>
        <p:nvSpPr>
          <p:cNvPr id="18" name="proposal-arrow-2">
            <a:extLst>
              <a:ext uri="{FF2B5EF4-FFF2-40B4-BE49-F238E27FC236}">
                <a16:creationId xmlns:a16="http://schemas.microsoft.com/office/drawing/2014/main" id="{E9315CCF-A7DE-473C-B54B-9D39D9163CDA}"/>
              </a:ext>
            </a:extLst>
          </p:cNvPr>
          <p:cNvSpPr>
            <a:spLocks noGrp="1"/>
          </p:cNvSpPr>
          <p:nvPr/>
        </p:nvSpPr>
        <p:spPr>
          <a:xfrm>
            <a:off x="5648325" y="5238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9" name="proposal-stage-3">
            <a:extLst>
              <a:ext uri="{FF2B5EF4-FFF2-40B4-BE49-F238E27FC236}">
                <a16:creationId xmlns:a16="http://schemas.microsoft.com/office/drawing/2014/main" id="{91263579-760D-4E6B-853E-03ADB5E53283}"/>
              </a:ext>
            </a:extLst>
          </p:cNvPr>
          <p:cNvSpPr>
            <a:spLocks noGrp="1"/>
          </p:cNvSpPr>
          <p:nvPr/>
        </p:nvSpPr>
        <p:spPr>
          <a:xfrm>
            <a:off x="5981700" y="5048250"/>
            <a:ext cx="2238375" cy="666750"/>
          </a:xfrm>
          <a:prstGeom prst="rect">
            <a:avLst/>
          </a:prstGeom>
          <a:solidFill>
            <a:srgbClr val="D9F2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3 Mask / denoise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双向恢复</a:t>
            </a:r>
          </a:p>
        </p:txBody>
      </p:sp>
      <p:sp>
        <p:nvSpPr>
          <p:cNvPr id="20" name="proposal-arrow-3">
            <a:extLst>
              <a:ext uri="{FF2B5EF4-FFF2-40B4-BE49-F238E27FC236}">
                <a16:creationId xmlns:a16="http://schemas.microsoft.com/office/drawing/2014/main" id="{9D504CF9-DF0E-457A-859B-781217431C70}"/>
              </a:ext>
            </a:extLst>
          </p:cNvPr>
          <p:cNvSpPr>
            <a:spLocks noGrp="1"/>
          </p:cNvSpPr>
          <p:nvPr/>
        </p:nvSpPr>
        <p:spPr>
          <a:xfrm>
            <a:off x="8296275" y="5238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proposal-stage-4">
            <a:extLst>
              <a:ext uri="{FF2B5EF4-FFF2-40B4-BE49-F238E27FC236}">
                <a16:creationId xmlns:a16="http://schemas.microsoft.com/office/drawing/2014/main" id="{228C2C8B-AC9A-4FA1-80F4-6BE92F193AAC}"/>
              </a:ext>
            </a:extLst>
          </p:cNvPr>
          <p:cNvSpPr>
            <a:spLocks noGrp="1"/>
          </p:cNvSpPr>
          <p:nvPr/>
        </p:nvSpPr>
        <p:spPr>
          <a:xfrm>
            <a:off x="8629650" y="5048250"/>
            <a:ext cx="2238375" cy="666750"/>
          </a:xfrm>
          <a:prstGeom prst="rect">
            <a:avLst/>
          </a:prstGeom>
          <a:solidFill>
            <a:srgbClr val="E5EFE9"/>
          </a:solidFill>
          <a:ln w="9525">
            <a:solidFill>
              <a:srgbClr val="2D6B5B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4 Legal expand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→ geometry</a:t>
            </a:r>
          </a:p>
        </p:txBody>
      </p:sp>
    </p:spTree>
    <p:extLst>
      <p:ext uri="{BB962C8B-B14F-4D97-AF65-F5344CB8AC3E}">
        <p14:creationId xmlns:p14="http://schemas.microsoft.com/office/powerpoint/2010/main" val="1597091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1346812-B41D-44E3-9E11-F27C49153FD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09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E6A164-064E-4BFF-9A60-0E6264AE746D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后续工作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3B0B22-2A54-41F9-B6F8-068BF2F7FA64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先证明它解决什么，再证明它更强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E5C414-458F-4366-99EC-734BF35CCC89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CB5F77-0176-4C9D-825F-24E08E3C35E5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三阶段实验，先把 representation gain 与 generator gain 拆开。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7A8E219-EC18-4627-BB7A-1E8F754F03AA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03B90-056C-4A03-9330-B9054383A7D4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复现：WyFormer / DynaCrys / MaskGXT 的同口径基线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0CAB8FD-61F6-45D2-B233-302E966ECAE2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CDFD1A-9CAD-4B1D-9477-965A766D14FB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消融：比较 sequence-level 与 set-level byte-pair encoding；加入 prototype-disjoint split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2F825EE-C992-4B24-B712-E9C933FE4585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58E6D6-3D20-4252-A6AA-122811B9A389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指标：合法性、对称保持、novelty、diversity、速度与低数据效率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8786D1-2BF0-4773-8101-5237643309CA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B325-C643-4842-8CFA-C20CE350B74C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Evaluation · paper pages 7–10; MaskGXT Experiments · paper pages 9–12; WyFormer Experiments · paper pages 6–9</a:t>
            </a:r>
          </a:p>
        </p:txBody>
      </p:sp>
    </p:spTree>
    <p:extLst>
      <p:ext uri="{BB962C8B-B14F-4D97-AF65-F5344CB8AC3E}">
        <p14:creationId xmlns:p14="http://schemas.microsoft.com/office/powerpoint/2010/main" val="357907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324FFBE-7C71-4866-B1DF-B614034EC591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032A48-4009-4F0F-BE3C-6B9375C4F7E4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讨论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1FB8D-850E-469F-BC3E-1F0EEF565BF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结论：保留方向，改成 Wyckoff grammar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C98346-B7F6-40A3-AA3D-D7EC8A4227FB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64768A-1FDC-41CF-9956-C95C6DBC8D6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17372F"/>
                </a:solidFill>
              </a:defRPr>
            </a:pPr>
            <a:r>
              <a:rPr sz="1500" b="1">
                <a:solidFill>
                  <a:srgbClr val="17372F"/>
                </a:solidFill>
              </a:rPr>
              <a:t>当前判断：generic Wyckoff DLM = incremental；structured set-DLM + symmetry-aware vocabulary = viable hypothesis。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59BBBCF-56F0-4C2B-8CFB-C588A2354CB1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9A454B-D47A-46E1-B303-C2584AB5B382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可以做：先复现，再做 legal set-level byte-pair encoding prototype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1C0D171-60FA-4096-8FBD-809C074524B2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3BDBB9-FA5A-4557-8D8B-E2BD72F1A98A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不能先宣称：首次 DLM / 首次 Wyckoff diffusion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3B20320-779A-4D1A-A0BF-2F5EF4D28C57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012198-75D3-4EB9-9E32-64C5796E50B8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需要拍板：先做 full crystal，还是先做 protostructure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D030FF-F4BC-46E0-BAE0-A8033D9F522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1187D0-60C9-419A-8ADF-9D141481EC48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Conclusion · paper page 10; MaskGXT Conclusion / Limitations · paper pages 11–12; bounded related-work scan</a:t>
            </a:r>
          </a:p>
        </p:txBody>
      </p:sp>
    </p:spTree>
    <p:extLst>
      <p:ext uri="{BB962C8B-B14F-4D97-AF65-F5344CB8AC3E}">
        <p14:creationId xmlns:p14="http://schemas.microsoft.com/office/powerpoint/2010/main" val="1584246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ber">
            <a:extLst>
              <a:ext uri="{FF2B5EF4-FFF2-40B4-BE49-F238E27FC236}">
                <a16:creationId xmlns:a16="http://schemas.microsoft.com/office/drawing/2014/main" id="{FDDED9C3-3D4B-4C96-B7C2-025AB0A03BFA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9E47C345-5CA8-485C-99B7-93E6D0EC8287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2095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模型对比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438A60D-8AF1-400D-8F9B-5535F2C6698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rPr>
              <a:t>晶体生成模型与我们的方案</a:t>
            </a:r>
          </a:p>
        </p:txBody>
      </p:sp>
      <p:graphicFrame>
        <p:nvGraphicFramePr>
          <p:cNvPr id="12" name="表格 11"/>
          <p:cNvGraphicFramePr/>
          <p:nvPr>
            <p:extLst>
              <p:ext uri="{D42A27DB-BD31-4B8C-83A1-F6EECF244321}">
                <p14:modId xmlns:p14="http://schemas.microsoft.com/office/powerpoint/2010/main" val="4105870951"/>
              </p:ext>
            </p:extLst>
          </p:nvPr>
        </p:nvGraphicFramePr>
        <p:xfrm>
          <a:off x="1757362" y="1457325"/>
          <a:ext cx="8677275" cy="451485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表示 / tokenizer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生成范式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条件生成设置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直接输出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/ 元素字段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连续坐标与晶格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逐位点、逐字段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空间群、结构补全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性质预测器 + MCMC 引导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Matra-Genoa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可逆混合字段序列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含自由坐标与晶格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条件前缀后逐项预测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稳定性、元素系统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支持空间群 / 位点前缀*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 + 位点对称 + 编号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复合 orbit 单元，无坐标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自回归级联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无位置编码 + 集合打乱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空间群条件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位点 × 元素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占据 / 计数离散变量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D3PM 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按抽取的空间群去噪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SymmCD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不对称单元、位点对称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元素、连续坐标与晶格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离散 + 连续扩散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空间群输入，按先验采样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DynaCrys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动态空间群、无序占据集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学习的对称</a:t>
                      </a:r>
                      <a:r>
                        <a:rPr sz="1125" b="0" dirty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codebook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符号与几何两阶段扩散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主实验为无条件生成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几何以自生成</a:t>
                      </a:r>
                      <a:r>
                        <a:rPr lang="en-US" altLang="zh-CN"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prototype</a:t>
                      </a:r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为条件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MaskGXT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逐原子 / 字段 token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几何量化 + 连续精度修正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非自回归掩码生成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按置信度迭代并行解码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给定化学组成的 CSP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原子类型与数量已知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WyckoffDiff-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Adaptor（补充）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沿用占据 / 计数表示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去噪网络加入条件适配器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 + 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 凸包上方能量条件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CrystalDLM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（我们的方案）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</a:t>
                      </a:r>
                      <a:r>
                        <a:rPr sz="1125" b="1" dirty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Wyckoff tokenizer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非自回归扩散</a:t>
                      </a:r>
                      <a:r>
                        <a:rPr sz="1125" b="1" dirty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/ DLM</a:t>
                      </a:r>
                    </a:p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双向恢复</a:t>
                      </a:r>
                      <a:r>
                        <a:rPr sz="1125" b="1" dirty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masked </a:t>
                      </a:r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单元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以条件生成为主要任务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具体条件类型待定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待定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原型或完整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definitions">
            <a:extLst>
              <a:ext uri="{FF2B5EF4-FFF2-40B4-BE49-F238E27FC236}">
                <a16:creationId xmlns:a16="http://schemas.microsoft.com/office/drawing/2014/main" id="{936DBE54-42A9-4C57-84D7-F0CDA023929A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58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原型结构（protostructure）：空间群与元素占据描述，尚缺完整晶格 / 自由坐标。* 支持字段，缺少专门条件基准。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7B1B5FAA-746E-431C-810A-5F23ED7F2032}"/>
              </a:ext>
            </a:extLst>
          </p:cNvPr>
          <p:cNvSpPr>
            <a:spLocks noGrp="1"/>
          </p:cNvSpPr>
          <p:nvPr/>
        </p:nvSpPr>
        <p:spPr>
          <a:xfrm>
            <a:off x="685800" y="6619875"/>
            <a:ext cx="10858500" cy="161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依据 8 篇论文正文及相关附录（2026-09-07 核对）。完整比较与原文出处见本页备注。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2114510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3050</Words>
  <Application>Microsoft Macintosh PowerPoint</Application>
  <DocSecurity>0</DocSecurity>
  <PresentationFormat>宽屏</PresentationFormat>
  <Paragraphs>273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铖 桂</cp:lastModifiedBy>
  <cp:revision>1</cp:revision>
  <dcterms:created xsi:type="dcterms:W3CDTF">2026-09-07T13:39:25Z</dcterms:created>
  <dcterms:modified xsi:type="dcterms:W3CDTF">2026-09-08T03:07:29Z</dcterms:modified>
</cp:coreProperties>
</file>