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3.xml" ContentType="application/vnd.openxmlformats-officedocument.presentationml.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TokenizerSummary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TokenizerSummary13"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5f79c26c654ddd" /><Relationship Type="http://schemas.openxmlformats.org/officeDocument/2006/relationships/notesMaster" Target="/ppt/notesMasters/notesMaster1.xml" Id="Rffaa24f4196a4a16"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DynaCrys title page: https://arxiv.org/abs/2608.07401</a:t>
            </a:r>
          </a:p>
          <a:p>
            <a:r>
              <a:t>- MaskGXT title page: https://arxiv.org/abs/2606.22866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DynaCrys Introduction and symmetry representation: https://arxiv.org/abs/2608.07401 (paper pages 1-4)</a:t>
            </a:r>
          </a:p>
          <a:p>
            <a:r>
              <a:t>- SymmCD Introduction and representation: https://arxiv.org/abs/2502.03638 (paper pages 1, 4-6)</a:t>
            </a:r>
          </a:p>
          <a:p>
            <a:r>
              <a:t>- WyFormer Tokenization: https://arxiv.org/abs/2503.02407 (paper pages 4-5)</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WyFormer Figure 4 and Tokenization: https://arxiv.org/abs/2503.02407 (paper pages 4-5)</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DynaCrys Figure 1 and Method: https://arxiv.org/abs/2608.07401 (paper pages 2, 4-6)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MaskGXT Figure 3 and Sampling: https://arxiv.org/abs/2606.22866 (paper pages 6, 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DynaCrys Table 1: https://arxiv.org/abs/2608.07401 (paper page 8)</a:t>
            </a:r>
          </a:p>
          <a:p>
            <a:r>
              <a:t>- MaskGXT Tables 2 and 4: https://arxiv.org/abs/2606.22866 (paper pages 11-12)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CrystalFormer: https://arxiv.org/abs/2403.15734</a:t>
            </a:r>
          </a:p>
          <a:p>
            <a:r>
              <a:t>- Matra-Genoa: https://arxiv.org/abs/2501.16051</a:t>
            </a:r>
          </a:p>
          <a:p>
            <a:r>
              <a:t>- WyckoffDiff: https://arxiv.org/abs/2502.06485</a:t>
            </a:r>
          </a:p>
          <a:p>
            <a:r>
              <a:t>- SymmCD: https://arxiv.org/abs/2502.03638</a:t>
            </a:r>
          </a:p>
          <a:p>
            <a:r>
              <a:t>- DynaCrys: https://arxiv.org/abs/2608.07401</a:t>
            </a:r>
          </a:p>
          <a:p>
            <a:r>
              <a:t>- MaskGXT: https://arxiv.org/abs/2606.22866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WyFormer Tokenization: https://arxiv.org/abs/2503.02407 (paper pages 4-5)</a:t>
            </a:r>
          </a:p>
          <a:p>
            <a:r>
              <a:t>- DynaCrys Method: https://arxiv.org/abs/2608.07401 (paper pages 4-6)</a:t>
            </a:r>
          </a:p>
          <a:p>
            <a:r>
              <a:t>- MaskGXT Method: https://arxiv.org/abs/2606.22866 (paper pages 5-9)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DynaCrys Evaluation: https://arxiv.org/abs/2608.07401 (paper pages 7-10)</a:t>
            </a:r>
          </a:p>
          <a:p>
            <a:r>
              <a:t>- MaskGXT Experiments: https://arxiv.org/abs/2606.22866 (paper pages 9-12)</a:t>
            </a:r>
          </a:p>
          <a:p>
            <a:r>
              <a:t>- WyFormer Experiments: https://arxiv.org/abs/2503.02407 (paper pages 6-9)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DynaCrys Conclusion: https://arxiv.org/abs/2608.07401 (paper page 10)</a:t>
            </a:r>
          </a:p>
          <a:p>
            <a:r>
              <a:t>- MaskGXT Conclusion and Limitations: https://arxiv.org/abs/2606.22866 (paper pages 11-12)</a:t>
            </a:r>
          </a:p>
          <a:p>
            <a:r>
              <a:t>- Bounded related-work scan recorded in work/source-notes.txt</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晶体条件生成模型对比</a:t>
            </a:r>
          </a:p>
          <a:p>
            <a:endParaRPr/>
          </a:p>
          <a:p>
            <a:r>
              <a:t>文献核对日期：2026-09-07；方案更新：2026-09-09。范围为本地找到的 2026-09-01 报告 `group_meeting_draft.pptx` 中的 7 个相关模型，并补入直接相关的 WyckoffDiff-Adaptor。以下依据论文正文、方法、实验及相关附录整理，不以摘要或旧 PPT 的结论代替原文。我们的模型尚属拟议方案；用户本次确认条件类型尚未确定。</a:t>
            </a:r>
          </a:p>
          <a:p>
            <a:endParaRPr/>
          </a:p>
          <a:p>
            <a:r>
              <a:t>## 模型对比表</a:t>
            </a:r>
          </a:p>
          <a:p>
            <a:endParaRPr/>
          </a:p>
          <a:p>
            <a:r>
              <a:t>AR = autoregressive，自回归；非 AR = non-autoregressive，非自回归。**生成范式与是否条件生成是两个独立维度**。Protostructure 指空间群和元素占据的 Wyckoff 描述，尚缺完整晶格与自由坐标。</a:t>
            </a:r>
          </a:p>
          <a:p>
            <a:endParaRPr/>
          </a:p>
          <a:p>
            <a:r>
              <a:t>| 模型 | 表示 / tokenizer 的基本单元 | 生成范式与解码方式 | 条件生成：原文做了什么 | 模型直接输出 | 与我们拟议方案的主要关系 |</a:t>
            </a:r>
          </a:p>
          <a:p>
            <a:r>
              <a:t>|---|---|---|---|---|---|</a:t>
            </a:r>
          </a:p>
          <a:p>
            <a:r>
              <a:t>| **CrystalFormer** [1] | 人工定义的 Wyckoff letter、元素字段；自由坐标与晶格用连续分布建模，无 BPE 合并 | **AR**；按 Wyckoff 字母序，依次生成位点、元素、坐标，最后晶格 | 空间群条件；已做结构补全，以及外接性质预测器的 **MCMC 性质引导采样**，包括带隙、形成能 | **完整晶体结构** | 条件生成和结构补全已有先例；我们拟更换 tokenizer 和 AR 生成机制 |</a:t>
            </a:r>
          </a:p>
          <a:p>
            <a:r>
              <a:t>| **Matra-Genoa** [2] | 可逆的晶体字段序列：元素、计量、稳定性、空间群、Wyckoff 位点、自由坐标、晶格；离散与连续嵌入混合 | **AR**；条件前缀后逐项预测 | 已做稳定性 LOW/HIGH 前缀、元素化学系统条件；空间群和 Wyckoff 位点可作为前缀约束，但没有同等完整的独立条件基准 | **完整晶体结构** | 已有结构化编码与条件生成；主要需比较 空间群边轨道 tokenizer 与非 AR 去噪的作用 |</a:t>
            </a:r>
          </a:p>
          <a:p>
            <a:r>
              <a:t>| **WyFormer / Wyckoff Transformer** [3] | 每个 orbit 用 **元素 + site symmetry + enumeration** 复合单元表示；不含自由坐标；字段分别嵌入，无 BPE 合并 | **AR**；element → symmetry → enumeration 级联；编码器无位置编码，训练打乱 orbit 顺序 | 空间群条件生成；性质预测是另一任务；化学计量条件 CSP 列为未来工作 | **Protostructure**；后接 PyXtal / 几何生成与弛豫 | 与我们的 Wyckoff 集合表示最接近；“输入无序”本身不能作为非 AR 创新，待比较离散连接原型与非AR生成 |</a:t>
            </a:r>
          </a:p>
          <a:p>
            <a:r>
              <a:t>| **WyckoffDiff** [4] | 固定空间群下的 **Wyckoff 位点 × 元素占据/计数** 离散变量；不是文本分词器 | **非 AR，D3PM 离散扩散**；WyckoffGNN 联合去噪 | 结构上以空间群为条件，主流程从经验分布抽取空间群；主实验为 de novo 生成，未做性质或给定化学式的条件任务 | **Protostructure**；PyXtal 等补几何 | 已覆盖 Wyckoff 表示 + 非 AR 离散扩散；我们的 tokenizer 必须有比占据矩阵更具体的区别 |</a:t>
            </a:r>
          </a:p>
          <a:p>
            <a:r>
              <a:t>| **SymmCD** [5] | 不对称单元：orbit 代表原子、位点对称矩阵、元素、连续坐标和晶格；不是文本 BPE | **非 AR，离散 + 连续联合扩散** | 空间群作为输入，主流程按先验采样；未报告化学式、性质或部分结构条件基准，组成条件 CSP 是已述局限 | **完整晶体结构**；投影到合法 Wyckoff 位后展开 | 已有对称压缩表示与非 AR 扩散；我们的潜在区别在边轨道连接表示及选定后的条件任务 |</a:t>
            </a:r>
          </a:p>
          <a:p>
            <a:r>
              <a:t>| **DynaCrys** [6] | **空间群 + orbit 数 + 无序的 Wyckoff row / 元素占据集合**；共享学习的对称 codebook，无 BPE 合并 | **非 AR，两阶段扩散**；动态空间群的符号扩散，再生成几何 | 主实验明确为 **unconditional generation**；第二阶段以自生成 protostructure 为条件，不等于用户指定条件的任务 | **完整晶体结构**；中间为 protostructure | 已有无序集合、对称 codebook 与扩散；我们的条件任务定位不同，tokenizer 仍需与其 codebook 机制区分 |</a:t>
            </a:r>
          </a:p>
          <a:p>
            <a:r>
              <a:t>| **MaskGXT** [7] | **逐原子/逐字段 token**：空间群、晶格 bins、坐标 bins、Wyckoff、元素；附 sub-bin 连续修正 | **非 AR，掩码生成模型**；MaskGIT 式按置信度迭代并行解 mask | 已做 **给定化学组成的 CSP**；原子类型及数量已知，预测晶格、坐标及对称信息 | **完整晶体结构** | 已覆盖 conditional + 非 AR masked generation；若我们选组成条件，它是最直接的比较对象之一，差异不能只写“不是 AR” |</a:t>
            </a:r>
          </a:p>
          <a:p>
            <a:r>
              <a:t>| **WyckoffDiff-Adaptor**（补充）[8] | 沿用 WyckoffDiff 的占据/计数表示，在 WyckoffGNN 中加入条件 Adaptor | **非 AR，条件离散扩散** | 已联合使用 **空间群 + 元素化学系统 + energy above hull** 条件；元素系统不等同于固定化学计量式 | **Protostructure**；PyXtal 补几何，再弛豫 | 已覆盖对称感知条件扩散；若我们选稳定性/元素条件，需要明确与该方法的 tokenizer 和条件处理差别 |</a:t>
            </a:r>
          </a:p>
          <a:p>
            <a:r>
              <a:t>| **我们的模型：CrystalDLM（边轨道候选）** | **位点约束＋空间群边轨道**；整数prototype保留周期连接，自由坐标与晶格分离 | **拟采用非AR扩散 / DLM**；已验证并行单级几何去噪，完整采样尚未实现 | **最终应用条件仍待定**；已测prototype＋指定晶格条件的几何去噪 | 已实现prototype编码与去噪位移；完整生成器待实现 | 新差别限定为边轨道合并与离散/连续接口；ASU、仿射边和扩散均已有先例。相对ASU省显存但稍慢，未声称生成质量领先 |</a:t>
            </a:r>
          </a:p>
          <a:p>
            <a:endParaRPr/>
          </a:p>
          <a:p>
            <a:r>
              <a:t>## 表格结论与用词边界</a:t>
            </a:r>
          </a:p>
          <a:p>
            <a:endParaRPr/>
          </a:p>
          <a:p>
            <a:r>
              <a:t>1. **不能把已有模型概括为“AR、无条件生成”。** WyckoffDiff、SymmCD、DynaCrys 已做非 AR 扩散；MaskGXT 已做组成条件的非 AR 掩码生成；WyckoffDiff-Adaptor 已做条件离散扩散。[4–8]</a:t>
            </a:r>
          </a:p>
          <a:p>
            <a:r>
              <a:t>2. **条件生成也不是 AR 模型缺失的通用能力。** CrystalFormer 有结构补全和性质引导 MCMC；Matra-Genoa 有稳定性/化学系统条件。需要比较条件进入方式和实际任务，而不是只勾选“支持条件”。[1–2]</a:t>
            </a:r>
          </a:p>
          <a:p>
            <a:r>
              <a:t>3. **“Tokenizer 不同”需要落到编码单元上。** 已有工作分别采用复合 orbit 单元、占据矩阵、混合连续/离散字段、固定量化 bins 和对称 codebook。当前候选把位点约束与边轨道连接组成离散prototype，并把自由几何分离；已验证编码与模型组件用途，不能外推成完整生成优势。[1–8；本地 PPT 第 8 页]</a:t>
            </a:r>
          </a:p>
          <a:p>
            <a:r>
              <a:t>4. **MaskGXT 保留原文分类。** 表中写 MaskGIT 式掩码生成与迭代并行解码，不将它直接等同于 D3PM，也不武断排除它与 masked diffusion 的数学联系。[7，§2、§4.3–4.5]</a:t>
            </a:r>
          </a:p>
          <a:p>
            <a:endParaRPr/>
          </a:p>
          <a:p>
            <a:r>
              <a:t>“无条件”是没有用户指定目标条件，不代表盲目的均匀随机生成；条件生成同样可以随机采样。表中用 unconditional / conditional，比“随机生成 / 非随机生成”更准确。</a:t>
            </a:r>
          </a:p>
          <a:p>
            <a:endParaRPr/>
          </a:p>
          <a:p>
            <a:r>
              <a:t>可用于汇报的当前定位：**我们拟研究空间群边轨道tokenizer与非自回归条件生成。离散prototype和单级几何去噪已实现；完整扩散生成仍拟议，最终应用条件类型尚未确定。**</a:t>
            </a:r>
          </a:p>
          <a:p>
            <a:endParaRPr/>
          </a:p>
          <a:p>
            <a:r>
              <a:t>补充的直接先例包括SLICES、coGN/Ruff与SGEquiDiff。已有ASU节点及仿射边不能作为首次贡献；当前差别和实验证据见 [边轨道方案](edge_orbit_tokenizer_proposal.md)。独立复核的去噪误差下降不是相对ASU的精度提升；同参数两路径保持一致，边压缩提供显存—耗时权衡。</a:t>
            </a:r>
          </a:p>
          <a:p>
            <a:endParaRPr/>
          </a:p>
          <a:p>
            <a:r>
              <a:t>## 原文证据与阅读版本</a:t>
            </a:r>
          </a:p>
          <a:p>
            <a:endParaRPr/>
          </a:p>
          <a:p>
            <a:r>
              <a:t>以下页码均为对应版本 PDF 页码。链接固定到本次所读版本，避免后续改版造成页码漂移。</a:t>
            </a:r>
          </a:p>
          <a:p>
            <a:endParaRPr/>
          </a:p>
          <a:p>
            <a:r>
              <a:t>- **[1] CrystalFormer** — *Space Group Informed Transformer for Crystalline Materials Generation*, [arXiv:2403.15734v3](https://arxiv.org/abs/2403.15734v3)。§II.A、Eq.1：表示与 AR 分解，PDF pp.2–5；§III.B、Fig.8：结构条件元素替换/补全，pp.9–10；§III.C、Fig.9 及 Appendix E：性质后验与 MCMC，pp.10–11、28–29。特别区分外接预测器引导与生成器内部条件 token。</a:t>
            </a:r>
          </a:p>
          <a:p>
            <a:r>
              <a:t>- **[2] Matra-Genoa** — *A generative material transformer using Wyckoff representation*, [arXiv:2501.16051v2](https://arxiv.org/abs/2501.16051v2)。§II.A–B、Fig.1：可逆混合表示、条件前缀与 AR 采样，pp.2–3；§II.C、Fig.3：Al–Ca–Cu 化学系统实验，p.4。稳定性 LOW/HIGH 以 0.075 eV/atom 的 hull distance 为界；该化学系统实验没有给定完整化学式。</a:t>
            </a:r>
          </a:p>
          <a:p>
            <a:r>
              <a:t>- **[3] WyFormer** — *Wyckoff Transformer: Generation of Symmetric Crystals*, [arXiv:2503.02407v4](https://arxiv.org/abs/2503.02407v4)。§2.1–2.4、Fig.4：复合 orbit 单元、无位置编码、AR cascade 与几何后处理，pp.4–5；§3.2 是性质预测；结论 p.9 将 stoichiometry-conditioned CSP 列为未来工作。Appendix R p.29 补充 token 词表分析。</a:t>
            </a:r>
          </a:p>
          <a:p>
            <a:r>
              <a:t>- **[4] WyckoffDiff** — *WyckoffDiff — A Generative Diffusion Model for Crystal Symmetry*, [arXiv:2502.06485v4](https://arxiv.org/abs/2502.06485v4)。§3.1–3.4、Eq.3–6：占据/计数变量、`p(s,z)=p(s)p(z|s)` 与 D3PM，pp.3–5；§5、Fig.3：protostructure 后的 PyXtal/MACE/DFT 发现流程，pp.8–9。后处理稳定性筛选不等于性质条件去噪。</a:t>
            </a:r>
          </a:p>
          <a:p>
            <a:r>
              <a:t>- **[5] SymmCD** — *SymmCD: Symmetry-Preserving Crystal Generation with Diffusion Models*, [arXiv:2502.03638v3](https://arxiv.org/abs/2502.03638v3)。§4.1–4.3：不对称单元与混合扩散，pp.4–7；Algorithm 2 p.7：空间群输入、合法位点投影与展开；Conclusion p.10：composition-conditioned CSP 局限。</a:t>
            </a:r>
          </a:p>
          <a:p>
            <a:r>
              <a:t>- **[6] DynaCrys** — *DynaCrys: Crystal Generation with Dynamic Space-Group Diffusion*, [arXiv:2608.07401v1](https://arxiv.org/abs/2608.07401v1)。§4.1–4.4：无序 occupation 集合、codebook、动态空间群、几何阶段，pp.4–6；§5.1 p.7 明确主实验为 unconditional；Appendices C–F 细化 codebook、去噪与几何。学习的 embedding/codebook 不等于 BPE 合并词表。</a:t>
            </a:r>
          </a:p>
          <a:p>
            <a:r>
              <a:t>- **[7] MaskGXT** — *Discovering Crystal Structure Prediction Algorithms with an AI Co-Scientist*, [arXiv:2606.22866v1](https://arxiv.org/abs/2606.22866v1)。§4.1、Fig.3：`1+6+5N` 编码，pp.5–7；§4.3–4.5：掩码学习与采样，pp.7–9；§5.3 p.10：composition-conditioned CSP；Appendix A p.16 允许固定空间群的可选接口，但本文主结果不是独立给定 SG 基准。§4.1 说明对称 token 与几何的一致性通过训练鼓励，并非硬约束。</a:t>
            </a:r>
          </a:p>
          <a:p>
            <a:r>
              <a:t>- **[8] WyckoffDiff-Adaptor** — *Symmetry-aware Conditional Generation of Crystal Structures Using Diffusion Models*, [arXiv:2601.08115v1](https://arxiv.org/abs/2601.08115v1)。§2.1–2.2：条件 Adaptor 注入 WyckoffGNN 与 SG/chemical system/energy above hull 条件，pp.4–5；§3、Figs.2–5：相图、对称保持与几何限制，pp.6–8。PyXtal 是几何后处理；Adaptor 本身参与去噪网络，不能说成仅做后处理。</a:t>
            </a:r>
          </a:p>
          <a:p>
            <a:endParaRPr/>
          </a:p>
          <a:p>
            <a:r>
              <a:t>## 核对范围与限制</a:t>
            </a:r>
          </a:p>
          <a:p>
            <a:endParaRPr/>
          </a:p>
          <a:p>
            <a:r>
              <a:t>- 3 个 Luna 子智能体分别通读论文正文及相关附录，主智能体汇总，并复核了影响比较结论的关键原文：MaskGXT 的条件任务和分类、WyckoffDiff 的 SG 条件分解、CrystalFormer 的补全/性质引导、WyFormer 的未来工作、Adaptor 的条件类型等。</a:t>
            </a:r>
          </a:p>
          <a:p>
            <a:r>
              <a:t>- 8 份本地 PDF 的 SHA-256 均与已有完整性预检匹配，PDF 页数与提取文本页标记一致。`source_manifest.json` 保存具体映射；旧目录的 `dynacrys.pdf` 实际是 WyckoffDiff，`maskgxt.pdf` 实际是 WyFormer，已按内容和 arXiv 编号辨认。</a:t>
            </a:r>
          </a:p>
          <a:p>
            <a:r>
              <a:t>- 这是基于报告范围的比较，不是对整个晶体生成领域的系统综述，也不支持“全球首个”或“尚无人做过”的结论。未运行这些模型，不横比任务和评价协议不同的性能数字。</a:t>
            </a:r>
          </a:p>
          <a:p>
            <a:r>
              <a:t>- 本文由 AI 辅助阅读全文与汇总；不代表用户已人工读完全部论文。逐篇详细核对笔记保存在 `notes/`。</a:t>
            </a:r>
          </a:p>
          <a:p>
            <a:endParaRPr/>
          </a:p>
          <a:p>
            <a:endParaRPr/>
          </a:p>
          <a:p>
            <a:r>
              <a:t># 建议方案：空间群边轨道 tokenizer</a:t>
            </a:r>
          </a:p>
          <a:p>
            <a:endParaRPr/>
          </a:p>
          <a:p>
            <a:r>
              <a:t>更新：2026-09-09。建议把这条路线作为下一阶段模型开发的候选主线：**离散prototype保留位点约束和周期连接；自由坐标与晶格单独表示。** 已完成可逆编码、模型计算对照和独立数据上的条件去噪复核。完整多步扩散生成器仍未实现。</a:t>
            </a:r>
          </a:p>
          <a:p>
            <a:endParaRPr/>
          </a:p>
          <a:p>
            <a:r>
              <a:t>## 方法是什么</a:t>
            </a:r>
          </a:p>
          <a:p>
            <a:endParaRPr/>
          </a:p>
          <a:p>
            <a:r>
              <a:t>以空间群作用下的等价类作为编码单元，使用已有晶体学概念，不引入新的物理对象。</a:t>
            </a:r>
          </a:p>
          <a:p>
            <a:endParaRPr/>
          </a:p>
          <a:p>
            <a:r>
              <a:t>| 层次 | 记录内容 | 晶体学含义 |</a:t>
            </a:r>
          </a:p>
          <a:p>
            <a:r>
              <a:t>|---|---|---|</a:t>
            </a:r>
          </a:p>
          <a:p>
            <a:r>
              <a:t>| 全局 | 空间群与当前设置的Seitz操作表 | 旋转和分数平移；可共享字典 |</a:t>
            </a:r>
          </a:p>
          <a:p>
            <a:r>
              <a:t>| 位点轨道 | 元素、Wyckoff标签、仿射位点稳定子 | 哪些操作固定该代表位点，定义允许的位置族 |</a:t>
            </a:r>
          </a:p>
          <a:p>
            <a:r>
              <a:t>| 边轨道 | 源位点、目标位点、操作编号、整数晶格平移 | 一条记录代表一组对称等价的周期邻接关系 |</a:t>
            </a:r>
          </a:p>
          <a:p>
            <a:r>
              <a:t>| 几何载荷 | 晶格、各位点的自由参数 | 由后续几何模型处理，不放进离散prototype |</a:t>
            </a:r>
          </a:p>
          <a:p>
            <a:endParaRPr/>
          </a:p>
          <a:p>
            <a:r>
              <a:t>一条边记录 `(i,j,g,n)` 表示代表位点 `q_i` 连接到 `R_g q_j+t_g+n`。应用空间群后可恢复该边轨道的全部邻接。当前实验使用4.5Å近邻图，不能把这些边全部称为化学键。</a:t>
            </a:r>
          </a:p>
          <a:p>
            <a:endParaRPr/>
          </a:p>
          <a:p>
            <a:r>
              <a:t>对位点稳定子中的操作，减去相应整数平移后得到精确固定位点的仿射操作。平均旋转为P、平均平移为b，则允许的坐标写成 **q=b+P u**。P、b由离散记录确定，u是连续自由参数；有效自由度为rank(P)。</a:t>
            </a:r>
          </a:p>
          <a:p>
            <a:endParaRPr/>
          </a:p>
          <a:p>
            <a:r>
              <a:t>例如训练数据中的 `mp-30009`（KrF₂，空间群139）包含固定的Kr位点和具有一个自由参数的F位点。当前代表选择下，Kr的位置族为 `(0,0,0)`，F的位置族为 `(1/2,1/2,z)`；prototype保留这些位置约束及边轨道，具体z和晶格放在独立几何载荷中。这是从实际编码结果提取的例子，不是新造的晶体学规则。</a:t>
            </a:r>
          </a:p>
          <a:p>
            <a:endParaRPr/>
          </a:p>
          <a:p>
            <a:r>
              <a:t>## 相对已有工作，区别在哪里</a:t>
            </a:r>
          </a:p>
          <a:p>
            <a:endParaRPr/>
          </a:p>
          <a:p>
            <a:r>
              <a:t>| 直接先例 | 已有内容 | 本方案的限定差别 |</a:t>
            </a:r>
          </a:p>
          <a:p>
            <a:r>
              <a:t>|---|---|---|</a:t>
            </a:r>
          </a:p>
          <a:p>
            <a:r>
              <a:t>| WyFormer | 每个orbit的元素、定向site-symmetry符号、enumeration | 进一步表达显式周期连接，并分离离散prototype与自由几何 |</a:t>
            </a:r>
          </a:p>
          <a:p>
            <a:r>
              <a:t>| SLICES / SLICES-PLUS | 平移标记的周期图；PLUS另编码对称操作 | 用完整空间群的边轨道组织连接单元，结合位点约束作可逆prototype |</a:t>
            </a:r>
          </a:p>
          <a:p>
            <a:r>
              <a:t>| coGN / Ruff等 | ASU节点、仿射像边、multiplicity-aware readout；官方构图逐条保留邻居边 | 进一步合并完整边轨道，并以重数和方向和进行网络计算 |</a:t>
            </a:r>
          </a:p>
          <a:p>
            <a:r>
              <a:t>| SGEquiDiff / SymmCD | 已有ASU/Wyckoff代表、对称约束和非AR扩散 | 差别不能放在“首次ASU/扩散”，而应放在离散边轨道单元与条件接口 |</a:t>
            </a:r>
          </a:p>
          <a:p>
            <a:endParaRPr/>
          </a:p>
          <a:p>
            <a:r>
              <a:t>创新定位应是**对已有晶体学表示的一种具体重参数化和模型接口设计**。ASU、位点稳定子、仿射边、加权聚合都不是新概念；梯度等价检查是正确性验证，也不是独立创新。已查到的直接先例没有给出这里这套边轨道合并＋整数prototype/自由几何分离的相同实现，但这不等于全球首创或足以保证论文录用。</a:t>
            </a:r>
          </a:p>
          <a:p>
            <a:endParaRPr/>
          </a:p>
          <a:p>
            <a:r>
              <a:t>主要原始来源：[WyFormer](https://arxiv.org/abs/2503.02407v4)、[SLICES](https://www.nature.com/articles/s41467-023-42870-7)、[SLICES-PLUS](https://arxiv.org/abs/2410.22828)、[coGN论文](https://doi.org/10.1039/D4DD00018H)、[coGN官方构图代码](https://github.com/aimat-lab/gcnn_keras/blob/v3.0.1/kgcnn/crystal/graph_builder.py)、[SGEquiDiff](https://arxiv.org/abs/2505.10994)。逐篇实际阅读范围与尚未取得的正文/代码明确记录在 `research/notes/`，没有把摘要或“未找到”当作全面排除先例。</a:t>
            </a:r>
          </a:p>
          <a:p>
            <a:endParaRPr/>
          </a:p>
          <a:p>
            <a:r>
              <a:t>## 已获得的证据</a:t>
            </a:r>
          </a:p>
          <a:p>
            <a:endParaRPr/>
          </a:p>
          <a:p>
            <a:r>
              <a:t>**表示本身：** 512个真实结构全部完成编码往返；每个prototype替换三套独立随机自由参数后，抽象周期图仍一致。418个prototype具有实际变化的自由坐标。prototype仅包含整数、字符串与容器，未夹带晶格数值或自由坐标。</a:t>
            </a:r>
          </a:p>
          <a:p>
            <a:endParaRPr/>
          </a:p>
          <a:p>
            <a:r>
              <a:t>**模型计算：** 在相同权重下，原胞图、ASU逐邻居图与边轨道图的输出、向量预测和梯度通过对应精度检查。相对更强的ASU逐邻居基线：</a:t>
            </a:r>
          </a:p>
          <a:p>
            <a:endParaRPr/>
          </a:p>
          <a:p>
            <a:r>
              <a:t>| 批次 | 峰值分配内存减少 | 前向＋反向时间变化 |</a:t>
            </a:r>
          </a:p>
          <a:p>
            <a:r>
              <a:t>|---|---:|---:|</a:t>
            </a:r>
          </a:p>
          <a:p>
            <a:r>
              <a:t>| 32图 | 28.6% | 慢7.1% |</a:t>
            </a:r>
          </a:p>
          <a:p>
            <a:r>
              <a:t>| 512图 | 44.6% | 慢11.7% |</a:t>
            </a:r>
          </a:p>
          <a:p>
            <a:endParaRPr/>
          </a:p>
          <a:p>
            <a:r>
              <a:t>因此已证实的是显存—耗时权衡，不能宣称相对ASU图更快。该结果限于所测径向消息与向量输出网络、固定拓扑，不包括在线构图。</a:t>
            </a:r>
          </a:p>
          <a:p>
            <a:endParaRPr/>
          </a:p>
          <a:p>
            <a:r>
              <a:t>**条件几何学习：** 给定离散prototype和指定晶格，训练非AR单级去噪网络，噪声sigma=0.1Å，所有位点同时更新。用22024个结构训练，固定20000步最终模型：</a:t>
            </a:r>
          </a:p>
          <a:p>
            <a:endParaRPr/>
          </a:p>
          <a:p>
            <a:r>
              <a:t>| 评价集合 | 可评价结构 | identity归一化MSE | 模型归一化MSE | MSE下降 |</a:t>
            </a:r>
          </a:p>
          <a:p>
            <a:r>
              <a:t>|---|---:|---:|---:|---:|</a:t>
            </a:r>
          </a:p>
          <a:p>
            <a:r>
              <a:t>| 固定开发集 | 1644 | 0.0098844 | 0.0027318 | 72.36% |</a:t>
            </a:r>
          </a:p>
          <a:p>
            <a:r>
              <a:t>| 独立保留集 | 5343 | 0.0097624 | 0.0028157 | 71.16% |</a:t>
            </a:r>
          </a:p>
          <a:p>
            <a:endParaRPr/>
          </a:p>
          <a:p>
            <a:r>
              <a:t>独立复核不再训练或选择checkpoint，5343个结构中5248个平均误差改善；差值的结构配对95%区间为 `[-0.007048,-0.006842]`。同权重ASU/边轨道预测最大差异约1.72e-6。</a:t>
            </a:r>
          </a:p>
          <a:p>
            <a:endParaRPr/>
          </a:p>
          <a:p>
            <a:r>
              <a:t>**71.16%不是新增tokenizer相对ASU的精度提升。** 两条路径预测本应一致；这个结果说明离散prototype作为条件可以被模型学习。新增边压缩的隔离收益是前面的显存减少。</a:t>
            </a:r>
          </a:p>
          <a:p>
            <a:endParaRPr/>
          </a:p>
          <a:p>
            <a:r>
              <a:t>## 与目标conditional diffusion怎么连接</a:t>
            </a:r>
          </a:p>
          <a:p>
            <a:endParaRPr/>
          </a:p>
          <a:p>
            <a:r>
              <a:t>可采用两阶段设计：首先以选定条件c生成离散prototype，再以prototype为条件生成允许的自由坐标与晶格。离散边轨道可以成为并行mask/恢复单元；几何模型在对应位点位置族内更新。最终c可以是组成、性质或部分结构，用户尚未确定，本次没有替最终任务定案。</a:t>
            </a:r>
          </a:p>
          <a:p>
            <a:endParaRPr/>
          </a:p>
          <a:p>
            <a:r>
              <a:t>现在实际实现的是tokenizer、可逆接口和“prototype＋给定晶格”的单级并行几何去噪。**尚未训练离散边token生成器，尚未实现多噪声级反向采样，也未验证新生成材料的稳定性。** 因此不能把这些结果写成一个已完成的端到端扩散模型。</a:t>
            </a:r>
          </a:p>
          <a:p>
            <a:endParaRPr/>
          </a:p>
          <a:p>
            <a:r>
              <a:t>晶格必须满足给定空间群的度量约束；位点/边轨道的固定分组也要求对应对称性维持。若采样中改变空间群、允许轨道分裂，或动态改变连接，须另行定义token状态转换，不能直接沿用当前固定分组。</a:t>
            </a:r>
          </a:p>
          <a:p>
            <a:endParaRPr/>
          </a:p>
          <a:p>
            <a:r>
              <a:t>## 研究决策</a:t>
            </a:r>
          </a:p>
          <a:p>
            <a:endParaRPr/>
          </a:p>
          <a:p>
            <a:r>
              <a:t>相比继续只改WP计数的组合方式，这条路线已经有明确的连接语义、离散/连续分工和模型组件用途，值得作为后续开发对象。下一步应优先验证实际的离散边token学习与多步条件采样，而不是继续用编解码成功或单级去噪误差代替生成质量。</a:t>
            </a:r>
          </a:p>
          <a:p>
            <a:endParaRPr/>
          </a:p>
          <a:p>
            <a:r>
              <a:t>实现与详细证据入口：`experiments/wyckoff_tokenizer_search/discrete_graph_prototype.py`、`prototype_conditions.py`；`DISCRETE_PROTOTYPE_RESULTS.md`、`ASU_CONTROL_RESULTS.md`、`FULL_PROTOTYPE_DENOISING_RESULTS.md`及独立复核结果文件。失败的小样本试验亦单独保留。</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本页总结 2026-09-08 至 09-09 的有记录方案，包含先行词表检查。六条路线进行过不同规模模型实验，一条只计数，一条只查文献。不是八种已验证有效的新 tokenizer。</a:t>
            </a:r>
          </a:p>
          <a:p xmlns:a="http://schemas.openxmlformats.org/drawingml/2006/main">
            <a:r>
              <a:t/>
            </a:r>
          </a:p>
          <a:p xmlns:a="http://schemas.openxmlformats.org/drawingml/2006/main">
            <a:r>
              <a:t>边轨道资源结果：512 图、同权重径向网络、相同 ASU 节点，比较逐邻居与边轨道路径的前后向计算，不含在线构图。输出与梯度一致，峰值 CUDA allocated memory 减少约 44.6%，耗时增加约 11.7%。条件去噪已有独立复核，但完整离散 token 生成及完整扩散采样尚未完成。</a:t>
            </a:r>
          </a:p>
          <a:p xmlns:a="http://schemas.openxmlformats.org/drawingml/2006/main">
            <a:r>
              <a:t/>
            </a:r>
          </a:p>
          <a:p xmlns:a="http://schemas.openxmlformats.org/drawingml/2006/main">
            <a:r>
              <a:t/>
            </a:r>
          </a:p>
          <a:p xmlns:a="http://schemas.openxmlformats.org/drawingml/2006/main">
            <a:r>
              <a:t>来源：experiments/wyckoff_vocab_gate1/RESULTS.md</a:t>
            </a:r>
          </a:p>
          <a:p xmlns:a="http://schemas.openxmlformats.org/drawingml/2006/main">
            <a:r>
              <a:t># 第一关结果：Wyckoff 单元素占位分配词表</a:t>
            </a:r>
          </a:p>
          <a:p xmlns:a="http://schemas.openxmlformats.org/drawingml/2006/main">
            <a:r>
              <a:t/>
            </a:r>
          </a:p>
          <a:p xmlns:a="http://schemas.openxmlformats.org/drawingml/2006/main">
            <a:r>
              <a:t>2026-09-08，已在 Burgundy 的 Slurm 计算节点完成。</a:t>
            </a:r>
          </a:p>
          <a:p xmlns:a="http://schemas.openxmlformats.org/drawingml/2006/main">
            <a:r>
              <a:t/>
            </a:r>
          </a:p>
          <a:p xmlns:a="http://schemas.openxmlformats.org/drawingml/2006/main">
            <a:r>
              <a:t>**结论：不建议直接建立全覆盖、每种完整占位分配独立成词的平坦词表。多数较小上下文可控，但组合规模存在极长尾。重数分拆作为上层 token 值得考察；能否减少实际学习难度，尚需第二关的真实数据分布和后续模型实验。**</a:t>
            </a:r>
          </a:p>
          <a:p xmlns:a="http://schemas.openxmlformats.org/drawingml/2006/main">
            <a:r>
              <a:t/>
            </a:r>
          </a:p>
          <a:p xmlns:a="http://schemas.openxmlformats.org/drawingml/2006/main">
            <a:r>
              <a:t>## 实际计算成本</a:t>
            </a:r>
          </a:p>
          <a:p xmlns:a="http://schemas.openxmlformats.org/drawingml/2006/main">
            <a:r>
              <a:t/>
            </a:r>
          </a:p>
          <a:p xmlns:a="http://schemas.openxmlformats.org/drawingml/2006/main">
            <a:r>
              <a:t>| 项目 | 实测 / 记录 |</a:t>
            </a:r>
          </a:p>
          <a:p xmlns:a="http://schemas.openxmlformats.org/drawingml/2006/main">
            <a:r>
              <a:t>|---|---|</a:t>
            </a:r>
          </a:p>
          <a:p xmlns:a="http://schemas.openxmlformats.org/drawingml/2006/main">
            <a:r>
              <a:t>| 成功作业 | `532545`，`COMPLETED`，退出码 `0:0` |</a:t>
            </a:r>
          </a:p>
          <a:p xmlns:a="http://schemas.openxmlformats.org/drawingml/2006/main">
            <a:r>
              <a:t>| 分区 / 节点 | `tiny / cpunode-057` |</a:t>
            </a:r>
          </a:p>
          <a:p xmlns:a="http://schemas.openxmlformats.org/drawingml/2006/main">
            <a:r>
              <a:t>| 申请资源 | 1 CPU、1 GiB 内存、15 分钟上限，0 GPU |</a:t>
            </a:r>
          </a:p>
          <a:p xmlns:a="http://schemas.openxmlformats.org/drawingml/2006/main">
            <a:r>
              <a:t>| Slurm 实际耗时 | 15 秒 |</a:t>
            </a:r>
          </a:p>
          <a:p xmlns:a="http://schemas.openxmlformats.org/drawingml/2006/main">
            <a:r>
              <a:t>| Python 全流程 | 14.23 秒，含读取、校验、计数、输出和绘图 |</a:t>
            </a:r>
          </a:p>
          <a:p xmlns:a="http://schemas.openxmlformats.org/drawingml/2006/main">
            <a:r>
              <a:t>| 计数段 | 0.040 秒 |</a:t>
            </a:r>
          </a:p>
          <a:p xmlns:a="http://schemas.openxmlformats.org/drawingml/2006/main">
            <a:r>
              <a:t>| CPU 时间 | Slurm TotalCPU 约 3.21 秒 |</a:t>
            </a:r>
          </a:p>
          <a:p xmlns:a="http://schemas.openxmlformats.org/drawingml/2006/main">
            <a:r>
              <a:t>| 峰值内存 | Python `getrusage` 记录 131.95 MiB，含绘图 |</a:t>
            </a:r>
          </a:p>
          <a:p xmlns:a="http://schemas.openxmlformats.org/drawingml/2006/main">
            <a:r>
              <a:t/>
            </a:r>
          </a:p>
          <a:p xmlns:a="http://schemas.openxmlformats.org/drawingml/2006/main">
            <a:r>
              <a:t>Slurm 的周期采样 MaxRSS 为 29,888 KiB，短作业可能未采到峰值；报告采用进程自身记录的 131.95 MiB，不混用两种统计口径。所有科学计数、穷举校验和绘图都在计算节点执行，本地仅保存代码、传输文件和整理报告。</a:t>
            </a:r>
          </a:p>
          <a:p xmlns:a="http://schemas.openxmlformats.org/drawingml/2006/main">
            <a:r>
              <a:t/>
            </a:r>
          </a:p>
          <a:p xmlns:a="http://schemas.openxmlformats.org/drawingml/2006/main">
            <a:r>
              <a:t>初次作业 `532542` 在读表时遇到 `2x` 的隐式乘法写法，未进入计数即退出；补齐解析后重提交。两个作业的日志均保留，没有将失败作业算作完成。</a:t>
            </a:r>
          </a:p>
          <a:p xmlns:a="http://schemas.openxmlformats.org/drawingml/2006/main">
            <a:r>
              <a:t/>
            </a:r>
          </a:p>
          <a:p xmlns:a="http://schemas.openxmlformats.org/drawingml/2006/main">
            <a:r>
              <a:t>## 范围和计数含义</a:t>
            </a:r>
          </a:p>
          <a:p xmlns:a="http://schemas.openxmlformats.org/drawingml/2006/main">
            <a:r>
              <a:t/>
            </a:r>
          </a:p>
          <a:p xmlns:a="http://schemas.openxmlformats.org/drawingml/2006/main">
            <a:r>
              <a:t>- 数据：官方 PyXtal **1.1.4** wheel 内的 230 个空间群、1731 个 Wyckoff 位置，源文件校验和已固定。</a:t>
            </a:r>
          </a:p>
          <a:p xmlns:a="http://schemas.openxmlformats.org/drawingml/2006/main">
            <a:r>
              <a:t>- 扫描：230 × 40 = **9,200** 个 `(空间群 G, 单元素原子数 N)` 上下文。</a:t>
            </a:r>
          </a:p>
          <a:p xmlns:a="http://schemas.openxmlformats.org/drawingml/2006/main">
            <a:r>
              <a:t>- N=1…40 是该空间群 **PyXtal 默认表格晶胞中的单元素原子数**，不是整个材料的原子总数，也不是最简化学式计数。菱方空间群采用表格默认六方设置。</a:t>
            </a:r>
          </a:p>
          <a:p xmlns:a="http://schemas.openxmlformats.org/drawingml/2006/main">
            <a:r>
              <a:t>- 每个候选记录该元素在各个有标签的 Wyckoff 位置上占据的独立 orbit 次数。零自由度位置最多一次，有自由度位置可重复，要求重数加权总和等于 N。</a:t>
            </a:r>
          </a:p>
          <a:p xmlns:a="http://schemas.openxmlformats.org/drawingml/2006/main">
            <a:r>
              <a:t>- 动态规划精确计算整数生成函数系数，不实际展开大候选列表，未设枚举截断或快速近似。</a:t>
            </a:r>
          </a:p>
          <a:p xmlns:a="http://schemas.openxmlformats.org/drawingml/2006/main">
            <a:r>
              <a:t>- 未对等价原点/晶胞设置取商，未检查多元素占位冲突、几何、稳定性；这里不是物理不等价晶体数。</a:t>
            </a:r>
          </a:p>
          <a:p xmlns:a="http://schemas.openxmlformats.org/drawingml/2006/main">
            <a:r>
              <a:t/>
            </a:r>
          </a:p>
          <a:p xmlns:a="http://schemas.openxmlformats.org/drawingml/2006/main">
            <a:r>
              <a:t>## 核心结果</a:t>
            </a:r>
          </a:p>
          <a:p xmlns:a="http://schemas.openxmlformats.org/drawingml/2006/main">
            <a:r>
              <a:t/>
            </a:r>
          </a:p>
          <a:p xmlns:a="http://schemas.openxmlformats.org/drawingml/2006/main">
            <a:r>
              <a:t>分位数只针对候选数大于零的上下文；采用经验最近秩分位数。</a:t>
            </a:r>
          </a:p>
          <a:p xmlns:a="http://schemas.openxmlformats.org/drawingml/2006/main">
            <a:r>
              <a:t/>
            </a:r>
          </a:p>
          <a:p xmlns:a="http://schemas.openxmlformats.org/drawingml/2006/main">
            <a:r>
              <a:t>| 指标 | N=1…20 | N=1…40 |</a:t>
            </a:r>
          </a:p>
          <a:p xmlns:a="http://schemas.openxmlformats.org/drawingml/2006/main">
            <a:r>
              <a:t>|---|---:|---:|</a:t>
            </a:r>
          </a:p>
          <a:p xmlns:a="http://schemas.openxmlformats.org/drawingml/2006/main">
            <a:r>
              <a:t>| 检查上下文数 | 4,600 | 9,200 |</a:t>
            </a:r>
          </a:p>
          <a:p xmlns:a="http://schemas.openxmlformats.org/drawingml/2006/main">
            <a:r>
              <a:t>| 至少有一个候选 | 2,131 | 4,306 |</a:t>
            </a:r>
          </a:p>
          <a:p xmlns:a="http://schemas.openxmlformats.org/drawingml/2006/main">
            <a:r>
              <a:t>| 计数不相容，候选为 0 | 2,469 | 4,894 |</a:t>
            </a:r>
          </a:p>
          <a:p xmlns:a="http://schemas.openxmlformats.org/drawingml/2006/main">
            <a:r>
              <a:t>| 候选数中位数 | 20 | 78 |</a:t>
            </a:r>
          </a:p>
          <a:p xmlns:a="http://schemas.openxmlformats.org/drawingml/2006/main">
            <a:r>
              <a:t>| 第 90 百分位 | 776 | 12,072 |</a:t>
            </a:r>
          </a:p>
          <a:p xmlns:a="http://schemas.openxmlformats.org/drawingml/2006/main">
            <a:r>
              <a:t>| 第 95 百分位 | 3,854 | 95,130 |</a:t>
            </a:r>
          </a:p>
          <a:p xmlns:a="http://schemas.openxmlformats.org/drawingml/2006/main">
            <a:r>
              <a:t>| 第 99 百分位 | 151,038 | 10,962,528 |</a:t>
            </a:r>
          </a:p>
          <a:p xmlns:a="http://schemas.openxmlformats.org/drawingml/2006/main">
            <a:r>
              <a:t>| 最大候选数 | 29,428,536 | 52,979,534,432 |</a:t>
            </a:r>
          </a:p>
          <a:p xmlns:a="http://schemas.openxmlformats.org/drawingml/2006/main">
            <a:r>
              <a:t>| 可行上下文中候选 ≤1,000 的比例 | 90.76% | 76.73% |</a:t>
            </a:r>
          </a:p>
          <a:p xmlns:a="http://schemas.openxmlformats.org/drawingml/2006/main">
            <a:r>
              <a:t>| 候选超过 100 万的上下文数 | 13 | 93 |</a:t>
            </a:r>
          </a:p>
          <a:p xmlns:a="http://schemas.openxmlformats.org/drawingml/2006/main">
            <a:r>
              <a:t/>
            </a:r>
          </a:p>
          <a:p xmlns:a="http://schemas.openxmlformats.org/drawingml/2006/main">
            <a:r>
              <a:t>**这些比例给每个 `(G,N)` 同等权重，不是材料出现频率。不能解读为“90.76% 的 MP-20 材料可以高效编码”。** 当前实验没有使用 MP-20 结构数据；其中 N≤20 的列也不是 MP-20 性能结果。</a:t>
            </a:r>
          </a:p>
          <a:p xmlns:a="http://schemas.openxmlformats.org/drawingml/2006/main">
            <a:r>
              <a:t/>
            </a:r>
          </a:p>
          <a:p xmlns:a="http://schemas.openxmlformats.org/drawingml/2006/main">
            <a:r>
              <a:t>![候选规模热图及累积分布](results/vocabulary_scale.png)</a:t>
            </a:r>
          </a:p>
          <a:p xmlns:a="http://schemas.openxmlformats.org/drawingml/2006/main">
            <a:r>
              <a:t/>
            </a:r>
          </a:p>
          <a:p xmlns:a="http://schemas.openxmlformats.org/drawingml/2006/main">
            <a:r>
              <a:t>热图灰色表示该 N 与对应群的单元素重数组合不相容；并不表示该空间群没有晶体。右图显示可行上下文下的候选数长尾。</a:t>
            </a:r>
          </a:p>
          <a:p xmlns:a="http://schemas.openxmlformats.org/drawingml/2006/main">
            <a:r>
              <a:t/>
            </a:r>
          </a:p>
          <a:p xmlns:a="http://schemas.openxmlformats.org/drawingml/2006/main">
            <a:r>
              <a:t>## 最大案例与原因</a:t>
            </a:r>
          </a:p>
          <a:p xmlns:a="http://schemas.openxmlformats.org/drawingml/2006/main">
            <a:r>
              <a:t/>
            </a:r>
          </a:p>
          <a:p xmlns:a="http://schemas.openxmlformats.org/drawingml/2006/main">
            <a:r>
              <a:t>| 空间群 | 单元素 N | 完整有标签占位分配 | 去掉具体位点标签后的重数分拆 |</a:t>
            </a:r>
          </a:p>
          <a:p xmlns:a="http://schemas.openxmlformats.org/drawingml/2006/main">
            <a:r>
              <a:t>|---|---:|---:|---:|</a:t>
            </a:r>
          </a:p>
          <a:p xmlns:a="http://schemas.openxmlformats.org/drawingml/2006/main">
            <a:r>
              <a:t>| 47，Pmmm | 20 | 29,428,536 | 42 |</a:t>
            </a:r>
          </a:p>
          <a:p xmlns:a="http://schemas.openxmlformats.org/drawingml/2006/main">
            <a:r>
              <a:t>| 47，Pmmm | 40 | 52,979,534,432 | 146 |</a:t>
            </a:r>
          </a:p>
          <a:p xmlns:a="http://schemas.openxmlformats.org/drawingml/2006/main">
            <a:r>
              <a:t>| 16，P222 | 20 | 13,464,766 | 24 |</a:t>
            </a:r>
          </a:p>
          <a:p xmlns:a="http://schemas.openxmlformats.org/drawingml/2006/main">
            <a:r>
              <a:t/>
            </a:r>
          </a:p>
          <a:p xmlns:a="http://schemas.openxmlformats.org/drawingml/2006/main">
            <a:r>
              <a:t>Pmmm 的数据表包含 8 个重数为 1 的固定位置，以及 12 个重数为 2、6 个重数为 4、1 个重数为 8 的可重复位置。其生成函数为：</a:t>
            </a:r>
          </a:p>
          <a:p xmlns:a="http://schemas.openxmlformats.org/drawingml/2006/main">
            <a:r>
              <a:t/>
            </a:r>
          </a:p>
          <a:p xmlns:a="http://schemas.openxmlformats.org/drawingml/2006/main">
            <a:r>
              <a:t>`F_47(x) = (1+x)^8 / [(1-x^2)^12 (1-x^4)^6 (1-x^8)]`。</a:t>
            </a:r>
          </a:p>
          <a:p xmlns:a="http://schemas.openxmlformats.org/drawingml/2006/main">
            <a:r>
              <a:t/>
            </a:r>
          </a:p>
          <a:p xmlns:a="http://schemas.openxmlformats.org/drawingml/2006/main">
            <a:r>
              <a:t>很多具体位点拥有相同重数，使得同一种原子数分拆对应大量不同的 Wyckoff 占位分配。这是词表膨胀的来源之一，不是对重复 orbit 的排列进行了重复计数。</a:t>
            </a:r>
          </a:p>
          <a:p xmlns:a="http://schemas.openxmlformats.org/drawingml/2006/main">
            <a:r>
              <a:t/>
            </a:r>
          </a:p>
          <a:p xmlns:a="http://schemas.openxmlformats.org/drawingml/2006/main">
            <a:r>
              <a:t>全部 9,200 个上下文中，重数分拆数量最大为 **680**，出现在 `G=183, P6mm, N=40`。它是另一个上下文，不能拿 680 直接与 Pmmm 的最大完整分配数相除。</a:t>
            </a:r>
          </a:p>
          <a:p xmlns:a="http://schemas.openxmlformats.org/drawingml/2006/main">
            <a:r>
              <a:t/>
            </a:r>
          </a:p>
          <a:p xmlns:a="http://schemas.openxmlformats.org/drawingml/2006/main">
            <a:r>
              <a:t>## 对 tokenizer 的影响</a:t>
            </a:r>
          </a:p>
          <a:p xmlns:a="http://schemas.openxmlformats.org/drawingml/2006/main">
            <a:r>
              <a:t/>
            </a:r>
          </a:p>
          <a:p xmlns:a="http://schemas.openxmlformats.org/drawingml/2006/main">
            <a:r>
              <a:t>1. **“全部完整分配各占一个独立 token ID”不宜直接训练。** 即使限制 N≤20，最坏单上下文也已有约 2,943 万个类别。N≤40 的最坏情形约 530 亿个类别。不能只根据中位数较小判断全覆盖方案可行。</a:t>
            </a:r>
          </a:p>
          <a:p xmlns:a="http://schemas.openxmlformats.org/drawingml/2006/main">
            <a:r>
              <a:t>2. **分层有明确的规模动机。** Pmmm、N=40 的完整分配数是 52,979,534,432，而重数分拆只有 146。可以研究上层预测重数分拆，下层分别恢复具体 Wyckoff 身份。</a:t>
            </a:r>
          </a:p>
          <a:p xmlns:a="http://schemas.openxmlformats.org/drawingml/2006/main">
            <a:r>
              <a:t>3. **分层并未消灭结构信息。** 如果下层仍将所有完整位点组合列成一个巨型类别表，组合问题还在；下层需要按位点/计数分解，或使用结构化候选表示。</a:t>
            </a:r>
          </a:p>
          <a:p xmlns:a="http://schemas.openxmlformats.org/drawingml/2006/main">
            <a:r>
              <a:t>4. **不能仅凭这一关否定受限词表。** 数据中实际遇到的 G、N、orbit 数可能有很不同的分布。限定 orbit 数、对等价表示去重，或只在小候选上下文使用整块 token，都可能改变成本，但本轮未运行这些扩展。</a:t>
            </a:r>
          </a:p>
          <a:p xmlns:a="http://schemas.openxmlformats.org/drawingml/2006/main">
            <a:r>
              <a:t>5. **不证明性能与创新。** 本轮只回答候选规模和实现正确性。没有训练模型，没有验证条件满足率提升、生成新颖性或材料稳定性。</a:t>
            </a:r>
          </a:p>
          <a:p xmlns:a="http://schemas.openxmlformats.org/drawingml/2006/main">
            <a:r>
              <a:t/>
            </a:r>
          </a:p>
          <a:p xmlns:a="http://schemas.openxmlformats.org/drawingml/2006/main">
            <a:r>
              <a:t>下一步若继续，应进行原定第二关：使用真实材料，检查高候选上下文的实际出现频率、每元素占据 orbit 数，以及相同编码精度下的分层成本。当前未自动启动第二关。</a:t>
            </a:r>
          </a:p>
          <a:p xmlns:a="http://schemas.openxmlformats.org/drawingml/2006/main">
            <a:r>
              <a:t/>
            </a:r>
          </a:p>
          <a:p xmlns:a="http://schemas.openxmlformats.org/drawingml/2006/main">
            <a:r>
              <a:t>## 校验与可复现性</a:t>
            </a:r>
          </a:p>
          <a:p xmlns:a="http://schemas.openxmlformats.org/drawingml/2006/main">
            <a:r>
              <a:t/>
            </a:r>
          </a:p>
          <a:p xmlns:a="http://schemas.openxmlformats.org/drawingml/2006/main">
            <a:r>
              <a:t>- 全部 230 个群在 N=1…6 的 **1,380** 个上下文中，动态规划与独立递归穷举完全一致，共比较 **21,431** 个候选。重数分拆计数也与穷举去重结果一致。</a:t>
            </a:r>
          </a:p>
          <a:p xmlns:a="http://schemas.openxmlformats.org/drawingml/2006/main">
            <a:r>
              <a:t>- **1,731** 个 Wyckoff 坐标映射的有理数矩阵秩与 NumPy 数值矩阵秩一致。</a:t>
            </a:r>
          </a:p>
          <a:p xmlns:a="http://schemas.openxmlformats.org/drawingml/2006/main">
            <a:r>
              <a:t>- P1、P-1 闭式结果和 Fm-3m 的 N=4、N=8 边界案例通过。</a:t>
            </a:r>
          </a:p>
          <a:p xmlns:a="http://schemas.openxmlformats.org/drawingml/2006/main">
            <a:r>
              <a:t>- 回传 CSV 含 9,200 个不同上下文；本地代码 SHA-256 与成功作业记录一致。</a:t>
            </a:r>
          </a:p>
          <a:p xmlns:a="http://schemas.openxmlformats.org/drawingml/2006/main">
            <a:r>
              <a:t>- 执行代码 SHA-256：`c94551b4c5e3b1753804092e288657425358e49c90b4385d95cfa48a979b3552`。</a:t>
            </a:r>
          </a:p>
          <a:p xmlns:a="http://schemas.openxmlformats.org/drawingml/2006/main">
            <a:r>
              <a:t/>
            </a:r>
          </a:p>
          <a:p xmlns:a="http://schemas.openxmlformats.org/drawingml/2006/main">
            <a:r>
              <a:t>结果和复现文件：</a:t>
            </a:r>
          </a:p>
          <a:p xmlns:a="http://schemas.openxmlformats.org/drawingml/2006/main">
            <a:r>
              <a:t/>
            </a:r>
          </a:p>
          <a:p xmlns:a="http://schemas.openxmlformats.org/drawingml/2006/main">
            <a:r>
              <a:t>- `results/summary.json`：精确统计、环境、资源、校验记录。</a:t>
            </a:r>
          </a:p>
          <a:p xmlns:a="http://schemas.openxmlformats.org/drawingml/2006/main">
            <a:r>
              <a:t>- `results/counts.csv`：全部 9,200 个上下文。</a:t>
            </a:r>
          </a:p>
          <a:p xmlns:a="http://schemas.openxmlformats.org/drawingml/2006/main">
            <a:r>
              <a:t>- `results/wyckoff_metadata.csv`：1731 个位置的重数与自由度。</a:t>
            </a:r>
          </a:p>
          <a:p xmlns:a="http://schemas.openxmlformats.org/drawingml/2006/main">
            <a:r>
              <a:t>- `count_vocab.py`、`run.slurm`：执行代码与资源配置。</a:t>
            </a:r>
          </a:p>
          <a:p xmlns:a="http://schemas.openxmlformats.org/drawingml/2006/main">
            <a:r>
              <a:t>- `input/provenance.json`：数据来源与 SHA-256。</a:t>
            </a:r>
          </a:p>
          <a:p xmlns:a="http://schemas.openxmlformats.org/drawingml/2006/main">
            <a:r>
              <a:t>- `slurm_accounting.txt`、`logs/`：集群执行记录。</a:t>
            </a:r>
          </a:p>
          <a:p xmlns:a="http://schemas.openxmlformats.org/drawingml/2006/main">
            <a:r>
              <a:t>- 远程目录：`/scratch/chenggui2/CrystalDLM/gate1_20260908`。</a:t>
            </a:r>
          </a:p>
          <a:p xmlns:a="http://schemas.openxmlformats.org/drawingml/2006/main">
            <a:r>
              <a:t/>
            </a:r>
          </a:p>
          <a:p xmlns:a="http://schemas.openxmlformats.org/drawingml/2006/main">
            <a:r>
              <a:t>方法来源：[PyXtal 数据与组合接口](https://pyxtal.readthedocs.io/en/latest/_modules/pyxtal/symmetry.html)、[PyXtal 1.1.4](https://pypi.org/project/pyxtal/1.1.4/)、[WyckoffDiff §3.1 的占位表示](https://arxiv.org/html/2502.06485v4)。动态规划和本轮结果由本实验产生；报告由 AI 辅助编写。</a:t>
            </a:r>
          </a:p>
          <a:p xmlns:a="http://schemas.openxmlformats.org/drawingml/2006/main">
            <a:r>
              <a:t/>
            </a:r>
          </a:p>
          <a:p xmlns:a="http://schemas.openxmlformats.org/drawingml/2006/main">
            <a:r>
              <a:t/>
            </a:r>
          </a:p>
          <a:p xmlns:a="http://schemas.openxmlformats.org/drawingml/2006/main">
            <a:r>
              <a:t>来源：experiments/wyckoff_tokenizer_search/PILOT_RESULTS.md</a:t>
            </a:r>
          </a:p>
          <a:p xmlns:a="http://schemas.openxmlformats.org/drawingml/2006/main">
            <a:r>
              <a:t># 首组配对模型结果：未证明完整占位非线性编码有用</a:t>
            </a:r>
          </a:p>
          <a:p xmlns:a="http://schemas.openxmlformats.org/drawingml/2006/main">
            <a:r>
              <a:t/>
            </a:r>
          </a:p>
          <a:p xmlns:a="http://schemas.openxmlformats.org/drawingml/2006/main">
            <a:r>
              <a:t>本实验是给定组成和空间群的离散占位预测，使用cap256范围内26,086个训练结构、固定2,048个验证结构。两个模型均799,360个参数，seed=17，各训练2,000步，使用相同完整合法候选。成功Slurm作业532829，stingy/gpu-a100-05，耗时5分02秒。</a:t>
            </a:r>
          </a:p>
          <a:p xmlns:a="http://schemas.openxmlformats.org/drawingml/2006/main">
            <a:r>
              <a:t/>
            </a:r>
          </a:p>
          <a:p xmlns:a="http://schemas.openxmlformats.org/drawingml/2006/main">
            <a:r>
              <a:t>| 指标 | 逐WP可加打分 factorized | 完整占位非线性 compositional |</a:t>
            </a:r>
          </a:p>
          <a:p xmlns:a="http://schemas.openxmlformats.org/drawingml/2006/main">
            <a:r>
              <a:t>|---|---:|---:|</a:t>
            </a:r>
          </a:p>
          <a:p xmlns:a="http://schemas.openxmlformats.org/drawingml/2006/main">
            <a:r>
              <a:t>| 平均profile NLL | 0.624017 | 0.623681 |</a:t>
            </a:r>
          </a:p>
          <a:p xmlns:a="http://schemas.openxmlformats.org/drawingml/2006/main">
            <a:r>
              <a:t>| 非平凡候选元素准确率 | 75.09% | 75.32% |</a:t>
            </a:r>
          </a:p>
          <a:p xmlns:a="http://schemas.openxmlformats.org/drawingml/2006/main">
            <a:r>
              <a:t>| 独立argmax带标签结构exact-match | 56.25% | 56.93% |</a:t>
            </a:r>
          </a:p>
          <a:p xmlns:a="http://schemas.openxmlformats.org/drawingml/2006/main">
            <a:r>
              <a:t>| 固定位置互斥合法率（非几何有效率） | 87.55% | 88.13% |</a:t>
            </a:r>
          </a:p>
          <a:p xmlns:a="http://schemas.openxmlformats.org/drawingml/2006/main">
            <a:r>
              <a:t>| 未见正例profile的命中 | 11 / 81 | 5 / 81 |</a:t>
            </a:r>
          </a:p>
          <a:p xmlns:a="http://schemas.openxmlformats.org/drawingml/2006/main">
            <a:r>
              <a:t>| 相同精确联合解码后结构exact-match | 61.23% | 61.43% |</a:t>
            </a:r>
          </a:p>
          <a:p xmlns:a="http://schemas.openxmlformats.org/drawingml/2006/main">
            <a:r>
              <a:t/>
            </a:r>
          </a:p>
          <a:p xmlns:a="http://schemas.openxmlformats.org/drawingml/2006/main">
            <a:r>
              <a:t>联合解码作业532849对两者采用相同的零自由度位置bitmask exact MAP。该解码器经100组独立穷举案例核对；只保证已编码固定位置的跨元素互斥，不保证几何或稳定性。</a:t>
            </a:r>
          </a:p>
          <a:p xmlns:a="http://schemas.openxmlformats.org/drawingml/2006/main">
            <a:r>
              <a:t/>
            </a:r>
          </a:p>
          <a:p xmlns:a="http://schemas.openxmlformats.org/drawingml/2006/main">
            <a:r>
              <a:t>联合解码后的差值仅为 **+0.195个百分点**。按验证结构配对bootstrap的95%区间为 **[-1.123, +1.563]个百分点**，跨过0；这是单训练种子的开发结果，未估计训练随机性，也不是最终测试集结论。两者NLL几乎相同，未见profile上的小样本结果反而较差。</a:t>
            </a:r>
          </a:p>
          <a:p xmlns:a="http://schemas.openxmlformats.org/drawingml/2006/main">
            <a:r>
              <a:t/>
            </a:r>
          </a:p>
          <a:p xmlns:a="http://schemas.openxmlformats.org/drawingml/2006/main">
            <a:r>
              <a:t>## 当前决策</a:t>
            </a:r>
          </a:p>
          <a:p xmlns:a="http://schemas.openxmlformats.org/drawingml/2006/main">
            <a:r>
              <a:t/>
            </a:r>
          </a:p>
          <a:p xmlns:a="http://schemas.openxmlformats.org/drawingml/2006/main">
            <a:r>
              <a:t>不把“给完整占位向量加一个非线性候选编码器”认定为有用的新tokenizer。该架构可以训练，但首组证据不足以支持额外收益。文献方面，Parackal et al. 2024已有合法Wyckoff枚举加Wren排序，Wren也已有非线性multiset建模，因此这一候选的创新边界偏弱。</a:t>
            </a:r>
          </a:p>
          <a:p xmlns:a="http://schemas.openxmlformats.org/drawingml/2006/main">
            <a:r>
              <a:t/>
            </a:r>
          </a:p>
          <a:p xmlns:a="http://schemas.openxmlformats.org/drawingml/2006/main">
            <a:r>
              <a:t>这不证明所有完整占位模型都无效，也不能证明更长训练或其他参数一定无用。当前选择是不优先扩大其算力投入，而转向真正改变分词规则的有界候选。</a:t>
            </a:r>
          </a:p>
          <a:p xmlns:a="http://schemas.openxmlformats.org/drawingml/2006/main">
            <a:r>
              <a:t/>
            </a:r>
          </a:p>
          <a:p xmlns:a="http://schemas.openxmlformats.org/drawingml/2006/main">
            <a:r>
              <a:t>## 下一候选</a:t>
            </a:r>
          </a:p>
          <a:p xmlns:a="http://schemas.openxmlformats.org/drawingml/2006/main">
            <a:r>
              <a:t/>
            </a:r>
          </a:p>
          <a:p xmlns:a="http://schemas.openxmlformats.org/drawingml/2006/main">
            <a:r>
              <a:t>只在训练集上学习同一元素的无序Wyckoff子集合合并，每个新token最多覆盖4个orbits，保留全部基础WP作为回退。它不需要母相、畸变模式或新的晶体学概念。</a:t>
            </a:r>
          </a:p>
          <a:p xmlns:a="http://schemas.openxmlformats.org/drawingml/2006/main">
            <a:r>
              <a:t/>
            </a:r>
          </a:p>
          <a:p xmlns:a="http://schemas.openxmlformats.org/drawingml/2006/main">
            <a:r>
              <a:t>下一检查必须包括：</a:t>
            </a:r>
          </a:p>
          <a:p xmlns:a="http://schemas.openxmlformats.org/drawingml/2006/main">
            <a:r>
              <a:t/>
            </a:r>
          </a:p>
          <a:p xmlns:a="http://schemas.openxmlformats.org/drawingml/2006/main">
            <a:r>
              <a:t>- 全部处理数据的离散编码/解码正确性与输入orbit排列不变性；</a:t>
            </a:r>
          </a:p>
          <a:p xmlns:a="http://schemas.openxmlformats.org/drawingml/2006/main">
            <a:r>
              <a:t>- 与原始逐orbit编码、简单`(WP,count)`重复计数编码分别比较；</a:t>
            </a:r>
          </a:p>
          <a:p xmlns:a="http://schemas.openxmlformats.org/drawingml/2006/main">
            <a:r>
              <a:t>- 如果收益主要来自重复同一WP，不得把已有计数表示重新命名成创新；</a:t>
            </a:r>
          </a:p>
          <a:p xmlns:a="http://schemas.openxmlformats.org/drawingml/2006/main">
            <a:r>
              <a:t>- 只有表示检查通过后，才做同条件模型对照；压缩率本身不能完成当前目标。</a:t>
            </a:r>
          </a:p>
          <a:p xmlns:a="http://schemas.openxmlformats.org/drawingml/2006/main">
            <a:r>
              <a:t/>
            </a:r>
          </a:p>
          <a:p xmlns:a="http://schemas.openxmlformats.org/drawingml/2006/main">
            <a:r>
              <a:t>测试集尚未用于模型性能评估。当前研究目标保持未完成。</a:t>
            </a:r>
          </a:p>
          <a:p xmlns:a="http://schemas.openxmlformats.org/drawingml/2006/main">
            <a:r>
              <a:t/>
            </a:r>
          </a:p>
          <a:p xmlns:a="http://schemas.openxmlformats.org/drawingml/2006/main">
            <a:r>
              <a:t/>
            </a:r>
          </a:p>
          <a:p xmlns:a="http://schemas.openxmlformats.org/drawingml/2006/main">
            <a:r>
              <a:t>来源：experiments/wyckoff_tokenizer_search/WORD_RESULTS.md</a:t>
            </a:r>
          </a:p>
          <a:p xmlns:a="http://schemas.openxmlformats.org/drawingml/2006/main">
            <a:r>
              <a:t># 无序 Wyckoff 合并词：首轮结果</a:t>
            </a:r>
          </a:p>
          <a:p xmlns:a="http://schemas.openxmlformats.org/drawingml/2006/main">
            <a:r>
              <a:t/>
            </a:r>
          </a:p>
          <a:p xmlns:a="http://schemas.openxmlformats.org/drawingml/2006/main">
            <a:r>
              <a:t>**结论：编码可逆，但本轮没有证明合并词比普通 `(WP,count)` 编码更有模型价值。研究目标尚未完成。**</a:t>
            </a:r>
          </a:p>
          <a:p xmlns:a="http://schemas.openxmlformats.org/drawingml/2006/main">
            <a:r>
              <a:t/>
            </a:r>
          </a:p>
          <a:p xmlns:a="http://schemas.openxmlformats.org/drawingml/2006/main">
            <a:r>
              <a:t>## 实验与资源</a:t>
            </a:r>
          </a:p>
          <a:p xmlns:a="http://schemas.openxmlformats.org/drawingml/2006/main">
            <a:r>
              <a:t/>
            </a:r>
          </a:p>
          <a:p xmlns:a="http://schemas.openxmlformats.org/drawingml/2006/main">
            <a:r>
              <a:t>Burgundy Slurm 作业 532912 已 COMPLETED，节点 gpu-a100-05，1 张 A100 80GB，作业耗时 8 分 27 秒，Slurm batch MaxRSS 943,788 KiB。科学预处理、编码检查、训练与评估均在超算计算节点执行，本机仅编辑与拉取结果。</a:t>
            </a:r>
          </a:p>
          <a:p xmlns:a="http://schemas.openxmlformats.org/drawingml/2006/main">
            <a:r>
              <a:t/>
            </a:r>
          </a:p>
          <a:p xmlns:a="http://schemas.openxmlformats.org/drawingml/2006/main">
            <a:r>
              <a:t>三组均为 865,280 个参数，26,086 条训练结构，2,000 步，batch 64，seed 17；相同 2,048 条验证结构、输入组成和 SG、完整局部候选集合与固定位置排他联合 MAP 解码。每个候选上下文的候选数上限是 256，超限上下文所在结构整体排除。不是完整 MP20 生成评测。</a:t>
            </a:r>
          </a:p>
          <a:p xmlns:a="http://schemas.openxmlformats.org/drawingml/2006/main">
            <a:r>
              <a:t/>
            </a:r>
          </a:p>
          <a:p xmlns:a="http://schemas.openxmlformats.org/drawingml/2006/main">
            <a:r>
              <a:t>## 模型结果</a:t>
            </a:r>
          </a:p>
          <a:p xmlns:a="http://schemas.openxmlformats.org/drawingml/2006/main">
            <a:r>
              <a:t/>
            </a:r>
          </a:p>
          <a:p xmlns:a="http://schemas.openxmlformats.org/drawingml/2006/main">
            <a:r>
              <a:t>| 表示 | 平均 profile NLL ↓ | 无约束整结构匹配率 | 相同联合解码后匹配率 | 非平凡单元素准确率 | 训练及验证耗时 |</a:t>
            </a:r>
          </a:p>
          <a:p xmlns:a="http://schemas.openxmlformats.org/drawingml/2006/main">
            <a:r>
              <a:t>|---|---:|---:|---:|---:|---:|</a:t>
            </a:r>
          </a:p>
          <a:p xmlns:a="http://schemas.openxmlformats.org/drawingml/2006/main">
            <a:r>
              <a:t>| 逐 orbit 基本词 | 0.67105 | 53.76% | 58.20% | 71.93% | 170.97 s |</a:t>
            </a:r>
          </a:p>
          <a:p xmlns:a="http://schemas.openxmlformats.org/drawingml/2006/main">
            <a:r>
              <a:t>| `(WP,count)` 计数词 | 0.62995 | 55.47% | **60.45%** | **74.61%** | **157.30 s** |</a:t>
            </a:r>
          </a:p>
          <a:p xmlns:a="http://schemas.openxmlformats.org/drawingml/2006/main">
            <a:r>
              <a:t>| 无序集合合并词 | **0.62169** | 55.32% | 60.21% | 74.08% | 166.94 s |</a:t>
            </a:r>
          </a:p>
          <a:p xmlns:a="http://schemas.openxmlformats.org/drawingml/2006/main">
            <a:r>
              <a:t/>
            </a:r>
          </a:p>
          <a:p xmlns:a="http://schemas.openxmlformats.org/drawingml/2006/main">
            <a:r>
              <a:t>相对于计数编码，集合合并的联合解码匹配率为 **−0.244 个百分点**。按同一结构配对 bootstrap 2,000 次，95% 区间为 **[−1.563,+1.123] 个百分点**。该区间只反映验证样本抽样，不包含训练种子不确定性，不能用来证明等效或非劣。</a:t>
            </a:r>
          </a:p>
          <a:p xmlns:a="http://schemas.openxmlformats.org/drawingml/2006/main">
            <a:r>
              <a:t/>
            </a:r>
          </a:p>
          <a:p xmlns:a="http://schemas.openxmlformats.org/drawingml/2006/main">
            <a:r>
              <a:t>集合合并的 NLL 下降约 0.00826，但匹配率没有改善；本组不据此扩展训练或评估测试集。三者最佳 NLL 检查点均在第 2,000 步，结果受短预算限制，不能据此断言该方向在充分训练后一定无效。</a:t>
            </a:r>
          </a:p>
          <a:p xmlns:a="http://schemas.openxmlformats.org/drawingml/2006/main">
            <a:r>
              <a:t/>
            </a:r>
          </a:p>
          <a:p xmlns:a="http://schemas.openxmlformats.org/drawingml/2006/main">
            <a:r>
              <a:t>## 编码本身的结果</a:t>
            </a:r>
          </a:p>
          <a:p xmlns:a="http://schemas.openxmlformats.org/drawingml/2006/main">
            <a:r>
              <a:t/>
            </a:r>
          </a:p>
          <a:p xmlns:a="http://schemas.openxmlformats.org/drawingml/2006/main">
            <a:r>
              <a:t>完整训练集学习的 256 条合并规则：在成功预处理的测试结构上，比逐 orbit 少 25.86% 单元，比计数编码少 6.526% 单元。</a:t>
            </a:r>
          </a:p>
          <a:p xmlns:a="http://schemas.openxmlformats.org/drawingml/2006/main">
            <a:r>
              <a:t/>
            </a:r>
          </a:p>
          <a:p xmlns:a="http://schemas.openxmlformats.org/drawingml/2006/main">
            <a:r>
              <a:t>为确保公平，模型实验的词表重新只在共同保留的 26,086 条训练结构上学习。这套词表在同样全量成功预处理测试结构上，比计数编码少 **5.904%** 单元。两套词表不能混用同一个压缩百分比。所有成功预处理结构的离散还原及 orbit 反序编码一致性检查均 PASS；模型的 32,368 个候选在三种分解下也全部通过相同 WP 多重集还原。</a:t>
            </a:r>
          </a:p>
          <a:p xmlns:a="http://schemas.openxmlformats.org/drawingml/2006/main">
            <a:r>
              <a:t/>
            </a:r>
          </a:p>
          <a:p xmlns:a="http://schemas.openxmlformats.org/drawingml/2006/main">
            <a:r>
              <a:t>词数不等于比特率、显存或训练速度。当前模型仍每种元素一个 Transformer 槽位，合并词作为内部候选编码参与学习；本轮集合合并的实际耗时反而比计数编码约多 6.1%。不是直接词级离散扩散生成的结果。</a:t>
            </a:r>
          </a:p>
          <a:p xmlns:a="http://schemas.openxmlformats.org/drawingml/2006/main">
            <a:r>
              <a:t/>
            </a:r>
          </a:p>
          <a:p xmlns:a="http://schemas.openxmlformats.org/drawingml/2006/main">
            <a:r>
              <a:t>## 创新边界与决策</a:t>
            </a:r>
          </a:p>
          <a:p xmlns:a="http://schemas.openxmlformats.org/drawingml/2006/main">
            <a:r>
              <a:t/>
            </a:r>
          </a:p>
          <a:p xmlns:a="http://schemas.openxmlformats.org/drawingml/2006/main">
            <a:r>
              <a:t>频率驱动结构合并在 [GraphBPE §4.2](https://arxiv.org/html/2407.19039v1) 等分子表示工作中已有。当前可讨论的窄差异仅是对同 SG 下、没有序列邻接关系的精确 Wyckoff 多重集学习有界合并词；详见 `../../research/notes/set_merge_prior_art.md`。没有证明是新的 BPE 算法，也没有证明生成模型收益。</a:t>
            </a:r>
          </a:p>
          <a:p xmlns:a="http://schemas.openxmlformats.org/drawingml/2006/main">
            <a:r>
              <a:t/>
            </a:r>
          </a:p>
          <a:p xmlns:a="http://schemas.openxmlformats.org/drawingml/2006/main">
            <a:r>
              <a:t>**不把本轮候选提升为已验证的 tokenizer。** 不因 NLL 的单一小幅改善继续增加同一候选 ranker 的预算。若继续此方向，须改为直接预测/去噪这些词的模型，检验实际预测单元改变是否有帮助；它属于新的预先约定实验，不能把本轮空结果改写成成功。</a:t>
            </a:r>
          </a:p>
          <a:p xmlns:a="http://schemas.openxmlformats.org/drawingml/2006/main">
            <a:r>
              <a:t/>
            </a:r>
          </a:p>
          <a:p xmlns:a="http://schemas.openxmlformats.org/drawingml/2006/main">
            <a:r>
              <a:t>尚未验证：多训练种子、完整测试模型评测、原点/setting 等价取商、直接词级扩散、连续几何生成、材料稳定性与最终条件任务。最终条件类型仍未确定。</a:t>
            </a:r>
          </a:p>
          <a:p xmlns:a="http://schemas.openxmlformats.org/drawingml/2006/main">
            <a:r>
              <a:t/>
            </a:r>
          </a:p>
          <a:p xmlns:a="http://schemas.openxmlformats.org/drawingml/2006/main">
            <a:r>
              <a:t>## 可复现记录</a:t>
            </a:r>
          </a:p>
          <a:p xmlns:a="http://schemas.openxmlformats.org/drawingml/2006/main">
            <a:r>
              <a:t/>
            </a:r>
          </a:p>
          <a:p xmlns:a="http://schemas.openxmlformats.org/drawingml/2006/main">
            <a:r>
              <a:t>- `WORD_PROTOCOL.md`：三组公平性与范围。</a:t>
            </a:r>
          </a:p>
          <a:p xmlns:a="http://schemas.openxmlformats.org/drawingml/2006/main">
            <a:r>
              <a:t>- `model_runs/{unigram,rle,setmerge}_seed17/result.json`：参数量、数据与代码 SHA、耗时、原始指标。</a:t>
            </a:r>
          </a:p>
          <a:p xmlns:a="http://schemas.openxmlformats.org/drawingml/2006/main">
            <a:r>
              <a:t>- 同目录 `joint_validation.json` / `joint_predictions.jsonl`：联合解码指标及逐结构结果。</a:t>
            </a:r>
          </a:p>
          <a:p xmlns:a="http://schemas.openxmlformats.org/drawingml/2006/main">
            <a:r>
              <a:t>- `model_runs/paired_word_joint_validation_seed17.json`：配对差异与区间。</a:t>
            </a:r>
          </a:p>
          <a:p xmlns:a="http://schemas.openxmlformats.org/drawingml/2006/main">
            <a:r>
              <a:t>- `set_merge_cap256_audit/`：本轮模型使用的词表及 codec 审计。</a:t>
            </a:r>
          </a:p>
          <a:p xmlns:a="http://schemas.openxmlformats.org/drawingml/2006/main">
            <a:r>
              <a:t>- 远程检查点与数据：`/scratch/chenggui2/CrystalDLM/tokenizer_search_20260908`。</a:t>
            </a:r>
          </a:p>
          <a:p xmlns:a="http://schemas.openxmlformats.org/drawingml/2006/main">
            <a:r>
              <a:t/>
            </a:r>
          </a:p>
          <a:p xmlns:a="http://schemas.openxmlformats.org/drawingml/2006/main">
            <a:r>
              <a:t/>
            </a:r>
          </a:p>
          <a:p xmlns:a="http://schemas.openxmlformats.org/drawingml/2006/main">
            <a:r>
              <a:t>来源：experiments/wyckoff_tokenizer_search/DIRECT_WORD_RESULTS.md</a:t>
            </a:r>
          </a:p>
          <a:p xmlns:a="http://schemas.openxmlformats.org/drawingml/2006/main">
            <a:r>
              <a:t># 直接词级去噪：原始集合合并方案</a:t>
            </a:r>
          </a:p>
          <a:p xmlns:a="http://schemas.openxmlformats.org/drawingml/2006/main">
            <a:r>
              <a:t/>
            </a:r>
          </a:p>
          <a:p xmlns:a="http://schemas.openxmlformats.org/drawingml/2006/main">
            <a:r>
              <a:t>作业 532977 完成了计数编码与原始 orbit 集合合并的直接词级训练，各 2,000 步，499,776 参数，同样的 17 槽位/元素，不给真实词数。科学计算运行在 Burgundy gpu-a100-05。</a:t>
            </a:r>
          </a:p>
          <a:p xmlns:a="http://schemas.openxmlformats.org/drawingml/2006/main">
            <a:r>
              <a:t/>
            </a:r>
          </a:p>
          <a:p xmlns:a="http://schemas.openxmlformats.org/drawingml/2006/main">
            <a:r>
              <a:t>| 表示 | 联合合法读出后的整结构匹配率 | 平均 profile NLL | 原始词序列匹配率 |</a:t>
            </a:r>
          </a:p>
          <a:p xmlns:a="http://schemas.openxmlformats.org/drawingml/2006/main">
            <a:r>
              <a:t>|---|---:|---:|---:|</a:t>
            </a:r>
          </a:p>
          <a:p xmlns:a="http://schemas.openxmlformats.org/drawingml/2006/main">
            <a:r>
              <a:t>| `(WP,count)` | 50.00% | 0.87007 | 39.89% |</a:t>
            </a:r>
          </a:p>
          <a:p xmlns:a="http://schemas.openxmlformats.org/drawingml/2006/main">
            <a:r>
              <a:t>| 原始 orbit 集合合并 | 50.49% | 0.84656 | 37.94% |</a:t>
            </a:r>
          </a:p>
          <a:p xmlns:a="http://schemas.openxmlformats.org/drawingml/2006/main">
            <a:r>
              <a:t/>
            </a:r>
          </a:p>
          <a:p xmlns:a="http://schemas.openxmlformats.org/drawingml/2006/main">
            <a:r>
              <a:t>匹配率差 +0.488 个百分点，配对结构 bootstrap 95% 区间 [−1.074,+2.148] 个百分点。NLL 差 −0.02351，区间 [−0.04647,+0.00199]。均为单种子验证开发结果，不是有效收益的确认；原始词序列匹配率还受 PAD 比例不同影响。</a:t>
            </a:r>
          </a:p>
          <a:p xmlns:a="http://schemas.openxmlformats.org/drawingml/2006/main">
            <a:r>
              <a:t/>
            </a:r>
          </a:p>
          <a:p xmlns:a="http://schemas.openxmlformats.org/drawingml/2006/main">
            <a:r>
              <a:t>本组 batch32 与前一候选编码实验 batch64 不同，架构和训练目标也改变，因此只能在本表内部解释 tokenizer 差异，不能用跨实验的绝对匹配率下降评价 tokenizer。</a:t>
            </a:r>
          </a:p>
          <a:p xmlns:a="http://schemas.openxmlformats.org/drawingml/2006/main">
            <a:r>
              <a:t/>
            </a:r>
          </a:p>
          <a:p xmlns:a="http://schemas.openxmlformats.org/drawingml/2006/main">
            <a:r>
              <a:t>## 可定位的表示问题与后续假设</a:t>
            </a:r>
          </a:p>
          <a:p xmlns:a="http://schemas.openxmlformats.org/drawingml/2006/main">
            <a:r>
              <a:t/>
            </a:r>
          </a:p>
          <a:p xmlns:a="http://schemas.openxmlformats.org/drawingml/2006/main">
            <a:r>
              <a:t>原始集合合并从单 orbit 开始，未被规则覆盖的部分回退到单 orbit。普通 RLE 则对同一个 WP 的任意占据次数直接编码为一个 `(WP,count)` 单元。因而旧集合合并有可能比 RLE 更长，且将次数信息分散到多个词。</a:t>
            </a:r>
          </a:p>
          <a:p xmlns:a="http://schemas.openxmlformats.org/drawingml/2006/main">
            <a:r>
              <a:t/>
            </a:r>
          </a:p>
          <a:p xmlns:a="http://schemas.openxmlformats.org/drawingml/2006/main">
            <a:r>
              <a:t>后续候选从 RLE 记录开始，只合并**不同 WP 的计数记录**，每个合并块最多包含 3 个不同 WP；保留 RLE 回退。每次合并严格减少一个编码单元，所以不可能比原始 RLE 更长。这是对已定位问题的表示修正，不是已有模型收益。</a:t>
            </a:r>
          </a:p>
          <a:p xmlns:a="http://schemas.openxmlformats.org/drawingml/2006/main">
            <a:r>
              <a:t/>
            </a:r>
          </a:p>
          <a:p xmlns:a="http://schemas.openxmlformats.org/drawingml/2006/main">
            <a:r>
              <a:t>修正后的候选用独立 `count_merge_candidates/` 数据包和 `count_block_runs/` 结果目录，重新运行相同 RLE 对照，避免覆盖本轮证据或混用模型结果。</a:t>
            </a:r>
          </a:p>
          <a:p xmlns:a="http://schemas.openxmlformats.org/drawingml/2006/main">
            <a:r>
              <a:t/>
            </a:r>
          </a:p>
          <a:p xmlns:a="http://schemas.openxmlformats.org/drawingml/2006/main">
            <a:r>
              <a:t>证据：`direct_word_runs/paired_seed17.json` 及各模型 `result.json`、`predictions.jsonl`；协议：`DIRECT_WORD_PROTOCOL.md`。仍未评估完整扩散采样、连续几何或材料稳定性。</a:t>
            </a:r>
          </a:p>
          <a:p xmlns:a="http://schemas.openxmlformats.org/drawingml/2006/main">
            <a:r>
              <a:t/>
            </a:r>
          </a:p>
          <a:p xmlns:a="http://schemas.openxmlformats.org/drawingml/2006/main">
            <a:r>
              <a:t/>
            </a:r>
          </a:p>
          <a:p xmlns:a="http://schemas.openxmlformats.org/drawingml/2006/main">
            <a:r>
              <a:t>来源：experiments/wyckoff_tokenizer_search/COUNT_BLOCK_ASSESSMENT.md</a:t>
            </a:r>
          </a:p>
          <a:p xmlns:a="http://schemas.openxmlformats.org/drawingml/2006/main">
            <a:r>
              <a:t># Wyckoff 计数块 tokenizer：冻结版本评估</a:t>
            </a:r>
          </a:p>
          <a:p xmlns:a="http://schemas.openxmlformats.org/drawingml/2006/main">
            <a:r>
              <a:t/>
            </a:r>
          </a:p>
          <a:p xmlns:a="http://schemas.openxmlformats.org/drawingml/2006/main">
            <a:r>
              <a:t>**结论：已经得到可独立调用、可逆的计数块 tokenizer；当前固定槽位实验有约 14% 的峰值显存下降，但没有确认稳定的预测质量提升。它仍是候选，尚不把“找到有充分模型价值的新 tokenizer”的研究目标标记为完成。**</a:t>
            </a:r>
          </a:p>
          <a:p xmlns:a="http://schemas.openxmlformats.org/drawingml/2006/main">
            <a:r>
              <a:t/>
            </a:r>
          </a:p>
          <a:p xmlns:a="http://schemas.openxmlformats.org/drawingml/2006/main">
            <a:r>
              <a:t>## 1. 具体表示</a:t>
            </a:r>
          </a:p>
          <a:p xmlns:a="http://schemas.openxmlformats.org/drawingml/2006/main">
            <a:r>
              <a:t/>
            </a:r>
          </a:p>
          <a:p xmlns:a="http://schemas.openxmlformats.org/drawingml/2006/main">
            <a:r>
              <a:t>空间群作为全局头部，每种元素单独表示。基础记录是 `(Wyckoff位置, 独立orbit占据次数)`，即 RLE 计数表示。只在训练集上学习频率合并规则，把同元素、同空间群内最多 3 个不同 WP 的计数记录组合成一个词；其余记录原样回退为单条 RLE 记录。</a:t>
            </a:r>
          </a:p>
          <a:p xmlns:a="http://schemas.openxmlformats.org/drawingml/2006/main">
            <a:r>
              <a:t/>
            </a:r>
          </a:p>
          <a:p xmlns:a="http://schemas.openxmlformats.org/drawingml/2006/main">
            <a:r>
              <a:t>例如，训练数据学到的一条规则是空间群 62 中的 `8d×1 + 4c×1`。它编码为一个包含两条记录的词，解码恢复两个 orbit，共 12 个原子。合并不意味着两组原子相邻或组成某个配位多面体，也不引入新的晶体学概念。</a:t>
            </a:r>
          </a:p>
          <a:p xmlns:a="http://schemas.openxmlformats.org/drawingml/2006/main">
            <a:r>
              <a:t/>
            </a:r>
          </a:p>
          <a:p xmlns:a="http://schemas.openxmlformats.org/drawingml/2006/main">
            <a:r>
              <a:t>当前版本有 182 条合并规则。每次合并使编码单元数减少一个，因此不会比原 RLE 更长。与早先从单 orbit 开始的集合合并不同，它不会把未覆盖的重复占据重新拆成许多基本词。</a:t>
            </a:r>
          </a:p>
          <a:p xmlns:a="http://schemas.openxmlformats.org/drawingml/2006/main">
            <a:r>
              <a:t/>
            </a:r>
          </a:p>
          <a:p xmlns:a="http://schemas.openxmlformats.org/drawingml/2006/main">
            <a:r>
              <a:t>## 2. 编码验证</a:t>
            </a:r>
          </a:p>
          <a:p xmlns:a="http://schemas.openxmlformats.org/drawingml/2006/main">
            <a:r>
              <a:t/>
            </a:r>
          </a:p>
          <a:p xmlns:a="http://schemas.openxmlformats.org/drawingml/2006/main">
            <a:r>
              <a:t>独立实现：`portable_tokenizer/count_block_tokenizer.py`，只需要 Python 标准库。词表与元数据：`portable_tokenizer/count_block_tokenizer.json`。</a:t>
            </a:r>
          </a:p>
          <a:p xmlns:a="http://schemas.openxmlformats.org/drawingml/2006/main">
            <a:r>
              <a:t/>
            </a:r>
          </a:p>
          <a:p xmlns:a="http://schemas.openxmlformats.org/drawingml/2006/main">
            <a:r>
              <a:t>- 训练规则只拟合共同模型训练子集的 26,086 个结构。</a:t>
            </a:r>
          </a:p>
          <a:p xmlns:a="http://schemas.openxmlformats.org/drawingml/2006/main">
            <a:r>
              <a:t>- 对全部 45,180 个成功预处理结构检查离散还原、原子计数、输入顺序不变性、相对 RLE 不变长，全部通过。</a:t>
            </a:r>
          </a:p>
          <a:p xmlns:a="http://schemas.openxmlformats.org/drawingml/2006/main">
            <a:r>
              <a:t>- 对全部 32,368 个模型候选检查独立实现与冻结模型的 token 顺序完全一致，通过。</a:t>
            </a:r>
          </a:p>
          <a:p xmlns:a="http://schemas.openxmlformats.org/drawingml/2006/main">
            <a:r>
              <a:t>- 全部成功预处理测试结构（9,037 个）的单元数从 33,129 降到 29,949，减少 **9.60%**。</a:t>
            </a:r>
          </a:p>
          <a:p xmlns:a="http://schemas.openxmlformats.org/drawingml/2006/main">
            <a:r>
              <a:t>- 支持未见过的计数通过结构化 RLE 记录回退；SG1 的 `a×37` 已做编码检查，不意味着神经模型对该输入经过训练或评估。</a:t>
            </a:r>
          </a:p>
          <a:p xmlns:a="http://schemas.openxmlformats.org/drawingml/2006/main">
            <a:r>
              <a:t/>
            </a:r>
          </a:p>
          <a:p xmlns:a="http://schemas.openxmlformats.org/drawingml/2006/main">
            <a:r>
              <a:t>源 MP20 CSV 共 45,229 条，预处理有 49 条设置/重数一致性失败，已单独记录并排除。上面的“全部通过”不包括这 49 条。</a:t>
            </a:r>
          </a:p>
          <a:p xmlns:a="http://schemas.openxmlformats.org/drawingml/2006/main">
            <a:r>
              <a:t/>
            </a:r>
          </a:p>
          <a:p xmlns:a="http://schemas.openxmlformats.org/drawingml/2006/main">
            <a:r>
              <a:t>## 3. 冻结模型对照</a:t>
            </a:r>
          </a:p>
          <a:p xmlns:a="http://schemas.openxmlformats.org/drawingml/2006/main">
            <a:r>
              <a:t/>
            </a:r>
          </a:p>
          <a:p xmlns:a="http://schemas.openxmlformats.org/drawingml/2006/main">
            <a:r>
              <a:t>任务是给定**常规晶胞组成和空间群**，预测离散 Wyckoff 占据。这是便于诊断的条件任务；用户最终要采用的条件类型仍未确定。</a:t>
            </a:r>
          </a:p>
          <a:p xmlns:a="http://schemas.openxmlformats.org/drawingml/2006/main">
            <a:r>
              <a:t/>
            </a:r>
          </a:p>
          <a:p xmlns:a="http://schemas.openxmlformats.org/drawingml/2006/main">
            <a:r>
              <a:t>两种模型均为 499,776 参数、相同 Transformer 与嵌入、相同数据和合法候选读出，各 10,000 步、batch32、种子 17/29/43。按固定验证集 NLL 选择检查点，再重新加载全部六个检查点确认验证结果可复现。随后一次性评估冻结的 8,730 个共同保留测试结构。</a:t>
            </a:r>
          </a:p>
          <a:p xmlns:a="http://schemas.openxmlformats.org/drawingml/2006/main">
            <a:r>
              <a:t/>
            </a:r>
          </a:p>
          <a:p xmlns:a="http://schemas.openxmlformats.org/drawingml/2006/main">
            <a:r>
              <a:t>两者使用各自完整候选库的最大长度：RLE 为 9 槽位/元素，计数块为 6；位置参数表仍同为 17 行。没有向模型提供真实目标词数。模型候选上下文上限为 256，超限结构整体排除，不是截断其候选表。</a:t>
            </a:r>
          </a:p>
          <a:p xmlns:a="http://schemas.openxmlformats.org/drawingml/2006/main">
            <a:r>
              <a:t/>
            </a:r>
          </a:p>
          <a:p xmlns:a="http://schemas.openxmlformats.org/drawingml/2006/main">
            <a:r>
              <a:t>| 指标 | RLE 计数编码 | Wyckoff 计数块 | 解释 |</a:t>
            </a:r>
          </a:p>
          <a:p xmlns:a="http://schemas.openxmlformats.org/drawingml/2006/main">
            <a:r>
              <a:t>|---|---:|---:|---|</a:t>
            </a:r>
          </a:p>
          <a:p xmlns:a="http://schemas.openxmlformats.org/drawingml/2006/main">
            <a:r>
              <a:t>| 三种子平均测试 Top-1 匹配率 | 61.47% | 61.77% | +0.29 个百分点，未确认提升 |</a:t>
            </a:r>
          </a:p>
          <a:p xmlns:a="http://schemas.openxmlformats.org/drawingml/2006/main">
            <a:r>
              <a:t>| 三种子平均测试 profile NLL | 0.67484 | 0.66566 | 均值低约 1.36%，未确认稳定提升 |</a:t>
            </a:r>
          </a:p>
          <a:p xmlns:a="http://schemas.openxmlformats.org/drawingml/2006/main">
            <a:r>
              <a:t>| 平均峰值 CUDA allocation | 81.54 MiB | 70.09 MiB | 在该固定槽位实现中少约 14.04% |</a:t>
            </a:r>
          </a:p>
          <a:p xmlns:a="http://schemas.openxmlformats.org/drawingml/2006/main">
            <a:r>
              <a:t>| 每次 10,000 步训练与验证平均耗时 | 144.05 s | 148.93 s | 计数块慢约 3.38%，没有速度收益 |</a:t>
            </a:r>
          </a:p>
          <a:p xmlns:a="http://schemas.openxmlformats.org/drawingml/2006/main">
            <a:r>
              <a:t/>
            </a:r>
          </a:p>
          <a:p xmlns:a="http://schemas.openxmlformats.org/drawingml/2006/main">
            <a:r>
              <a:t>对配对种子和结构做层级 bootstrap，匹配率差的 95% 区间为 **[−1.16,+2.01] 个百分点**；NLL 差的区间为 **[−0.02666,+0.00716]**，两者均包含零。只有三个初始化，也不能把这个区间当成对训练随机性的全面估计。</a:t>
            </a:r>
          </a:p>
          <a:p xmlns:a="http://schemas.openxmlformats.org/drawingml/2006/main">
            <a:r>
              <a:t/>
            </a:r>
          </a:p>
          <a:p xmlns:a="http://schemas.openxmlformats.org/drawingml/2006/main">
            <a:r>
              <a:t>逐种子结果说明不能只挑 seed17：</a:t>
            </a:r>
          </a:p>
          <a:p xmlns:a="http://schemas.openxmlformats.org/drawingml/2006/main">
            <a:r>
              <a:t/>
            </a:r>
          </a:p>
          <a:p xmlns:a="http://schemas.openxmlformats.org/drawingml/2006/main">
            <a:r>
              <a:t>| 种子 | RLE 匹配率 | 计数块匹配率 | 计数块减 RLE 的 NLL |</a:t>
            </a:r>
          </a:p>
          <a:p xmlns:a="http://schemas.openxmlformats.org/drawingml/2006/main">
            <a:r>
              <a:t>|---|---:|---:|---:|</a:t>
            </a:r>
          </a:p>
          <a:p xmlns:a="http://schemas.openxmlformats.org/drawingml/2006/main">
            <a:r>
              <a:t>| 17 | 62.02% | 64.08% | −0.02603 |</a:t>
            </a:r>
          </a:p>
          <a:p xmlns:a="http://schemas.openxmlformats.org/drawingml/2006/main">
            <a:r>
              <a:t>| 29 | 61.89% | 60.88% | −0.00394 |</a:t>
            </a:r>
          </a:p>
          <a:p xmlns:a="http://schemas.openxmlformats.org/drawingml/2006/main">
            <a:r>
              <a:t>| 43 | 60.52% | 60.34% | +0.00245 |</a:t>
            </a:r>
          </a:p>
          <a:p xmlns:a="http://schemas.openxmlformats.org/drawingml/2006/main">
            <a:r>
              <a:t/>
            </a:r>
          </a:p>
          <a:p xmlns:a="http://schemas.openxmlformats.org/drawingml/2006/main">
            <a:r>
              <a:t>另一个只用训练频率拟合、按 `(SG,N,element)` 回退的条件基线达到 58.63% 匹配率、0.64743 NLL。神经模型的 Top-1 高于它，但 NLL 仍不如它；不能据小幅平均 NLL 优势就宣称计数块改善了晶体生成分布。</a:t>
            </a:r>
          </a:p>
          <a:p xmlns:a="http://schemas.openxmlformats.org/drawingml/2006/main">
            <a:r>
              <a:t/>
            </a:r>
          </a:p>
          <a:p xmlns:a="http://schemas.openxmlformats.org/drawingml/2006/main">
            <a:r>
              <a:t>失败案例按预先明确的规则选择：三种子中 RLE 都正确而计数块都错误的测试结构有 16 个；反向情况有 17 个；两者三种子都错误的有 1,924 个。各类取 material ID 升序的前三个，保存组成、空间群及实际/预测 WP 计数，不挑看起来好看的例子，也不推断这些标签差异的物理原因。</a:t>
            </a:r>
          </a:p>
          <a:p xmlns:a="http://schemas.openxmlformats.org/drawingml/2006/main">
            <a:r>
              <a:t/>
            </a:r>
          </a:p>
          <a:p xmlns:a="http://schemas.openxmlformats.org/drawingml/2006/main">
            <a:r>
              <a:t>NLL 是各单元素完整候选集合上归一化后的 profile NLL，不是包含固定位置联合归一化的完整晶体 log likelihood。匹配率则使用两者相同的固定 WP 排他联合 MAP 读出。</a:t>
            </a:r>
          </a:p>
          <a:p xmlns:a="http://schemas.openxmlformats.org/drawingml/2006/main">
            <a:r>
              <a:t/>
            </a:r>
          </a:p>
          <a:p xmlns:a="http://schemas.openxmlformats.org/drawingml/2006/main">
            <a:r>
              <a:t>## 4. 文献差异的边界</a:t>
            </a:r>
          </a:p>
          <a:p xmlns:a="http://schemas.openxmlformats.org/drawingml/2006/main">
            <a:r>
              <a:t/>
            </a:r>
          </a:p>
          <a:p xmlns:a="http://schemas.openxmlformats.org/drawingml/2006/main">
            <a:r>
              <a:t>[WyckoffDiff §3.1–3.4 与附录 A](https://arxiv.org/abs/2502.06485v4) 已使用 WP×元素的占据次数变量，并由共享 WyckoffGNN 同时去噪。其独立加噪变量和逐变量输出不意味着网络无法学习 WP 之间的依赖。</a:t>
            </a:r>
          </a:p>
          <a:p xmlns:a="http://schemas.openxmlformats.org/drawingml/2006/main">
            <a:r>
              <a:t/>
            </a:r>
          </a:p>
          <a:p xmlns:a="http://schemas.openxmlformats.org/drawingml/2006/main">
            <a:r>
              <a:t>[WyFormer §2.1–2.3](https://arxiv.org/abs/2503.02407v4) 以单个 WP 的元素、site symmetry、enumeration 字段为预测单元。[GraphBPE](https://arxiv.org/abs/2407.19039) 等工作已建立结构上的频率合并方法。</a:t>
            </a:r>
          </a:p>
          <a:p xmlns:a="http://schemas.openxmlformats.org/drawingml/2006/main">
            <a:r>
              <a:t/>
            </a:r>
          </a:p>
          <a:p xmlns:a="http://schemas.openxmlformats.org/drawingml/2006/main">
            <a:r>
              <a:t>在本次已核查正文、附录和官方代码的范围内，没有找到与“同元素多 WP 计数记录合成频率学习的离散预测单元，并保留 RLE 回退”完全相同的明确实现。可讨论的差异是**对既有占据表示做预测单元分组**，不是新的物理表示、新的 BPE 原理、首个条件扩散或首个共占据依赖模型。完整阅读范围和限制见两份 prior-art 笔记。</a:t>
            </a:r>
          </a:p>
          <a:p xmlns:a="http://schemas.openxmlformats.org/drawingml/2006/main">
            <a:r>
              <a:t/>
            </a:r>
          </a:p>
          <a:p xmlns:a="http://schemas.openxmlformats.org/drawingml/2006/main">
            <a:r>
              <a:t>## 5. 下一项需要排除的疑问</a:t>
            </a:r>
          </a:p>
          <a:p xmlns:a="http://schemas.openxmlformats.org/drawingml/2006/main">
            <a:r>
              <a:t/>
            </a:r>
          </a:p>
          <a:p xmlns:a="http://schemas.openxmlformats.org/drawingml/2006/main">
            <a:r>
              <a:t>当前显存收益来自真实的固定槽位实验，但还没有与更充分的**按已知条件裁剪并打包**的 RLE 基线对照。每个 `(SG,N)` 都可以由完整候选集合推导所需的最大槽位数；这不需要读取目标词数。对两者都做这种处理，可能缩小当前的显存差异。</a:t>
            </a:r>
          </a:p>
          <a:p xmlns:a="http://schemas.openxmlformats.org/drawingml/2006/main">
            <a:r>
              <a:t/>
            </a:r>
          </a:p>
          <a:p xmlns:a="http://schemas.openxmlformats.org/drawingml/2006/main">
            <a:r>
              <a:t>因此下一步先检查这一更强的资源对照，不以当前 14% 数字直接结束研究。最终测试集已经用于此冻结版本；后续版本如再次使用，必须披露复用，不能再称首次未见测试。</a:t>
            </a:r>
          </a:p>
          <a:p xmlns:a="http://schemas.openxmlformats.org/drawingml/2006/main">
            <a:r>
              <a:t/>
            </a:r>
          </a:p>
          <a:p xmlns:a="http://schemas.openxmlformats.org/drawingml/2006/main">
            <a:r>
              <a:t>尚未验证：无枚举的多步离散扩散采样、连续几何、材料稳定性、所有原点/setting 等价取商、其他条件任务，以及模型在 cap256 之外的表现。编码器的覆盖验证与这些模型能力不同。</a:t>
            </a:r>
          </a:p>
          <a:p xmlns:a="http://schemas.openxmlformats.org/drawingml/2006/main">
            <a:r>
              <a:t/>
            </a:r>
          </a:p>
          <a:p xmlns:a="http://schemas.openxmlformats.org/drawingml/2006/main">
            <a:r>
              <a:t>## 6. 复现与资源</a:t>
            </a:r>
          </a:p>
          <a:p xmlns:a="http://schemas.openxmlformats.org/drawingml/2006/main">
            <a:r>
              <a:t/>
            </a:r>
          </a:p>
          <a:p xmlns:a="http://schemas.openxmlformats.org/drawingml/2006/main">
            <a:r>
              <a:t>- 冻结协议：`FROZEN_EVALUATION_PROTOCOL.md`。</a:t>
            </a:r>
          </a:p>
          <a:p xmlns:a="http://schemas.openxmlformats.org/drawingml/2006/main">
            <a:r>
              <a:t>- 六次训练：`compact_10k_runs/`，每次含配置、历史、验证预测；原始检查点保留在 Burgundy。</a:t>
            </a:r>
          </a:p>
          <a:p xmlns:a="http://schemas.openxmlformats.org/drawingml/2006/main">
            <a:r>
              <a:t>- 重新加载验证：作业 533108，全部六个模型指标复现。</a:t>
            </a:r>
          </a:p>
          <a:p xmlns:a="http://schemas.openxmlformats.org/drawingml/2006/main">
            <a:r>
              <a:t>- 冻结测试：作业 533113，COMPLETED，28 秒。</a:t>
            </a:r>
          </a:p>
          <a:p xmlns:a="http://schemas.openxmlformats.org/drawingml/2006/main">
            <a:r>
              <a:t>- 最终六次训练的两个 Slurm 作业：533033（4:58）与 533065（9:57），单 A100 分配的墙钟时间合计 **14 分 55 秒**。前期探索另有独立记录。</a:t>
            </a:r>
          </a:p>
          <a:p xmlns:a="http://schemas.openxmlformats.org/drawingml/2006/main">
            <a:r>
              <a:t>- 全量 codec 审计：作业 533081，`portable_tokenizer/audit.json`。</a:t>
            </a:r>
          </a:p>
          <a:p xmlns:a="http://schemas.openxmlformats.org/drawingml/2006/main">
            <a:r>
              <a:t>- 逐结构测试预测与均值/区间：`frozen_word_evaluation/test/`。</a:t>
            </a:r>
          </a:p>
          <a:p xmlns:a="http://schemas.openxmlformats.org/drawingml/2006/main">
            <a:r>
              <a:t>- 失败/成功差异案例：`final_report/case_examples.json`；它们是带标签 protostructure 的差异，不推断物理不稳定。</a:t>
            </a:r>
          </a:p>
          <a:p xmlns:a="http://schemas.openxmlformats.org/drawingml/2006/main">
            <a:r>
              <a:t>- 配对种子图：`final_report/paired_test_results.png` / `.pdf`。</a:t>
            </a:r>
          </a:p>
          <a:p xmlns:a="http://schemas.openxmlformats.org/drawingml/2006/main">
            <a:r>
              <a:t>- 远程根目录：`/scratch/chenggui2/CrystalDLM/tokenizer_search_20260908`。</a:t>
            </a:r>
          </a:p>
          <a:p xmlns:a="http://schemas.openxmlformats.org/drawingml/2006/main">
            <a:r>
              <a:t/>
            </a:r>
          </a:p>
          <a:p xmlns:a="http://schemas.openxmlformats.org/drawingml/2006/main">
            <a:r>
              <a:t>预处理、训练、科学评估和绘图在 Burgundy 计算节点执行。本地仅编辑、传输、检查文档和汇总已生成的小型报告。</a:t>
            </a:r>
          </a:p>
          <a:p xmlns:a="http://schemas.openxmlformats.org/drawingml/2006/main">
            <a:r>
              <a:t/>
            </a:r>
          </a:p>
          <a:p xmlns:a="http://schemas.openxmlformats.org/drawingml/2006/main">
            <a:r>
              <a:t/>
            </a:r>
          </a:p>
          <a:p xmlns:a="http://schemas.openxmlformats.org/drawingml/2006/main">
            <a:r>
              <a:t>来源：experiments/wyckoff_tokenizer_search/PACKED_AND_ITERATIVE_RESULTS.md</a:t>
            </a:r>
          </a:p>
          <a:p xmlns:a="http://schemas.openxmlformats.org/drawingml/2006/main">
            <a:r>
              <a:t># 强打包基线与多步解码：计数块方案未获支持</a:t>
            </a:r>
          </a:p>
          <a:p xmlns:a="http://schemas.openxmlformats.org/drawingml/2006/main">
            <a:r>
              <a:t/>
            </a:r>
          </a:p>
          <a:p xmlns:a="http://schemas.openxmlformats.org/drawingml/2006/main">
            <a:r>
              <a:t>本轮先对两种表示同样消除不必要的 padding：槽位上限仅从输入 `(SG,N)` 的完整候选集合确定，按样本打包；词嵌入也只计算实际非零 WP 记录。没有用目标词数裁剪输入。</a:t>
            </a:r>
          </a:p>
          <a:p xmlns:a="http://schemas.openxmlformats.org/drawingml/2006/main">
            <a:r>
              <a:t/>
            </a:r>
          </a:p>
          <a:p xmlns:a="http://schemas.openxmlformats.org/drawingml/2006/main">
            <a:r>
              <a:t>## 实现检查</a:t>
            </a:r>
          </a:p>
          <a:p xmlns:a="http://schemas.openxmlformats.org/drawingml/2006/main">
            <a:r>
              <a:t/>
            </a:r>
          </a:p>
          <a:p xmlns:a="http://schemas.openxmlformats.org/drawingml/2006/main">
            <a:r>
              <a:t>- 打包与使用相同有效 key mask 的密集计算，输出和梯度误差约 1e-7。</a:t>
            </a:r>
          </a:p>
          <a:p xmlns:a="http://schemas.openxmlformats.org/drawingml/2006/main">
            <a:r>
              <a:t>- 全部 3,490 个词定义的稀疏嵌入与原密集嵌入误差小于 1e-6。</a:t>
            </a:r>
          </a:p>
          <a:p xmlns:a="http://schemas.openxmlformats.org/drawingml/2006/main">
            <a:r>
              <a:t>- 替换隐藏目标词不影响输出；有效槽位不依赖目标 profile。</a:t>
            </a:r>
          </a:p>
          <a:p xmlns:a="http://schemas.openxmlformats.org/drawingml/2006/main">
            <a:r>
              <a:t>- 冻结的旧 `direct_words.py` 保持原 SHA，新实现与结果目录独立。</a:t>
            </a:r>
          </a:p>
          <a:p xmlns:a="http://schemas.openxmlformats.org/drawingml/2006/main">
            <a:r>
              <a:t>- 第一项 smoke 的断言曾把填充元素的占位 profile 当成真实元素检查，作业 533151 失败；修正检查范围后 533158 通过。失败未产生模型训练结论。</a:t>
            </a:r>
          </a:p>
          <a:p xmlns:a="http://schemas.openxmlformats.org/drawingml/2006/main">
            <a:r>
              <a:t/>
            </a:r>
          </a:p>
          <a:p xmlns:a="http://schemas.openxmlformats.org/drawingml/2006/main">
            <a:r>
              <a:t>## 相同 10,000 步 / 499,776 参数 / seed17</a:t>
            </a:r>
          </a:p>
          <a:p xmlns:a="http://schemas.openxmlformats.org/drawingml/2006/main">
            <a:r>
              <a:t/>
            </a:r>
          </a:p>
          <a:p xmlns:a="http://schemas.openxmlformats.org/drawingml/2006/main">
            <a:r>
              <a:t>| 指标 | 打包 RLE | 打包计数块 |</a:t>
            </a:r>
          </a:p>
          <a:p xmlns:a="http://schemas.openxmlformats.org/drawingml/2006/main">
            <a:r>
              <a:t>|---|---:|---:|</a:t>
            </a:r>
          </a:p>
          <a:p xmlns:a="http://schemas.openxmlformats.org/drawingml/2006/main">
            <a:r>
              <a:t>| 验证整结构匹配率 | 64.21% | 63.38% |</a:t>
            </a:r>
          </a:p>
          <a:p xmlns:a="http://schemas.openxmlformats.org/drawingml/2006/main">
            <a:r>
              <a:t>| 平均 profile NLL | 0.68864 | 0.67956 |</a:t>
            </a:r>
          </a:p>
          <a:p xmlns:a="http://schemas.openxmlformats.org/drawingml/2006/main">
            <a:r>
              <a:t>| 峰值 CUDA allocation | 55,315,968 bytes | 51,796,992 bytes |</a:t>
            </a:r>
          </a:p>
          <a:p xmlns:a="http://schemas.openxmlformats.org/drawingml/2006/main">
            <a:r>
              <a:t>| 训练与验证总时间 | 146.07 s | 153.09 s |</a:t>
            </a:r>
          </a:p>
          <a:p xmlns:a="http://schemas.openxmlformats.org/drawingml/2006/main">
            <a:r>
              <a:t>| 平均每样本分配的 batch 内 attention 槽位 | 13.91 | 11.89 |</a:t>
            </a:r>
          </a:p>
          <a:p xmlns:a="http://schemas.openxmlformats.org/drawingml/2006/main">
            <a:r>
              <a:t/>
            </a:r>
          </a:p>
          <a:p xmlns:a="http://schemas.openxmlformats.org/drawingml/2006/main">
            <a:r>
              <a:t>计数块的匹配率差 −0.83 个百分点，配对结构区间 [−2.39,+0.73] 个百分点；NLL 差 −0.00908，区间 [−0.03867,+0.02027]。仍未确认质量收益。</a:t>
            </a:r>
          </a:p>
          <a:p xmlns:a="http://schemas.openxmlformats.org/drawingml/2006/main">
            <a:r>
              <a:t/>
            </a:r>
          </a:p>
          <a:p xmlns:a="http://schemas.openxmlformats.org/drawingml/2006/main">
            <a:r>
              <a:t>相同打包和稀疏计算后，显存差距约 **6.36%**，比旧实现约14%的结果明显缩小；计数块训练时间多约4.81%。这些计时是本次单种子作业的观测，不是普遍吞吐结论。</a:t>
            </a:r>
          </a:p>
          <a:p xmlns:a="http://schemas.openxmlformats.org/drawingml/2006/main">
            <a:r>
              <a:t/>
            </a:r>
          </a:p>
          <a:p xmlns:a="http://schemas.openxmlformats.org/drawingml/2006/main">
            <a:r>
              <a:t>作业 533167，Burgundy gpu-a100-05，COMPLETED，5分03秒。</a:t>
            </a:r>
          </a:p>
          <a:p xmlns:a="http://schemas.openxmlformats.org/drawingml/2006/main">
            <a:r>
              <a:t/>
            </a:r>
          </a:p>
          <a:p xmlns:a="http://schemas.openxmlformats.org/drawingml/2006/main">
            <a:r>
              <a:t>## 确定性多步条件解码</a:t>
            </a:r>
          </a:p>
          <a:p xmlns:a="http://schemas.openxmlformats.org/drawingml/2006/main">
            <a:r>
              <a:t/>
            </a:r>
          </a:p>
          <a:p xmlns:a="http://schemas.openxmlformats.org/drawingml/2006/main">
            <a:r>
              <a:t>按照 `ITERATIVE_WORD_PROTOCOL.md`，从没有目标字段的全 mask 状态开始。两者均以相同的合法候选 MAP proposal、当前词后验置信度和递减 cosine mask 调度完成预测。T=1 严格复现上表结果。</a:t>
            </a:r>
          </a:p>
          <a:p xmlns:a="http://schemas.openxmlformats.org/drawingml/2006/main">
            <a:r>
              <a:t/>
            </a:r>
          </a:p>
          <a:p xmlns:a="http://schemas.openxmlformats.org/drawingml/2006/main">
            <a:r>
              <a:t>| 步数上限 | RLE 匹配率 | 计数块匹配率 | 计数块减 RLE |</a:t>
            </a:r>
          </a:p>
          <a:p xmlns:a="http://schemas.openxmlformats.org/drawingml/2006/main">
            <a:r>
              <a:t>|---|---:|---:|---:|</a:t>
            </a:r>
          </a:p>
          <a:p xmlns:a="http://schemas.openxmlformats.org/drawingml/2006/main">
            <a:r>
              <a:t>| 1 | 64.21% | 63.38% | −0.83 pp |</a:t>
            </a:r>
          </a:p>
          <a:p xmlns:a="http://schemas.openxmlformats.org/drawingml/2006/main">
            <a:r>
              <a:t>| 4 | 63.87% | 62.99% | −0.88 pp |</a:t>
            </a:r>
          </a:p>
          <a:p xmlns:a="http://schemas.openxmlformats.org/drawingml/2006/main">
            <a:r>
              <a:t>| 8 | 63.96% | 63.33% | −0.63 pp |</a:t>
            </a:r>
          </a:p>
          <a:p xmlns:a="http://schemas.openxmlformats.org/drawingml/2006/main">
            <a:r>
              <a:t/>
            </a:r>
          </a:p>
          <a:p xmlns:a="http://schemas.openxmlformats.org/drawingml/2006/main">
            <a:r>
              <a:t>三个配对差异区间均包含零。增加步数没有显示计数块优势。合法性由共同候选读出保证，不能用它当成 tokenizer 的独立性能收益。本轮没有随机多样性、连续几何或多步 marginal likelihood 评估。</a:t>
            </a:r>
          </a:p>
          <a:p xmlns:a="http://schemas.openxmlformats.org/drawingml/2006/main">
            <a:r>
              <a:t/>
            </a:r>
          </a:p>
          <a:p xmlns:a="http://schemas.openxmlformats.org/drawingml/2006/main">
            <a:r>
              <a:t>作业 533187 已完成。先前作业 533177 因 PyTorch `argsort(stable=True)` 要求 `dim` 为关键字参数而失败；修正调用后完成全部评估，没有改变采样协议。</a:t>
            </a:r>
          </a:p>
          <a:p xmlns:a="http://schemas.openxmlformats.org/drawingml/2006/main">
            <a:r>
              <a:t/>
            </a:r>
          </a:p>
          <a:p xmlns:a="http://schemas.openxmlformats.org/drawingml/2006/main">
            <a:r>
              <a:t>## 决策</a:t>
            </a:r>
          </a:p>
          <a:p xmlns:a="http://schemas.openxmlformats.org/drawingml/2006/main">
            <a:r>
              <a:t/>
            </a:r>
          </a:p>
          <a:p xmlns:a="http://schemas.openxmlformats.org/drawingml/2006/main">
            <a:r>
              <a:t>保留可逆计数块 codec 及其压缩结果，但**不继续扩大此版本预算，不把它作为达到研究目标的模型 tokenizer 推荐**。它的主要确定结果是编码压缩，质量优势在固定槽位、强打包以及多步条件解码中均未获确认，资源取舍也较有限。</a:t>
            </a:r>
          </a:p>
          <a:p xmlns:a="http://schemas.openxmlformats.org/drawingml/2006/main">
            <a:r>
              <a:t/>
            </a:r>
          </a:p>
          <a:p xmlns:a="http://schemas.openxmlformats.org/drawingml/2006/main">
            <a:r>
              <a:t>下一候选检查转向原胞 Wyckoff 重数组合与具体 WP 分配的层级表示。重数组合和枚举数学均有先例，只检验把该组合设为单独预测单元的模型价值。既有冻结测试结果不覆盖或重写。</a:t>
            </a:r>
          </a:p>
          <a:p xmlns:a="http://schemas.openxmlformats.org/drawingml/2006/main">
            <a:r>
              <a:t/>
            </a:r>
          </a:p>
          <a:p xmlns:a="http://schemas.openxmlformats.org/drawingml/2006/main">
            <a:r>
              <a:t>证据：`packed_word_runs/paired_seed17.json`、对应配置/历史/预测、`iterative_word_runs/packed_seed17/summary.json`；原文迁移边界见 `../../research/notes/maskgxt_sampling_protocol.md`。</a:t>
            </a:r>
          </a:p>
          <a:p xmlns:a="http://schemas.openxmlformats.org/drawingml/2006/main">
            <a:r>
              <a:t/>
            </a:r>
          </a:p>
          <a:p xmlns:a="http://schemas.openxmlformats.org/drawingml/2006/main">
            <a:r>
              <a:t/>
            </a:r>
          </a:p>
          <a:p xmlns:a="http://schemas.openxmlformats.org/drawingml/2006/main">
            <a:r>
              <a:t>来源：experiments/wyckoff_tokenizer_search/MULTIPLICITY_RESULTS.md</a:t>
            </a:r>
          </a:p>
          <a:p xmlns:a="http://schemas.openxmlformats.org/drawingml/2006/main">
            <a:r>
              <a:t># 重数组合：概率分解结果与表示消融</a:t>
            </a:r>
          </a:p>
          <a:p xmlns:a="http://schemas.openxmlformats.org/drawingml/2006/main">
            <a:r>
              <a:t/>
            </a:r>
          </a:p>
          <a:p xmlns:a="http://schemas.openxmlformats.org/drawingml/2006/main">
            <a:r>
              <a:t>## 已完成的概率分解比较</a:t>
            </a:r>
          </a:p>
          <a:p xmlns:a="http://schemas.openxmlformats.org/drawingml/2006/main">
            <a:r>
              <a:t/>
            </a:r>
          </a:p>
          <a:p xmlns:a="http://schemas.openxmlformats.org/drawingml/2006/main">
            <a:r>
              <a:t>作业533222完成了三个同参数、同特征的模型，各10,000步、seed17、555,456参数，在固定2,048条开发验证结构上比较。</a:t>
            </a:r>
          </a:p>
          <a:p xmlns:a="http://schemas.openxmlformats.org/drawingml/2006/main">
            <a:r>
              <a:t/>
            </a:r>
          </a:p>
          <a:p xmlns:a="http://schemas.openxmlformats.org/drawingml/2006/main">
            <a:r>
              <a:t>| 概率模型 | 完整占位匹配率 | 平均profile NLL |</a:t>
            </a:r>
          </a:p>
          <a:p xmlns:a="http://schemas.openxmlformats.org/drawingml/2006/main">
            <a:r>
              <a:t>|---|---:|---:|</a:t>
            </a:r>
          </a:p>
          <a:p xmlns:a="http://schemas.openxmlformats.org/drawingml/2006/main">
            <a:r>
              <a:t>| flat：重数组合与WP分配共同打分 | 67.14% | **0.55883** |</a:t>
            </a:r>
          </a:p>
          <a:p xmlns:a="http://schemas.openxmlformats.org/drawingml/2006/main">
            <a:r>
              <a:t>| degeneracy：另减去组大小对数 | 66.80% | 0.56191 |</a:t>
            </a:r>
          </a:p>
          <a:p xmlns:a="http://schemas.openxmlformats.org/drawingml/2006/main">
            <a:r>
              <a:t>| hierarchical：先归一化组合，再归一化组内分配 | 65.97% | 0.57514 |</a:t>
            </a:r>
          </a:p>
          <a:p xmlns:a="http://schemas.openxmlformats.org/drawingml/2006/main">
            <a:r>
              <a:t/>
            </a:r>
          </a:p>
          <a:p xmlns:a="http://schemas.openxmlformats.org/drawingml/2006/main">
            <a:r>
              <a:t>层级模型相对flat的NLL差为+0.01630，配对结构95%区间[+0.00281,+0.03096]；相对组大小校正模型也没有优势。**不把层级概率形式作为优胜方案。**</a:t>
            </a:r>
          </a:p>
          <a:p xmlns:a="http://schemas.openxmlformats.org/drawingml/2006/main">
            <a:r>
              <a:t/>
            </a:r>
          </a:p>
          <a:p xmlns:a="http://schemas.openxmlformats.org/drawingml/2006/main">
            <a:r>
              <a:t>三个模型都用了重数组合，因此本比较不能独立回答“重数组合表示是否有用”。不同模型家族之间的绝对匹配率差，也不能归因于tokenizer，因为骨干、目标和预算曾发生变化。</a:t>
            </a:r>
          </a:p>
          <a:p xmlns:a="http://schemas.openxmlformats.org/drawingml/2006/main">
            <a:r>
              <a:t/>
            </a:r>
          </a:p>
          <a:p xmlns:a="http://schemas.openxmlformats.org/drawingml/2006/main">
            <a:r>
              <a:t>## 当前表示消融</a:t>
            </a:r>
          </a:p>
          <a:p xmlns:a="http://schemas.openxmlformats.org/drawingml/2006/main">
            <a:r>
              <a:t/>
            </a:r>
          </a:p>
          <a:p xmlns:a="http://schemas.openxmlformats.org/drawingml/2006/main">
            <a:r>
              <a:t>已保留的flat模型在粗分支中先合并同一原胞重数上的计数：</a:t>
            </a:r>
          </a:p>
          <a:p xmlns:a="http://schemas.openxmlformats.org/drawingml/2006/main">
            <a:r>
              <a:t/>
            </a:r>
          </a:p>
          <a:p xmlns:a="http://schemas.openxmlformats.org/drawingml/2006/main">
            <a:r>
              <a:t>`coarse = MLP(sum_m Emb(m) * Emb(sum_{WP: mult'=m} count_WP))`。</a:t>
            </a:r>
          </a:p>
          <a:p xmlns:a="http://schemas.openxmlformats.org/drawingml/2006/main">
            <a:r>
              <a:t/>
            </a:r>
          </a:p>
          <a:p xmlns:a="http://schemas.openxmlformats.org/drawingml/2006/main">
            <a:r>
              <a:t>新对照先对每个WP的计数做嵌入，再求和：</a:t>
            </a:r>
          </a:p>
          <a:p xmlns:a="http://schemas.openxmlformats.org/drawingml/2006/main">
            <a:r>
              <a:t/>
            </a:r>
          </a:p>
          <a:p xmlns:a="http://schemas.openxmlformats.org/drawingml/2006/main">
            <a:r>
              <a:t>`coarse = MLP(sum_WP Emb(mult'_WP) * Emb(count_WP))`。</a:t>
            </a:r>
          </a:p>
          <a:p xmlns:a="http://schemas.openxmlformats.org/drawingml/2006/main">
            <a:r>
              <a:t/>
            </a:r>
          </a:p>
          <a:p xmlns:a="http://schemas.openxmlformats.org/drawingml/2006/main">
            <a:r>
              <a:t>两者的完整WP细分支、条件输入、参数构造、查询头、双向Transformer和训练设置相同。新对照继承冻结模型的参数构造函数，没有增加或删去可学习模块；训练、验证和检查点选择循环与旧flat运行的源码逐字一致，审计在 `feature_control_source_receipt.json`。</a:t>
            </a:r>
          </a:p>
          <a:p xmlns:a="http://schemas.openxmlformats.org/drawingml/2006/main">
            <a:r>
              <a:t/>
            </a:r>
          </a:p>
          <a:p xmlns:a="http://schemas.openxmlformats.org/drawingml/2006/main">
            <a:r>
              <a:t>这是对“先按重数聚合”这个编码选择的诊断，不是完整端到端diffusion tokenizer的验证。若没有清晰收益，不再因375种组合的较小数量而宣称它更适合模型。</a:t>
            </a:r>
          </a:p>
          <a:p xmlns:a="http://schemas.openxmlformats.org/drawingml/2006/main">
            <a:r>
              <a:t/>
            </a:r>
          </a:p>
          <a:p xmlns:a="http://schemas.openxmlformats.org/drawingml/2006/main">
            <a:r>
              <a:t>新对照初始预算仍为seed17、10,000步、batch32；沿用相同开发验证集，按NLL选检查点。原始测试集不重新打开。旧flat结果按上述源码审计复用，避免无必要重复训练。</a:t>
            </a:r>
          </a:p>
          <a:p xmlns:a="http://schemas.openxmlformats.org/drawingml/2006/main">
            <a:r>
              <a:t/>
            </a:r>
          </a:p>
          <a:p xmlns:a="http://schemas.openxmlformats.org/drawingml/2006/main">
            <a:r>
              <a:t>## 独立复核预留</a:t>
            </a:r>
          </a:p>
          <a:p xmlns:a="http://schemas.openxmlformats.org/drawingml/2006/main">
            <a:r>
              <a:t/>
            </a:r>
          </a:p>
          <a:p xmlns:a="http://schemas.openxmlformats.org/drawingml/2006/main">
            <a:r>
              <a:t>此前所有模型验证均使用按material ID哈希排序的前2,048条可行验证结构。剩余6,620条已通过独立脚本固定为复核候选，并检查与训练及原始测试ID无交集。它们此前只参与数据完整性和codec统计，没有模型性能评分；若后续使用，必须明确这段使用历史，不能称完全未经观察的数据。</a:t>
            </a:r>
          </a:p>
          <a:p xmlns:a="http://schemas.openxmlformats.org/drawingml/2006/main">
            <a:r>
              <a:t/>
            </a:r>
          </a:p>
          <a:p xmlns:a="http://schemas.openxmlformats.org/drawingml/2006/main">
            <a:r>
              <a:t>研究目标仍未完成。首先需要有明确的整体占位预测/概率建模作用，而不是只在更容易的重数组合子任务上得分更高。</a:t>
            </a:r>
          </a:p>
          <a:p xmlns:a="http://schemas.openxmlformats.org/drawingml/2006/main">
            <a:r>
              <a:t/>
            </a:r>
          </a:p>
          <a:p xmlns:a="http://schemas.openxmlformats.org/drawingml/2006/main">
            <a:r>
              <a:t/>
            </a:r>
          </a:p>
          <a:p xmlns:a="http://schemas.openxmlformats.org/drawingml/2006/main">
            <a:r>
              <a:t>来源：experiments/wyckoff_tokenizer_search/SITE_MODEL_RESULTS.md</a:t>
            </a:r>
          </a:p>
          <a:p xmlns:a="http://schemas.openxmlformats.org/drawingml/2006/main">
            <a:r>
              <a:t># 位点类型计数聚合：模型初筛结果</a:t>
            </a:r>
          </a:p>
          <a:p xmlns:a="http://schemas.openxmlformats.org/drawingml/2006/main">
            <a:r>
              <a:t/>
            </a:r>
          </a:p>
          <a:p xmlns:a="http://schemas.openxmlformats.org/drawingml/2006/main">
            <a:r>
              <a:t>## Material Passport</a:t>
            </a:r>
          </a:p>
          <a:p xmlns:a="http://schemas.openxmlformats.org/drawingml/2006/main">
            <a:r>
              <a:t/>
            </a:r>
          </a:p>
          <a:p xmlns:a="http://schemas.openxmlformats.org/drawingml/2006/main">
            <a:r>
              <a:t>- 范围：开发性 masked-profile 表示实验，不是完整条件扩散或几何生成。</a:t>
            </a:r>
          </a:p>
          <a:p xmlns:a="http://schemas.openxmlformats.org/drawingml/2006/main">
            <a:r>
              <a:t>- 协议：`SITE_MODEL_PROTOCOL.md`，源文件与协议摘要在 `site_inventories/model_protocol_receipt.json`。</a:t>
            </a:r>
          </a:p>
          <a:p xmlns:a="http://schemas.openxmlformats.org/drawingml/2006/main">
            <a:r>
              <a:t>- 执行：Burgundy A100，Slurm 533539，tmux 会话 work；006-site-model-pilot 与 007-compare-site-models 均 exit 0。</a:t>
            </a:r>
          </a:p>
          <a:p xmlns:a="http://schemas.openxmlformats.org/drawingml/2006/main">
            <a:r>
              <a:t>- 数据：训练 26086 个结构；既定开发验证 2048 个结构；单 seed 17；每种 10000 步。</a:t>
            </a:r>
          </a:p>
          <a:p xmlns:a="http://schemas.openxmlformats.org/drawingml/2006/main">
            <a:r>
              <a:t>- 预留 6620 个验证结构没有用于本轮模型评估。</a:t>
            </a:r>
          </a:p>
          <a:p xmlns:a="http://schemas.openxmlformats.org/drawingml/2006/main">
            <a:r>
              <a:t>- 状态：完成；未达到继续扩大本分支的预定门槛。</a:t>
            </a:r>
          </a:p>
          <a:p xmlns:a="http://schemas.openxmlformats.org/drawingml/2006/main">
            <a:r>
              <a:t/>
            </a:r>
          </a:p>
          <a:p xmlns:a="http://schemas.openxmlformats.org/drawingml/2006/main">
            <a:r>
              <a:t>## 结果</a:t>
            </a:r>
          </a:p>
          <a:p xmlns:a="http://schemas.openxmlformats.org/drawingml/2006/main">
            <a:r>
              <a:t/>
            </a:r>
          </a:p>
          <a:p xmlns:a="http://schemas.openxmlformats.org/drawingml/2006/main">
            <a:r>
              <a:t>| 指标 | 位点类型聚合 aggregate | 逐 WP 记录 records |</a:t>
            </a:r>
          </a:p>
          <a:p xmlns:a="http://schemas.openxmlformats.org/drawingml/2006/main">
            <a:r>
              <a:t>|---|---:|---:|</a:t>
            </a:r>
          </a:p>
          <a:p xmlns:a="http://schemas.openxmlformats.org/drawingml/2006/main">
            <a:r>
              <a:t>| 完整结构 WP profile 准确率 | 66.5039% | 66.7480% |</a:t>
            </a:r>
          </a:p>
          <a:p xmlns:a="http://schemas.openxmlformats.org/drawingml/2006/main">
            <a:r>
              <a:t>| 每元素 profile NLL，越低越好 | 0.566231 | 0.568510 |</a:t>
            </a:r>
          </a:p>
          <a:p xmlns:a="http://schemas.openxmlformats.org/drawingml/2006/main">
            <a:r>
              <a:t>| 参数量 | 558624 | 558624 |</a:t>
            </a:r>
          </a:p>
          <a:p xmlns:a="http://schemas.openxmlformats.org/drawingml/2006/main">
            <a:r>
              <a:t>| 训练及周期评估用时 | 587.40 s | 588.67 s |</a:t>
            </a:r>
          </a:p>
          <a:p xmlns:a="http://schemas.openxmlformats.org/drawingml/2006/main">
            <a:r>
              <a:t>| 峰值 CUDA 分配内存 | 132340736 B | 133327360 B |</a:t>
            </a:r>
          </a:p>
          <a:p xmlns:a="http://schemas.openxmlformats.org/drawingml/2006/main">
            <a:r>
              <a:t/>
            </a:r>
          </a:p>
          <a:p xmlns:a="http://schemas.openxmlformats.org/drawingml/2006/main">
            <a:r>
              <a:t>同结构配对 bootstrap（2000 次）得到 aggregate − records：</a:t>
            </a:r>
          </a:p>
          <a:p xmlns:a="http://schemas.openxmlformats.org/drawingml/2006/main">
            <a:r>
              <a:t/>
            </a:r>
          </a:p>
          <a:p xmlns:a="http://schemas.openxmlformats.org/drawingml/2006/main">
            <a:r>
              <a:t>- 准确率差 -0.2441 个百分点；95% 区间 [-1.2219, +0.7813] 个百分点。</a:t>
            </a:r>
          </a:p>
          <a:p xmlns:a="http://schemas.openxmlformats.org/drawingml/2006/main">
            <a:r>
              <a:t>- NLL 差 -0.00227964；95% 区间 [-0.011076, +0.006421]。</a:t>
            </a:r>
          </a:p>
          <a:p xmlns:a="http://schemas.openxmlformats.org/drawingml/2006/main">
            <a:r>
              <a:t>- NLL 点估计相对改善仅 0.401%；峰值分配内存约下降 0.74%，不足以构成明显资源收益。</a:t>
            </a:r>
          </a:p>
          <a:p xmlns:a="http://schemas.openxmlformats.org/drawingml/2006/main">
            <a:r>
              <a:t/>
            </a:r>
          </a:p>
          <a:p xmlns:a="http://schemas.openxmlformats.org/drawingml/2006/main">
            <a:r>
              <a:t>区间都跨零，且仅涉及一个 seed 和用来选择 checkpoint 的开发集。这里不能作稳定优势、等效性或非劣效性结论。原协议要求至少 +1 个百分点准确率或 2% NLL 改善，并且另一指标不能恶化；本轮没有达到。</a:t>
            </a:r>
          </a:p>
          <a:p xmlns:a="http://schemas.openxmlformats.org/drawingml/2006/main">
            <a:r>
              <a:t/>
            </a:r>
          </a:p>
          <a:p xmlns:a="http://schemas.openxmlformats.org/drawingml/2006/main">
            <a:r>
              <a:t>## 对照完整性</a:t>
            </a:r>
          </a:p>
          <a:p xmlns:a="http://schemas.openxmlformats.org/drawingml/2006/main">
            <a:r>
              <a:t/>
            </a:r>
          </a:p>
          <a:p xmlns:a="http://schemas.openxmlformats.org/drawingml/2006/main">
            <a:r>
              <a:t>两种模型共享同一构造器、forward 和训练循环，初始参数逐项相等；完整 WP 分支在全部 32368 候选上完全一致。两者均可见相同的 WP identity、重数、自由度和内禀位点类型特征。唯一主要变化是 coarse branch 在计数嵌入之前还是之后聚合。</a:t>
            </a:r>
          </a:p>
          <a:p xmlns:a="http://schemas.openxmlformats.org/drawingml/2006/main">
            <a:r>
              <a:t/>
            </a:r>
          </a:p>
          <a:p xmlns:a="http://schemas.openxmlformats.org/drawingml/2006/main">
            <a:r>
              <a:t>全部候选的 inventory invariance、同类型无重复时的编码一致性，以及隐藏目标后更换真实 profile 不影响输出的检查通过。训练数据、验证 ID、标签、参数量及相关代码摘要在统计脚本中逐项核对通过。</a:t>
            </a:r>
          </a:p>
          <a:p xmlns:a="http://schemas.openxmlformats.org/drawingml/2006/main">
            <a:r>
              <a:t/>
            </a:r>
          </a:p>
          <a:p xmlns:a="http://schemas.openxmlformats.org/drawingml/2006/main">
            <a:r>
              <a:t>## 决策</a:t>
            </a:r>
          </a:p>
          <a:p xmlns:a="http://schemas.openxmlformats.org/drawingml/2006/main">
            <a:r>
              <a:t/>
            </a:r>
          </a:p>
          <a:p xmlns:a="http://schemas.openxmlformats.org/drawingml/2006/main">
            <a:r>
              <a:t>停止扩大当前“位点类型计数聚合”模型分支，不追加多 seed、不使用预留验证组、不据此实现更大的 inventory-first diffusion。表示的精确预算和无损还原结论仍成立，但这不等于模型收益。</a:t>
            </a:r>
          </a:p>
          <a:p xmlns:a="http://schemas.openxmlformats.org/drawingml/2006/main">
            <a:r>
              <a:t/>
            </a:r>
          </a:p>
          <a:p xmlns:a="http://schemas.openxmlformats.org/drawingml/2006/main">
            <a:r>
              <a:t>这次结果只约束已测试的 encoder 聚合方式，不能证明所有位点类型生成分解都无用。当前证据也不足以把它推荐为最终 tokenizer。</a:t>
            </a:r>
          </a:p>
          <a:p xmlns:a="http://schemas.openxmlformats.org/drawingml/2006/main">
            <a:r>
              <a:t/>
            </a:r>
          </a:p>
          <a:p xmlns:a="http://schemas.openxmlformats.org/drawingml/2006/main">
            <a:r>
              <a:t>后续研究优先检查能够保留几何连接信息的表示，而非继续只对同一 WP 计数变量反复分组。一个待审查方向是：以 asymmetric-unit/Wyckoff orbit 为节点，用 CIF 已有的 symmetry-operation + translation bond 标签表示键轨道，再展开完整周期图。该方向尚未编码或验证；SLICES、SLICES-PLUS 和 asymmetric-unit 生成的先例边界正在核对，不能提前声称创新。</a:t>
            </a:r>
          </a:p>
          <a:p xmlns:a="http://schemas.openxmlformats.org/drawingml/2006/main">
            <a:r>
              <a:t/>
            </a:r>
          </a:p>
          <a:p xmlns:a="http://schemas.openxmlformats.org/drawingml/2006/main">
            <a:r>
              <a:t>详细数值：`site_inventory_model_runs/paired_seed17.json`；逐结构预测、checkpoint 选择历史、配置及源码快照均已保留。</a:t>
            </a:r>
          </a:p>
          <a:p xmlns:a="http://schemas.openxmlformats.org/drawingml/2006/main">
            <a:r>
              <a:t/>
            </a:r>
          </a:p>
          <a:p xmlns:a="http://schemas.openxmlformats.org/drawingml/2006/main">
            <a:r>
              <a:t/>
            </a:r>
          </a:p>
          <a:p xmlns:a="http://schemas.openxmlformats.org/drawingml/2006/main">
            <a:r>
              <a:t>来源：research/notes/subgroup_splitting_token_prior_art.md</a:t>
            </a:r>
          </a:p>
          <a:p xmlns:a="http://schemas.openxmlformats.org/drawingml/2006/main">
            <a:r>
              <a:t># Group–subgroup / Wyckoff-splitting 生成先例筛查</a:t>
            </a:r>
          </a:p>
          <a:p xmlns:a="http://schemas.openxmlformats.org/drawingml/2006/main">
            <a:r>
              <a:t/>
            </a:r>
          </a:p>
          <a:p xmlns:a="http://schemas.openxmlformats.org/drawingml/2006/main">
            <a:r>
              <a:t>## 候选逻辑与筛查边界</a:t>
            </a:r>
          </a:p>
          <a:p xmlns:a="http://schemas.openxmlformats.org/drawingml/2006/main">
            <a:r>
              <a:t/>
            </a:r>
          </a:p>
          <a:p xmlns:a="http://schemas.openxmlformats.org/drawingml/2006/main">
            <a:r>
              <a:t>候选设想以高对称母相/原型为条件，生成群–子群选择、标准 Wyckoff orbit splitting，以及由对称性降低释放的位移自由参数；目标可以是条件结构变化或降对称生成。本次只筛查是否已有模型把这些对象直接作为 token、扩散状态或层次动作，最多列四项相关原始论文/官方实现。群–子群关系、Bärnighausen 树和 WYCKSPLIT 本身是既有晶体学基础，不属于候选可声称的新概念。</a:t>
            </a:r>
          </a:p>
          <a:p xmlns:a="http://schemas.openxmlformats.org/drawingml/2006/main">
            <a:r>
              <a:t/>
            </a:r>
          </a:p>
          <a:p xmlns:a="http://schemas.openxmlformats.org/drawingml/2006/main">
            <a:r>
              <a:t>## 1. DynaCrys：直接的 group–subgroup 结构化扩散先例</a:t>
            </a:r>
          </a:p>
          <a:p xmlns:a="http://schemas.openxmlformats.org/drawingml/2006/main">
            <a:r>
              <a:t/>
            </a:r>
          </a:p>
          <a:p xmlns:a="http://schemas.openxmlformats.org/drawingml/2006/main">
            <a:r>
              <a:t>### 来源与实际阅读范围</a:t>
            </a:r>
          </a:p>
          <a:p xmlns:a="http://schemas.openxmlformats.org/drawingml/2006/main">
            <a:r>
              <a:t/>
            </a:r>
          </a:p>
          <a:p xmlns:a="http://schemas.openxmlformats.org/drawingml/2006/main">
            <a:r>
              <a:t>- 本地全文：`/Volumes/Extention/Users/guicheng/Code/CodeX-tmp/2026-09-01/bang-w/work/papers/dynacrys-2608.07401.txt`；`source_manifest.json` 记录 arXiv v1、26 页、文本页标记完整。</a:t>
            </a:r>
          </a:p>
          <a:p xmlns:a="http://schemas.openxmlformats.org/drawingml/2006/main">
            <a:r>
              <a:t>- 官方来源：[arXiv:2608.07401](https://arxiv.org/abs/2608.07401)。</a:t>
            </a:r>
          </a:p>
          <a:p xmlns:a="http://schemas.openxmlformats.org/drawingml/2006/main">
            <a:r>
              <a:t>- 实际阅读：全文第 1 页摘要/引言，第 2–6 页 §2–§4.4（空间群–Wyckoff orbit、group–subgroup、symbolic diffusion、合法采样和几何 diffusion），并核对了 Figure 2 的具体 splitting 例子以及 Eq. (1)–(10)。未把未阅读的附录实验细节当作证据。</a:t>
            </a:r>
          </a:p>
          <a:p xmlns:a="http://schemas.openxmlformats.org/drawingml/2006/main">
            <a:r>
              <a:t/>
            </a:r>
          </a:p>
          <a:p xmlns:a="http://schemas.openxmlformats.org/drawingml/2006/main">
            <a:r>
              <a:t>### 精确重合</a:t>
            </a:r>
          </a:p>
          <a:p xmlns:a="http://schemas.openxmlformats.org/drawingml/2006/main">
            <a:r>
              <a:t/>
            </a:r>
          </a:p>
          <a:p xmlns:a="http://schemas.openxmlformats.org/drawingml/2006/main">
            <a:r>
              <a:t>DynaCrys 明确把空间群 `G` 放进扩散状态，使 `G` 在反向过程中与 Wyckoff occupations 和元素共同演化，而不是预先固定。§3（PDF pp. 3–4）说明 group–subgroup 关系改变可用的 Wyckoff vocabulary、multiplicity 和自由坐标参数化；限制到子群时，一个母群 orbit 可以裂成多个独立参数化的子群 orbit。Figure 2(b) 给出具体 `Pm → P1` 例子：`Pm 1b` 变成 `P1 1a`，而 `Pm 2c` split 成两个 `P1 1a`，去掉 mirror constraint 后三个代表坐标可以独立移动。</a:t>
            </a:r>
          </a:p>
          <a:p xmlns:a="http://schemas.openxmlformats.org/drawingml/2006/main">
            <a:r>
              <a:t/>
            </a:r>
          </a:p>
          <a:p xmlns:a="http://schemas.openxmlformats.org/drawingml/2006/main">
            <a:r>
              <a:t>§4.1–§4.3（PDF pp. 4–6）定义 protostructure `P=(G,K,{(Z_i,r_i)})`，其中每个 occupation 是当前空间群的 Wyckoff row 和元素；symbolic diffusion 对 `G`、orbit slots、row 和 element 联合去噪。空间群前向 kernel `R_t` 在 maximal translationengleiche/klassengleiche group–subgroup 图上扩散，并明确称其结构来自 Bärnighausen trees。row vocabulary 随当前 `G_t` 改变，shared codebook 为不同空间群的 row 提供对齐。</a:t>
            </a:r>
          </a:p>
          <a:p xmlns:a="http://schemas.openxmlformats.org/drawingml/2006/main">
            <a:r>
              <a:t/>
            </a:r>
          </a:p>
          <a:p xmlns:a="http://schemas.openxmlformats.org/drawingml/2006/main">
            <a:r>
              <a:t>§4.4（PDF p. 6）再以最终 protostructure 为条件生成 lattice 和每个 occupied orbit 的自由 fractional coordinates，投影到由 `P` 指定的允许 DoF。故它同时覆盖候选中的：</a:t>
            </a:r>
          </a:p>
          <a:p xmlns:a="http://schemas.openxmlformats.org/drawingml/2006/main">
            <a:r>
              <a:t/>
            </a:r>
          </a:p>
          <a:p xmlns:a="http://schemas.openxmlformats.org/drawingml/2006/main">
            <a:r>
              <a:t>- 群–子群选择作为显式 symbolic diffusion 状态/转移图；</a:t>
            </a:r>
          </a:p>
          <a:p xmlns:a="http://schemas.openxmlformats.org/drawingml/2006/main">
            <a:r>
              <a:t>- space-group change 后 row vocabulary 的重新解释；</a:t>
            </a:r>
          </a:p>
          <a:p xmlns:a="http://schemas.openxmlformats.org/drawingml/2006/main">
            <a:r>
              <a:t>- orbit splitting 后独立 occupation 和自由坐标；</a:t>
            </a:r>
          </a:p>
          <a:p xmlns:a="http://schemas.openxmlformats.org/drawingml/2006/main">
            <a:r>
              <a:t>- symbolic symmetry 阶段到连续 geometry 阶段的层次接口。</a:t>
            </a:r>
          </a:p>
          <a:p xmlns:a="http://schemas.openxmlformats.org/drawingml/2006/main">
            <a:r>
              <a:t/>
            </a:r>
          </a:p>
          <a:p xmlns:a="http://schemas.openxmlformats.org/drawingml/2006/main">
            <a:r>
              <a:t>### 与候选的差异</a:t>
            </a:r>
          </a:p>
          <a:p xmlns:a="http://schemas.openxmlformats.org/drawingml/2006/main">
            <a:r>
              <a:t/>
            </a:r>
          </a:p>
          <a:p xmlns:a="http://schemas.openxmlformats.org/drawingml/2006/main">
            <a:r>
              <a:t>DynaCrys 并未把“母 WP → 子群 WP 列表”做成一个独立的可逆 splitting token，也没有以指定母相原型为条件执行单向降对称编辑；它在 group–subgroup 图上对 `G` 做双向结构化 corruption，并联合重采样当前合法 protostructure。候选若只说“使用群–子群关系指导生成”，已被 DynaCrys 直接覆盖；可辩护差异只能是母相条件、显式 split action/branch identity、或专门的位移模式 parameterization，并须与 DynaCrys 的动态 `G` diffusion 对比。</a:t>
            </a:r>
          </a:p>
          <a:p xmlns:a="http://schemas.openxmlformats.org/drawingml/2006/main">
            <a:r>
              <a:t/>
            </a:r>
          </a:p>
          <a:p xmlns:a="http://schemas.openxmlformats.org/drawingml/2006/main">
            <a:r>
              <a:t>## 2. LEGO-xtal：subgroup symmetry augmentation + 生成模型</a:t>
            </a:r>
          </a:p>
          <a:p xmlns:a="http://schemas.openxmlformats.org/drawingml/2006/main">
            <a:r>
              <a:t/>
            </a:r>
          </a:p>
          <a:p xmlns:a="http://schemas.openxmlformats.org/drawingml/2006/main">
            <a:r>
              <a:t>### 来源与实际阅读范围</a:t>
            </a:r>
          </a:p>
          <a:p xmlns:a="http://schemas.openxmlformats.org/drawingml/2006/main">
            <a:r>
              <a:t/>
            </a:r>
          </a:p>
          <a:p xmlns:a="http://schemas.openxmlformats.org/drawingml/2006/main">
            <a:r>
              <a:t>- 原始论文全文：[AI-assisted rapid crystal structure generation towards a target local environment](https://www.nature.com/articles/s41524-025-01931-9)，npj Computational Materials（2025）。</a:t>
            </a:r>
          </a:p>
          <a:p xmlns:a="http://schemas.openxmlformats.org/drawingml/2006/main">
            <a:r>
              <a:t>- 官方代码：[MaterSim/LEGO-xtal](https://github.com/MaterSim/LEGO-xtal)。</a:t>
            </a:r>
          </a:p>
          <a:p xmlns:a="http://schemas.openxmlformats.org/drawingml/2006/main">
            <a:r>
              <a:t>- 实际阅读：官方 HTML 的 §§Crystal representations / Challenges / Solutions / LEGO-xtal framework（lines 86–157）、Discussion（lines 241–251）、Methods 的 representation transformation（lines 252–258）以及 code/data availability（lines 284–290）。</a:t>
            </a:r>
          </a:p>
          <a:p xmlns:a="http://schemas.openxmlformats.org/drawingml/2006/main">
            <a:r>
              <a:t/>
            </a:r>
          </a:p>
          <a:p xmlns:a="http://schemas.openxmlformats.org/drawingml/2006/main">
            <a:r>
              <a:t>### 精确重合</a:t>
            </a:r>
          </a:p>
          <a:p xmlns:a="http://schemas.openxmlformats.org/drawingml/2006/main">
            <a:r>
              <a:t/>
            </a:r>
          </a:p>
          <a:p xmlns:a="http://schemas.openxmlformats.org/drawingml/2006/main">
            <a:r>
              <a:t>论文 lines 130–133 以 diamond 为例：高对称 `Fd-3m` 的 `8a` 可通过 subgroup symmetry 表示成较低对称 `F-43m` 的两个 WP `4a+4d`，并指出这种 Wyckoff split 在相变/结构转变中常见。作者调用 PyXtal 的 subgroup symmetry module 生成丰富的 subgroup representations，作为数据增强，使 VAE/GAN 能学习并生成与训练结构 closely related 的 subgroup alternatives。lines 152–156 说明对 140 个碳 allotropes 用该模块产生有效 subgroup representations，再把 space-group number、Wyckoff site indices 作为离散特征，将 cell parameters/Wyckoff position values 作为连续特征训练生成模型。Discussion lines 241–245 将“subgroup symmetry augmentation”列为框架核心，并称 supplementary §IV-C 提供通用 subgroup 搜索接口。</a:t>
            </a:r>
          </a:p>
          <a:p xmlns:a="http://schemas.openxmlformats.org/drawingml/2006/main">
            <a:r>
              <a:t/>
            </a:r>
          </a:p>
          <a:p xmlns:a="http://schemas.openxmlformats.org/drawingml/2006/main">
            <a:r>
              <a:t>### 与候选的差异</a:t>
            </a:r>
          </a:p>
          <a:p xmlns:a="http://schemas.openxmlformats.org/drawingml/2006/main">
            <a:r>
              <a:t/>
            </a:r>
          </a:p>
          <a:p xmlns:a="http://schemas.openxmlformats.org/drawingml/2006/main">
            <a:r>
              <a:t>这是很强的“母结构 → 子群表示/标准 WP split → 生成”先例，但 split 主要是**预生成数据增强**，不是模型反向过程中的显式动作 token；论文使用 VAE/GAN（lines 176–180、252–268），没有 conditional diffusion，也没有报告逐步生成 subgroup choice、split branch 或 symmetry-lowering displacement mode。它直接削弱“首次用 Wyckoff splitting 扩展生成空间”的说法，但仍留出“把 split 作为可学习条件动作并联合生成释放的 DoF”的空间。</a:t>
            </a:r>
          </a:p>
          <a:p xmlns:a="http://schemas.openxmlformats.org/drawingml/2006/main">
            <a:r>
              <a:t/>
            </a:r>
          </a:p>
          <a:p xmlns:a="http://schemas.openxmlformats.org/drawingml/2006/main">
            <a:r>
              <a:t>## 3. Bilbao Crystallographic Server WYCKSPLIT：公开的精确 orbit-splitting 表/程序</a:t>
            </a:r>
          </a:p>
          <a:p xmlns:a="http://schemas.openxmlformats.org/drawingml/2006/main">
            <a:r>
              <a:t/>
            </a:r>
          </a:p>
          <a:p xmlns:a="http://schemas.openxmlformats.org/drawingml/2006/main">
            <a:r>
              <a:t>### 来源与阅读范围</a:t>
            </a:r>
          </a:p>
          <a:p xmlns:a="http://schemas.openxmlformats.org/drawingml/2006/main">
            <a:r>
              <a:t/>
            </a:r>
          </a:p>
          <a:p xmlns:a="http://schemas.openxmlformats.org/drawingml/2006/main">
            <a:r>
              <a:t>- 官方工具：[WYCKSPLIT – Wyckoff Positions Splitting](https://cryst.ehu.eu/cryst/wpsplit.html)。</a:t>
            </a:r>
          </a:p>
          <a:p xmlns:a="http://schemas.openxmlformats.org/drawingml/2006/main">
            <a:r>
              <a:t>- 官方服务器总览：[Bilbao Crystallographic Server](https://cryst.ehu.es/)，其中将 WYCKSPLIT、SUBGROUPGRAPH、MAXSUB、GROUP–SUBGROUP RELATIONS 等列为正式工具。</a:t>
            </a:r>
          </a:p>
          <a:p xmlns:a="http://schemas.openxmlformats.org/drawingml/2006/main">
            <a:r>
              <a:t>- 阅读了工具说明和输入/输出要求；没有把它当作机器学习论文，也没有运行外部服务。</a:t>
            </a:r>
          </a:p>
          <a:p xmlns:a="http://schemas.openxmlformats.org/drawingml/2006/main">
            <a:r>
              <a:t/>
            </a:r>
          </a:p>
          <a:p xmlns:a="http://schemas.openxmlformats.org/drawingml/2006/main">
            <a:r>
              <a:t>### 精确能力</a:t>
            </a:r>
          </a:p>
          <a:p xmlns:a="http://schemas.openxmlformats.org/drawingml/2006/main">
            <a:r>
              <a:t/>
            </a:r>
          </a:p>
          <a:p xmlns:a="http://schemas.openxmlformats.org/drawingml/2006/main">
            <a:r>
              <a:t>WYCKSPLIT 的官方说明直接定义任务：给定 supergroup `G`、subgroup `H` 及连接两者基底的 transformation matrix，计算 Wyckoff position 在 `G → H` 对称性降低时如何 splitting。官方相关页面还说明结构关系由 occupied orbits 的 relations 决定，且同一 WP 中所有 orbits 遵循相同 splitting 行为。服务器同时提供 subgroup graph、maximal subgroup、Wyckoff positions 和 coordinate transformations，因此可以作为候选训练/采样器的精确 orbit-splitting oracle 或离线表来源。</a:t>
            </a:r>
          </a:p>
          <a:p xmlns:a="http://schemas.openxmlformats.org/drawingml/2006/main">
            <a:r>
              <a:t/>
            </a:r>
          </a:p>
          <a:p xmlns:a="http://schemas.openxmlformats.org/drawingml/2006/main">
            <a:r>
              <a:t>### 与候选的差异</a:t>
            </a:r>
          </a:p>
          <a:p xmlns:a="http://schemas.openxmlformats.org/drawingml/2006/main">
            <a:r>
              <a:t/>
            </a:r>
          </a:p>
          <a:p xmlns:a="http://schemas.openxmlformats.org/drawingml/2006/main">
            <a:r>
              <a:t>它是确定性晶体学工具和数据源，不是 tokenized generator、diffusion model 或学习到的母相条件编辑器。故“有公开 splitting 表/代码”这一基础能力已经存在；新颖性不能放在重新定义 splitting 规则，而应放在如何将其编码为动作、如何采样合法分支，以及如何对释放的自由参数做条件生成。</a:t>
            </a:r>
          </a:p>
          <a:p xmlns:a="http://schemas.openxmlformats.org/drawingml/2006/main">
            <a:r>
              <a:t/>
            </a:r>
          </a:p>
          <a:p xmlns:a="http://schemas.openxmlformats.org/drawingml/2006/main">
            <a:r>
              <a:t>## 4. WyckoffDiff-Adapter：条件扩散相关，但不是 subgroup-action 生成</a:t>
            </a:r>
          </a:p>
          <a:p xmlns:a="http://schemas.openxmlformats.org/drawingml/2006/main">
            <a:r>
              <a:t/>
            </a:r>
          </a:p>
          <a:p xmlns:a="http://schemas.openxmlformats.org/drawingml/2006/main">
            <a:r>
              <a:t>### 来源与实际阅读范围</a:t>
            </a:r>
          </a:p>
          <a:p xmlns:a="http://schemas.openxmlformats.org/drawingml/2006/main">
            <a:r>
              <a:t/>
            </a:r>
          </a:p>
          <a:p xmlns:a="http://schemas.openxmlformats.org/drawingml/2006/main">
            <a:r>
              <a:t>- 原始基础模型：[WyckoffDiff, arXiv:2502.06485](https://arxiv.org/abs/2502.06485)；官方实现：[httk/wyckoffdiff](https://github.com/httk/wyckoffdiff)。本地全文已在本项目 source manifest 中，但本次只核对其已有 symmetry-based discrete diffusion 表示，不重复全文分析。</a:t>
            </a:r>
          </a:p>
          <a:p xmlns:a="http://schemas.openxmlformats.org/drawingml/2006/main">
            <a:r>
              <a:t>- 条件扩展官方/论文页面：[Symmetry-aware conditional generation of crystal structures using diffusion models](https://www.sciencedirect.com/science/article/abs/pii/S0927025626003083)。本次使用搜索结果和页面摘要/方法片段作边界核对，未将其视为已完整阅读全文。</a:t>
            </a:r>
          </a:p>
          <a:p xmlns:a="http://schemas.openxmlformats.org/drawingml/2006/main">
            <a:r>
              <a:t/>
            </a:r>
          </a:p>
          <a:p xmlns:a="http://schemas.openxmlformats.org/drawingml/2006/main">
            <a:r>
              <a:t>### 已核对到的事实</a:t>
            </a:r>
          </a:p>
          <a:p xmlns:a="http://schemas.openxmlformats.org/drawingml/2006/main">
            <a:r>
              <a:t/>
            </a:r>
          </a:p>
          <a:p xmlns:a="http://schemas.openxmlformats.org/drawingml/2006/main">
            <a:r>
              <a:t>该扩展以 WyckoffDiff 的 protostructure 为条件生成基础：输入 space group 和 element-by-Wyckoff occupancy，离散 diffusion 输出 `z^∞`（元素×一般位置计数）与 `z^0`（固定位置元素/空位），再用 PyXtal 实例化。页面明确说输入 space group 在 protostructure 阶段保持不变；生成后 relaxation 可能出现向 P1 或其他低对称群的下降，这被解释为后处理 relaxation 的 symmetry descent，而不是 symbolic diffusion 中的 group–subgroup action。</a:t>
            </a:r>
          </a:p>
          <a:p xmlns:a="http://schemas.openxmlformats.org/drawingml/2006/main">
            <a:r>
              <a:t/>
            </a:r>
          </a:p>
          <a:p xmlns:a="http://schemas.openxmlformats.org/drawingml/2006/main">
            <a:r>
              <a:t>### 与候选的差异</a:t>
            </a:r>
          </a:p>
          <a:p xmlns:a="http://schemas.openxmlformats.org/drawingml/2006/main">
            <a:r>
              <a:t/>
            </a:r>
          </a:p>
          <a:p xmlns:a="http://schemas.openxmlformats.org/drawingml/2006/main">
            <a:r>
              <a:t>WyckoffDiff-Adapter 是 symmetry-conditioned diffusion 的相关先例，但不是母群选择子群、显式 Wyckoff splitting 或 Bärnighausen-tree transition 的先例。它可以作为候选的静态-WP diffusion baseline；不能用它支持“已有 subgroup-action diffusion”，也不能把 relaxation 后的 subgroup descent 当作模型生成了 subgroup token。</a:t>
            </a:r>
          </a:p>
          <a:p xmlns:a="http://schemas.openxmlformats.org/drawingml/2006/main">
            <a:r>
              <a:t/>
            </a:r>
          </a:p>
          <a:p xmlns:a="http://schemas.openxmlformats.org/drawingml/2006/main">
            <a:r>
              <a:t>## 综合判断</a:t>
            </a:r>
          </a:p>
          <a:p xmlns:a="http://schemas.openxmlformats.org/drawingml/2006/main">
            <a:r>
              <a:t/>
            </a:r>
          </a:p>
          <a:p xmlns:a="http://schemas.openxmlformats.org/drawingml/2006/main">
            <a:r>
              <a:t>在本次最多四项筛查中，直接重合强度排序为：</a:t>
            </a:r>
          </a:p>
          <a:p xmlns:a="http://schemas.openxmlformats.org/drawingml/2006/main">
            <a:r>
              <a:t/>
            </a:r>
          </a:p>
          <a:p xmlns:a="http://schemas.openxmlformats.org/drawingml/2006/main">
            <a:r>
              <a:t>1. **DynaCrys：** 最直接，已把 group–subgroup 图/Bärnighausen 关系放进空间群 symbolic diffusion，并在当前 `G` 下联合更新 Wyckoff rows、元素和 orbit count；其 Figure 2 明确展示 WP splitting 和自由坐标释放。</a:t>
            </a:r>
          </a:p>
          <a:p xmlns:a="http://schemas.openxmlformats.org/drawingml/2006/main">
            <a:r>
              <a:t>2. **LEGO-xtal：** 已将 subgroup symmetry augmentation 和具体 `8a → 4a+4d` split 用作训练数据/生成空间扩展，但使用 VAE/GAN，不是 diffusion action token。</a:t>
            </a:r>
          </a:p>
          <a:p xmlns:a="http://schemas.openxmlformats.org/drawingml/2006/main">
            <a:r>
              <a:t>3. **WYCKSPLIT：** 公开且精确的 `G,H,transformation → WP splitting` 工具/表，是任何候选实现可直接调用的基础设施。</a:t>
            </a:r>
          </a:p>
          <a:p xmlns:a="http://schemas.openxmlformats.org/drawingml/2006/main">
            <a:r>
              <a:t>4. **WyckoffDiff-Adapter：** 条件 diffusion 先例，但 space group 固定；没有显式 subgroup/splitting state，relaxation descent 不等于生成动作。</a:t>
            </a:r>
          </a:p>
          <a:p xmlns:a="http://schemas.openxmlformats.org/drawingml/2006/main">
            <a:r>
              <a:t/>
            </a:r>
          </a:p>
          <a:p xmlns:a="http://schemas.openxmlformats.org/drawingml/2006/main">
            <a:r>
              <a:t>因此不能声称“首次将 group–subgroup relations 用于晶体生成”“首次使用 Wyckoff splitting 做生成增强”或“首次在 symmetry-aware diffusion 中改变空间群”。较窄、可检验的差异可以是：给定母相/高对称原型，显式预测一条合法 subgroup/splitting action（而非 DynaCrys 的无向图 corruption 或 LEGO-xtal 的离线 augmentation），再条件生成由该 split 释放的独立位移模式和连续自由参数。该主张仍需与 DynaCrys、LEGO-xtal 和静态 WyckoffDiff 做动作级、合法性、条件结构恢复及 OOD subgroup 评估。</a:t>
            </a:r>
          </a:p>
          <a:p xmlns:a="http://schemas.openxmlformats.org/drawingml/2006/main">
            <a:r>
              <a:t/>
            </a:r>
          </a:p>
          <a:p xmlns:a="http://schemas.openxmlformats.org/drawingml/2006/main">
            <a:r>
              <a:t>本筛查未训练、未运行生成实验；“未找到独立 token”仅限上述实际阅读范围，不能推广为全球文献不存在。</a:t>
            </a:r>
          </a:p>
          <a:p xmlns:a="http://schemas.openxmlformats.org/drawingml/2006/main">
            <a:r>
              <a:t/>
            </a:r>
          </a:p>
          <a:p xmlns:a="http://schemas.openxmlformats.org/drawingml/2006/main">
            <a:r>
              <a:t/>
            </a:r>
          </a:p>
          <a:p xmlns:a="http://schemas.openxmlformats.org/drawingml/2006/main">
            <a:r>
              <a:t>来源：experiments/wyckoff_tokenizer_search/ASU_CONTROL_RESULTS.md</a:t>
            </a:r>
          </a:p>
          <a:p xmlns:a="http://schemas.openxmlformats.org/drawingml/2006/main">
            <a:r>
              <a:t># 相对已有 ASU 图粒度的增量收益</a:t>
            </a:r>
          </a:p>
          <a:p xmlns:a="http://schemas.openxmlformats.org/drawingml/2006/main">
            <a:r>
              <a:t/>
            </a:r>
          </a:p>
          <a:p xmlns:a="http://schemas.openxmlformats.org/drawingml/2006/main">
            <a:r>
              <a:t>## Material Passport</a:t>
            </a:r>
          </a:p>
          <a:p xmlns:a="http://schemas.openxmlformats.org/drawingml/2006/main">
            <a:r>
              <a:t/>
            </a:r>
          </a:p>
          <a:p xmlns:a="http://schemas.openxmlformats.org/drawingml/2006/main">
            <a:r>
              <a:t>2026-09-08；Slurm 533539 / A100-SXM4-80GB；队列012成功；固定拓扑模型组件实验，没有训练或生成晶体。协议为 `ASU_CONTROL_PROTOCOL.md`。</a:t>
            </a:r>
          </a:p>
          <a:p xmlns:a="http://schemas.openxmlformats.org/drawingml/2006/main">
            <a:r>
              <a:t/>
            </a:r>
          </a:p>
          <a:p xmlns:a="http://schemas.openxmlformats.org/drawingml/2006/main">
            <a:r>
              <a:t>对照按 coGN 官方构图所采用的逐邻居 ASU 图粒度实现，但使用我们与候选共同的径向网络。这是控制变量实验，**不是 coGN 原架构成绩的复现**。</a:t>
            </a:r>
          </a:p>
          <a:p xmlns:a="http://schemas.openxmlformats.org/drawingml/2006/main">
            <a:r>
              <a:t/>
            </a:r>
          </a:p>
          <a:p xmlns:a="http://schemas.openxmlformats.org/drawingml/2006/main">
            <a:r>
              <a:t>## 结果</a:t>
            </a:r>
          </a:p>
          <a:p xmlns:a="http://schemas.openxmlformats.org/drawingml/2006/main">
            <a:r>
              <a:t/>
            </a:r>
          </a:p>
          <a:p xmlns:a="http://schemas.openxmlformats.org/drawingml/2006/main">
            <a:r>
              <a:t>三个路径共享参数构造器与权重。FP64 的32图检查与 FP32 的512图检查中，clean及WP切空间扰动下的图级特征、代表处向量输出、坐标梯度和参数梯度全部通过既定容差。两种 ASU 路径的节点相同，差别只在邻居边是否按轨道汇总。</a:t>
            </a:r>
          </a:p>
          <a:p xmlns:a="http://schemas.openxmlformats.org/drawingml/2006/main">
            <a:r>
              <a:t/>
            </a:r>
          </a:p>
          <a:p xmlns:a="http://schemas.openxmlformats.org/drawingml/2006/main">
            <a:r>
              <a:t>| 批次 | 指标 | ASU逐邻居图 | 边轨道图 |</a:t>
            </a:r>
          </a:p>
          <a:p xmlns:a="http://schemas.openxmlformats.org/drawingml/2006/main">
            <a:r>
              <a:t>|---|---|---:|---:|</a:t>
            </a:r>
          </a:p>
          <a:p xmlns:a="http://schemas.openxmlformats.org/drawingml/2006/main">
            <a:r>
              <a:t>| 32图 | 节点数 | 154 | 154 |</a:t>
            </a:r>
          </a:p>
          <a:p xmlns:a="http://schemas.openxmlformats.org/drawingml/2006/main">
            <a:r>
              <a:t>| 32图 | 有向边/边类别 | 3769 | 1826 |</a:t>
            </a:r>
          </a:p>
          <a:p xmlns:a="http://schemas.openxmlformats.org/drawingml/2006/main">
            <a:r>
              <a:t>| 32图 | 前向+反向中位数 | 5.993 ms | 6.418 ms |</a:t>
            </a:r>
          </a:p>
          <a:p xmlns:a="http://schemas.openxmlformats.org/drawingml/2006/main">
            <a:r>
              <a:t>| 32图 | 峰值分配内存 | 43.33 MB | 30.96 MB |</a:t>
            </a:r>
          </a:p>
          <a:p xmlns:a="http://schemas.openxmlformats.org/drawingml/2006/main">
            <a:r>
              <a:t>| 512图 | 节点数 | 2390 | 2390 |</a:t>
            </a:r>
          </a:p>
          <a:p xmlns:a="http://schemas.openxmlformats.org/drawingml/2006/main">
            <a:r>
              <a:t>| 512图 | 有向边/边类别 | 53212 | 26894 |</a:t>
            </a:r>
          </a:p>
          <a:p xmlns:a="http://schemas.openxmlformats.org/drawingml/2006/main">
            <a:r>
              <a:t>| 512图 | 前向+反向中位数 | 6.165 ms | 6.888 ms |</a:t>
            </a:r>
          </a:p>
          <a:p xmlns:a="http://schemas.openxmlformats.org/drawingml/2006/main">
            <a:r>
              <a:t>| 512图 | 峰值分配内存 | 390.86 MB | 216.63 MB |</a:t>
            </a:r>
          </a:p>
          <a:p xmlns:a="http://schemas.openxmlformats.org/drawingml/2006/main">
            <a:r>
              <a:t/>
            </a:r>
          </a:p>
          <a:p xmlns:a="http://schemas.openxmlformats.org/drawingml/2006/main">
            <a:r>
              <a:t>MB为十进制，内存为PyTorch CUDA allocated peak。四轮交替顺序，每轮预热3次后测量10次前向+反向；不含在线构图成本。</a:t>
            </a:r>
          </a:p>
          <a:p xmlns:a="http://schemas.openxmlformats.org/drawingml/2006/main">
            <a:r>
              <a:t/>
            </a:r>
          </a:p>
          <a:p xmlns:a="http://schemas.openxmlformats.org/drawingml/2006/main">
            <a:r>
              <a:t>- 32图：边轨道路径额外减少28.6%内存，但慢约7.1%。</a:t>
            </a:r>
          </a:p>
          <a:p xmlns:a="http://schemas.openxmlformats.org/drawingml/2006/main">
            <a:r>
              <a:t>- 512图：额外减少44.6%内存，但慢约11.7%。</a:t>
            </a:r>
          </a:p>
          <a:p xmlns:a="http://schemas.openxmlformats.org/drawingml/2006/main">
            <a:r>
              <a:t/>
            </a:r>
          </a:p>
          <a:p xmlns:a="http://schemas.openxmlformats.org/drawingml/2006/main">
            <a:r>
              <a:t>之前相对原胞完整图的1.57倍提速包含已知的ASU节点约简收益。这里隔离新增边合并后，实测为**显存—耗时权衡**，不能继续把更快作为相对ASU方法的优点。</a:t>
            </a:r>
          </a:p>
          <a:p xmlns:a="http://schemas.openxmlformats.org/drawingml/2006/main">
            <a:r>
              <a:t/>
            </a:r>
          </a:p>
          <a:p xmlns:a="http://schemas.openxmlformats.org/drawingml/2006/main">
            <a:r>
              <a:t>## 可以与不可以得出的结论</a:t>
            </a:r>
          </a:p>
          <a:p xmlns:a="http://schemas.openxmlformats.org/drawingml/2006/main">
            <a:r>
              <a:t/>
            </a:r>
          </a:p>
          <a:p xmlns:a="http://schemas.openxmlformats.org/drawingml/2006/main">
            <a:r>
              <a:t>可以确认：在已测试的网络与固定拓扑条件下，按边轨道汇总可在保持输出与梯度一致的同时，显著减少激活内存。时间优势未出现；额外的方向和与加权运算抵消了减少消息条数的速度收益。</a:t>
            </a:r>
          </a:p>
          <a:p xmlns:a="http://schemas.openxmlformats.org/drawingml/2006/main">
            <a:r>
              <a:t/>
            </a:r>
          </a:p>
          <a:p xmlns:a="http://schemas.openxmlformats.org/drawingml/2006/main">
            <a:r>
              <a:t>未确认：训练后的生成质量、完整扩散总耗时、动态邻接、跨空间群/晶格变化和更大模型的资源收益。实际离散边token生成尚未实现。</a:t>
            </a:r>
          </a:p>
          <a:p xmlns:a="http://schemas.openxmlformats.org/drawingml/2006/main">
            <a:r>
              <a:t/>
            </a:r>
          </a:p>
          <a:p xmlns:a="http://schemas.openxmlformats.org/drawingml/2006/main">
            <a:r>
              <a:t>文献边界：ASU节点和仿射边已存在；官方构图逐条保留邻居边。当前实现的实质变化是进一步合并边轨道并计数加权。这个有限差别不能自动变成“新的条件扩散tokenizer”结论。</a:t>
            </a:r>
          </a:p>
          <a:p xmlns:a="http://schemas.openxmlformats.org/drawingml/2006/main">
            <a:r>
              <a:t/>
            </a:r>
          </a:p>
          <a:p xmlns:a="http://schemas.openxmlformats.org/drawingml/2006/main">
            <a:r>
              <a:t>## 下一步应解决的表示问题</a:t>
            </a:r>
          </a:p>
          <a:p xmlns:a="http://schemas.openxmlformats.org/drawingml/2006/main">
            <a:r>
              <a:t/>
            </a:r>
          </a:p>
          <a:p xmlns:a="http://schemas.openxmlformats.org/drawingml/2006/main">
            <a:r>
              <a:t>现有codec头部仍包含连续ASU坐标。如果希望它承担“prototype先生成、再生成几何”的作用，需要把节点的标准位点约束与自由几何参数分开：用离散的仿射site-stabilizer/所在Wyckoff分支定义位置族，边保留operation+translation标签；自由坐标和晶格放在几何载荷中。</a:t>
            </a:r>
          </a:p>
          <a:p xmlns:a="http://schemas.openxmlformats.org/drawingml/2006/main">
            <a:r>
              <a:t/>
            </a:r>
          </a:p>
          <a:p xmlns:a="http://schemas.openxmlformats.org/drawingml/2006/main">
            <a:r>
              <a:t>应首先检查：移除真实自由坐标后，离散prototype是否仍能定义同一个周期连接图（允许原子编号和晶胞像选择的等价变化）。该验证若不能通过，当前方案就只适合作为给定几何下的计算压缩，不能当作所需prototype tokenizer。</a:t>
            </a:r>
          </a:p>
          <a:p xmlns:a="http://schemas.openxmlformats.org/drawingml/2006/main">
            <a:r>
              <a:t/>
            </a:r>
          </a:p>
          <a:p xmlns:a="http://schemas.openxmlformats.org/drawingml/2006/main">
            <a:r>
              <a:t>数据与代码摘要：`graph_backbone/asu_control.json`；之前较弱基线的结果保留在 `GRAPH_BACKBONE_RESULTS.md`，本文件优先说明新增边压缩的收益。</a:t>
            </a:r>
          </a:p>
          <a:p xmlns:a="http://schemas.openxmlformats.org/drawingml/2006/main">
            <a:r>
              <a:t/>
            </a:r>
          </a:p>
          <a:p xmlns:a="http://schemas.openxmlformats.org/drawingml/2006/main">
            <a:r>
              <a:t/>
            </a:r>
          </a:p>
          <a:p xmlns:a="http://schemas.openxmlformats.org/drawingml/2006/main">
            <a:r>
              <a:t>来源：experiments/wyckoff_tokenizer_search/PROTOTYPE_REPLICATION_RESULTS.md</a:t>
            </a:r>
          </a:p>
          <a:p xmlns:a="http://schemas.openxmlformats.org/drawingml/2006/main">
            <a:r>
              <a:t># 冻结模型的独立保留集复核结果</a:t>
            </a:r>
          </a:p>
          <a:p xmlns:a="http://schemas.openxmlformats.org/drawingml/2006/main">
            <a:r>
              <a:t/>
            </a:r>
          </a:p>
          <a:p xmlns:a="http://schemas.openxmlformats.org/drawingml/2006/main">
            <a:r>
              <a:t>## Material Passport</a:t>
            </a:r>
          </a:p>
          <a:p xmlns:a="http://schemas.openxmlformats.org/drawingml/2006/main">
            <a:r>
              <a:t/>
            </a:r>
          </a:p>
          <a:p xmlns:a="http://schemas.openxmlformats.org/drawingml/2006/main">
            <a:r>
              <a:t>2026-09-09；Burgundy Slurm534769，队列020–022。固定训练模型，评价阶段无拟合、无checkpoint选择。规则为 `PROTOTYPE_REPLICATION_PROTOCOL.md`。</a:t>
            </a:r>
          </a:p>
          <a:p xmlns:a="http://schemas.openxmlformats.org/drawingml/2006/main">
            <a:r>
              <a:t/>
            </a:r>
          </a:p>
          <a:p xmlns:a="http://schemas.openxmlformats.org/drawingml/2006/main">
            <a:r>
              <a:t>## 数据与模型锁定</a:t>
            </a:r>
          </a:p>
          <a:p xmlns:a="http://schemas.openxmlformats.org/drawingml/2006/main">
            <a:r>
              <a:t/>
            </a:r>
          </a:p>
          <a:p xmlns:a="http://schemas.openxmlformats.org/drawingml/2006/main">
            <a:r>
              <a:t>预先保留的6620个候选与训练集、原2048个开发候选不重叠。按相同规则，5343个可评价、1274个无内部几何自由度、3个在标准化后对称像原子匹配检查中失败。3项失败均复现，成员资格未变。</a:t>
            </a:r>
          </a:p>
          <a:p xmlns:a="http://schemas.openxmlformats.org/drawingml/2006/main">
            <a:r>
              <a:t/>
            </a:r>
          </a:p>
          <a:p xmlns:a="http://schemas.openxmlformats.org/drawingml/2006/main">
            <a:r>
              <a:t>checkpoint SHA-256：`2051b039f809199e6c311c70e7fa78b218c94d7fdbfeb2ea2350ac94439c75d2`。评价核对了该摘要、训练config摘要、全部训练源码摘要及输入CSV摘要。噪声seed32179，每结构8次，sigma=0.1Å。</a:t>
            </a:r>
          </a:p>
          <a:p xmlns:a="http://schemas.openxmlformats.org/drawingml/2006/main">
            <a:r>
              <a:t/>
            </a:r>
          </a:p>
          <a:p xmlns:a="http://schemas.openxmlformats.org/drawingml/2006/main">
            <a:r>
              <a:t>## 结果</a:t>
            </a:r>
          </a:p>
          <a:p xmlns:a="http://schemas.openxmlformats.org/drawingml/2006/main">
            <a:r>
              <a:t/>
            </a:r>
          </a:p>
          <a:p xmlns:a="http://schemas.openxmlformats.org/drawingml/2006/main">
            <a:r>
              <a:t>| 指标 | 数值 |</a:t>
            </a:r>
          </a:p>
          <a:p xmlns:a="http://schemas.openxmlformats.org/drawingml/2006/main">
            <a:r>
              <a:t>|---|---:|</a:t>
            </a:r>
          </a:p>
          <a:p xmlns:a="http://schemas.openxmlformats.org/drawingml/2006/main">
            <a:r>
              <a:t>| identity归一化MSE | 0.00976237 |</a:t>
            </a:r>
          </a:p>
          <a:p xmlns:a="http://schemas.openxmlformats.org/drawingml/2006/main">
            <a:r>
              <a:t>| 模型归一化MSE | 0.00281572 |</a:t>
            </a:r>
          </a:p>
          <a:p xmlns:a="http://schemas.openxmlformats.org/drawingml/2006/main">
            <a:r>
              <a:t>| 相对MSE下降 | 71.16% |</a:t>
            </a:r>
          </a:p>
          <a:p xmlns:a="http://schemas.openxmlformats.org/drawingml/2006/main">
            <a:r>
              <a:t>| 模型−identity差值的配对结构95%区间 | [-0.00704825, -0.00684215] |</a:t>
            </a:r>
          </a:p>
          <a:p xmlns:a="http://schemas.openxmlformats.org/drawingml/2006/main">
            <a:r>
              <a:t>| 平均误差改善的结构 | 5248 / 5343 |</a:t>
            </a:r>
          </a:p>
          <a:p xmlns:a="http://schemas.openxmlformats.org/drawingml/2006/main">
            <a:r>
              <a:t>| 同权重ASU/edge-orbit最大向量差异 | 1.72e-6 |</a:t>
            </a:r>
          </a:p>
          <a:p xmlns:a="http://schemas.openxmlformats.org/drawingml/2006/main">
            <a:r>
              <a:t/>
            </a:r>
          </a:p>
          <a:p xmlns:a="http://schemas.openxmlformats.org/drawingml/2006/main">
            <a:r>
              <a:t>通过了预设的单次固定模型复核判据。结果与开发集的72.36%下降接近，支持离散prototype＋指定晶格作为条件的单级几何去噪接口在未参与模型选择的数据上可用。</a:t>
            </a:r>
          </a:p>
          <a:p xmlns:a="http://schemas.openxmlformats.org/drawingml/2006/main">
            <a:r>
              <a:t/>
            </a:r>
          </a:p>
          <a:p xmlns:a="http://schemas.openxmlformats.org/drawingml/2006/main">
            <a:r>
              <a:t>这不是多个训练seed的验证，也不是完整扩散采样。MSE改善是模型相对identity的学习效果，不是tokenizer相对ASU图的精度提升；两条路径维持相同预测。新增边压缩的资源收益/时间代价仍以 `ASU_CONTROL_RESULTS.md` 为准。</a:t>
            </a:r>
          </a:p>
          <a:p xmlns:a="http://schemas.openxmlformats.org/drawingml/2006/main">
            <a:r>
              <a:t/>
            </a:r>
          </a:p>
          <a:p xmlns:a="http://schemas.openxmlformats.org/drawingml/2006/main">
            <a:r>
              <a:t>原始结果和逐结构记录见 `prototype_full_model/replication_result.json` 与 `replication_predictions.jsonl`；锁定信息和失败审计见 `prototype_full_corpus/replication_lock.json`、`replication_manifest.json`、`replication_failure_audit.json`。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993452a04ca4927" /><Relationship Type="http://schemas.openxmlformats.org/officeDocument/2006/relationships/notesSlide" Target="/ppt/notesSlides/notesSlide13.xml" Id="R633f2c26a98f42a1"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98B64B96-934D-4D9C-B4A4-DFADDEAE534A}"/>
              </a:ext>
            </a:extLst>
          </p:cNvPr>
          <p:cNvSpPr>
            <a:spLocks noGrp="1"/>
          </p:cNvSpPr>
          <p:nvPr/>
        </p:nvSpPr>
        <p:spPr>
          <a:xfrm>
            <a:off x="685800" y="457200"/>
            <a:ext cx="3048000" cy="171450"/>
          </a:xfrm>
          <a:prstGeom prst="rect">
            <a:avLst/>
          </a:prstGeom>
          <a:noFill/>
          <a:ln w="0">
            <a:noFill/>
            <a:prstDash val="solid"/>
          </a:ln>
        </p:spPr>
        <p:txBody>
          <a:bodyPr/>
          <a:lstStyle/>
          <a:p>
            <a:pPr algn="l">
              <a:buNone/>
              <a:defRPr sz="975" b="1">
                <a:solidFill>
                  <a:srgbClr val="2D6B5B"/>
                </a:solidFill>
              </a:defRPr>
            </a:pPr>
            <a:r>
              <a:rPr sz="975" b="1">
                <a:solidFill>
                  <a:srgbClr val="2D6B5B"/>
                </a:solidFill>
              </a:rPr>
              <a:t>组会汇报｜文献调研 + 新 idea</a:t>
            </a:r>
          </a:p>
        </p:txBody>
      </p:sp>
      <p:sp>
        <p:nvSpPr>
          <p:cNvPr id="2" name="矩形 1">
            <a:extLst>
              <a:ext uri="{FF2B5EF4-FFF2-40B4-BE49-F238E27FC236}">
                <a16:creationId xmlns:a16="http://schemas.microsoft.com/office/drawing/2014/main" id="{35263B16-B335-424F-A1F5-7F4D5021943C}"/>
              </a:ext>
            </a:extLst>
          </p:cNvPr>
          <p:cNvSpPr>
            <a:spLocks noGrp="1"/>
          </p:cNvSpPr>
          <p:nvPr/>
        </p:nvSpPr>
        <p:spPr>
          <a:xfrm>
            <a:off x="685800" y="1104900"/>
            <a:ext cx="8953500" cy="1009650"/>
          </a:xfrm>
          <a:prstGeom prst="rect">
            <a:avLst/>
          </a:prstGeom>
          <a:noFill/>
          <a:ln w="0">
            <a:noFill/>
            <a:prstDash val="solid"/>
          </a:ln>
        </p:spPr>
        <p:txBody>
          <a:bodyPr/>
          <a:lstStyle/>
          <a:p>
            <a:pPr algn="l">
              <a:buNone/>
              <a:defRPr sz="2850" b="1">
                <a:solidFill>
                  <a:srgbClr val="17372F"/>
                </a:solidFill>
              </a:defRPr>
            </a:pPr>
            <a:r>
              <a:rPr sz="2850" b="1">
                <a:solidFill>
                  <a:srgbClr val="17372F"/>
                </a:solidFill>
              </a:rPr>
              <a:t>Wyckoff DLM：从已有结果到可验证的新 idea</a:t>
            </a:r>
          </a:p>
        </p:txBody>
      </p:sp>
      <p:sp>
        <p:nvSpPr>
          <p:cNvPr id="3" name="矩形 2">
            <a:extLst>
              <a:ext uri="{FF2B5EF4-FFF2-40B4-BE49-F238E27FC236}">
                <a16:creationId xmlns:a16="http://schemas.microsoft.com/office/drawing/2014/main" id="{5DB915E2-8345-463D-9F2B-F9175F8413CC}"/>
              </a:ext>
            </a:extLst>
          </p:cNvPr>
          <p:cNvSpPr>
            <a:spLocks noGrp="1"/>
          </p:cNvSpPr>
          <p:nvPr/>
        </p:nvSpPr>
        <p:spPr>
          <a:xfrm>
            <a:off x="685800" y="2381250"/>
            <a:ext cx="8763000" cy="438150"/>
          </a:xfrm>
          <a:prstGeom prst="rect">
            <a:avLst/>
          </a:prstGeom>
          <a:noFill/>
          <a:ln w="0">
            <a:noFill/>
            <a:prstDash val="solid"/>
          </a:ln>
        </p:spPr>
        <p:txBody>
          <a:bodyPr/>
          <a:lstStyle/>
          <a:p>
            <a:pPr algn="l">
              <a:buNone/>
              <a:defRPr sz="1275" b="0">
                <a:solidFill>
                  <a:srgbClr val="62736C"/>
                </a:solidFill>
              </a:defRPr>
            </a:pPr>
            <a:r>
              <a:rPr sz="1275" b="0">
                <a:solidFill>
                  <a:srgbClr val="62736C"/>
                </a:solidFill>
              </a:rPr>
              <a:t>DynaCrys · MaskGXT · WyFormer-based proposal</a:t>
            </a:r>
          </a:p>
        </p:txBody>
      </p:sp>
      <p:sp>
        <p:nvSpPr>
          <p:cNvPr id="4" name="矩形 3">
            <a:extLst>
              <a:ext uri="{FF2B5EF4-FFF2-40B4-BE49-F238E27FC236}">
                <a16:creationId xmlns:a16="http://schemas.microsoft.com/office/drawing/2014/main" id="{1DEE55CF-0070-4DCB-90B7-11B3D1FAADE0}"/>
              </a:ext>
            </a:extLst>
          </p:cNvPr>
          <p:cNvSpPr>
            <a:spLocks noGrp="1"/>
          </p:cNvSpPr>
          <p:nvPr/>
        </p:nvSpPr>
        <p:spPr>
          <a:xfrm>
            <a:off x="685800" y="3429000"/>
            <a:ext cx="9144000" cy="704850"/>
          </a:xfrm>
          <a:prstGeom prst="rect">
            <a:avLst/>
          </a:prstGeom>
          <a:noFill/>
          <a:ln w="0">
            <a:noFill/>
            <a:prstDash val="solid"/>
          </a:ln>
        </p:spPr>
        <p:txBody>
          <a:bodyPr/>
          <a:lstStyle/>
          <a:p>
            <a:pPr algn="l">
              <a:buNone/>
              <a:defRPr sz="1725" b="0">
                <a:solidFill>
                  <a:srgbClr val="263732"/>
                </a:solidFill>
              </a:defRPr>
            </a:pPr>
            <a:r>
              <a:rPr sz="1725" b="0">
                <a:solidFill>
                  <a:srgbClr val="263732"/>
                </a:solidFill>
              </a:rPr>
              <a:t>结论：DLM 本身不新，结构化 tokenization + legal set diffusion 才是主线</a:t>
            </a:r>
          </a:p>
        </p:txBody>
      </p:sp>
      <p:sp>
        <p:nvSpPr>
          <p:cNvPr id="5" name="矩形 4">
            <a:extLst>
              <a:ext uri="{FF2B5EF4-FFF2-40B4-BE49-F238E27FC236}">
                <a16:creationId xmlns:a16="http://schemas.microsoft.com/office/drawing/2014/main" id="{4053A145-EBA8-464F-8F62-47A3731F6DF6}"/>
              </a:ext>
            </a:extLst>
          </p:cNvPr>
          <p:cNvSpPr>
            <a:spLocks noGrp="1"/>
          </p:cNvSpPr>
          <p:nvPr/>
        </p:nvSpPr>
        <p:spPr>
          <a:xfrm>
            <a:off x="685800" y="6400800"/>
            <a:ext cx="10820400" cy="9525"/>
          </a:xfrm>
          <a:prstGeom prst="rect">
            <a:avLst/>
          </a:prstGeom>
          <a:solidFill>
            <a:srgbClr val="C9D8D0"/>
          </a:solidFill>
          <a:ln w="9525">
            <a:solidFill>
              <a:srgbClr val="C9D8D0"/>
            </a:solidFill>
            <a:prstDash val="solid"/>
          </a:ln>
        </p:spPr>
      </p:sp>
      <p:sp>
        <p:nvSpPr>
          <p:cNvPr id="6" name="矩形 5">
            <a:extLst>
              <a:ext uri="{FF2B5EF4-FFF2-40B4-BE49-F238E27FC236}">
                <a16:creationId xmlns:a16="http://schemas.microsoft.com/office/drawing/2014/main" id="{97120ECC-69C1-4C80-8DC5-9198D6DA7682}"/>
              </a:ext>
            </a:extLst>
          </p:cNvPr>
          <p:cNvSpPr>
            <a:spLocks noGrp="1"/>
          </p:cNvSpPr>
          <p:nvPr/>
        </p:nvSpPr>
        <p:spPr>
          <a:xfrm>
            <a:off x="685800" y="6524625"/>
            <a:ext cx="10820400" cy="152400"/>
          </a:xfrm>
          <a:prstGeom prst="rect">
            <a:avLst/>
          </a:prstGeom>
          <a:noFill/>
          <a:ln w="0">
            <a:noFill/>
            <a:prstDash val="solid"/>
          </a:ln>
        </p:spPr>
        <p:txBody>
          <a:bodyPr/>
          <a:lstStyle/>
          <a:p>
            <a:pPr algn="l">
              <a:buNone/>
              <a:defRPr sz="750" b="0">
                <a:solidFill>
                  <a:srgbClr val="62736C"/>
                </a:solidFill>
              </a:defRPr>
            </a:pPr>
            <a:r>
              <a:rPr sz="750" b="0">
                <a:solidFill>
                  <a:srgbClr val="62736C"/>
                </a:solidFill>
              </a:rPr>
              <a:t>DynaCrys (Jin et al., 2026) · MaskGXT (Seong et al., 2026) · DynaCrys / MaskGXT title pages · paper page 1</a:t>
            </a:r>
          </a:p>
        </p:txBody>
      </p:sp>
    </p:spTree>
    <p:extLst>
      <p:ext uri="{BB962C8B-B14F-4D97-AF65-F5344CB8AC3E}">
        <p14:creationId xmlns:p14="http://schemas.microsoft.com/office/powerpoint/2010/main" val="130735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32BFAE90-A316-4928-B60D-A37265881D57}"/>
              </a:ext>
            </a:extLst>
          </p:cNvPr>
          <p:cNvSpPr>
            <a:spLocks noGrp="1"/>
          </p:cNvSpPr>
          <p:nvPr/>
        </p:nvSpPr>
        <p:spPr>
          <a:xfrm>
            <a:off x="685800" y="342900"/>
            <a:ext cx="323850" cy="171450"/>
          </a:xfrm>
          <a:prstGeom prst="rect">
            <a:avLst/>
          </a:prstGeom>
          <a:noFill/>
          <a:ln w="0">
            <a:noFill/>
            <a:prstDash val="solid"/>
          </a:ln>
        </p:spPr>
        <p:txBody>
          <a:bodyPr/>
          <a:lstStyle/>
          <a:p>
            <a:pPr algn="l">
              <a:buNone/>
              <a:defRPr sz="900" b="1">
                <a:solidFill>
                  <a:srgbClr val="2D6B5B"/>
                </a:solidFill>
              </a:defRPr>
            </a:pPr>
            <a:r>
              <a:rPr sz="900" b="1">
                <a:solidFill>
                  <a:srgbClr val="2D6B5B"/>
                </a:solidFill>
              </a:rPr>
              <a:t>02</a:t>
            </a:r>
          </a:p>
        </p:txBody>
      </p:sp>
      <p:sp>
        <p:nvSpPr>
          <p:cNvPr id="2" name="矩形 1">
            <a:extLst>
              <a:ext uri="{FF2B5EF4-FFF2-40B4-BE49-F238E27FC236}">
                <a16:creationId xmlns:a16="http://schemas.microsoft.com/office/drawing/2014/main" id="{FE1363A6-2F6E-4AB0-A744-3F05915B84A4}"/>
              </a:ext>
            </a:extLst>
          </p:cNvPr>
          <p:cNvSpPr>
            <a:spLocks noGrp="1"/>
          </p:cNvSpPr>
          <p:nvPr/>
        </p:nvSpPr>
        <p:spPr>
          <a:xfrm>
            <a:off x="1200150" y="342900"/>
            <a:ext cx="2857500" cy="171450"/>
          </a:xfrm>
          <a:prstGeom prst="rect">
            <a:avLst/>
          </a:prstGeom>
          <a:noFill/>
          <a:ln w="0">
            <a:noFill/>
            <a:prstDash val="solid"/>
          </a:ln>
        </p:spPr>
        <p:txBody>
          <a:bodyPr/>
          <a:lstStyle/>
          <a:p>
            <a:pPr algn="l">
              <a:buNone/>
              <a:defRPr sz="900" b="1">
                <a:solidFill>
                  <a:srgbClr val="62736C"/>
                </a:solidFill>
              </a:defRPr>
            </a:pPr>
            <a:r>
              <a:rPr sz="900" b="1">
                <a:solidFill>
                  <a:srgbClr val="62736C"/>
                </a:solidFill>
              </a:rPr>
              <a:t>研究问题</a:t>
            </a:r>
          </a:p>
        </p:txBody>
      </p:sp>
      <p:sp>
        <p:nvSpPr>
          <p:cNvPr id="3" name="矩形 2">
            <a:extLst>
              <a:ext uri="{FF2B5EF4-FFF2-40B4-BE49-F238E27FC236}">
                <a16:creationId xmlns:a16="http://schemas.microsoft.com/office/drawing/2014/main" id="{4E5BD12E-FBC5-4212-A957-6D80D08B60A7}"/>
              </a:ext>
            </a:extLst>
          </p:cNvPr>
          <p:cNvSpPr>
            <a:spLocks noGrp="1"/>
          </p:cNvSpPr>
          <p:nvPr/>
        </p:nvSpPr>
        <p:spPr>
          <a:xfrm>
            <a:off x="685800" y="609600"/>
            <a:ext cx="10668000" cy="400050"/>
          </a:xfrm>
          <a:prstGeom prst="rect">
            <a:avLst/>
          </a:prstGeom>
          <a:noFill/>
          <a:ln w="0">
            <a:noFill/>
            <a:prstDash val="solid"/>
          </a:ln>
        </p:spPr>
        <p:txBody>
          <a:bodyPr/>
          <a:lstStyle/>
          <a:p>
            <a:pPr algn="l">
              <a:buNone/>
              <a:defRPr sz="2625" b="1">
                <a:solidFill>
                  <a:srgbClr val="17372F"/>
                </a:solidFill>
              </a:defRPr>
            </a:pPr>
            <a:r>
              <a:rPr sz="2625" b="1">
                <a:solidFill>
                  <a:srgbClr val="17372F"/>
                </a:solidFill>
              </a:rPr>
              <a:t>瓶颈不是扩散，而是如何保留晶体对称性</a:t>
            </a:r>
          </a:p>
        </p:txBody>
      </p:sp>
      <p:sp>
        <p:nvSpPr>
          <p:cNvPr id="4" name="矩形 3">
            <a:extLst>
              <a:ext uri="{FF2B5EF4-FFF2-40B4-BE49-F238E27FC236}">
                <a16:creationId xmlns:a16="http://schemas.microsoft.com/office/drawing/2014/main" id="{A1B27186-CD0E-4CBD-969D-8BE7C00865DA}"/>
              </a:ext>
            </a:extLst>
          </p:cNvPr>
          <p:cNvSpPr>
            <a:spLocks noGrp="1"/>
          </p:cNvSpPr>
          <p:nvPr/>
        </p:nvSpPr>
        <p:spPr>
          <a:xfrm>
            <a:off x="685800" y="1066800"/>
            <a:ext cx="10820400" cy="9525"/>
          </a:xfrm>
          <a:prstGeom prst="rect">
            <a:avLst/>
          </a:prstGeom>
          <a:solidFill>
            <a:srgbClr val="C9D8D0"/>
          </a:solidFill>
          <a:ln w="9525">
            <a:solidFill>
              <a:srgbClr val="C9D8D0"/>
            </a:solidFill>
            <a:prstDash val="solid"/>
          </a:ln>
        </p:spPr>
      </p:sp>
      <p:sp>
        <p:nvSpPr>
          <p:cNvPr id="5" name="矩形 4">
            <a:extLst>
              <a:ext uri="{FF2B5EF4-FFF2-40B4-BE49-F238E27FC236}">
                <a16:creationId xmlns:a16="http://schemas.microsoft.com/office/drawing/2014/main" id="{DA168844-9B17-4ADC-947C-A1C60873B68B}"/>
              </a:ext>
            </a:extLst>
          </p:cNvPr>
          <p:cNvSpPr>
            <a:spLocks noGrp="1"/>
          </p:cNvSpPr>
          <p:nvPr/>
        </p:nvSpPr>
        <p:spPr>
          <a:xfrm>
            <a:off x="685800" y="1571625"/>
            <a:ext cx="10287000" cy="1143000"/>
          </a:xfrm>
          <a:prstGeom prst="rect">
            <a:avLst/>
          </a:prstGeom>
          <a:noFill/>
          <a:ln w="0">
            <a:noFill/>
            <a:prstDash val="solid"/>
          </a:ln>
        </p:spPr>
        <p:txBody>
          <a:bodyPr/>
          <a:lstStyle/>
          <a:p>
            <a:pPr algn="l">
              <a:buNone/>
              <a:defRPr sz="2025" b="1">
                <a:solidFill>
                  <a:srgbClr val="17372F"/>
                </a:solidFill>
              </a:defRPr>
            </a:pPr>
            <a:r>
              <a:rPr sz="2025" b="1">
                <a:solidFill>
                  <a:srgbClr val="17372F"/>
                </a:solidFill>
              </a:rPr>
              <a:t>晶体生成同时面对离散对称、可变轨道集合和连续几何；空间群决定合法 Wyckoff vocabulary。</a:t>
            </a:r>
          </a:p>
        </p:txBody>
      </p:sp>
      <p:sp>
        <p:nvSpPr>
          <p:cNvPr id="6" name="椭圆 5">
            <a:extLst>
              <a:ext uri="{FF2B5EF4-FFF2-40B4-BE49-F238E27FC236}">
                <a16:creationId xmlns:a16="http://schemas.microsoft.com/office/drawing/2014/main" id="{FFF8D576-FBAF-4C00-A92E-B30CADE42702}"/>
              </a:ext>
            </a:extLst>
          </p:cNvPr>
          <p:cNvSpPr>
            <a:spLocks noGrp="1"/>
          </p:cNvSpPr>
          <p:nvPr/>
        </p:nvSpPr>
        <p:spPr>
          <a:xfrm>
            <a:off x="685800" y="3409950"/>
            <a:ext cx="66675" cy="66675"/>
          </a:xfrm>
          <a:prstGeom prst="ellipse">
            <a:avLst/>
          </a:prstGeom>
          <a:solidFill>
            <a:srgbClr val="2D6B5B"/>
          </a:solidFill>
          <a:ln w="9525">
            <a:solidFill>
              <a:srgbClr val="2D6B5B"/>
            </a:solidFill>
            <a:prstDash val="solid"/>
          </a:ln>
        </p:spPr>
      </p:sp>
      <p:sp>
        <p:nvSpPr>
          <p:cNvPr id="7" name="矩形 6">
            <a:extLst>
              <a:ext uri="{FF2B5EF4-FFF2-40B4-BE49-F238E27FC236}">
                <a16:creationId xmlns:a16="http://schemas.microsoft.com/office/drawing/2014/main" id="{786C25C4-97C0-4481-A59A-4C879D286BFA}"/>
              </a:ext>
            </a:extLst>
          </p:cNvPr>
          <p:cNvSpPr>
            <a:spLocks noGrp="1"/>
          </p:cNvSpPr>
          <p:nvPr/>
        </p:nvSpPr>
        <p:spPr>
          <a:xfrm>
            <a:off x="895350" y="3314700"/>
            <a:ext cx="9886950" cy="666750"/>
          </a:xfrm>
          <a:prstGeom prst="rect">
            <a:avLst/>
          </a:prstGeom>
          <a:noFill/>
          <a:ln w="0">
            <a:noFill/>
            <a:prstDash val="solid"/>
          </a:ln>
        </p:spPr>
        <p:txBody>
          <a:bodyPr/>
          <a:lstStyle/>
          <a:p>
            <a:pPr algn="l">
              <a:buNone/>
              <a:defRPr sz="1650" b="0">
                <a:solidFill>
                  <a:srgbClr val="263732"/>
                </a:solidFill>
              </a:defRPr>
            </a:pPr>
            <a:r>
              <a:rPr sz="1650" b="0">
                <a:solidFill>
                  <a:srgbClr val="263732"/>
                </a:solidFill>
              </a:rPr>
              <a:t>把空间群都当作 P1 会扩大搜索空间并弱化对称性先验</a:t>
            </a:r>
          </a:p>
        </p:txBody>
      </p:sp>
      <p:sp>
        <p:nvSpPr>
          <p:cNvPr id="8" name="椭圆 7">
            <a:extLst>
              <a:ext uri="{FF2B5EF4-FFF2-40B4-BE49-F238E27FC236}">
                <a16:creationId xmlns:a16="http://schemas.microsoft.com/office/drawing/2014/main" id="{261019A5-E63A-4BDB-96D0-98A3FB6113A7}"/>
              </a:ext>
            </a:extLst>
          </p:cNvPr>
          <p:cNvSpPr>
            <a:spLocks noGrp="1"/>
          </p:cNvSpPr>
          <p:nvPr/>
        </p:nvSpPr>
        <p:spPr>
          <a:xfrm>
            <a:off x="685800" y="4381500"/>
            <a:ext cx="66675" cy="66675"/>
          </a:xfrm>
          <a:prstGeom prst="ellipse">
            <a:avLst/>
          </a:prstGeom>
          <a:solidFill>
            <a:srgbClr val="2D6B5B"/>
          </a:solidFill>
          <a:ln w="9525">
            <a:solidFill>
              <a:srgbClr val="2D6B5B"/>
            </a:solidFill>
            <a:prstDash val="solid"/>
          </a:ln>
        </p:spPr>
      </p:sp>
      <p:sp>
        <p:nvSpPr>
          <p:cNvPr id="9" name="矩形 8">
            <a:extLst>
              <a:ext uri="{FF2B5EF4-FFF2-40B4-BE49-F238E27FC236}">
                <a16:creationId xmlns:a16="http://schemas.microsoft.com/office/drawing/2014/main" id="{759880BD-AD81-4CC9-B6BC-47A99E372A52}"/>
              </a:ext>
            </a:extLst>
          </p:cNvPr>
          <p:cNvSpPr>
            <a:spLocks noGrp="1"/>
          </p:cNvSpPr>
          <p:nvPr/>
        </p:nvSpPr>
        <p:spPr>
          <a:xfrm>
            <a:off x="895350" y="4286250"/>
            <a:ext cx="9886950" cy="666750"/>
          </a:xfrm>
          <a:prstGeom prst="rect">
            <a:avLst/>
          </a:prstGeom>
          <a:noFill/>
          <a:ln w="0">
            <a:noFill/>
            <a:prstDash val="solid"/>
          </a:ln>
        </p:spPr>
        <p:txBody>
          <a:bodyPr/>
          <a:lstStyle/>
          <a:p>
            <a:pPr algn="l">
              <a:buNone/>
              <a:defRPr sz="1650" b="0">
                <a:solidFill>
                  <a:srgbClr val="263732"/>
                </a:solidFill>
              </a:defRPr>
            </a:pPr>
            <a:r>
              <a:rPr sz="1650" b="0">
                <a:solidFill>
                  <a:srgbClr val="263732"/>
                </a:solidFill>
              </a:rPr>
              <a:t>Wyckoff 表示压缩 orbit，但不同方法保留的信息不同</a:t>
            </a:r>
          </a:p>
        </p:txBody>
      </p:sp>
      <p:sp>
        <p:nvSpPr>
          <p:cNvPr id="10" name="椭圆 9">
            <a:extLst>
              <a:ext uri="{FF2B5EF4-FFF2-40B4-BE49-F238E27FC236}">
                <a16:creationId xmlns:a16="http://schemas.microsoft.com/office/drawing/2014/main" id="{E907DEA6-96B0-4C92-8639-F683D16095C4}"/>
              </a:ext>
            </a:extLst>
          </p:cNvPr>
          <p:cNvSpPr>
            <a:spLocks noGrp="1"/>
          </p:cNvSpPr>
          <p:nvPr/>
        </p:nvSpPr>
        <p:spPr>
          <a:xfrm>
            <a:off x="685800" y="5353050"/>
            <a:ext cx="66675" cy="66675"/>
          </a:xfrm>
          <a:prstGeom prst="ellipse">
            <a:avLst/>
          </a:prstGeom>
          <a:solidFill>
            <a:srgbClr val="2D6B5B"/>
          </a:solidFill>
          <a:ln w="9525">
            <a:solidFill>
              <a:srgbClr val="2D6B5B"/>
            </a:solidFill>
            <a:prstDash val="solid"/>
          </a:ln>
        </p:spPr>
      </p:sp>
      <p:sp>
        <p:nvSpPr>
          <p:cNvPr id="11" name="矩形 10">
            <a:extLst>
              <a:ext uri="{FF2B5EF4-FFF2-40B4-BE49-F238E27FC236}">
                <a16:creationId xmlns:a16="http://schemas.microsoft.com/office/drawing/2014/main" id="{522BF9E4-B4FE-420A-9812-BB0207D735A3}"/>
              </a:ext>
            </a:extLst>
          </p:cNvPr>
          <p:cNvSpPr>
            <a:spLocks noGrp="1"/>
          </p:cNvSpPr>
          <p:nvPr/>
        </p:nvSpPr>
        <p:spPr>
          <a:xfrm>
            <a:off x="895350" y="5257800"/>
            <a:ext cx="9886950" cy="666750"/>
          </a:xfrm>
          <a:prstGeom prst="rect">
            <a:avLst/>
          </a:prstGeom>
          <a:noFill/>
          <a:ln w="0">
            <a:noFill/>
            <a:prstDash val="solid"/>
          </a:ln>
        </p:spPr>
        <p:txBody>
          <a:bodyPr/>
          <a:lstStyle/>
          <a:p>
            <a:pPr algn="l">
              <a:buNone/>
              <a:defRPr sz="1650" b="0">
                <a:solidFill>
                  <a:srgbClr val="263732"/>
                </a:solidFill>
              </a:defRPr>
            </a:pPr>
            <a:r>
              <a:rPr sz="1650" b="0">
                <a:solidFill>
                  <a:srgbClr val="263732"/>
                </a:solidFill>
              </a:rPr>
              <a:t>本次问题：DLM 的新增价值究竟来自哪里？</a:t>
            </a:r>
          </a:p>
        </p:txBody>
      </p:sp>
      <p:sp>
        <p:nvSpPr>
          <p:cNvPr id="12" name="矩形 11">
            <a:extLst>
              <a:ext uri="{FF2B5EF4-FFF2-40B4-BE49-F238E27FC236}">
                <a16:creationId xmlns:a16="http://schemas.microsoft.com/office/drawing/2014/main" id="{C1510D81-4AD0-4D16-89B4-9992DC53806D}"/>
              </a:ext>
            </a:extLst>
          </p:cNvPr>
          <p:cNvSpPr>
            <a:spLocks noGrp="1"/>
          </p:cNvSpPr>
          <p:nvPr/>
        </p:nvSpPr>
        <p:spPr>
          <a:xfrm>
            <a:off x="685800" y="6400800"/>
            <a:ext cx="10820400" cy="9525"/>
          </a:xfrm>
          <a:prstGeom prst="rect">
            <a:avLst/>
          </a:prstGeom>
          <a:solidFill>
            <a:srgbClr val="C9D8D0"/>
          </a:solidFill>
          <a:ln w="9525">
            <a:solidFill>
              <a:srgbClr val="C9D8D0"/>
            </a:solidFill>
            <a:prstDash val="solid"/>
          </a:ln>
        </p:spPr>
      </p:sp>
      <p:sp>
        <p:nvSpPr>
          <p:cNvPr id="13" name="矩形 12">
            <a:extLst>
              <a:ext uri="{FF2B5EF4-FFF2-40B4-BE49-F238E27FC236}">
                <a16:creationId xmlns:a16="http://schemas.microsoft.com/office/drawing/2014/main" id="{EC1D95F5-67F6-4002-A673-2530409FD257}"/>
              </a:ext>
            </a:extLst>
          </p:cNvPr>
          <p:cNvSpPr>
            <a:spLocks noGrp="1"/>
          </p:cNvSpPr>
          <p:nvPr/>
        </p:nvSpPr>
        <p:spPr>
          <a:xfrm>
            <a:off x="685800" y="6524625"/>
            <a:ext cx="10820400" cy="152400"/>
          </a:xfrm>
          <a:prstGeom prst="rect">
            <a:avLst/>
          </a:prstGeom>
          <a:noFill/>
          <a:ln w="0">
            <a:noFill/>
            <a:prstDash val="solid"/>
          </a:ln>
        </p:spPr>
        <p:txBody>
          <a:bodyPr/>
          <a:lstStyle/>
          <a:p>
            <a:pPr algn="l">
              <a:buNone/>
              <a:defRPr sz="750" b="0">
                <a:solidFill>
                  <a:srgbClr val="62736C"/>
                </a:solidFill>
              </a:defRPr>
            </a:pPr>
            <a:r>
              <a:rPr sz="750" b="0">
                <a:solidFill>
                  <a:srgbClr val="62736C"/>
                </a:solidFill>
              </a:rPr>
              <a:t>DynaCrys (Jin et al., 2026) · MaskGXT (Seong et al., 2026) · DynaCrys Introduction · paper pages 1–4; SymmCD Representation · paper pages 1, 4–6; WyFormer Tokenization · paper pages 4–5</a:t>
            </a:r>
          </a:p>
        </p:txBody>
      </p:sp>
    </p:spTree>
    <p:extLst>
      <p:ext uri="{BB962C8B-B14F-4D97-AF65-F5344CB8AC3E}">
        <p14:creationId xmlns:p14="http://schemas.microsoft.com/office/powerpoint/2010/main" val="998187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06E49A7A-BA2B-4B83-8237-50528BB9A387}"/>
              </a:ext>
            </a:extLst>
          </p:cNvPr>
          <p:cNvSpPr>
            <a:spLocks noGrp="1"/>
          </p:cNvSpPr>
          <p:nvPr/>
        </p:nvSpPr>
        <p:spPr>
          <a:xfrm>
            <a:off x="685800" y="342900"/>
            <a:ext cx="323850" cy="171450"/>
          </a:xfrm>
          <a:prstGeom prst="rect">
            <a:avLst/>
          </a:prstGeom>
          <a:noFill/>
          <a:ln w="0">
            <a:noFill/>
            <a:prstDash val="solid"/>
          </a:ln>
        </p:spPr>
        <p:txBody>
          <a:bodyPr/>
          <a:lstStyle/>
          <a:p>
            <a:pPr algn="l">
              <a:buNone/>
              <a:defRPr sz="900" b="1">
                <a:solidFill>
                  <a:srgbClr val="2D6B5B"/>
                </a:solidFill>
              </a:defRPr>
            </a:pPr>
            <a:r>
              <a:rPr sz="900" b="1">
                <a:solidFill>
                  <a:srgbClr val="2D6B5B"/>
                </a:solidFill>
              </a:rPr>
              <a:t>03</a:t>
            </a:r>
          </a:p>
        </p:txBody>
      </p:sp>
      <p:sp>
        <p:nvSpPr>
          <p:cNvPr id="2" name="矩形 1">
            <a:extLst>
              <a:ext uri="{FF2B5EF4-FFF2-40B4-BE49-F238E27FC236}">
                <a16:creationId xmlns:a16="http://schemas.microsoft.com/office/drawing/2014/main" id="{DF53970F-6D96-4DF3-883A-9391E04BF7E3}"/>
              </a:ext>
            </a:extLst>
          </p:cNvPr>
          <p:cNvSpPr>
            <a:spLocks noGrp="1"/>
          </p:cNvSpPr>
          <p:nvPr/>
        </p:nvSpPr>
        <p:spPr>
          <a:xfrm>
            <a:off x="1200150" y="342900"/>
            <a:ext cx="2857500" cy="171450"/>
          </a:xfrm>
          <a:prstGeom prst="rect">
            <a:avLst/>
          </a:prstGeom>
          <a:noFill/>
          <a:ln w="0">
            <a:noFill/>
            <a:prstDash val="solid"/>
          </a:ln>
        </p:spPr>
        <p:txBody>
          <a:bodyPr/>
          <a:lstStyle/>
          <a:p>
            <a:pPr algn="l">
              <a:buNone/>
              <a:defRPr sz="900" b="1">
                <a:solidFill>
                  <a:srgbClr val="62736C"/>
                </a:solidFill>
              </a:defRPr>
            </a:pPr>
            <a:r>
              <a:rPr sz="900" b="1">
                <a:solidFill>
                  <a:srgbClr val="62736C"/>
                </a:solidFill>
              </a:rPr>
              <a:t>表示基础</a:t>
            </a:r>
          </a:p>
        </p:txBody>
      </p:sp>
      <p:sp>
        <p:nvSpPr>
          <p:cNvPr id="3" name="矩形 2">
            <a:extLst>
              <a:ext uri="{FF2B5EF4-FFF2-40B4-BE49-F238E27FC236}">
                <a16:creationId xmlns:a16="http://schemas.microsoft.com/office/drawing/2014/main" id="{F54E6053-8404-4674-9A64-6ADF1564D727}"/>
              </a:ext>
            </a:extLst>
          </p:cNvPr>
          <p:cNvSpPr>
            <a:spLocks noGrp="1"/>
          </p:cNvSpPr>
          <p:nvPr/>
        </p:nvSpPr>
        <p:spPr>
          <a:xfrm>
            <a:off x="685800" y="609600"/>
            <a:ext cx="10668000" cy="400050"/>
          </a:xfrm>
          <a:prstGeom prst="rect">
            <a:avLst/>
          </a:prstGeom>
          <a:noFill/>
          <a:ln w="0">
            <a:noFill/>
            <a:prstDash val="solid"/>
          </a:ln>
        </p:spPr>
        <p:txBody>
          <a:bodyPr/>
          <a:lstStyle/>
          <a:p>
            <a:pPr algn="l">
              <a:buNone/>
              <a:defRPr sz="2550" b="1">
                <a:solidFill>
                  <a:srgbClr val="17372F"/>
                </a:solidFill>
              </a:defRPr>
            </a:pPr>
            <a:r>
              <a:rPr sz="2550" b="1">
                <a:solidFill>
                  <a:srgbClr val="17372F"/>
                </a:solidFill>
              </a:rPr>
              <a:t>WyFormer 把晶体压成无序 Wyckoff token set</a:t>
            </a:r>
          </a:p>
        </p:txBody>
      </p:sp>
      <p:sp>
        <p:nvSpPr>
          <p:cNvPr id="4" name="矩形 3">
            <a:extLst>
              <a:ext uri="{FF2B5EF4-FFF2-40B4-BE49-F238E27FC236}">
                <a16:creationId xmlns:a16="http://schemas.microsoft.com/office/drawing/2014/main" id="{2D522442-6BFE-4D7E-8A76-678170214EF9}"/>
              </a:ext>
            </a:extLst>
          </p:cNvPr>
          <p:cNvSpPr>
            <a:spLocks noGrp="1"/>
          </p:cNvSpPr>
          <p:nvPr/>
        </p:nvSpPr>
        <p:spPr>
          <a:xfrm>
            <a:off x="685800" y="1066800"/>
            <a:ext cx="10820400" cy="9525"/>
          </a:xfrm>
          <a:prstGeom prst="rect">
            <a:avLst/>
          </a:prstGeom>
          <a:solidFill>
            <a:srgbClr val="C9D8D0"/>
          </a:solidFill>
          <a:ln w="9525">
            <a:solidFill>
              <a:srgbClr val="C9D8D0"/>
            </a:solidFill>
            <a:prstDash val="solid"/>
          </a:ln>
        </p:spPr>
      </p:sp>
      <p:pic>
        <p:nvPicPr>
          <p:cNvPr id="26" name="图片 25"/>
          <p:cNvPicPr>
            <a:picLocks noChangeAspect="1"/>
          </p:cNvPicPr>
          <p:nvPr/>
        </p:nvPicPr>
        <p:blipFill>
          <a:blip r:embed="rId3"/>
          <a:stretch/>
        </p:blipFill>
        <p:spPr>
          <a:xfrm>
            <a:off x="685800" y="2061882"/>
            <a:ext cx="10820400" cy="1591235"/>
          </a:xfrm>
          <a:prstGeom prst="rect">
            <a:avLst/>
          </a:prstGeom>
        </p:spPr>
      </p:pic>
      <p:sp>
        <p:nvSpPr>
          <p:cNvPr id="6" name="矩形 5">
            <a:extLst>
              <a:ext uri="{FF2B5EF4-FFF2-40B4-BE49-F238E27FC236}">
                <a16:creationId xmlns:a16="http://schemas.microsoft.com/office/drawing/2014/main" id="{58DA82E6-5B19-43A5-A144-CCB82B14FFE1}"/>
              </a:ext>
            </a:extLst>
          </p:cNvPr>
          <p:cNvSpPr>
            <a:spLocks noGrp="1"/>
          </p:cNvSpPr>
          <p:nvPr/>
        </p:nvSpPr>
        <p:spPr>
          <a:xfrm>
            <a:off x="685800" y="1257300"/>
            <a:ext cx="10820400" cy="3200400"/>
          </a:xfrm>
          <a:prstGeom prst="rect">
            <a:avLst/>
          </a:prstGeom>
          <a:noFill/>
          <a:ln w="9525">
            <a:solidFill>
              <a:srgbClr val="C9D8D0"/>
            </a:solidFill>
            <a:prstDash val="solid"/>
          </a:ln>
        </p:spPr>
      </p:sp>
      <p:sp>
        <p:nvSpPr>
          <p:cNvPr id="7" name="矩形 6">
            <a:extLst>
              <a:ext uri="{FF2B5EF4-FFF2-40B4-BE49-F238E27FC236}">
                <a16:creationId xmlns:a16="http://schemas.microsoft.com/office/drawing/2014/main" id="{898FE7E7-538A-47FE-839A-FFB2C7999013}"/>
              </a:ext>
            </a:extLst>
          </p:cNvPr>
          <p:cNvSpPr>
            <a:spLocks noGrp="1"/>
          </p:cNvSpPr>
          <p:nvPr/>
        </p:nvSpPr>
        <p:spPr>
          <a:xfrm>
            <a:off x="685800" y="4514850"/>
            <a:ext cx="10820400" cy="152400"/>
          </a:xfrm>
          <a:prstGeom prst="rect">
            <a:avLst/>
          </a:prstGeom>
          <a:noFill/>
          <a:ln w="0">
            <a:noFill/>
            <a:prstDash val="solid"/>
          </a:ln>
        </p:spPr>
        <p:txBody>
          <a:bodyPr/>
          <a:lstStyle/>
          <a:p>
            <a:pPr algn="ctr">
              <a:buNone/>
              <a:defRPr sz="750" b="0">
                <a:solidFill>
                  <a:srgbClr val="62736C"/>
                </a:solidFill>
              </a:defRPr>
            </a:pPr>
            <a:r>
              <a:rPr sz="750" b="0">
                <a:solidFill>
                  <a:srgbClr val="62736C"/>
                </a:solidFill>
              </a:rPr>
              <a:t>Figure 4 · paper page 5</a:t>
            </a:r>
          </a:p>
        </p:txBody>
      </p:sp>
      <p:sp>
        <p:nvSpPr>
          <p:cNvPr id="8" name="矩形 7">
            <a:extLst>
              <a:ext uri="{FF2B5EF4-FFF2-40B4-BE49-F238E27FC236}">
                <a16:creationId xmlns:a16="http://schemas.microsoft.com/office/drawing/2014/main" id="{D48BD9E2-D976-4663-B43B-3A7C06175882}"/>
              </a:ext>
            </a:extLst>
          </p:cNvPr>
          <p:cNvSpPr>
            <a:spLocks noGrp="1"/>
          </p:cNvSpPr>
          <p:nvPr/>
        </p:nvSpPr>
        <p:spPr>
          <a:xfrm>
            <a:off x="685800" y="4762500"/>
            <a:ext cx="1066800" cy="247650"/>
          </a:xfrm>
          <a:prstGeom prst="rect">
            <a:avLst/>
          </a:prstGeom>
          <a:solidFill>
            <a:srgbClr val="E5EFE9"/>
          </a:solidFill>
          <a:ln w="9525">
            <a:solidFill>
              <a:srgbClr val="E5EFE9"/>
            </a:solidFill>
            <a:prstDash val="solid"/>
          </a:ln>
        </p:spPr>
      </p:sp>
      <p:sp>
        <p:nvSpPr>
          <p:cNvPr id="9" name="矩形 8">
            <a:extLst>
              <a:ext uri="{FF2B5EF4-FFF2-40B4-BE49-F238E27FC236}">
                <a16:creationId xmlns:a16="http://schemas.microsoft.com/office/drawing/2014/main" id="{ED5E7883-828C-4D91-8E45-702A9C5AC2D9}"/>
              </a:ext>
            </a:extLst>
          </p:cNvPr>
          <p:cNvSpPr>
            <a:spLocks noGrp="1"/>
          </p:cNvSpPr>
          <p:nvPr/>
        </p:nvSpPr>
        <p:spPr>
          <a:xfrm>
            <a:off x="800100" y="4810125"/>
            <a:ext cx="838200" cy="152400"/>
          </a:xfrm>
          <a:prstGeom prst="rect">
            <a:avLst/>
          </a:prstGeom>
          <a:noFill/>
          <a:ln w="0">
            <a:noFill/>
            <a:prstDash val="solid"/>
          </a:ln>
        </p:spPr>
        <p:txBody>
          <a:bodyPr/>
          <a:lstStyle/>
          <a:p>
            <a:pPr algn="l">
              <a:buNone/>
              <a:defRPr sz="825" b="1">
                <a:solidFill>
                  <a:srgbClr val="2D6B5B"/>
                </a:solidFill>
              </a:defRPr>
            </a:pPr>
            <a:r>
              <a:rPr sz="825" b="1">
                <a:solidFill>
                  <a:srgbClr val="2D6B5B"/>
                </a:solidFill>
              </a:rPr>
              <a:t>本文证据</a:t>
            </a:r>
          </a:p>
        </p:txBody>
      </p:sp>
      <p:sp>
        <p:nvSpPr>
          <p:cNvPr id="10" name="椭圆 9">
            <a:extLst>
              <a:ext uri="{FF2B5EF4-FFF2-40B4-BE49-F238E27FC236}">
                <a16:creationId xmlns:a16="http://schemas.microsoft.com/office/drawing/2014/main" id="{B45E1879-33AE-4A47-B78D-F194F9352B5A}"/>
              </a:ext>
            </a:extLst>
          </p:cNvPr>
          <p:cNvSpPr>
            <a:spLocks noGrp="1"/>
          </p:cNvSpPr>
          <p:nvPr/>
        </p:nvSpPr>
        <p:spPr>
          <a:xfrm>
            <a:off x="685800" y="5181600"/>
            <a:ext cx="66675" cy="66675"/>
          </a:xfrm>
          <a:prstGeom prst="ellipse">
            <a:avLst/>
          </a:prstGeom>
          <a:solidFill>
            <a:srgbClr val="2D6B5B"/>
          </a:solidFill>
          <a:ln w="9525">
            <a:solidFill>
              <a:srgbClr val="2D6B5B"/>
            </a:solidFill>
            <a:prstDash val="solid"/>
          </a:ln>
        </p:spPr>
      </p:sp>
      <p:sp>
        <p:nvSpPr>
          <p:cNvPr id="11" name="矩形 10">
            <a:extLst>
              <a:ext uri="{FF2B5EF4-FFF2-40B4-BE49-F238E27FC236}">
                <a16:creationId xmlns:a16="http://schemas.microsoft.com/office/drawing/2014/main" id="{DE6D9A0E-53A5-46F8-A26E-2FCB27CAADFF}"/>
              </a:ext>
            </a:extLst>
          </p:cNvPr>
          <p:cNvSpPr>
            <a:spLocks noGrp="1"/>
          </p:cNvSpPr>
          <p:nvPr/>
        </p:nvSpPr>
        <p:spPr>
          <a:xfrm>
            <a:off x="895350" y="5086350"/>
            <a:ext cx="10534650" cy="266700"/>
          </a:xfrm>
          <a:prstGeom prst="rect">
            <a:avLst/>
          </a:prstGeom>
          <a:noFill/>
          <a:ln w="0">
            <a:noFill/>
            <a:prstDash val="solid"/>
          </a:ln>
        </p:spPr>
        <p:txBody>
          <a:bodyPr/>
          <a:lstStyle/>
          <a:p>
            <a:pPr algn="l">
              <a:buNone/>
              <a:defRPr sz="1050" b="0">
                <a:solidFill>
                  <a:srgbClr val="263732"/>
                </a:solidFill>
              </a:defRPr>
            </a:pPr>
            <a:r>
              <a:rPr sz="1050" b="0">
                <a:solidFill>
                  <a:srgbClr val="263732"/>
                </a:solidFill>
              </a:rPr>
              <a:t>每个 orbit token = element + site symmetry + enumeration</a:t>
            </a:r>
          </a:p>
        </p:txBody>
      </p:sp>
      <p:sp>
        <p:nvSpPr>
          <p:cNvPr id="12" name="椭圆 11">
            <a:extLst>
              <a:ext uri="{FF2B5EF4-FFF2-40B4-BE49-F238E27FC236}">
                <a16:creationId xmlns:a16="http://schemas.microsoft.com/office/drawing/2014/main" id="{A7107DA1-E1AC-4509-AB3B-59FD966D5D26}"/>
              </a:ext>
            </a:extLst>
          </p:cNvPr>
          <p:cNvSpPr>
            <a:spLocks noGrp="1"/>
          </p:cNvSpPr>
          <p:nvPr/>
        </p:nvSpPr>
        <p:spPr>
          <a:xfrm>
            <a:off x="685800" y="5457825"/>
            <a:ext cx="66675" cy="66675"/>
          </a:xfrm>
          <a:prstGeom prst="ellipse">
            <a:avLst/>
          </a:prstGeom>
          <a:solidFill>
            <a:srgbClr val="2D6B5B"/>
          </a:solidFill>
          <a:ln w="9525">
            <a:solidFill>
              <a:srgbClr val="2D6B5B"/>
            </a:solidFill>
            <a:prstDash val="solid"/>
          </a:ln>
        </p:spPr>
      </p:sp>
      <p:sp>
        <p:nvSpPr>
          <p:cNvPr id="13" name="矩形 12">
            <a:extLst>
              <a:ext uri="{FF2B5EF4-FFF2-40B4-BE49-F238E27FC236}">
                <a16:creationId xmlns:a16="http://schemas.microsoft.com/office/drawing/2014/main" id="{4A4D8CAB-A34B-4B8A-AD02-E88D53AEF9B6}"/>
              </a:ext>
            </a:extLst>
          </p:cNvPr>
          <p:cNvSpPr>
            <a:spLocks noGrp="1"/>
          </p:cNvSpPr>
          <p:nvPr/>
        </p:nvSpPr>
        <p:spPr>
          <a:xfrm>
            <a:off x="895350" y="5362575"/>
            <a:ext cx="10534650" cy="266700"/>
          </a:xfrm>
          <a:prstGeom prst="rect">
            <a:avLst/>
          </a:prstGeom>
          <a:noFill/>
          <a:ln w="0">
            <a:noFill/>
            <a:prstDash val="solid"/>
          </a:ln>
        </p:spPr>
        <p:txBody>
          <a:bodyPr/>
          <a:lstStyle/>
          <a:p>
            <a:pPr algn="l">
              <a:buNone/>
              <a:defRPr sz="1275" b="0">
                <a:solidFill>
                  <a:srgbClr val="263732"/>
                </a:solidFill>
              </a:defRPr>
            </a:pPr>
            <a:r>
              <a:rPr sz="1275" b="0">
                <a:solidFill>
                  <a:srgbClr val="263732"/>
                </a:solidFill>
              </a:rPr>
              <a:t>不使用位置编码，编码器对输入置换不变</a:t>
            </a:r>
          </a:p>
        </p:txBody>
      </p:sp>
      <p:sp>
        <p:nvSpPr>
          <p:cNvPr id="14" name="椭圆 13">
            <a:extLst>
              <a:ext uri="{FF2B5EF4-FFF2-40B4-BE49-F238E27FC236}">
                <a16:creationId xmlns:a16="http://schemas.microsoft.com/office/drawing/2014/main" id="{A5F3F808-5816-49F2-A800-E18B420C2E7B}"/>
              </a:ext>
            </a:extLst>
          </p:cNvPr>
          <p:cNvSpPr>
            <a:spLocks noGrp="1"/>
          </p:cNvSpPr>
          <p:nvPr/>
        </p:nvSpPr>
        <p:spPr>
          <a:xfrm>
            <a:off x="685800" y="5734050"/>
            <a:ext cx="66675" cy="66675"/>
          </a:xfrm>
          <a:prstGeom prst="ellipse">
            <a:avLst/>
          </a:prstGeom>
          <a:solidFill>
            <a:srgbClr val="2D6B5B"/>
          </a:solidFill>
          <a:ln w="9525">
            <a:solidFill>
              <a:srgbClr val="2D6B5B"/>
            </a:solidFill>
            <a:prstDash val="solid"/>
          </a:ln>
        </p:spPr>
      </p:sp>
      <p:sp>
        <p:nvSpPr>
          <p:cNvPr id="15" name="矩形 14">
            <a:extLst>
              <a:ext uri="{FF2B5EF4-FFF2-40B4-BE49-F238E27FC236}">
                <a16:creationId xmlns:a16="http://schemas.microsoft.com/office/drawing/2014/main" id="{6F70D19E-9480-4B45-AC30-C40E695184F6}"/>
              </a:ext>
            </a:extLst>
          </p:cNvPr>
          <p:cNvSpPr>
            <a:spLocks noGrp="1"/>
          </p:cNvSpPr>
          <p:nvPr/>
        </p:nvSpPr>
        <p:spPr>
          <a:xfrm>
            <a:off x="895350" y="5638800"/>
            <a:ext cx="10534650" cy="266700"/>
          </a:xfrm>
          <a:prstGeom prst="rect">
            <a:avLst/>
          </a:prstGeom>
          <a:noFill/>
          <a:ln w="0">
            <a:noFill/>
            <a:prstDash val="solid"/>
          </a:ln>
        </p:spPr>
        <p:txBody>
          <a:bodyPr/>
          <a:lstStyle/>
          <a:p>
            <a:pPr algn="l">
              <a:buNone/>
              <a:defRPr sz="1125" b="0">
                <a:solidFill>
                  <a:srgbClr val="263732"/>
                </a:solidFill>
              </a:defRPr>
            </a:pPr>
            <a:r>
              <a:rPr sz="1125" b="0">
                <a:solidFill>
                  <a:srgbClr val="263732"/>
                </a:solidFill>
              </a:rPr>
              <a:t>生成仍按 element → symmetry → enumeration 级联 autoregressive</a:t>
            </a:r>
          </a:p>
        </p:txBody>
      </p:sp>
      <p:sp>
        <p:nvSpPr>
          <p:cNvPr id="16" name="矩形 15">
            <a:extLst>
              <a:ext uri="{FF2B5EF4-FFF2-40B4-BE49-F238E27FC236}">
                <a16:creationId xmlns:a16="http://schemas.microsoft.com/office/drawing/2014/main" id="{FF1A5375-BFC1-477C-9D42-CFB1967B9777}"/>
              </a:ext>
            </a:extLst>
          </p:cNvPr>
          <p:cNvSpPr>
            <a:spLocks noGrp="1"/>
          </p:cNvSpPr>
          <p:nvPr/>
        </p:nvSpPr>
        <p:spPr>
          <a:xfrm>
            <a:off x="685800" y="5953125"/>
            <a:ext cx="10820400" cy="371475"/>
          </a:xfrm>
          <a:prstGeom prst="rect">
            <a:avLst/>
          </a:prstGeom>
          <a:solidFill>
            <a:srgbClr val="FFF9E5"/>
          </a:solidFill>
          <a:ln w="9525">
            <a:solidFill>
              <a:srgbClr val="F6D676"/>
            </a:solidFill>
            <a:prstDash val="solid"/>
          </a:ln>
        </p:spPr>
      </p:sp>
      <p:sp>
        <p:nvSpPr>
          <p:cNvPr id="17" name="矩形 16">
            <a:extLst>
              <a:ext uri="{FF2B5EF4-FFF2-40B4-BE49-F238E27FC236}">
                <a16:creationId xmlns:a16="http://schemas.microsoft.com/office/drawing/2014/main" id="{E5E6775F-B0F4-4710-B10A-7189AAA921DC}"/>
              </a:ext>
            </a:extLst>
          </p:cNvPr>
          <p:cNvSpPr>
            <a:spLocks noGrp="1"/>
          </p:cNvSpPr>
          <p:nvPr/>
        </p:nvSpPr>
        <p:spPr>
          <a:xfrm>
            <a:off x="857250" y="6048375"/>
            <a:ext cx="10458450" cy="190500"/>
          </a:xfrm>
          <a:prstGeom prst="rect">
            <a:avLst/>
          </a:prstGeom>
          <a:noFill/>
          <a:ln w="0">
            <a:noFill/>
            <a:prstDash val="solid"/>
          </a:ln>
        </p:spPr>
        <p:txBody>
          <a:bodyPr/>
          <a:lstStyle/>
          <a:p>
            <a:pPr algn="l">
              <a:buNone/>
              <a:defRPr sz="1050" b="1">
                <a:solidFill>
                  <a:srgbClr val="705717"/>
                </a:solidFill>
              </a:defRPr>
            </a:pPr>
            <a:r>
              <a:rPr sz="1050" b="1">
                <a:solidFill>
                  <a:srgbClr val="705717"/>
                </a:solidFill>
              </a:rPr>
              <a:t>平均每个晶体约 3 个 Wyckoff positions；压缩收益需实验证明。</a:t>
            </a:r>
          </a:p>
        </p:txBody>
      </p:sp>
      <p:sp>
        <p:nvSpPr>
          <p:cNvPr id="18" name="矩形 17">
            <a:extLst>
              <a:ext uri="{FF2B5EF4-FFF2-40B4-BE49-F238E27FC236}">
                <a16:creationId xmlns:a16="http://schemas.microsoft.com/office/drawing/2014/main" id="{5DEFB241-B20B-45B3-A57C-739E4E4C55FB}"/>
              </a:ext>
            </a:extLst>
          </p:cNvPr>
          <p:cNvSpPr>
            <a:spLocks noGrp="1"/>
          </p:cNvSpPr>
          <p:nvPr/>
        </p:nvSpPr>
        <p:spPr>
          <a:xfrm>
            <a:off x="685800" y="6400800"/>
            <a:ext cx="10820400" cy="9525"/>
          </a:xfrm>
          <a:prstGeom prst="rect">
            <a:avLst/>
          </a:prstGeom>
          <a:solidFill>
            <a:srgbClr val="C9D8D0"/>
          </a:solidFill>
          <a:ln w="9525">
            <a:solidFill>
              <a:srgbClr val="C9D8D0"/>
            </a:solidFill>
            <a:prstDash val="solid"/>
          </a:ln>
        </p:spPr>
      </p:sp>
      <p:sp>
        <p:nvSpPr>
          <p:cNvPr id="19" name="矩形 18">
            <a:extLst>
              <a:ext uri="{FF2B5EF4-FFF2-40B4-BE49-F238E27FC236}">
                <a16:creationId xmlns:a16="http://schemas.microsoft.com/office/drawing/2014/main" id="{EE31AF4D-1639-499E-B657-F03DBC15D2EF}"/>
              </a:ext>
            </a:extLst>
          </p:cNvPr>
          <p:cNvSpPr>
            <a:spLocks noGrp="1"/>
          </p:cNvSpPr>
          <p:nvPr/>
        </p:nvSpPr>
        <p:spPr>
          <a:xfrm>
            <a:off x="685800" y="6524625"/>
            <a:ext cx="10820400" cy="152400"/>
          </a:xfrm>
          <a:prstGeom prst="rect">
            <a:avLst/>
          </a:prstGeom>
          <a:noFill/>
          <a:ln w="0">
            <a:noFill/>
            <a:prstDash val="solid"/>
          </a:ln>
        </p:spPr>
        <p:txBody>
          <a:bodyPr/>
          <a:lstStyle/>
          <a:p>
            <a:pPr algn="l">
              <a:buNone/>
              <a:defRPr sz="750" b="0">
                <a:solidFill>
                  <a:srgbClr val="62736C"/>
                </a:solidFill>
              </a:defRPr>
            </a:pPr>
            <a:r>
              <a:rPr sz="750" b="0">
                <a:solidFill>
                  <a:srgbClr val="62736C"/>
                </a:solidFill>
              </a:rPr>
              <a:t>DynaCrys (Jin et al., 2026) · MaskGXT (Seong et al., 2026) · WyFormer Figure 4 · paper page 5; Tokenization · paper pages 4–5</a:t>
            </a:r>
          </a:p>
        </p:txBody>
      </p:sp>
    </p:spTree>
    <p:extLst>
      <p:ext uri="{BB962C8B-B14F-4D97-AF65-F5344CB8AC3E}">
        <p14:creationId xmlns:p14="http://schemas.microsoft.com/office/powerpoint/2010/main" val="243864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BCA2881F-04B0-4302-97D7-D18C9B8A269B}"/>
              </a:ext>
            </a:extLst>
          </p:cNvPr>
          <p:cNvSpPr>
            <a:spLocks noGrp="1"/>
          </p:cNvSpPr>
          <p:nvPr/>
        </p:nvSpPr>
        <p:spPr>
          <a:xfrm>
            <a:off x="685800" y="342900"/>
            <a:ext cx="323850" cy="171450"/>
          </a:xfrm>
          <a:prstGeom prst="rect">
            <a:avLst/>
          </a:prstGeom>
          <a:noFill/>
          <a:ln w="0">
            <a:noFill/>
            <a:prstDash val="solid"/>
          </a:ln>
        </p:spPr>
        <p:txBody>
          <a:bodyPr/>
          <a:lstStyle/>
          <a:p>
            <a:pPr algn="l">
              <a:buNone/>
              <a:defRPr sz="900" b="1">
                <a:solidFill>
                  <a:srgbClr val="2D6B5B"/>
                </a:solidFill>
              </a:defRPr>
            </a:pPr>
            <a:r>
              <a:rPr sz="900" b="1">
                <a:solidFill>
                  <a:srgbClr val="2D6B5B"/>
                </a:solidFill>
              </a:rPr>
              <a:t>04</a:t>
            </a:r>
          </a:p>
        </p:txBody>
      </p:sp>
      <p:sp>
        <p:nvSpPr>
          <p:cNvPr id="2" name="矩形 1">
            <a:extLst>
              <a:ext uri="{FF2B5EF4-FFF2-40B4-BE49-F238E27FC236}">
                <a16:creationId xmlns:a16="http://schemas.microsoft.com/office/drawing/2014/main" id="{71E43E6A-0C8E-4D64-A99F-B66F64A64DA8}"/>
              </a:ext>
            </a:extLst>
          </p:cNvPr>
          <p:cNvSpPr>
            <a:spLocks noGrp="1"/>
          </p:cNvSpPr>
          <p:nvPr/>
        </p:nvSpPr>
        <p:spPr>
          <a:xfrm>
            <a:off x="1200150" y="342900"/>
            <a:ext cx="2857500" cy="171450"/>
          </a:xfrm>
          <a:prstGeom prst="rect">
            <a:avLst/>
          </a:prstGeom>
          <a:noFill/>
          <a:ln w="0">
            <a:noFill/>
            <a:prstDash val="solid"/>
          </a:ln>
        </p:spPr>
        <p:txBody>
          <a:bodyPr/>
          <a:lstStyle/>
          <a:p>
            <a:pPr algn="l">
              <a:buNone/>
              <a:defRPr sz="900" b="1">
                <a:solidFill>
                  <a:srgbClr val="62736C"/>
                </a:solidFill>
              </a:defRPr>
            </a:pPr>
            <a:r>
              <a:rPr sz="900" b="1">
                <a:solidFill>
                  <a:srgbClr val="62736C"/>
                </a:solidFill>
              </a:rPr>
              <a:t>DynaCrys</a:t>
            </a:r>
          </a:p>
        </p:txBody>
      </p:sp>
      <p:sp>
        <p:nvSpPr>
          <p:cNvPr id="3" name="矩形 2">
            <a:extLst>
              <a:ext uri="{FF2B5EF4-FFF2-40B4-BE49-F238E27FC236}">
                <a16:creationId xmlns:a16="http://schemas.microsoft.com/office/drawing/2014/main" id="{A6A481EF-A0D1-4205-8B33-D78036B190C0}"/>
              </a:ext>
            </a:extLst>
          </p:cNvPr>
          <p:cNvSpPr>
            <a:spLocks noGrp="1"/>
          </p:cNvSpPr>
          <p:nvPr/>
        </p:nvSpPr>
        <p:spPr>
          <a:xfrm>
            <a:off x="685800" y="609600"/>
            <a:ext cx="10668000" cy="400050"/>
          </a:xfrm>
          <a:prstGeom prst="rect">
            <a:avLst/>
          </a:prstGeom>
          <a:noFill/>
          <a:ln w="0">
            <a:noFill/>
            <a:prstDash val="solid"/>
          </a:ln>
        </p:spPr>
        <p:txBody>
          <a:bodyPr/>
          <a:lstStyle/>
          <a:p>
            <a:pPr algn="l">
              <a:buNone/>
              <a:defRPr sz="2475" b="1">
                <a:solidFill>
                  <a:srgbClr val="17372F"/>
                </a:solidFill>
              </a:defRPr>
            </a:pPr>
            <a:r>
              <a:rPr sz="2475" b="1">
                <a:solidFill>
                  <a:srgbClr val="17372F"/>
                </a:solidFill>
              </a:rPr>
              <a:t>DynaCrys 把空间群放进 symbolic diffusion state</a:t>
            </a:r>
          </a:p>
        </p:txBody>
      </p:sp>
      <p:sp>
        <p:nvSpPr>
          <p:cNvPr id="4" name="矩形 3">
            <a:extLst>
              <a:ext uri="{FF2B5EF4-FFF2-40B4-BE49-F238E27FC236}">
                <a16:creationId xmlns:a16="http://schemas.microsoft.com/office/drawing/2014/main" id="{BA4DB87C-36E6-49ED-B656-1ECD80459D44}"/>
              </a:ext>
            </a:extLst>
          </p:cNvPr>
          <p:cNvSpPr>
            <a:spLocks noGrp="1"/>
          </p:cNvSpPr>
          <p:nvPr/>
        </p:nvSpPr>
        <p:spPr>
          <a:xfrm>
            <a:off x="685800" y="1066800"/>
            <a:ext cx="10820400" cy="9525"/>
          </a:xfrm>
          <a:prstGeom prst="rect">
            <a:avLst/>
          </a:prstGeom>
          <a:solidFill>
            <a:srgbClr val="C9D8D0"/>
          </a:solidFill>
          <a:ln w="9525">
            <a:solidFill>
              <a:srgbClr val="C9D8D0"/>
            </a:solidFill>
            <a:prstDash val="solid"/>
          </a:ln>
        </p:spPr>
      </p:sp>
      <p:pic>
        <p:nvPicPr>
          <p:cNvPr id="26" name="图片 25"/>
          <p:cNvPicPr>
            <a:picLocks noChangeAspect="1"/>
          </p:cNvPicPr>
          <p:nvPr/>
        </p:nvPicPr>
        <p:blipFill>
          <a:blip r:embed="rId3"/>
          <a:stretch/>
        </p:blipFill>
        <p:spPr>
          <a:xfrm>
            <a:off x="685800" y="1773945"/>
            <a:ext cx="10820400" cy="2167111"/>
          </a:xfrm>
          <a:prstGeom prst="rect">
            <a:avLst/>
          </a:prstGeom>
        </p:spPr>
      </p:pic>
      <p:sp>
        <p:nvSpPr>
          <p:cNvPr id="6" name="矩形 5">
            <a:extLst>
              <a:ext uri="{FF2B5EF4-FFF2-40B4-BE49-F238E27FC236}">
                <a16:creationId xmlns:a16="http://schemas.microsoft.com/office/drawing/2014/main" id="{BEBA8111-1D4F-4883-A8DE-1184892BEB40}"/>
              </a:ext>
            </a:extLst>
          </p:cNvPr>
          <p:cNvSpPr>
            <a:spLocks noGrp="1"/>
          </p:cNvSpPr>
          <p:nvPr/>
        </p:nvSpPr>
        <p:spPr>
          <a:xfrm>
            <a:off x="685800" y="1257300"/>
            <a:ext cx="10820400" cy="3200400"/>
          </a:xfrm>
          <a:prstGeom prst="rect">
            <a:avLst/>
          </a:prstGeom>
          <a:noFill/>
          <a:ln w="9525">
            <a:solidFill>
              <a:srgbClr val="C9D8D0"/>
            </a:solidFill>
            <a:prstDash val="solid"/>
          </a:ln>
        </p:spPr>
      </p:sp>
      <p:sp>
        <p:nvSpPr>
          <p:cNvPr id="7" name="矩形 6">
            <a:extLst>
              <a:ext uri="{FF2B5EF4-FFF2-40B4-BE49-F238E27FC236}">
                <a16:creationId xmlns:a16="http://schemas.microsoft.com/office/drawing/2014/main" id="{CC8B1A64-230B-4994-866C-17FB5BAA6371}"/>
              </a:ext>
            </a:extLst>
          </p:cNvPr>
          <p:cNvSpPr>
            <a:spLocks noGrp="1"/>
          </p:cNvSpPr>
          <p:nvPr/>
        </p:nvSpPr>
        <p:spPr>
          <a:xfrm>
            <a:off x="685800" y="4514850"/>
            <a:ext cx="10820400" cy="152400"/>
          </a:xfrm>
          <a:prstGeom prst="rect">
            <a:avLst/>
          </a:prstGeom>
          <a:noFill/>
          <a:ln w="0">
            <a:noFill/>
            <a:prstDash val="solid"/>
          </a:ln>
        </p:spPr>
        <p:txBody>
          <a:bodyPr/>
          <a:lstStyle/>
          <a:p>
            <a:pPr algn="ctr">
              <a:buNone/>
              <a:defRPr sz="750" b="0">
                <a:solidFill>
                  <a:srgbClr val="62736C"/>
                </a:solidFill>
              </a:defRPr>
            </a:pPr>
            <a:r>
              <a:rPr sz="750" b="0">
                <a:solidFill>
                  <a:srgbClr val="62736C"/>
                </a:solidFill>
              </a:rPr>
              <a:t>Figure 1 · paper page 2</a:t>
            </a:r>
          </a:p>
        </p:txBody>
      </p:sp>
      <p:sp>
        <p:nvSpPr>
          <p:cNvPr id="8" name="矩形 7">
            <a:extLst>
              <a:ext uri="{FF2B5EF4-FFF2-40B4-BE49-F238E27FC236}">
                <a16:creationId xmlns:a16="http://schemas.microsoft.com/office/drawing/2014/main" id="{6C6F2AF1-795A-4FFA-BBE2-0E33B27F62A2}"/>
              </a:ext>
            </a:extLst>
          </p:cNvPr>
          <p:cNvSpPr>
            <a:spLocks noGrp="1"/>
          </p:cNvSpPr>
          <p:nvPr/>
        </p:nvSpPr>
        <p:spPr>
          <a:xfrm>
            <a:off x="685800" y="4762500"/>
            <a:ext cx="1066800" cy="247650"/>
          </a:xfrm>
          <a:prstGeom prst="rect">
            <a:avLst/>
          </a:prstGeom>
          <a:solidFill>
            <a:srgbClr val="E5EFE9"/>
          </a:solidFill>
          <a:ln w="9525">
            <a:solidFill>
              <a:srgbClr val="E5EFE9"/>
            </a:solidFill>
            <a:prstDash val="solid"/>
          </a:ln>
        </p:spPr>
      </p:sp>
      <p:sp>
        <p:nvSpPr>
          <p:cNvPr id="9" name="矩形 8">
            <a:extLst>
              <a:ext uri="{FF2B5EF4-FFF2-40B4-BE49-F238E27FC236}">
                <a16:creationId xmlns:a16="http://schemas.microsoft.com/office/drawing/2014/main" id="{904EE5F8-CD81-468D-A1AE-F6942C1FA309}"/>
              </a:ext>
            </a:extLst>
          </p:cNvPr>
          <p:cNvSpPr>
            <a:spLocks noGrp="1"/>
          </p:cNvSpPr>
          <p:nvPr/>
        </p:nvSpPr>
        <p:spPr>
          <a:xfrm>
            <a:off x="800100" y="4810125"/>
            <a:ext cx="838200" cy="152400"/>
          </a:xfrm>
          <a:prstGeom prst="rect">
            <a:avLst/>
          </a:prstGeom>
          <a:noFill/>
          <a:ln w="0">
            <a:noFill/>
            <a:prstDash val="solid"/>
          </a:ln>
        </p:spPr>
        <p:txBody>
          <a:bodyPr/>
          <a:lstStyle/>
          <a:p>
            <a:pPr algn="l">
              <a:buNone/>
              <a:defRPr sz="825" b="1">
                <a:solidFill>
                  <a:srgbClr val="2D6B5B"/>
                </a:solidFill>
              </a:defRPr>
            </a:pPr>
            <a:r>
              <a:rPr sz="825" b="1">
                <a:solidFill>
                  <a:srgbClr val="2D6B5B"/>
                </a:solidFill>
              </a:rPr>
              <a:t>本文证据</a:t>
            </a:r>
          </a:p>
        </p:txBody>
      </p:sp>
      <p:sp>
        <p:nvSpPr>
          <p:cNvPr id="10" name="椭圆 9">
            <a:extLst>
              <a:ext uri="{FF2B5EF4-FFF2-40B4-BE49-F238E27FC236}">
                <a16:creationId xmlns:a16="http://schemas.microsoft.com/office/drawing/2014/main" id="{30C66C22-C58A-4194-8983-02994E9D63FE}"/>
              </a:ext>
            </a:extLst>
          </p:cNvPr>
          <p:cNvSpPr>
            <a:spLocks noGrp="1"/>
          </p:cNvSpPr>
          <p:nvPr/>
        </p:nvSpPr>
        <p:spPr>
          <a:xfrm>
            <a:off x="685800" y="5181600"/>
            <a:ext cx="66675" cy="66675"/>
          </a:xfrm>
          <a:prstGeom prst="ellipse">
            <a:avLst/>
          </a:prstGeom>
          <a:solidFill>
            <a:srgbClr val="2D6B5B"/>
          </a:solidFill>
          <a:ln w="9525">
            <a:solidFill>
              <a:srgbClr val="2D6B5B"/>
            </a:solidFill>
            <a:prstDash val="solid"/>
          </a:ln>
        </p:spPr>
      </p:sp>
      <p:sp>
        <p:nvSpPr>
          <p:cNvPr id="11" name="矩形 10">
            <a:extLst>
              <a:ext uri="{FF2B5EF4-FFF2-40B4-BE49-F238E27FC236}">
                <a16:creationId xmlns:a16="http://schemas.microsoft.com/office/drawing/2014/main" id="{5E44A544-DE7A-46F2-8322-D9FEBB46176E}"/>
              </a:ext>
            </a:extLst>
          </p:cNvPr>
          <p:cNvSpPr>
            <a:spLocks noGrp="1"/>
          </p:cNvSpPr>
          <p:nvPr/>
        </p:nvSpPr>
        <p:spPr>
          <a:xfrm>
            <a:off x="895350" y="5086350"/>
            <a:ext cx="10534650" cy="266700"/>
          </a:xfrm>
          <a:prstGeom prst="rect">
            <a:avLst/>
          </a:prstGeom>
          <a:noFill/>
          <a:ln w="0">
            <a:noFill/>
            <a:prstDash val="solid"/>
          </a:ln>
        </p:spPr>
        <p:txBody>
          <a:bodyPr/>
          <a:lstStyle/>
          <a:p>
            <a:pPr algn="l">
              <a:buNone/>
              <a:defRPr sz="1125" b="0">
                <a:solidFill>
                  <a:srgbClr val="263732"/>
                </a:solidFill>
              </a:defRPr>
            </a:pPr>
            <a:r>
              <a:rPr sz="1125" b="0">
                <a:solidFill>
                  <a:srgbClr val="263732"/>
                </a:solidFill>
              </a:rPr>
              <a:t>联合更新 space group、orbit count、Wyckoff rows 与 elements</a:t>
            </a:r>
          </a:p>
        </p:txBody>
      </p:sp>
      <p:sp>
        <p:nvSpPr>
          <p:cNvPr id="12" name="椭圆 11">
            <a:extLst>
              <a:ext uri="{FF2B5EF4-FFF2-40B4-BE49-F238E27FC236}">
                <a16:creationId xmlns:a16="http://schemas.microsoft.com/office/drawing/2014/main" id="{3A97D902-69ED-474A-938D-3DE1DBDD1E9C}"/>
              </a:ext>
            </a:extLst>
          </p:cNvPr>
          <p:cNvSpPr>
            <a:spLocks noGrp="1"/>
          </p:cNvSpPr>
          <p:nvPr/>
        </p:nvSpPr>
        <p:spPr>
          <a:xfrm>
            <a:off x="685800" y="5457825"/>
            <a:ext cx="66675" cy="66675"/>
          </a:xfrm>
          <a:prstGeom prst="ellipse">
            <a:avLst/>
          </a:prstGeom>
          <a:solidFill>
            <a:srgbClr val="2D6B5B"/>
          </a:solidFill>
          <a:ln w="9525">
            <a:solidFill>
              <a:srgbClr val="2D6B5B"/>
            </a:solidFill>
            <a:prstDash val="solid"/>
          </a:ln>
        </p:spPr>
      </p:sp>
      <p:sp>
        <p:nvSpPr>
          <p:cNvPr id="13" name="矩形 12">
            <a:extLst>
              <a:ext uri="{FF2B5EF4-FFF2-40B4-BE49-F238E27FC236}">
                <a16:creationId xmlns:a16="http://schemas.microsoft.com/office/drawing/2014/main" id="{136C402F-28A7-4B57-9036-97B6DF3ADFE1}"/>
              </a:ext>
            </a:extLst>
          </p:cNvPr>
          <p:cNvSpPr>
            <a:spLocks noGrp="1"/>
          </p:cNvSpPr>
          <p:nvPr/>
        </p:nvSpPr>
        <p:spPr>
          <a:xfrm>
            <a:off x="895350" y="5362575"/>
            <a:ext cx="10534650" cy="266700"/>
          </a:xfrm>
          <a:prstGeom prst="rect">
            <a:avLst/>
          </a:prstGeom>
          <a:noFill/>
          <a:ln w="0">
            <a:noFill/>
            <a:prstDash val="solid"/>
          </a:ln>
        </p:spPr>
        <p:txBody>
          <a:bodyPr/>
          <a:lstStyle/>
          <a:p>
            <a:pPr algn="l">
              <a:buNone/>
              <a:defRPr sz="1200" b="0">
                <a:solidFill>
                  <a:srgbClr val="263732"/>
                </a:solidFill>
              </a:defRPr>
            </a:pPr>
            <a:r>
              <a:rPr sz="1200" b="0">
                <a:solidFill>
                  <a:srgbClr val="263732"/>
                </a:solidFill>
              </a:rPr>
              <a:t>group–subgroup graph 让 G 可沿晶体学关系演化</a:t>
            </a:r>
          </a:p>
        </p:txBody>
      </p:sp>
      <p:sp>
        <p:nvSpPr>
          <p:cNvPr id="14" name="椭圆 13">
            <a:extLst>
              <a:ext uri="{FF2B5EF4-FFF2-40B4-BE49-F238E27FC236}">
                <a16:creationId xmlns:a16="http://schemas.microsoft.com/office/drawing/2014/main" id="{6C8D999C-5C4F-435A-A97D-6FAC5BE2A268}"/>
              </a:ext>
            </a:extLst>
          </p:cNvPr>
          <p:cNvSpPr>
            <a:spLocks noGrp="1"/>
          </p:cNvSpPr>
          <p:nvPr/>
        </p:nvSpPr>
        <p:spPr>
          <a:xfrm>
            <a:off x="685800" y="5734050"/>
            <a:ext cx="66675" cy="66675"/>
          </a:xfrm>
          <a:prstGeom prst="ellipse">
            <a:avLst/>
          </a:prstGeom>
          <a:solidFill>
            <a:srgbClr val="2D6B5B"/>
          </a:solidFill>
          <a:ln w="9525">
            <a:solidFill>
              <a:srgbClr val="2D6B5B"/>
            </a:solidFill>
            <a:prstDash val="solid"/>
          </a:ln>
        </p:spPr>
      </p:sp>
      <p:sp>
        <p:nvSpPr>
          <p:cNvPr id="15" name="矩形 14">
            <a:extLst>
              <a:ext uri="{FF2B5EF4-FFF2-40B4-BE49-F238E27FC236}">
                <a16:creationId xmlns:a16="http://schemas.microsoft.com/office/drawing/2014/main" id="{AA1A5DD1-1B73-468D-AB84-3026A20AB3FD}"/>
              </a:ext>
            </a:extLst>
          </p:cNvPr>
          <p:cNvSpPr>
            <a:spLocks noGrp="1"/>
          </p:cNvSpPr>
          <p:nvPr/>
        </p:nvSpPr>
        <p:spPr>
          <a:xfrm>
            <a:off x="895350" y="5638800"/>
            <a:ext cx="10534650" cy="266700"/>
          </a:xfrm>
          <a:prstGeom prst="rect">
            <a:avLst/>
          </a:prstGeom>
          <a:noFill/>
          <a:ln w="0">
            <a:noFill/>
            <a:prstDash val="solid"/>
          </a:ln>
        </p:spPr>
        <p:txBody>
          <a:bodyPr/>
          <a:lstStyle/>
          <a:p>
            <a:pPr algn="l">
              <a:buNone/>
              <a:defRPr sz="1050" b="0">
                <a:solidFill>
                  <a:srgbClr val="263732"/>
                </a:solidFill>
              </a:defRPr>
            </a:pPr>
            <a:r>
              <a:rPr sz="1050" b="0">
                <a:solidFill>
                  <a:srgbClr val="263732"/>
                </a:solidFill>
              </a:rPr>
              <a:t>legal sample 再接 symmetry-constrained geometry diffusion</a:t>
            </a:r>
          </a:p>
        </p:txBody>
      </p:sp>
      <p:sp>
        <p:nvSpPr>
          <p:cNvPr id="16" name="矩形 15">
            <a:extLst>
              <a:ext uri="{FF2B5EF4-FFF2-40B4-BE49-F238E27FC236}">
                <a16:creationId xmlns:a16="http://schemas.microsoft.com/office/drawing/2014/main" id="{BF7FF89C-4AA7-48A4-85B1-138399E62B70}"/>
              </a:ext>
            </a:extLst>
          </p:cNvPr>
          <p:cNvSpPr>
            <a:spLocks noGrp="1"/>
          </p:cNvSpPr>
          <p:nvPr/>
        </p:nvSpPr>
        <p:spPr>
          <a:xfrm>
            <a:off x="685800" y="5953125"/>
            <a:ext cx="10820400" cy="371475"/>
          </a:xfrm>
          <a:prstGeom prst="rect">
            <a:avLst/>
          </a:prstGeom>
          <a:solidFill>
            <a:srgbClr val="FFF9E5"/>
          </a:solidFill>
          <a:ln w="9525">
            <a:solidFill>
              <a:srgbClr val="F6D676"/>
            </a:solidFill>
            <a:prstDash val="solid"/>
          </a:ln>
        </p:spPr>
      </p:sp>
      <p:sp>
        <p:nvSpPr>
          <p:cNvPr id="17" name="矩形 16">
            <a:extLst>
              <a:ext uri="{FF2B5EF4-FFF2-40B4-BE49-F238E27FC236}">
                <a16:creationId xmlns:a16="http://schemas.microsoft.com/office/drawing/2014/main" id="{56B4CF09-ABFA-4002-A379-F787F8FEAB16}"/>
              </a:ext>
            </a:extLst>
          </p:cNvPr>
          <p:cNvSpPr>
            <a:spLocks noGrp="1"/>
          </p:cNvSpPr>
          <p:nvPr/>
        </p:nvSpPr>
        <p:spPr>
          <a:xfrm>
            <a:off x="857250" y="6048375"/>
            <a:ext cx="10458450" cy="190500"/>
          </a:xfrm>
          <a:prstGeom prst="rect">
            <a:avLst/>
          </a:prstGeom>
          <a:noFill/>
          <a:ln w="0">
            <a:noFill/>
            <a:prstDash val="solid"/>
          </a:ln>
        </p:spPr>
        <p:txBody>
          <a:bodyPr/>
          <a:lstStyle/>
          <a:p>
            <a:pPr algn="l">
              <a:buNone/>
              <a:defRPr sz="1050" b="1">
                <a:solidFill>
                  <a:srgbClr val="705717"/>
                </a:solidFill>
              </a:defRPr>
            </a:pPr>
            <a:r>
              <a:rPr sz="1050" b="1">
                <a:solidFill>
                  <a:srgbClr val="705717"/>
                </a:solidFill>
              </a:rPr>
              <a:t>贡献重点是动态 G + 合法采样，不是普通 masked LM。</a:t>
            </a:r>
          </a:p>
        </p:txBody>
      </p:sp>
      <p:sp>
        <p:nvSpPr>
          <p:cNvPr id="18" name="矩形 17">
            <a:extLst>
              <a:ext uri="{FF2B5EF4-FFF2-40B4-BE49-F238E27FC236}">
                <a16:creationId xmlns:a16="http://schemas.microsoft.com/office/drawing/2014/main" id="{0412C742-D715-477E-BE7F-EFCC82CFDE14}"/>
              </a:ext>
            </a:extLst>
          </p:cNvPr>
          <p:cNvSpPr>
            <a:spLocks noGrp="1"/>
          </p:cNvSpPr>
          <p:nvPr/>
        </p:nvSpPr>
        <p:spPr>
          <a:xfrm>
            <a:off x="685800" y="6400800"/>
            <a:ext cx="10820400" cy="9525"/>
          </a:xfrm>
          <a:prstGeom prst="rect">
            <a:avLst/>
          </a:prstGeom>
          <a:solidFill>
            <a:srgbClr val="C9D8D0"/>
          </a:solidFill>
          <a:ln w="9525">
            <a:solidFill>
              <a:srgbClr val="C9D8D0"/>
            </a:solidFill>
            <a:prstDash val="solid"/>
          </a:ln>
        </p:spPr>
      </p:sp>
      <p:sp>
        <p:nvSpPr>
          <p:cNvPr id="19" name="矩形 18">
            <a:extLst>
              <a:ext uri="{FF2B5EF4-FFF2-40B4-BE49-F238E27FC236}">
                <a16:creationId xmlns:a16="http://schemas.microsoft.com/office/drawing/2014/main" id="{250F26BA-6F8D-4B10-9575-E602CC18AA96}"/>
              </a:ext>
            </a:extLst>
          </p:cNvPr>
          <p:cNvSpPr>
            <a:spLocks noGrp="1"/>
          </p:cNvSpPr>
          <p:nvPr/>
        </p:nvSpPr>
        <p:spPr>
          <a:xfrm>
            <a:off x="685800" y="6524625"/>
            <a:ext cx="10820400" cy="152400"/>
          </a:xfrm>
          <a:prstGeom prst="rect">
            <a:avLst/>
          </a:prstGeom>
          <a:noFill/>
          <a:ln w="0">
            <a:noFill/>
            <a:prstDash val="solid"/>
          </a:ln>
        </p:spPr>
        <p:txBody>
          <a:bodyPr/>
          <a:lstStyle/>
          <a:p>
            <a:pPr algn="l">
              <a:buNone/>
              <a:defRPr sz="750" b="0">
                <a:solidFill>
                  <a:srgbClr val="62736C"/>
                </a:solidFill>
              </a:defRPr>
            </a:pPr>
            <a:r>
              <a:rPr sz="750" b="0">
                <a:solidFill>
                  <a:srgbClr val="62736C"/>
                </a:solidFill>
              </a:rPr>
              <a:t>DynaCrys (Jin et al., 2026) · MaskGXT (Seong et al., 2026) · DynaCrys Figure 1 · paper page 2; Method · paper pages 4–6</a:t>
            </a:r>
          </a:p>
        </p:txBody>
      </p:sp>
    </p:spTree>
    <p:extLst>
      <p:ext uri="{BB962C8B-B14F-4D97-AF65-F5344CB8AC3E}">
        <p14:creationId xmlns:p14="http://schemas.microsoft.com/office/powerpoint/2010/main" val="427814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80B56CDE-76E1-4E60-97D0-94E49DAEF442}"/>
              </a:ext>
            </a:extLst>
          </p:cNvPr>
          <p:cNvSpPr>
            <a:spLocks noGrp="1"/>
          </p:cNvSpPr>
          <p:nvPr/>
        </p:nvSpPr>
        <p:spPr>
          <a:xfrm>
            <a:off x="685800" y="342900"/>
            <a:ext cx="323850" cy="171450"/>
          </a:xfrm>
          <a:prstGeom prst="rect">
            <a:avLst/>
          </a:prstGeom>
          <a:noFill/>
          <a:ln w="0">
            <a:noFill/>
            <a:prstDash val="solid"/>
          </a:ln>
        </p:spPr>
        <p:txBody>
          <a:bodyPr/>
          <a:lstStyle/>
          <a:p>
            <a:pPr algn="l">
              <a:buNone/>
              <a:defRPr sz="900" b="1">
                <a:solidFill>
                  <a:srgbClr val="2D6B5B"/>
                </a:solidFill>
              </a:defRPr>
            </a:pPr>
            <a:r>
              <a:rPr sz="900" b="1">
                <a:solidFill>
                  <a:srgbClr val="2D6B5B"/>
                </a:solidFill>
              </a:rPr>
              <a:t>05</a:t>
            </a:r>
          </a:p>
        </p:txBody>
      </p:sp>
      <p:sp>
        <p:nvSpPr>
          <p:cNvPr id="2" name="矩形 1">
            <a:extLst>
              <a:ext uri="{FF2B5EF4-FFF2-40B4-BE49-F238E27FC236}">
                <a16:creationId xmlns:a16="http://schemas.microsoft.com/office/drawing/2014/main" id="{0B62A268-5640-4FDB-85E1-B68D0B89D0F7}"/>
              </a:ext>
            </a:extLst>
          </p:cNvPr>
          <p:cNvSpPr>
            <a:spLocks noGrp="1"/>
          </p:cNvSpPr>
          <p:nvPr/>
        </p:nvSpPr>
        <p:spPr>
          <a:xfrm>
            <a:off x="1200150" y="342900"/>
            <a:ext cx="2857500" cy="171450"/>
          </a:xfrm>
          <a:prstGeom prst="rect">
            <a:avLst/>
          </a:prstGeom>
          <a:noFill/>
          <a:ln w="0">
            <a:noFill/>
            <a:prstDash val="solid"/>
          </a:ln>
        </p:spPr>
        <p:txBody>
          <a:bodyPr/>
          <a:lstStyle/>
          <a:p>
            <a:pPr algn="l">
              <a:buNone/>
              <a:defRPr sz="900" b="1">
                <a:solidFill>
                  <a:srgbClr val="62736C"/>
                </a:solidFill>
              </a:defRPr>
            </a:pPr>
            <a:r>
              <a:rPr sz="900" b="1">
                <a:solidFill>
                  <a:srgbClr val="62736C"/>
                </a:solidFill>
              </a:rPr>
              <a:t>MaskGXT</a:t>
            </a:r>
          </a:p>
        </p:txBody>
      </p:sp>
      <p:sp>
        <p:nvSpPr>
          <p:cNvPr id="3" name="矩形 2">
            <a:extLst>
              <a:ext uri="{FF2B5EF4-FFF2-40B4-BE49-F238E27FC236}">
                <a16:creationId xmlns:a16="http://schemas.microsoft.com/office/drawing/2014/main" id="{B1B31F89-6A2B-4D68-A8E9-13A1DF04D527}"/>
              </a:ext>
            </a:extLst>
          </p:cNvPr>
          <p:cNvSpPr>
            <a:spLocks noGrp="1"/>
          </p:cNvSpPr>
          <p:nvPr/>
        </p:nvSpPr>
        <p:spPr>
          <a:xfrm>
            <a:off x="685800" y="609600"/>
            <a:ext cx="10668000" cy="400050"/>
          </a:xfrm>
          <a:prstGeom prst="rect">
            <a:avLst/>
          </a:prstGeom>
          <a:noFill/>
          <a:ln w="0">
            <a:noFill/>
            <a:prstDash val="solid"/>
          </a:ln>
        </p:spPr>
        <p:txBody>
          <a:bodyPr/>
          <a:lstStyle/>
          <a:p>
            <a:pPr algn="l">
              <a:buNone/>
              <a:defRPr sz="2550" b="1">
                <a:solidFill>
                  <a:srgbClr val="17372F"/>
                </a:solidFill>
              </a:defRPr>
            </a:pPr>
            <a:r>
              <a:rPr sz="2550" b="1">
                <a:solidFill>
                  <a:srgbClr val="17372F"/>
                </a:solidFill>
              </a:rPr>
              <a:t>MaskGXT 用 masked decoding 覆盖完整晶体</a:t>
            </a:r>
          </a:p>
        </p:txBody>
      </p:sp>
      <p:sp>
        <p:nvSpPr>
          <p:cNvPr id="4" name="矩形 3">
            <a:extLst>
              <a:ext uri="{FF2B5EF4-FFF2-40B4-BE49-F238E27FC236}">
                <a16:creationId xmlns:a16="http://schemas.microsoft.com/office/drawing/2014/main" id="{59F179B0-CF47-4664-A043-E67F938D5B7B}"/>
              </a:ext>
            </a:extLst>
          </p:cNvPr>
          <p:cNvSpPr>
            <a:spLocks noGrp="1"/>
          </p:cNvSpPr>
          <p:nvPr/>
        </p:nvSpPr>
        <p:spPr>
          <a:xfrm>
            <a:off x="685800" y="1066800"/>
            <a:ext cx="10820400" cy="9525"/>
          </a:xfrm>
          <a:prstGeom prst="rect">
            <a:avLst/>
          </a:prstGeom>
          <a:solidFill>
            <a:srgbClr val="C9D8D0"/>
          </a:solidFill>
          <a:ln w="9525">
            <a:solidFill>
              <a:srgbClr val="C9D8D0"/>
            </a:solidFill>
            <a:prstDash val="solid"/>
          </a:ln>
        </p:spPr>
      </p:sp>
      <p:pic>
        <p:nvPicPr>
          <p:cNvPr id="26" name="图片 25"/>
          <p:cNvPicPr>
            <a:picLocks noChangeAspect="1"/>
          </p:cNvPicPr>
          <p:nvPr/>
        </p:nvPicPr>
        <p:blipFill>
          <a:blip r:embed="rId3"/>
          <a:stretch/>
        </p:blipFill>
        <p:spPr>
          <a:xfrm>
            <a:off x="685800" y="1494926"/>
            <a:ext cx="5981700" cy="3791948"/>
          </a:xfrm>
          <a:prstGeom prst="rect">
            <a:avLst/>
          </a:prstGeom>
        </p:spPr>
      </p:pic>
      <p:sp>
        <p:nvSpPr>
          <p:cNvPr id="6" name="矩形 5">
            <a:extLst>
              <a:ext uri="{FF2B5EF4-FFF2-40B4-BE49-F238E27FC236}">
                <a16:creationId xmlns:a16="http://schemas.microsoft.com/office/drawing/2014/main" id="{960CFE24-8D15-4CA3-AD23-50B493958A97}"/>
              </a:ext>
            </a:extLst>
          </p:cNvPr>
          <p:cNvSpPr>
            <a:spLocks noGrp="1"/>
          </p:cNvSpPr>
          <p:nvPr/>
        </p:nvSpPr>
        <p:spPr>
          <a:xfrm>
            <a:off x="685800" y="1295400"/>
            <a:ext cx="5981700" cy="4191000"/>
          </a:xfrm>
          <a:prstGeom prst="rect">
            <a:avLst/>
          </a:prstGeom>
          <a:noFill/>
          <a:ln w="9525">
            <a:solidFill>
              <a:srgbClr val="C9D8D0"/>
            </a:solidFill>
            <a:prstDash val="solid"/>
          </a:ln>
        </p:spPr>
      </p:sp>
      <p:sp>
        <p:nvSpPr>
          <p:cNvPr id="7" name="矩形 6">
            <a:extLst>
              <a:ext uri="{FF2B5EF4-FFF2-40B4-BE49-F238E27FC236}">
                <a16:creationId xmlns:a16="http://schemas.microsoft.com/office/drawing/2014/main" id="{8C9A4251-1128-42C8-AD45-B1107E65B5D6}"/>
              </a:ext>
            </a:extLst>
          </p:cNvPr>
          <p:cNvSpPr>
            <a:spLocks noGrp="1"/>
          </p:cNvSpPr>
          <p:nvPr/>
        </p:nvSpPr>
        <p:spPr>
          <a:xfrm>
            <a:off x="685800" y="5619750"/>
            <a:ext cx="5981700" cy="152400"/>
          </a:xfrm>
          <a:prstGeom prst="rect">
            <a:avLst/>
          </a:prstGeom>
          <a:noFill/>
          <a:ln w="0">
            <a:noFill/>
            <a:prstDash val="solid"/>
          </a:ln>
        </p:spPr>
        <p:txBody>
          <a:bodyPr/>
          <a:lstStyle/>
          <a:p>
            <a:pPr algn="ctr">
              <a:buNone/>
              <a:defRPr sz="750" b="0">
                <a:solidFill>
                  <a:srgbClr val="62736C"/>
                </a:solidFill>
              </a:defRPr>
            </a:pPr>
            <a:r>
              <a:rPr sz="750" b="0">
                <a:solidFill>
                  <a:srgbClr val="62736C"/>
                </a:solidFill>
              </a:rPr>
              <a:t>Figure 3 · paper page 6</a:t>
            </a:r>
          </a:p>
        </p:txBody>
      </p:sp>
      <p:sp>
        <p:nvSpPr>
          <p:cNvPr id="8" name="矩形 7">
            <a:extLst>
              <a:ext uri="{FF2B5EF4-FFF2-40B4-BE49-F238E27FC236}">
                <a16:creationId xmlns:a16="http://schemas.microsoft.com/office/drawing/2014/main" id="{81BB2876-465D-4CC3-887B-2E2ACA4BFE20}"/>
              </a:ext>
            </a:extLst>
          </p:cNvPr>
          <p:cNvSpPr>
            <a:spLocks noGrp="1"/>
          </p:cNvSpPr>
          <p:nvPr/>
        </p:nvSpPr>
        <p:spPr>
          <a:xfrm>
            <a:off x="7334250" y="1428750"/>
            <a:ext cx="1066800" cy="247650"/>
          </a:xfrm>
          <a:prstGeom prst="rect">
            <a:avLst/>
          </a:prstGeom>
          <a:solidFill>
            <a:srgbClr val="E5EFE9"/>
          </a:solidFill>
          <a:ln w="9525">
            <a:solidFill>
              <a:srgbClr val="E5EFE9"/>
            </a:solidFill>
            <a:prstDash val="solid"/>
          </a:ln>
        </p:spPr>
      </p:sp>
      <p:sp>
        <p:nvSpPr>
          <p:cNvPr id="9" name="矩形 8">
            <a:extLst>
              <a:ext uri="{FF2B5EF4-FFF2-40B4-BE49-F238E27FC236}">
                <a16:creationId xmlns:a16="http://schemas.microsoft.com/office/drawing/2014/main" id="{672A374B-CCB8-4EDC-8B00-FAF7972F22B9}"/>
              </a:ext>
            </a:extLst>
          </p:cNvPr>
          <p:cNvSpPr>
            <a:spLocks noGrp="1"/>
          </p:cNvSpPr>
          <p:nvPr/>
        </p:nvSpPr>
        <p:spPr>
          <a:xfrm>
            <a:off x="7448550" y="1476375"/>
            <a:ext cx="838200" cy="152400"/>
          </a:xfrm>
          <a:prstGeom prst="rect">
            <a:avLst/>
          </a:prstGeom>
          <a:noFill/>
          <a:ln w="0">
            <a:noFill/>
            <a:prstDash val="solid"/>
          </a:ln>
        </p:spPr>
        <p:txBody>
          <a:bodyPr/>
          <a:lstStyle/>
          <a:p>
            <a:pPr algn="l">
              <a:buNone/>
              <a:defRPr sz="825" b="1">
                <a:solidFill>
                  <a:srgbClr val="2D6B5B"/>
                </a:solidFill>
              </a:defRPr>
            </a:pPr>
            <a:r>
              <a:rPr sz="825" b="1">
                <a:solidFill>
                  <a:srgbClr val="2D6B5B"/>
                </a:solidFill>
              </a:rPr>
              <a:t>本文证据</a:t>
            </a:r>
          </a:p>
        </p:txBody>
      </p:sp>
      <p:sp>
        <p:nvSpPr>
          <p:cNvPr id="10" name="椭圆 9">
            <a:extLst>
              <a:ext uri="{FF2B5EF4-FFF2-40B4-BE49-F238E27FC236}">
                <a16:creationId xmlns:a16="http://schemas.microsoft.com/office/drawing/2014/main" id="{8E234792-3D80-40FF-9B6F-7479FA2B9214}"/>
              </a:ext>
            </a:extLst>
          </p:cNvPr>
          <p:cNvSpPr>
            <a:spLocks noGrp="1"/>
          </p:cNvSpPr>
          <p:nvPr/>
        </p:nvSpPr>
        <p:spPr>
          <a:xfrm>
            <a:off x="7334250" y="2114550"/>
            <a:ext cx="66675" cy="66675"/>
          </a:xfrm>
          <a:prstGeom prst="ellipse">
            <a:avLst/>
          </a:prstGeom>
          <a:solidFill>
            <a:srgbClr val="2D6B5B"/>
          </a:solidFill>
          <a:ln w="9525">
            <a:solidFill>
              <a:srgbClr val="2D6B5B"/>
            </a:solidFill>
            <a:prstDash val="solid"/>
          </a:ln>
        </p:spPr>
      </p:sp>
      <p:sp>
        <p:nvSpPr>
          <p:cNvPr id="11" name="矩形 10">
            <a:extLst>
              <a:ext uri="{FF2B5EF4-FFF2-40B4-BE49-F238E27FC236}">
                <a16:creationId xmlns:a16="http://schemas.microsoft.com/office/drawing/2014/main" id="{C3C35142-3E85-4E98-8224-2CCECDCCDD01}"/>
              </a:ext>
            </a:extLst>
          </p:cNvPr>
          <p:cNvSpPr>
            <a:spLocks noGrp="1"/>
          </p:cNvSpPr>
          <p:nvPr/>
        </p:nvSpPr>
        <p:spPr>
          <a:xfrm>
            <a:off x="7543800" y="2019300"/>
            <a:ext cx="3886200" cy="552450"/>
          </a:xfrm>
          <a:prstGeom prst="rect">
            <a:avLst/>
          </a:prstGeom>
          <a:noFill/>
          <a:ln w="0">
            <a:noFill/>
            <a:prstDash val="solid"/>
          </a:ln>
        </p:spPr>
        <p:txBody>
          <a:bodyPr/>
          <a:lstStyle/>
          <a:p>
            <a:pPr algn="l">
              <a:buNone/>
              <a:defRPr sz="1275" b="0">
                <a:solidFill>
                  <a:srgbClr val="263732"/>
                </a:solidFill>
              </a:defRPr>
            </a:pPr>
            <a:r>
              <a:rPr sz="1275" b="0">
                <a:solidFill>
                  <a:srgbClr val="263732"/>
                </a:solidFill>
              </a:rPr>
              <a:t>一组 tokens 同时表示 </a:t>
            </a:r>
            <a:r>
              <a:rPr sz="1275">
                <a:solidFill>
                  <a:srgbClr val="263732"/>
                </a:solidFill>
              </a:rPr>
              <a:t>space group</a:t>
            </a:r>
            <a:r>
              <a:rPr sz="1275" b="0">
                <a:solidFill>
                  <a:srgbClr val="263732"/>
                </a:solidFill>
              </a:rPr>
              <a:t>、晶格、坐标、Wyckoff position、元素</a:t>
            </a:r>
          </a:p>
        </p:txBody>
      </p:sp>
      <p:sp>
        <p:nvSpPr>
          <p:cNvPr id="12" name="椭圆 11">
            <a:extLst>
              <a:ext uri="{FF2B5EF4-FFF2-40B4-BE49-F238E27FC236}">
                <a16:creationId xmlns:a16="http://schemas.microsoft.com/office/drawing/2014/main" id="{9159253F-CAAA-4BFE-906D-7ECE44D23EB6}"/>
              </a:ext>
            </a:extLst>
          </p:cNvPr>
          <p:cNvSpPr>
            <a:spLocks noGrp="1"/>
          </p:cNvSpPr>
          <p:nvPr/>
        </p:nvSpPr>
        <p:spPr>
          <a:xfrm>
            <a:off x="7334250" y="2952750"/>
            <a:ext cx="66675" cy="66675"/>
          </a:xfrm>
          <a:prstGeom prst="ellipse">
            <a:avLst/>
          </a:prstGeom>
          <a:solidFill>
            <a:srgbClr val="2D6B5B"/>
          </a:solidFill>
          <a:ln w="9525">
            <a:solidFill>
              <a:srgbClr val="2D6B5B"/>
            </a:solidFill>
            <a:prstDash val="solid"/>
          </a:ln>
        </p:spPr>
      </p:sp>
      <p:sp>
        <p:nvSpPr>
          <p:cNvPr id="13" name="矩形 12">
            <a:extLst>
              <a:ext uri="{FF2B5EF4-FFF2-40B4-BE49-F238E27FC236}">
                <a16:creationId xmlns:a16="http://schemas.microsoft.com/office/drawing/2014/main" id="{A20547F8-6F56-4C00-8DFE-61C15FEC8F95}"/>
              </a:ext>
            </a:extLst>
          </p:cNvPr>
          <p:cNvSpPr>
            <a:spLocks noGrp="1"/>
          </p:cNvSpPr>
          <p:nvPr/>
        </p:nvSpPr>
        <p:spPr>
          <a:xfrm>
            <a:off x="7543800" y="2857500"/>
            <a:ext cx="3886200" cy="552450"/>
          </a:xfrm>
          <a:prstGeom prst="rect">
            <a:avLst/>
          </a:prstGeom>
          <a:noFill/>
          <a:ln w="0">
            <a:noFill/>
            <a:prstDash val="solid"/>
          </a:ln>
        </p:spPr>
        <p:txBody>
          <a:bodyPr/>
          <a:lstStyle/>
          <a:p>
            <a:pPr algn="l">
              <a:buNone/>
              <a:defRPr sz="1200" b="0">
                <a:solidFill>
                  <a:srgbClr val="263732"/>
                </a:solidFill>
              </a:defRPr>
            </a:pPr>
            <a:r>
              <a:rPr sz="1200" b="0">
                <a:solidFill>
                  <a:srgbClr val="263732"/>
                </a:solidFill>
              </a:rPr>
              <a:t>全 mask → 空间群分支 → confidence-ranked greedy unmask</a:t>
            </a:r>
          </a:p>
        </p:txBody>
      </p:sp>
      <p:sp>
        <p:nvSpPr>
          <p:cNvPr id="14" name="椭圆 13">
            <a:extLst>
              <a:ext uri="{FF2B5EF4-FFF2-40B4-BE49-F238E27FC236}">
                <a16:creationId xmlns:a16="http://schemas.microsoft.com/office/drawing/2014/main" id="{4D8E5278-9E1E-4AD4-A44A-F1B24CD67894}"/>
              </a:ext>
            </a:extLst>
          </p:cNvPr>
          <p:cNvSpPr>
            <a:spLocks noGrp="1"/>
          </p:cNvSpPr>
          <p:nvPr/>
        </p:nvSpPr>
        <p:spPr>
          <a:xfrm>
            <a:off x="7334250" y="3790950"/>
            <a:ext cx="66675" cy="66675"/>
          </a:xfrm>
          <a:prstGeom prst="ellipse">
            <a:avLst/>
          </a:prstGeom>
          <a:solidFill>
            <a:srgbClr val="2D6B5B"/>
          </a:solidFill>
          <a:ln w="9525">
            <a:solidFill>
              <a:srgbClr val="2D6B5B"/>
            </a:solidFill>
            <a:prstDash val="solid"/>
          </a:ln>
        </p:spPr>
      </p:sp>
      <p:sp>
        <p:nvSpPr>
          <p:cNvPr id="15" name="矩形 14">
            <a:extLst>
              <a:ext uri="{FF2B5EF4-FFF2-40B4-BE49-F238E27FC236}">
                <a16:creationId xmlns:a16="http://schemas.microsoft.com/office/drawing/2014/main" id="{EC1900D8-D297-4536-9510-C6ACDCCBBCD7}"/>
              </a:ext>
            </a:extLst>
          </p:cNvPr>
          <p:cNvSpPr>
            <a:spLocks noGrp="1"/>
          </p:cNvSpPr>
          <p:nvPr/>
        </p:nvSpPr>
        <p:spPr>
          <a:xfrm>
            <a:off x="7543800" y="3695700"/>
            <a:ext cx="3886200" cy="552450"/>
          </a:xfrm>
          <a:prstGeom prst="rect">
            <a:avLst/>
          </a:prstGeom>
          <a:noFill/>
          <a:ln w="0">
            <a:noFill/>
            <a:prstDash val="solid"/>
          </a:ln>
        </p:spPr>
        <p:txBody>
          <a:bodyPr/>
          <a:lstStyle/>
          <a:p>
            <a:pPr algn="l">
              <a:buNone/>
              <a:defRPr sz="1200" b="0">
                <a:solidFill>
                  <a:srgbClr val="263732"/>
                </a:solidFill>
              </a:defRPr>
            </a:pPr>
            <a:r>
              <a:rPr sz="1200" b="0">
                <a:solidFill>
                  <a:srgbClr val="263732"/>
                </a:solidFill>
              </a:rPr>
              <a:t>周期 label smoothing + sub-bin offset 保住坐标精度</a:t>
            </a:r>
          </a:p>
        </p:txBody>
      </p:sp>
      <p:sp>
        <p:nvSpPr>
          <p:cNvPr id="16" name="矩形 15">
            <a:extLst>
              <a:ext uri="{FF2B5EF4-FFF2-40B4-BE49-F238E27FC236}">
                <a16:creationId xmlns:a16="http://schemas.microsoft.com/office/drawing/2014/main" id="{0768E756-05FF-4802-828F-86A01B712447}"/>
              </a:ext>
            </a:extLst>
          </p:cNvPr>
          <p:cNvSpPr>
            <a:spLocks noGrp="1"/>
          </p:cNvSpPr>
          <p:nvPr/>
        </p:nvSpPr>
        <p:spPr>
          <a:xfrm>
            <a:off x="7334250" y="4762500"/>
            <a:ext cx="4171950" cy="723900"/>
          </a:xfrm>
          <a:prstGeom prst="rect">
            <a:avLst/>
          </a:prstGeom>
          <a:solidFill>
            <a:srgbClr val="FFF9E5"/>
          </a:solidFill>
          <a:ln w="9525">
            <a:solidFill>
              <a:srgbClr val="F6D676"/>
            </a:solidFill>
            <a:prstDash val="solid"/>
          </a:ln>
        </p:spPr>
      </p:sp>
      <p:sp>
        <p:nvSpPr>
          <p:cNvPr id="17" name="矩形 16">
            <a:extLst>
              <a:ext uri="{FF2B5EF4-FFF2-40B4-BE49-F238E27FC236}">
                <a16:creationId xmlns:a16="http://schemas.microsoft.com/office/drawing/2014/main" id="{0C40CBCB-381E-418A-90D0-7E5CC05D4DAB}"/>
              </a:ext>
            </a:extLst>
          </p:cNvPr>
          <p:cNvSpPr>
            <a:spLocks noGrp="1"/>
          </p:cNvSpPr>
          <p:nvPr/>
        </p:nvSpPr>
        <p:spPr>
          <a:xfrm>
            <a:off x="7524750" y="4914900"/>
            <a:ext cx="3790950" cy="419100"/>
          </a:xfrm>
          <a:prstGeom prst="rect">
            <a:avLst/>
          </a:prstGeom>
          <a:noFill/>
          <a:ln w="0">
            <a:noFill/>
            <a:prstDash val="solid"/>
          </a:ln>
        </p:spPr>
        <p:txBody>
          <a:bodyPr/>
          <a:lstStyle/>
          <a:p>
            <a:pPr algn="l">
              <a:buNone/>
              <a:defRPr sz="1200" b="1">
                <a:solidFill>
                  <a:srgbClr val="705717"/>
                </a:solidFill>
              </a:defRPr>
            </a:pPr>
            <a:r>
              <a:rPr sz="1200" b="1">
                <a:solidFill>
                  <a:srgbClr val="705717"/>
                </a:solidFill>
              </a:rPr>
              <a:t>论文报告的结果来自 composition-conditioned crystal structure prediction；不是本 idea 的实验。</a:t>
            </a:r>
          </a:p>
        </p:txBody>
      </p:sp>
      <p:sp>
        <p:nvSpPr>
          <p:cNvPr id="18" name="矩形 17">
            <a:extLst>
              <a:ext uri="{FF2B5EF4-FFF2-40B4-BE49-F238E27FC236}">
                <a16:creationId xmlns:a16="http://schemas.microsoft.com/office/drawing/2014/main" id="{8C680BD2-0D2A-432F-B782-BC8DDBC250ED}"/>
              </a:ext>
            </a:extLst>
          </p:cNvPr>
          <p:cNvSpPr>
            <a:spLocks noGrp="1"/>
          </p:cNvSpPr>
          <p:nvPr/>
        </p:nvSpPr>
        <p:spPr>
          <a:xfrm>
            <a:off x="685800" y="6400800"/>
            <a:ext cx="10820400" cy="9525"/>
          </a:xfrm>
          <a:prstGeom prst="rect">
            <a:avLst/>
          </a:prstGeom>
          <a:solidFill>
            <a:srgbClr val="C9D8D0"/>
          </a:solidFill>
          <a:ln w="9525">
            <a:solidFill>
              <a:srgbClr val="C9D8D0"/>
            </a:solidFill>
            <a:prstDash val="solid"/>
          </a:ln>
        </p:spPr>
      </p:sp>
      <p:sp>
        <p:nvSpPr>
          <p:cNvPr id="19" name="矩形 18">
            <a:extLst>
              <a:ext uri="{FF2B5EF4-FFF2-40B4-BE49-F238E27FC236}">
                <a16:creationId xmlns:a16="http://schemas.microsoft.com/office/drawing/2014/main" id="{707AFBD3-2615-4D10-9053-D6755329CEF7}"/>
              </a:ext>
            </a:extLst>
          </p:cNvPr>
          <p:cNvSpPr>
            <a:spLocks noGrp="1"/>
          </p:cNvSpPr>
          <p:nvPr/>
        </p:nvSpPr>
        <p:spPr>
          <a:xfrm>
            <a:off x="685800" y="6524625"/>
            <a:ext cx="10820400" cy="152400"/>
          </a:xfrm>
          <a:prstGeom prst="rect">
            <a:avLst/>
          </a:prstGeom>
          <a:noFill/>
          <a:ln w="0">
            <a:noFill/>
            <a:prstDash val="solid"/>
          </a:ln>
        </p:spPr>
        <p:txBody>
          <a:bodyPr/>
          <a:lstStyle/>
          <a:p>
            <a:pPr algn="l">
              <a:buNone/>
              <a:defRPr sz="750" b="0">
                <a:solidFill>
                  <a:srgbClr val="62736C"/>
                </a:solidFill>
              </a:defRPr>
            </a:pPr>
            <a:r>
              <a:rPr sz="750" b="0">
                <a:solidFill>
                  <a:srgbClr val="62736C"/>
                </a:solidFill>
              </a:rPr>
              <a:t>DynaCrys (Jin et al., 2026) · MaskGXT (Seong et al., 2026) · MaskGXT Figure 3 · paper page 6; Sampling · paper page 9</a:t>
            </a:r>
          </a:p>
        </p:txBody>
      </p:sp>
    </p:spTree>
    <p:extLst>
      <p:ext uri="{BB962C8B-B14F-4D97-AF65-F5344CB8AC3E}">
        <p14:creationId xmlns:p14="http://schemas.microsoft.com/office/powerpoint/2010/main" val="125447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88066CC5-19CE-425E-B48A-45F602F40FE7}"/>
              </a:ext>
            </a:extLst>
          </p:cNvPr>
          <p:cNvSpPr>
            <a:spLocks noGrp="1"/>
          </p:cNvSpPr>
          <p:nvPr/>
        </p:nvSpPr>
        <p:spPr>
          <a:xfrm>
            <a:off x="685800" y="342900"/>
            <a:ext cx="323850" cy="171450"/>
          </a:xfrm>
          <a:prstGeom prst="rect">
            <a:avLst/>
          </a:prstGeom>
          <a:noFill/>
          <a:ln w="0">
            <a:noFill/>
            <a:prstDash val="solid"/>
          </a:ln>
        </p:spPr>
        <p:txBody>
          <a:bodyPr/>
          <a:lstStyle/>
          <a:p>
            <a:pPr algn="l">
              <a:buNone/>
              <a:defRPr sz="900" b="1">
                <a:solidFill>
                  <a:srgbClr val="2D6B5B"/>
                </a:solidFill>
              </a:defRPr>
            </a:pPr>
            <a:r>
              <a:rPr sz="900" b="1">
                <a:solidFill>
                  <a:srgbClr val="2D6B5B"/>
                </a:solidFill>
              </a:rPr>
              <a:t>06</a:t>
            </a:r>
          </a:p>
        </p:txBody>
      </p:sp>
      <p:sp>
        <p:nvSpPr>
          <p:cNvPr id="2" name="矩形 1">
            <a:extLst>
              <a:ext uri="{FF2B5EF4-FFF2-40B4-BE49-F238E27FC236}">
                <a16:creationId xmlns:a16="http://schemas.microsoft.com/office/drawing/2014/main" id="{149CE949-408D-4EC0-8B81-00222B8F1424}"/>
              </a:ext>
            </a:extLst>
          </p:cNvPr>
          <p:cNvSpPr>
            <a:spLocks noGrp="1"/>
          </p:cNvSpPr>
          <p:nvPr/>
        </p:nvSpPr>
        <p:spPr>
          <a:xfrm>
            <a:off x="1200150" y="342900"/>
            <a:ext cx="2857500" cy="171450"/>
          </a:xfrm>
          <a:prstGeom prst="rect">
            <a:avLst/>
          </a:prstGeom>
          <a:noFill/>
          <a:ln w="0">
            <a:noFill/>
            <a:prstDash val="solid"/>
          </a:ln>
        </p:spPr>
        <p:txBody>
          <a:bodyPr/>
          <a:lstStyle/>
          <a:p>
            <a:pPr algn="l">
              <a:buNone/>
              <a:defRPr sz="900" b="1">
                <a:solidFill>
                  <a:srgbClr val="62736C"/>
                </a:solidFill>
              </a:defRPr>
            </a:pPr>
            <a:r>
              <a:rPr sz="900" b="1">
                <a:solidFill>
                  <a:srgbClr val="62736C"/>
                </a:solidFill>
              </a:rPr>
              <a:t>结果定位</a:t>
            </a:r>
          </a:p>
        </p:txBody>
      </p:sp>
      <p:sp>
        <p:nvSpPr>
          <p:cNvPr id="3" name="矩形 2">
            <a:extLst>
              <a:ext uri="{FF2B5EF4-FFF2-40B4-BE49-F238E27FC236}">
                <a16:creationId xmlns:a16="http://schemas.microsoft.com/office/drawing/2014/main" id="{7F20D63E-4803-4FEA-A222-9957087A367D}"/>
              </a:ext>
            </a:extLst>
          </p:cNvPr>
          <p:cNvSpPr>
            <a:spLocks noGrp="1"/>
          </p:cNvSpPr>
          <p:nvPr/>
        </p:nvSpPr>
        <p:spPr>
          <a:xfrm>
            <a:off x="685800" y="609600"/>
            <a:ext cx="10668000" cy="400050"/>
          </a:xfrm>
          <a:prstGeom prst="rect">
            <a:avLst/>
          </a:prstGeom>
          <a:noFill/>
          <a:ln w="0">
            <a:noFill/>
            <a:prstDash val="solid"/>
          </a:ln>
        </p:spPr>
        <p:txBody>
          <a:bodyPr/>
          <a:lstStyle/>
          <a:p>
            <a:pPr algn="l">
              <a:buNone/>
              <a:defRPr sz="2625" b="1">
                <a:solidFill>
                  <a:srgbClr val="17372F"/>
                </a:solidFill>
              </a:defRPr>
            </a:pPr>
            <a:r>
              <a:rPr sz="2625" b="1">
                <a:solidFill>
                  <a:srgbClr val="17372F"/>
                </a:solidFill>
              </a:rPr>
              <a:t>最新结果把 DLM 可行性推到了高起点</a:t>
            </a:r>
          </a:p>
        </p:txBody>
      </p:sp>
      <p:sp>
        <p:nvSpPr>
          <p:cNvPr id="4" name="矩形 3">
            <a:extLst>
              <a:ext uri="{FF2B5EF4-FFF2-40B4-BE49-F238E27FC236}">
                <a16:creationId xmlns:a16="http://schemas.microsoft.com/office/drawing/2014/main" id="{C06AECFD-36B4-4F8D-A6CD-E2B60E193F78}"/>
              </a:ext>
            </a:extLst>
          </p:cNvPr>
          <p:cNvSpPr>
            <a:spLocks noGrp="1"/>
          </p:cNvSpPr>
          <p:nvPr/>
        </p:nvSpPr>
        <p:spPr>
          <a:xfrm>
            <a:off x="685800" y="1066800"/>
            <a:ext cx="10820400" cy="9525"/>
          </a:xfrm>
          <a:prstGeom prst="rect">
            <a:avLst/>
          </a:prstGeom>
          <a:solidFill>
            <a:srgbClr val="C9D8D0"/>
          </a:solidFill>
          <a:ln w="9525">
            <a:solidFill>
              <a:srgbClr val="C9D8D0"/>
            </a:solidFill>
            <a:prstDash val="solid"/>
          </a:ln>
        </p:spPr>
      </p:sp>
      <p:sp>
        <p:nvSpPr>
          <p:cNvPr id="5" name="矩形 4">
            <a:extLst>
              <a:ext uri="{FF2B5EF4-FFF2-40B4-BE49-F238E27FC236}">
                <a16:creationId xmlns:a16="http://schemas.microsoft.com/office/drawing/2014/main" id="{1C097A91-AE35-4B74-98F7-BBE923C2BAE8}"/>
              </a:ext>
            </a:extLst>
          </p:cNvPr>
          <p:cNvSpPr>
            <a:spLocks noGrp="1"/>
          </p:cNvSpPr>
          <p:nvPr/>
        </p:nvSpPr>
        <p:spPr>
          <a:xfrm>
            <a:off x="685800" y="1571625"/>
            <a:ext cx="10287000" cy="1143000"/>
          </a:xfrm>
          <a:prstGeom prst="rect">
            <a:avLst/>
          </a:prstGeom>
          <a:noFill/>
          <a:ln w="0">
            <a:noFill/>
            <a:prstDash val="solid"/>
          </a:ln>
        </p:spPr>
        <p:txBody>
          <a:bodyPr/>
          <a:lstStyle/>
          <a:p>
            <a:pPr algn="l">
              <a:buNone/>
              <a:defRPr sz="2100" b="1">
                <a:solidFill>
                  <a:srgbClr val="17372F"/>
                </a:solidFill>
              </a:defRPr>
            </a:pPr>
            <a:r>
              <a:rPr sz="2100" b="1">
                <a:solidFill>
                  <a:srgbClr val="17372F"/>
                </a:solidFill>
              </a:rPr>
              <a:t>不同 benchmark / metric 不可直接横比；这里只用来定位各自的设计收益。</a:t>
            </a:r>
          </a:p>
        </p:txBody>
      </p:sp>
      <p:sp>
        <p:nvSpPr>
          <p:cNvPr id="6" name="椭圆 5">
            <a:extLst>
              <a:ext uri="{FF2B5EF4-FFF2-40B4-BE49-F238E27FC236}">
                <a16:creationId xmlns:a16="http://schemas.microsoft.com/office/drawing/2014/main" id="{1B97BA65-6DB6-4E4F-9CF0-DD90CC151BB0}"/>
              </a:ext>
            </a:extLst>
          </p:cNvPr>
          <p:cNvSpPr>
            <a:spLocks noGrp="1"/>
          </p:cNvSpPr>
          <p:nvPr/>
        </p:nvSpPr>
        <p:spPr>
          <a:xfrm>
            <a:off x="685800" y="3409950"/>
            <a:ext cx="66675" cy="66675"/>
          </a:xfrm>
          <a:prstGeom prst="ellipse">
            <a:avLst/>
          </a:prstGeom>
          <a:solidFill>
            <a:srgbClr val="2D6B5B"/>
          </a:solidFill>
          <a:ln w="9525">
            <a:solidFill>
              <a:srgbClr val="2D6B5B"/>
            </a:solidFill>
            <a:prstDash val="solid"/>
          </a:ln>
        </p:spPr>
      </p:sp>
      <p:sp>
        <p:nvSpPr>
          <p:cNvPr id="7" name="矩形 6">
            <a:extLst>
              <a:ext uri="{FF2B5EF4-FFF2-40B4-BE49-F238E27FC236}">
                <a16:creationId xmlns:a16="http://schemas.microsoft.com/office/drawing/2014/main" id="{53D3BAAE-C767-401B-A5FF-A74399C108C9}"/>
              </a:ext>
            </a:extLst>
          </p:cNvPr>
          <p:cNvSpPr>
            <a:spLocks noGrp="1"/>
          </p:cNvSpPr>
          <p:nvPr/>
        </p:nvSpPr>
        <p:spPr>
          <a:xfrm>
            <a:off x="895350" y="3314700"/>
            <a:ext cx="9886950" cy="666750"/>
          </a:xfrm>
          <a:prstGeom prst="rect">
            <a:avLst/>
          </a:prstGeom>
          <a:noFill/>
          <a:ln w="0">
            <a:noFill/>
            <a:prstDash val="solid"/>
          </a:ln>
        </p:spPr>
        <p:txBody>
          <a:bodyPr/>
          <a:lstStyle/>
          <a:p>
            <a:pPr algn="l">
              <a:buNone/>
              <a:defRPr sz="1500" b="0">
                <a:solidFill>
                  <a:srgbClr val="263732"/>
                </a:solidFill>
              </a:defRPr>
            </a:pPr>
            <a:r>
              <a:rPr sz="1500" b="0">
                <a:solidFill>
                  <a:srgbClr val="263732"/>
                </a:solidFill>
              </a:rPr>
              <a:t>DynaCrys：CHGNet 下，稳定-唯一-新颖率 / 稳定-对称-唯一-新颖率为 9.39% / 9.31%</a:t>
            </a:r>
          </a:p>
        </p:txBody>
      </p:sp>
      <p:sp>
        <p:nvSpPr>
          <p:cNvPr id="8" name="椭圆 7">
            <a:extLst>
              <a:ext uri="{FF2B5EF4-FFF2-40B4-BE49-F238E27FC236}">
                <a16:creationId xmlns:a16="http://schemas.microsoft.com/office/drawing/2014/main" id="{4A613634-C947-49DE-BFAC-E265D3C497B1}"/>
              </a:ext>
            </a:extLst>
          </p:cNvPr>
          <p:cNvSpPr>
            <a:spLocks noGrp="1"/>
          </p:cNvSpPr>
          <p:nvPr/>
        </p:nvSpPr>
        <p:spPr>
          <a:xfrm>
            <a:off x="685800" y="4381500"/>
            <a:ext cx="66675" cy="66675"/>
          </a:xfrm>
          <a:prstGeom prst="ellipse">
            <a:avLst/>
          </a:prstGeom>
          <a:solidFill>
            <a:srgbClr val="2D6B5B"/>
          </a:solidFill>
          <a:ln w="9525">
            <a:solidFill>
              <a:srgbClr val="2D6B5B"/>
            </a:solidFill>
            <a:prstDash val="solid"/>
          </a:ln>
        </p:spPr>
      </p:sp>
      <p:sp>
        <p:nvSpPr>
          <p:cNvPr id="9" name="矩形 8">
            <a:extLst>
              <a:ext uri="{FF2B5EF4-FFF2-40B4-BE49-F238E27FC236}">
                <a16:creationId xmlns:a16="http://schemas.microsoft.com/office/drawing/2014/main" id="{B7AB48BF-97AA-4C43-95E0-139E5132F4D5}"/>
              </a:ext>
            </a:extLst>
          </p:cNvPr>
          <p:cNvSpPr>
            <a:spLocks noGrp="1"/>
          </p:cNvSpPr>
          <p:nvPr/>
        </p:nvSpPr>
        <p:spPr>
          <a:xfrm>
            <a:off x="895350" y="4286250"/>
            <a:ext cx="9886950" cy="666750"/>
          </a:xfrm>
          <a:prstGeom prst="rect">
            <a:avLst/>
          </a:prstGeom>
          <a:noFill/>
          <a:ln w="0">
            <a:noFill/>
            <a:prstDash val="solid"/>
          </a:ln>
        </p:spPr>
        <p:txBody>
          <a:bodyPr/>
          <a:lstStyle/>
          <a:p>
            <a:pPr algn="l">
              <a:buNone/>
              <a:defRPr sz="1425" b="0">
                <a:solidFill>
                  <a:srgbClr val="263732"/>
                </a:solidFill>
              </a:defRPr>
            </a:pPr>
            <a:r>
              <a:rPr sz="1425" b="0">
                <a:solidFill>
                  <a:srgbClr val="263732"/>
                </a:solidFill>
              </a:rPr>
              <a:t>MaskGXT：MP-20 polymorph split 的 match-every-reference accuracy 为 79.06%（baseline 70.87%）</a:t>
            </a:r>
          </a:p>
        </p:txBody>
      </p:sp>
      <p:sp>
        <p:nvSpPr>
          <p:cNvPr id="10" name="椭圆 9">
            <a:extLst>
              <a:ext uri="{FF2B5EF4-FFF2-40B4-BE49-F238E27FC236}">
                <a16:creationId xmlns:a16="http://schemas.microsoft.com/office/drawing/2014/main" id="{8455F931-5AF1-412F-BECE-ED91FB57C599}"/>
              </a:ext>
            </a:extLst>
          </p:cNvPr>
          <p:cNvSpPr>
            <a:spLocks noGrp="1"/>
          </p:cNvSpPr>
          <p:nvPr/>
        </p:nvSpPr>
        <p:spPr>
          <a:xfrm>
            <a:off x="685800" y="5353050"/>
            <a:ext cx="66675" cy="66675"/>
          </a:xfrm>
          <a:prstGeom prst="ellipse">
            <a:avLst/>
          </a:prstGeom>
          <a:solidFill>
            <a:srgbClr val="2D6B5B"/>
          </a:solidFill>
          <a:ln w="9525">
            <a:solidFill>
              <a:srgbClr val="2D6B5B"/>
            </a:solidFill>
            <a:prstDash val="solid"/>
          </a:ln>
        </p:spPr>
      </p:sp>
      <p:sp>
        <p:nvSpPr>
          <p:cNvPr id="11" name="矩形 10">
            <a:extLst>
              <a:ext uri="{FF2B5EF4-FFF2-40B4-BE49-F238E27FC236}">
                <a16:creationId xmlns:a16="http://schemas.microsoft.com/office/drawing/2014/main" id="{C8E5FB66-8E8E-4CFC-8F54-E4242771CDE2}"/>
              </a:ext>
            </a:extLst>
          </p:cNvPr>
          <p:cNvSpPr>
            <a:spLocks noGrp="1"/>
          </p:cNvSpPr>
          <p:nvPr/>
        </p:nvSpPr>
        <p:spPr>
          <a:xfrm>
            <a:off x="895350" y="5257800"/>
            <a:ext cx="9886950" cy="666750"/>
          </a:xfrm>
          <a:prstGeom prst="rect">
            <a:avLst/>
          </a:prstGeom>
          <a:noFill/>
          <a:ln w="0">
            <a:noFill/>
            <a:prstDash val="solid"/>
          </a:ln>
        </p:spPr>
        <p:txBody>
          <a:bodyPr/>
          <a:lstStyle/>
          <a:p>
            <a:pPr algn="l">
              <a:buNone/>
              <a:defRPr sz="1425" b="0">
                <a:solidFill>
                  <a:srgbClr val="263732"/>
                </a:solidFill>
              </a:defRPr>
            </a:pPr>
            <a:r>
              <a:rPr sz="1425" b="0">
                <a:solidFill>
                  <a:srgbClr val="263732"/>
                </a:solidFill>
              </a:rPr>
              <a:t>去掉 symmetry tokens 后，polymorph split 的 match-every-reference accuracy 为 74.98%</a:t>
            </a:r>
          </a:p>
        </p:txBody>
      </p:sp>
      <p:sp>
        <p:nvSpPr>
          <p:cNvPr id="12" name="矩形 11">
            <a:extLst>
              <a:ext uri="{FF2B5EF4-FFF2-40B4-BE49-F238E27FC236}">
                <a16:creationId xmlns:a16="http://schemas.microsoft.com/office/drawing/2014/main" id="{40327A4D-3539-4054-B2CA-0BB83BED6F3B}"/>
              </a:ext>
            </a:extLst>
          </p:cNvPr>
          <p:cNvSpPr>
            <a:spLocks noGrp="1"/>
          </p:cNvSpPr>
          <p:nvPr/>
        </p:nvSpPr>
        <p:spPr>
          <a:xfrm>
            <a:off x="685800" y="6400800"/>
            <a:ext cx="10820400" cy="9525"/>
          </a:xfrm>
          <a:prstGeom prst="rect">
            <a:avLst/>
          </a:prstGeom>
          <a:solidFill>
            <a:srgbClr val="C9D8D0"/>
          </a:solidFill>
          <a:ln w="9525">
            <a:solidFill>
              <a:srgbClr val="C9D8D0"/>
            </a:solidFill>
            <a:prstDash val="solid"/>
          </a:ln>
        </p:spPr>
      </p:sp>
      <p:sp>
        <p:nvSpPr>
          <p:cNvPr id="13" name="矩形 12">
            <a:extLst>
              <a:ext uri="{FF2B5EF4-FFF2-40B4-BE49-F238E27FC236}">
                <a16:creationId xmlns:a16="http://schemas.microsoft.com/office/drawing/2014/main" id="{05CB8FE6-A743-47D9-B7B2-64D88A2F6236}"/>
              </a:ext>
            </a:extLst>
          </p:cNvPr>
          <p:cNvSpPr>
            <a:spLocks noGrp="1"/>
          </p:cNvSpPr>
          <p:nvPr/>
        </p:nvSpPr>
        <p:spPr>
          <a:xfrm>
            <a:off x="685800" y="6524625"/>
            <a:ext cx="10820400" cy="152400"/>
          </a:xfrm>
          <a:prstGeom prst="rect">
            <a:avLst/>
          </a:prstGeom>
          <a:noFill/>
          <a:ln w="0">
            <a:noFill/>
            <a:prstDash val="solid"/>
          </a:ln>
        </p:spPr>
        <p:txBody>
          <a:bodyPr/>
          <a:lstStyle/>
          <a:p>
            <a:pPr algn="l">
              <a:buNone/>
              <a:defRPr sz="750" b="0">
                <a:solidFill>
                  <a:srgbClr val="62736C"/>
                </a:solidFill>
              </a:defRPr>
            </a:pPr>
            <a:r>
              <a:rPr sz="750" b="0">
                <a:solidFill>
                  <a:srgbClr val="62736C"/>
                </a:solidFill>
              </a:rPr>
              <a:t>DynaCrys (Jin et al., 2026) · MaskGXT (Seong et al., 2026) · DynaCrys Table 1 · paper page 8; MaskGXT Tables 2, 4 · paper pages 11–12</a:t>
            </a:r>
          </a:p>
        </p:txBody>
      </p:sp>
    </p:spTree>
    <p:extLst>
      <p:ext uri="{BB962C8B-B14F-4D97-AF65-F5344CB8AC3E}">
        <p14:creationId xmlns:p14="http://schemas.microsoft.com/office/powerpoint/2010/main" val="70150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1ADF0D04-6849-40F0-8BAE-63D6673E6A24}"/>
              </a:ext>
            </a:extLst>
          </p:cNvPr>
          <p:cNvSpPr>
            <a:spLocks noGrp="1"/>
          </p:cNvSpPr>
          <p:nvPr/>
        </p:nvSpPr>
        <p:spPr>
          <a:xfrm>
            <a:off x="685800" y="342900"/>
            <a:ext cx="323850" cy="171450"/>
          </a:xfrm>
          <a:prstGeom prst="rect">
            <a:avLst/>
          </a:prstGeom>
          <a:noFill/>
          <a:ln w="0">
            <a:noFill/>
            <a:prstDash val="solid"/>
          </a:ln>
        </p:spPr>
        <p:txBody>
          <a:bodyPr/>
          <a:lstStyle/>
          <a:p>
            <a:pPr algn="l">
              <a:buNone/>
              <a:defRPr sz="900" b="1">
                <a:solidFill>
                  <a:srgbClr val="2D6B5B"/>
                </a:solidFill>
              </a:defRPr>
            </a:pPr>
            <a:r>
              <a:rPr sz="900" b="1">
                <a:solidFill>
                  <a:srgbClr val="2D6B5B"/>
                </a:solidFill>
              </a:rPr>
              <a:t>07</a:t>
            </a:r>
          </a:p>
        </p:txBody>
      </p:sp>
      <p:sp>
        <p:nvSpPr>
          <p:cNvPr id="2" name="矩形 1">
            <a:extLst>
              <a:ext uri="{FF2B5EF4-FFF2-40B4-BE49-F238E27FC236}">
                <a16:creationId xmlns:a16="http://schemas.microsoft.com/office/drawing/2014/main" id="{10FDF284-B196-4F8B-AF12-BCDA02CCABDD}"/>
              </a:ext>
            </a:extLst>
          </p:cNvPr>
          <p:cNvSpPr>
            <a:spLocks noGrp="1"/>
          </p:cNvSpPr>
          <p:nvPr/>
        </p:nvSpPr>
        <p:spPr>
          <a:xfrm>
            <a:off x="1200150" y="342900"/>
            <a:ext cx="2857500" cy="171450"/>
          </a:xfrm>
          <a:prstGeom prst="rect">
            <a:avLst/>
          </a:prstGeom>
          <a:noFill/>
          <a:ln w="0">
            <a:noFill/>
            <a:prstDash val="solid"/>
          </a:ln>
        </p:spPr>
        <p:txBody>
          <a:bodyPr/>
          <a:lstStyle/>
          <a:p>
            <a:pPr algn="l">
              <a:buNone/>
              <a:defRPr sz="900" b="1">
                <a:solidFill>
                  <a:srgbClr val="62736C"/>
                </a:solidFill>
              </a:defRPr>
            </a:pPr>
            <a:r>
              <a:rPr sz="900" b="1">
                <a:solidFill>
                  <a:srgbClr val="62736C"/>
                </a:solidFill>
              </a:rPr>
              <a:t>相关工作</a:t>
            </a:r>
          </a:p>
        </p:txBody>
      </p:sp>
      <p:sp>
        <p:nvSpPr>
          <p:cNvPr id="3" name="矩形 2">
            <a:extLst>
              <a:ext uri="{FF2B5EF4-FFF2-40B4-BE49-F238E27FC236}">
                <a16:creationId xmlns:a16="http://schemas.microsoft.com/office/drawing/2014/main" id="{34A22E82-E136-4587-BA4B-A47E36C48354}"/>
              </a:ext>
            </a:extLst>
          </p:cNvPr>
          <p:cNvSpPr>
            <a:spLocks noGrp="1"/>
          </p:cNvSpPr>
          <p:nvPr/>
        </p:nvSpPr>
        <p:spPr>
          <a:xfrm>
            <a:off x="685800" y="609600"/>
            <a:ext cx="10668000" cy="400050"/>
          </a:xfrm>
          <a:prstGeom prst="rect">
            <a:avLst/>
          </a:prstGeom>
          <a:noFill/>
          <a:ln w="0">
            <a:noFill/>
            <a:prstDash val="solid"/>
          </a:ln>
        </p:spPr>
        <p:txBody>
          <a:bodyPr/>
          <a:lstStyle/>
          <a:p>
            <a:pPr algn="l">
              <a:buNone/>
              <a:defRPr sz="2625" b="1">
                <a:solidFill>
                  <a:srgbClr val="17372F"/>
                </a:solidFill>
              </a:defRPr>
            </a:pPr>
            <a:r>
              <a:rPr sz="2625" b="1">
                <a:solidFill>
                  <a:srgbClr val="17372F"/>
                </a:solidFill>
              </a:rPr>
              <a:t>“Wyckoff + diffusion”已经不是空白</a:t>
            </a:r>
          </a:p>
        </p:txBody>
      </p:sp>
      <p:sp>
        <p:nvSpPr>
          <p:cNvPr id="4" name="矩形 3">
            <a:extLst>
              <a:ext uri="{FF2B5EF4-FFF2-40B4-BE49-F238E27FC236}">
                <a16:creationId xmlns:a16="http://schemas.microsoft.com/office/drawing/2014/main" id="{F70C746D-4D2A-4DCB-BE65-3C54AED27E0D}"/>
              </a:ext>
            </a:extLst>
          </p:cNvPr>
          <p:cNvSpPr>
            <a:spLocks noGrp="1"/>
          </p:cNvSpPr>
          <p:nvPr/>
        </p:nvSpPr>
        <p:spPr>
          <a:xfrm>
            <a:off x="685800" y="1066800"/>
            <a:ext cx="10820400" cy="9525"/>
          </a:xfrm>
          <a:prstGeom prst="rect">
            <a:avLst/>
          </a:prstGeom>
          <a:solidFill>
            <a:srgbClr val="C9D8D0"/>
          </a:solidFill>
          <a:ln w="9525">
            <a:solidFill>
              <a:srgbClr val="C9D8D0"/>
            </a:solidFill>
            <a:prstDash val="solid"/>
          </a:ln>
        </p:spPr>
      </p:sp>
      <p:sp>
        <p:nvSpPr>
          <p:cNvPr id="5" name="矩形 4">
            <a:extLst>
              <a:ext uri="{FF2B5EF4-FFF2-40B4-BE49-F238E27FC236}">
                <a16:creationId xmlns:a16="http://schemas.microsoft.com/office/drawing/2014/main" id="{A11A2EDC-A913-404F-ADF4-C87BEBF43CCB}"/>
              </a:ext>
            </a:extLst>
          </p:cNvPr>
          <p:cNvSpPr>
            <a:spLocks noGrp="1"/>
          </p:cNvSpPr>
          <p:nvPr/>
        </p:nvSpPr>
        <p:spPr>
          <a:xfrm>
            <a:off x="685800" y="1571625"/>
            <a:ext cx="10287000" cy="1143000"/>
          </a:xfrm>
          <a:prstGeom prst="rect">
            <a:avLst/>
          </a:prstGeom>
          <a:noFill/>
          <a:ln w="0">
            <a:noFill/>
            <a:prstDash val="solid"/>
          </a:ln>
        </p:spPr>
        <p:txBody>
          <a:bodyPr/>
          <a:lstStyle/>
          <a:p>
            <a:pPr algn="l">
              <a:buNone/>
              <a:defRPr sz="2100" b="1">
                <a:solidFill>
                  <a:srgbClr val="17372F"/>
                </a:solidFill>
              </a:defRPr>
            </a:pPr>
            <a:r>
              <a:rPr sz="2100" b="1">
                <a:solidFill>
                  <a:srgbClr val="17372F"/>
                </a:solidFill>
              </a:rPr>
              <a:t>重叠关系决定了新 idea 的创新门槛。</a:t>
            </a:r>
          </a:p>
        </p:txBody>
      </p:sp>
      <p:sp>
        <p:nvSpPr>
          <p:cNvPr id="6" name="椭圆 5">
            <a:extLst>
              <a:ext uri="{FF2B5EF4-FFF2-40B4-BE49-F238E27FC236}">
                <a16:creationId xmlns:a16="http://schemas.microsoft.com/office/drawing/2014/main" id="{8746AABE-6D89-49C2-AFCB-27A1D352FDAD}"/>
              </a:ext>
            </a:extLst>
          </p:cNvPr>
          <p:cNvSpPr>
            <a:spLocks noGrp="1"/>
          </p:cNvSpPr>
          <p:nvPr/>
        </p:nvSpPr>
        <p:spPr>
          <a:xfrm>
            <a:off x="685800" y="3409950"/>
            <a:ext cx="66675" cy="66675"/>
          </a:xfrm>
          <a:prstGeom prst="ellipse">
            <a:avLst/>
          </a:prstGeom>
          <a:solidFill>
            <a:srgbClr val="2D6B5B"/>
          </a:solidFill>
          <a:ln w="9525">
            <a:solidFill>
              <a:srgbClr val="2D6B5B"/>
            </a:solidFill>
            <a:prstDash val="solid"/>
          </a:ln>
        </p:spPr>
      </p:sp>
      <p:sp>
        <p:nvSpPr>
          <p:cNvPr id="7" name="矩形 6">
            <a:extLst>
              <a:ext uri="{FF2B5EF4-FFF2-40B4-BE49-F238E27FC236}">
                <a16:creationId xmlns:a16="http://schemas.microsoft.com/office/drawing/2014/main" id="{04392C4B-87B6-4582-99EF-589B30C9D136}"/>
              </a:ext>
            </a:extLst>
          </p:cNvPr>
          <p:cNvSpPr>
            <a:spLocks noGrp="1"/>
          </p:cNvSpPr>
          <p:nvPr/>
        </p:nvSpPr>
        <p:spPr>
          <a:xfrm>
            <a:off x="895350" y="3314700"/>
            <a:ext cx="9886950" cy="666750"/>
          </a:xfrm>
          <a:prstGeom prst="rect">
            <a:avLst/>
          </a:prstGeom>
          <a:noFill/>
          <a:ln w="0">
            <a:noFill/>
            <a:prstDash val="solid"/>
          </a:ln>
        </p:spPr>
        <p:txBody>
          <a:bodyPr/>
          <a:lstStyle/>
          <a:p>
            <a:pPr algn="l">
              <a:buNone/>
              <a:defRPr sz="1350" b="0">
                <a:solidFill>
                  <a:srgbClr val="263732"/>
                </a:solidFill>
              </a:defRPr>
            </a:pPr>
            <a:r>
              <a:rPr sz="1350" b="0">
                <a:solidFill>
                  <a:srgbClr val="263732"/>
                </a:solidFill>
              </a:rPr>
              <a:t>autoregressive / Wyckoff：CrystalFormer、WyFormer、Matra-Genoa 已建立可压缩 representation</a:t>
            </a:r>
          </a:p>
        </p:txBody>
      </p:sp>
      <p:sp>
        <p:nvSpPr>
          <p:cNvPr id="8" name="椭圆 7">
            <a:extLst>
              <a:ext uri="{FF2B5EF4-FFF2-40B4-BE49-F238E27FC236}">
                <a16:creationId xmlns:a16="http://schemas.microsoft.com/office/drawing/2014/main" id="{94E6EA62-AC54-4720-BC9F-09AAFB811A45}"/>
              </a:ext>
            </a:extLst>
          </p:cNvPr>
          <p:cNvSpPr>
            <a:spLocks noGrp="1"/>
          </p:cNvSpPr>
          <p:nvPr/>
        </p:nvSpPr>
        <p:spPr>
          <a:xfrm>
            <a:off x="685800" y="4381500"/>
            <a:ext cx="66675" cy="66675"/>
          </a:xfrm>
          <a:prstGeom prst="ellipse">
            <a:avLst/>
          </a:prstGeom>
          <a:solidFill>
            <a:srgbClr val="2D6B5B"/>
          </a:solidFill>
          <a:ln w="9525">
            <a:solidFill>
              <a:srgbClr val="2D6B5B"/>
            </a:solidFill>
            <a:prstDash val="solid"/>
          </a:ln>
        </p:spPr>
      </p:sp>
      <p:sp>
        <p:nvSpPr>
          <p:cNvPr id="9" name="矩形 8">
            <a:extLst>
              <a:ext uri="{FF2B5EF4-FFF2-40B4-BE49-F238E27FC236}">
                <a16:creationId xmlns:a16="http://schemas.microsoft.com/office/drawing/2014/main" id="{FE31C472-5690-455A-92B9-7F5A3C666D5D}"/>
              </a:ext>
            </a:extLst>
          </p:cNvPr>
          <p:cNvSpPr>
            <a:spLocks noGrp="1"/>
          </p:cNvSpPr>
          <p:nvPr/>
        </p:nvSpPr>
        <p:spPr>
          <a:xfrm>
            <a:off x="895350" y="4286250"/>
            <a:ext cx="9886950" cy="666750"/>
          </a:xfrm>
          <a:prstGeom prst="rect">
            <a:avLst/>
          </a:prstGeom>
          <a:noFill/>
          <a:ln w="0">
            <a:noFill/>
            <a:prstDash val="solid"/>
          </a:ln>
        </p:spPr>
        <p:txBody>
          <a:bodyPr/>
          <a:lstStyle/>
          <a:p>
            <a:pPr algn="l">
              <a:buNone/>
              <a:defRPr sz="1425" b="0">
                <a:solidFill>
                  <a:srgbClr val="263732"/>
                </a:solidFill>
              </a:defRPr>
            </a:pPr>
            <a:r>
              <a:rPr sz="1425" b="0">
                <a:solidFill>
                  <a:srgbClr val="263732"/>
                </a:solidFill>
              </a:rPr>
              <a:t>Diffusion / symmetry：WyckoffDiff、SymmCD、DynaCrys 已覆盖不同粒度</a:t>
            </a:r>
          </a:p>
        </p:txBody>
      </p:sp>
      <p:sp>
        <p:nvSpPr>
          <p:cNvPr id="10" name="椭圆 9">
            <a:extLst>
              <a:ext uri="{FF2B5EF4-FFF2-40B4-BE49-F238E27FC236}">
                <a16:creationId xmlns:a16="http://schemas.microsoft.com/office/drawing/2014/main" id="{6B11CA2D-95C5-45A0-92E6-C97DBD91C45C}"/>
              </a:ext>
            </a:extLst>
          </p:cNvPr>
          <p:cNvSpPr>
            <a:spLocks noGrp="1"/>
          </p:cNvSpPr>
          <p:nvPr/>
        </p:nvSpPr>
        <p:spPr>
          <a:xfrm>
            <a:off x="685800" y="5353050"/>
            <a:ext cx="66675" cy="66675"/>
          </a:xfrm>
          <a:prstGeom prst="ellipse">
            <a:avLst/>
          </a:prstGeom>
          <a:solidFill>
            <a:srgbClr val="2D6B5B"/>
          </a:solidFill>
          <a:ln w="9525">
            <a:solidFill>
              <a:srgbClr val="2D6B5B"/>
            </a:solidFill>
            <a:prstDash val="solid"/>
          </a:ln>
        </p:spPr>
      </p:sp>
      <p:sp>
        <p:nvSpPr>
          <p:cNvPr id="11" name="矩形 10">
            <a:extLst>
              <a:ext uri="{FF2B5EF4-FFF2-40B4-BE49-F238E27FC236}">
                <a16:creationId xmlns:a16="http://schemas.microsoft.com/office/drawing/2014/main" id="{6E939391-D26F-4A7D-A5CB-3403B6042A34}"/>
              </a:ext>
            </a:extLst>
          </p:cNvPr>
          <p:cNvSpPr>
            <a:spLocks noGrp="1"/>
          </p:cNvSpPr>
          <p:nvPr/>
        </p:nvSpPr>
        <p:spPr>
          <a:xfrm>
            <a:off x="895350" y="5257800"/>
            <a:ext cx="9886950" cy="666750"/>
          </a:xfrm>
          <a:prstGeom prst="rect">
            <a:avLst/>
          </a:prstGeom>
          <a:noFill/>
          <a:ln w="0">
            <a:noFill/>
            <a:prstDash val="solid"/>
          </a:ln>
        </p:spPr>
        <p:txBody>
          <a:bodyPr/>
          <a:lstStyle/>
          <a:p>
            <a:pPr algn="l">
              <a:buNone/>
              <a:defRPr sz="1350" b="0">
                <a:solidFill>
                  <a:srgbClr val="263732"/>
                </a:solidFill>
              </a:defRPr>
            </a:pPr>
            <a:r>
              <a:rPr sz="1350" b="0">
                <a:solidFill>
                  <a:srgbClr val="263732"/>
                </a:solidFill>
              </a:rPr>
              <a:t>Masked full crystal：MaskGXT 已把 space group + Wyckoff position + coordinates 联合解码</a:t>
            </a:r>
          </a:p>
        </p:txBody>
      </p:sp>
      <p:sp>
        <p:nvSpPr>
          <p:cNvPr id="12" name="矩形 11">
            <a:extLst>
              <a:ext uri="{FF2B5EF4-FFF2-40B4-BE49-F238E27FC236}">
                <a16:creationId xmlns:a16="http://schemas.microsoft.com/office/drawing/2014/main" id="{71917CEE-A549-4CCC-9D2D-A0E159CB6AB3}"/>
              </a:ext>
            </a:extLst>
          </p:cNvPr>
          <p:cNvSpPr>
            <a:spLocks noGrp="1"/>
          </p:cNvSpPr>
          <p:nvPr/>
        </p:nvSpPr>
        <p:spPr>
          <a:xfrm>
            <a:off x="685800" y="6400800"/>
            <a:ext cx="10820400" cy="9525"/>
          </a:xfrm>
          <a:prstGeom prst="rect">
            <a:avLst/>
          </a:prstGeom>
          <a:solidFill>
            <a:srgbClr val="C9D8D0"/>
          </a:solidFill>
          <a:ln w="9525">
            <a:solidFill>
              <a:srgbClr val="C9D8D0"/>
            </a:solidFill>
            <a:prstDash val="solid"/>
          </a:ln>
        </p:spPr>
      </p:sp>
      <p:sp>
        <p:nvSpPr>
          <p:cNvPr id="13" name="矩形 12">
            <a:extLst>
              <a:ext uri="{FF2B5EF4-FFF2-40B4-BE49-F238E27FC236}">
                <a16:creationId xmlns:a16="http://schemas.microsoft.com/office/drawing/2014/main" id="{FE5F0C69-C1F4-468E-8883-8F300B03EEA0}"/>
              </a:ext>
            </a:extLst>
          </p:cNvPr>
          <p:cNvSpPr>
            <a:spLocks noGrp="1"/>
          </p:cNvSpPr>
          <p:nvPr/>
        </p:nvSpPr>
        <p:spPr>
          <a:xfrm>
            <a:off x="685800" y="6524625"/>
            <a:ext cx="10820400" cy="152400"/>
          </a:xfrm>
          <a:prstGeom prst="rect">
            <a:avLst/>
          </a:prstGeom>
          <a:noFill/>
          <a:ln w="0">
            <a:noFill/>
            <a:prstDash val="solid"/>
          </a:ln>
        </p:spPr>
        <p:txBody>
          <a:bodyPr/>
          <a:lstStyle/>
          <a:p>
            <a:pPr algn="l">
              <a:buNone/>
              <a:defRPr sz="750" b="0">
                <a:solidFill>
                  <a:srgbClr val="62736C"/>
                </a:solidFill>
              </a:defRPr>
            </a:pPr>
            <a:r>
              <a:rPr sz="750" b="0">
                <a:solidFill>
                  <a:srgbClr val="62736C"/>
                </a:solidFill>
              </a:rPr>
              <a:t>DynaCrys (Jin et al., 2026) · MaskGXT (Seong et al., 2026) · CrystalFormer Method · paper pages 3–5; Matra-Genoa · paper pages 2–4; WyckoffDiff · paper pages 3–6; SymmCD · paper pages 4–7; DynaCrys / MaskGXT related work · paper pages 2–6</a:t>
            </a:r>
          </a:p>
        </p:txBody>
      </p:sp>
    </p:spTree>
    <p:extLst>
      <p:ext uri="{BB962C8B-B14F-4D97-AF65-F5344CB8AC3E}">
        <p14:creationId xmlns:p14="http://schemas.microsoft.com/office/powerpoint/2010/main" val="1962719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1A4E73FC-4A5D-483A-B2CD-AB33DC751B26}"/>
              </a:ext>
            </a:extLst>
          </p:cNvPr>
          <p:cNvSpPr>
            <a:spLocks noGrp="1"/>
          </p:cNvSpPr>
          <p:nvPr/>
        </p:nvSpPr>
        <p:spPr>
          <a:xfrm>
            <a:off x="685800" y="342900"/>
            <a:ext cx="323850" cy="171450"/>
          </a:xfrm>
          <a:prstGeom prst="rect">
            <a:avLst/>
          </a:prstGeom>
          <a:noFill/>
          <a:ln w="0">
            <a:noFill/>
            <a:prstDash val="solid"/>
          </a:ln>
        </p:spPr>
        <p:txBody>
          <a:bodyPr/>
          <a:lstStyle/>
          <a:p>
            <a:pPr algn="l">
              <a:buNone/>
              <a:defRPr sz="900" b="1">
                <a:solidFill>
                  <a:srgbClr val="2D6B5B"/>
                </a:solidFill>
              </a:defRPr>
            </a:pPr>
            <a:r>
              <a:rPr sz="900" b="1">
                <a:solidFill>
                  <a:srgbClr val="2D6B5B"/>
                </a:solidFill>
              </a:rPr>
              <a:t>08</a:t>
            </a:r>
          </a:p>
        </p:txBody>
      </p:sp>
      <p:sp>
        <p:nvSpPr>
          <p:cNvPr id="2" name="矩形 1">
            <a:extLst>
              <a:ext uri="{FF2B5EF4-FFF2-40B4-BE49-F238E27FC236}">
                <a16:creationId xmlns:a16="http://schemas.microsoft.com/office/drawing/2014/main" id="{7689306A-3301-4272-A162-32C53E0723AA}"/>
              </a:ext>
            </a:extLst>
          </p:cNvPr>
          <p:cNvSpPr>
            <a:spLocks noGrp="1"/>
          </p:cNvSpPr>
          <p:nvPr/>
        </p:nvSpPr>
        <p:spPr>
          <a:xfrm>
            <a:off x="1200150" y="342900"/>
            <a:ext cx="2857500" cy="171450"/>
          </a:xfrm>
          <a:prstGeom prst="rect">
            <a:avLst/>
          </a:prstGeom>
          <a:noFill/>
          <a:ln w="0">
            <a:noFill/>
            <a:prstDash val="solid"/>
          </a:ln>
        </p:spPr>
        <p:txBody>
          <a:bodyPr/>
          <a:lstStyle/>
          <a:p>
            <a:pPr algn="l">
              <a:buNone/>
              <a:defRPr sz="900" b="1">
                <a:solidFill>
                  <a:srgbClr val="62736C"/>
                </a:solidFill>
              </a:defRPr>
            </a:pPr>
            <a:r>
              <a:rPr sz="900" b="1">
                <a:solidFill>
                  <a:srgbClr val="62736C"/>
                </a:solidFill>
              </a:rPr>
              <a:t>新 idea</a:t>
            </a:r>
          </a:p>
        </p:txBody>
      </p:sp>
      <p:sp>
        <p:nvSpPr>
          <p:cNvPr id="3" name="矩形 2">
            <a:extLst>
              <a:ext uri="{FF2B5EF4-FFF2-40B4-BE49-F238E27FC236}">
                <a16:creationId xmlns:a16="http://schemas.microsoft.com/office/drawing/2014/main" id="{A903A1CA-41BA-4092-9521-DDA7E8042990}"/>
              </a:ext>
            </a:extLst>
          </p:cNvPr>
          <p:cNvSpPr>
            <a:spLocks noGrp="1"/>
          </p:cNvSpPr>
          <p:nvPr/>
        </p:nvSpPr>
        <p:spPr>
          <a:xfrm>
            <a:off x="685800" y="609600"/>
            <a:ext cx="10668000" cy="400050"/>
          </a:xfrm>
          <a:prstGeom prst="rect">
            <a:avLst/>
          </a:prstGeom>
          <a:noFill/>
          <a:ln w="0">
            <a:noFill/>
            <a:prstDash val="solid"/>
          </a:ln>
        </p:spPr>
        <p:txBody>
          <a:bodyPr/>
          <a:lstStyle/>
          <a:p>
            <a:pPr algn="l">
              <a:buNone/>
              <a:defRPr sz="2550" b="1">
                <a:solidFill>
                  <a:srgbClr val="17372F"/>
                </a:solidFill>
              </a:defRPr>
            </a:pPr>
            <a:r>
              <a:rPr sz="2550" b="1">
                <a:solidFill>
                  <a:srgbClr val="17372F"/>
                </a:solidFill>
              </a:rPr>
              <a:t>新 idea：set-level byte-pair encoding + Wyckoff DLM</a:t>
            </a:r>
          </a:p>
        </p:txBody>
      </p:sp>
      <p:sp>
        <p:nvSpPr>
          <p:cNvPr id="4" name="矩形 3">
            <a:extLst>
              <a:ext uri="{FF2B5EF4-FFF2-40B4-BE49-F238E27FC236}">
                <a16:creationId xmlns:a16="http://schemas.microsoft.com/office/drawing/2014/main" id="{A5109B07-100B-45BC-BD4D-068C22130ECE}"/>
              </a:ext>
            </a:extLst>
          </p:cNvPr>
          <p:cNvSpPr>
            <a:spLocks noGrp="1"/>
          </p:cNvSpPr>
          <p:nvPr/>
        </p:nvSpPr>
        <p:spPr>
          <a:xfrm>
            <a:off x="685800" y="1066800"/>
            <a:ext cx="10820400" cy="9525"/>
          </a:xfrm>
          <a:prstGeom prst="rect">
            <a:avLst/>
          </a:prstGeom>
          <a:solidFill>
            <a:srgbClr val="C9D8D0"/>
          </a:solidFill>
          <a:ln w="9525">
            <a:solidFill>
              <a:srgbClr val="C9D8D0"/>
            </a:solidFill>
            <a:prstDash val="solid"/>
          </a:ln>
        </p:spPr>
      </p:sp>
      <p:sp>
        <p:nvSpPr>
          <p:cNvPr id="5" name="椭圆 4">
            <a:extLst>
              <a:ext uri="{FF2B5EF4-FFF2-40B4-BE49-F238E27FC236}">
                <a16:creationId xmlns:a16="http://schemas.microsoft.com/office/drawing/2014/main" id="{7BC88B35-47CB-43AF-AE34-A6DE50FBC154}"/>
              </a:ext>
            </a:extLst>
          </p:cNvPr>
          <p:cNvSpPr>
            <a:spLocks noGrp="1"/>
          </p:cNvSpPr>
          <p:nvPr/>
        </p:nvSpPr>
        <p:spPr>
          <a:xfrm>
            <a:off x="685800" y="1885950"/>
            <a:ext cx="66675" cy="66675"/>
          </a:xfrm>
          <a:prstGeom prst="ellipse">
            <a:avLst/>
          </a:prstGeom>
          <a:solidFill>
            <a:srgbClr val="2D6B5B"/>
          </a:solidFill>
          <a:ln w="9525">
            <a:solidFill>
              <a:srgbClr val="2D6B5B"/>
            </a:solidFill>
            <a:prstDash val="solid"/>
          </a:ln>
        </p:spPr>
      </p:sp>
      <p:sp>
        <p:nvSpPr>
          <p:cNvPr id="6" name="矩形 5">
            <a:extLst>
              <a:ext uri="{FF2B5EF4-FFF2-40B4-BE49-F238E27FC236}">
                <a16:creationId xmlns:a16="http://schemas.microsoft.com/office/drawing/2014/main" id="{A3CD4950-3DBF-4565-B14A-5A840D3D2523}"/>
              </a:ext>
            </a:extLst>
          </p:cNvPr>
          <p:cNvSpPr>
            <a:spLocks noGrp="1"/>
          </p:cNvSpPr>
          <p:nvPr/>
        </p:nvSpPr>
        <p:spPr>
          <a:xfrm>
            <a:off x="895350" y="1790700"/>
            <a:ext cx="9886950" cy="666750"/>
          </a:xfrm>
          <a:prstGeom prst="rect">
            <a:avLst/>
          </a:prstGeom>
          <a:noFill/>
          <a:ln w="0">
            <a:noFill/>
            <a:prstDash val="solid"/>
          </a:ln>
        </p:spPr>
        <p:txBody>
          <a:bodyPr/>
          <a:lstStyle/>
          <a:p>
            <a:pPr algn="l">
              <a:buNone/>
              <a:defRPr sz="1650" b="0">
                <a:solidFill>
                  <a:srgbClr val="263732"/>
                </a:solidFill>
              </a:defRPr>
            </a:pPr>
            <a:r>
              <a:rPr sz="1650" b="0">
                <a:solidFill>
                  <a:srgbClr val="263732"/>
                </a:solidFill>
              </a:rPr>
              <a:t>核心：按合法共现的 orbit motif 合并，不按伪邻接合并</a:t>
            </a:r>
          </a:p>
        </p:txBody>
      </p:sp>
      <p:sp>
        <p:nvSpPr>
          <p:cNvPr id="7" name="椭圆 6">
            <a:extLst>
              <a:ext uri="{FF2B5EF4-FFF2-40B4-BE49-F238E27FC236}">
                <a16:creationId xmlns:a16="http://schemas.microsoft.com/office/drawing/2014/main" id="{7766647E-E99C-40AA-98F4-FDB49681768E}"/>
              </a:ext>
            </a:extLst>
          </p:cNvPr>
          <p:cNvSpPr>
            <a:spLocks noGrp="1"/>
          </p:cNvSpPr>
          <p:nvPr/>
        </p:nvSpPr>
        <p:spPr>
          <a:xfrm>
            <a:off x="685800" y="2857500"/>
            <a:ext cx="66675" cy="66675"/>
          </a:xfrm>
          <a:prstGeom prst="ellipse">
            <a:avLst/>
          </a:prstGeom>
          <a:solidFill>
            <a:srgbClr val="2D6B5B"/>
          </a:solidFill>
          <a:ln w="9525">
            <a:solidFill>
              <a:srgbClr val="2D6B5B"/>
            </a:solidFill>
            <a:prstDash val="solid"/>
          </a:ln>
        </p:spPr>
      </p:sp>
      <p:sp>
        <p:nvSpPr>
          <p:cNvPr id="8" name="矩形 7">
            <a:extLst>
              <a:ext uri="{FF2B5EF4-FFF2-40B4-BE49-F238E27FC236}">
                <a16:creationId xmlns:a16="http://schemas.microsoft.com/office/drawing/2014/main" id="{1BC98F87-49D4-40DF-881D-3E569369C839}"/>
              </a:ext>
            </a:extLst>
          </p:cNvPr>
          <p:cNvSpPr>
            <a:spLocks noGrp="1"/>
          </p:cNvSpPr>
          <p:nvPr/>
        </p:nvSpPr>
        <p:spPr>
          <a:xfrm>
            <a:off x="895350" y="2762250"/>
            <a:ext cx="9886950" cy="666750"/>
          </a:xfrm>
          <a:prstGeom prst="rect">
            <a:avLst/>
          </a:prstGeom>
          <a:noFill/>
          <a:ln w="0">
            <a:noFill/>
            <a:prstDash val="solid"/>
          </a:ln>
        </p:spPr>
        <p:txBody>
          <a:bodyPr/>
          <a:lstStyle/>
          <a:p>
            <a:pPr algn="l">
              <a:buNone/>
              <a:defRPr sz="1650" b="0">
                <a:solidFill>
                  <a:srgbClr val="263732"/>
                </a:solidFill>
              </a:defRPr>
            </a:pPr>
            <a:r>
              <a:rPr sz="1650" b="0">
                <a:solidFill>
                  <a:srgbClr val="263732"/>
                </a:solidFill>
              </a:rPr>
              <a:t>训练：随机 mask motif 与 leaf，双向联合恢复</a:t>
            </a:r>
          </a:p>
        </p:txBody>
      </p:sp>
      <p:sp>
        <p:nvSpPr>
          <p:cNvPr id="9" name="椭圆 8">
            <a:extLst>
              <a:ext uri="{FF2B5EF4-FFF2-40B4-BE49-F238E27FC236}">
                <a16:creationId xmlns:a16="http://schemas.microsoft.com/office/drawing/2014/main" id="{FF5A6F07-94F0-4C83-A704-45704CB06786}"/>
              </a:ext>
            </a:extLst>
          </p:cNvPr>
          <p:cNvSpPr>
            <a:spLocks noGrp="1"/>
          </p:cNvSpPr>
          <p:nvPr/>
        </p:nvSpPr>
        <p:spPr>
          <a:xfrm>
            <a:off x="685800" y="3829050"/>
            <a:ext cx="66675" cy="66675"/>
          </a:xfrm>
          <a:prstGeom prst="ellipse">
            <a:avLst/>
          </a:prstGeom>
          <a:solidFill>
            <a:srgbClr val="2D6B5B"/>
          </a:solidFill>
          <a:ln w="9525">
            <a:solidFill>
              <a:srgbClr val="2D6B5B"/>
            </a:solidFill>
            <a:prstDash val="solid"/>
          </a:ln>
        </p:spPr>
      </p:sp>
      <p:sp>
        <p:nvSpPr>
          <p:cNvPr id="10" name="矩形 9">
            <a:extLst>
              <a:ext uri="{FF2B5EF4-FFF2-40B4-BE49-F238E27FC236}">
                <a16:creationId xmlns:a16="http://schemas.microsoft.com/office/drawing/2014/main" id="{B41B4ECE-9BDE-4CF5-99C8-36EFC40210B6}"/>
              </a:ext>
            </a:extLst>
          </p:cNvPr>
          <p:cNvSpPr>
            <a:spLocks noGrp="1"/>
          </p:cNvSpPr>
          <p:nvPr/>
        </p:nvSpPr>
        <p:spPr>
          <a:xfrm>
            <a:off x="895350" y="3733800"/>
            <a:ext cx="9886950" cy="666750"/>
          </a:xfrm>
          <a:prstGeom prst="rect">
            <a:avLst/>
          </a:prstGeom>
          <a:noFill/>
          <a:ln w="0">
            <a:noFill/>
            <a:prstDash val="solid"/>
          </a:ln>
        </p:spPr>
        <p:txBody>
          <a:bodyPr/>
          <a:lstStyle/>
          <a:p>
            <a:pPr algn="l">
              <a:buNone/>
              <a:defRPr sz="1575" b="0">
                <a:solidFill>
                  <a:srgbClr val="263732"/>
                </a:solidFill>
              </a:defRPr>
            </a:pPr>
            <a:r>
              <a:rPr sz="1575" b="0">
                <a:solidFill>
                  <a:srgbClr val="263732"/>
                </a:solidFill>
              </a:rPr>
              <a:t>解码：space-group legality + 可逆展开回原始 set</a:t>
            </a:r>
          </a:p>
        </p:txBody>
      </p:sp>
      <p:sp>
        <p:nvSpPr>
          <p:cNvPr id="11" name="矩形 10">
            <a:extLst>
              <a:ext uri="{FF2B5EF4-FFF2-40B4-BE49-F238E27FC236}">
                <a16:creationId xmlns:a16="http://schemas.microsoft.com/office/drawing/2014/main" id="{CBDEA3F7-B75F-4BF9-B124-671B05EF46A9}"/>
              </a:ext>
            </a:extLst>
          </p:cNvPr>
          <p:cNvSpPr>
            <a:spLocks noGrp="1"/>
          </p:cNvSpPr>
          <p:nvPr/>
        </p:nvSpPr>
        <p:spPr>
          <a:xfrm>
            <a:off x="685800" y="6400800"/>
            <a:ext cx="10820400" cy="9525"/>
          </a:xfrm>
          <a:prstGeom prst="rect">
            <a:avLst/>
          </a:prstGeom>
          <a:solidFill>
            <a:srgbClr val="C9D8D0"/>
          </a:solidFill>
          <a:ln w="9525">
            <a:solidFill>
              <a:srgbClr val="C9D8D0"/>
            </a:solidFill>
            <a:prstDash val="solid"/>
          </a:ln>
        </p:spPr>
      </p:sp>
      <p:sp>
        <p:nvSpPr>
          <p:cNvPr id="12" name="矩形 11">
            <a:extLst>
              <a:ext uri="{FF2B5EF4-FFF2-40B4-BE49-F238E27FC236}">
                <a16:creationId xmlns:a16="http://schemas.microsoft.com/office/drawing/2014/main" id="{ECB46B78-C039-4B37-B99E-313D48E91EEA}"/>
              </a:ext>
            </a:extLst>
          </p:cNvPr>
          <p:cNvSpPr>
            <a:spLocks noGrp="1"/>
          </p:cNvSpPr>
          <p:nvPr/>
        </p:nvSpPr>
        <p:spPr>
          <a:xfrm>
            <a:off x="685800" y="6524625"/>
            <a:ext cx="10820400" cy="152400"/>
          </a:xfrm>
          <a:prstGeom prst="rect">
            <a:avLst/>
          </a:prstGeom>
          <a:noFill/>
          <a:ln w="0">
            <a:noFill/>
            <a:prstDash val="solid"/>
          </a:ln>
        </p:spPr>
        <p:txBody>
          <a:bodyPr/>
          <a:lstStyle/>
          <a:p>
            <a:pPr algn="l">
              <a:buNone/>
              <a:defRPr sz="750" b="0">
                <a:solidFill>
                  <a:srgbClr val="62736C"/>
                </a:solidFill>
              </a:defRPr>
            </a:pPr>
            <a:r>
              <a:rPr sz="750" b="0">
                <a:solidFill>
                  <a:srgbClr val="62736C"/>
                </a:solidFill>
              </a:rPr>
              <a:t>DynaCrys (Jin et al., 2026) · MaskGXT (Seong et al., 2026) · WyFormer Tokenization · paper pages 4–5; DynaCrys Method · paper pages 4–6; MaskGXT Method · paper pages 5–9</a:t>
            </a:r>
          </a:p>
        </p:txBody>
      </p:sp>
      <p:sp>
        <p:nvSpPr>
          <p:cNvPr id="14" name="proposal-path-label">
            <a:extLst>
              <a:ext uri="{FF2B5EF4-FFF2-40B4-BE49-F238E27FC236}">
                <a16:creationId xmlns:a16="http://schemas.microsoft.com/office/drawing/2014/main" id="{416170D2-46D7-4821-BB5A-BED83AA6E8C9}"/>
              </a:ext>
            </a:extLst>
          </p:cNvPr>
          <p:cNvSpPr>
            <a:spLocks noGrp="1"/>
          </p:cNvSpPr>
          <p:nvPr/>
        </p:nvSpPr>
        <p:spPr>
          <a:xfrm>
            <a:off x="685800" y="4686300"/>
            <a:ext cx="3048000" cy="228600"/>
          </a:xfrm>
          <a:prstGeom prst="rect">
            <a:avLst/>
          </a:prstGeom>
          <a:noFill/>
          <a:ln w="0">
            <a:noFill/>
            <a:prstDash val="solid"/>
          </a:ln>
        </p:spPr>
        <p:txBody>
          <a:bodyPr/>
          <a:lstStyle/>
          <a:p>
            <a:pPr>
              <a:buNone/>
              <a:defRPr sz="1050" b="1">
                <a:solidFill>
                  <a:srgbClr val="62736C"/>
                </a:solidFill>
              </a:defRPr>
            </a:pPr>
            <a:r>
              <a:rPr sz="1050" b="1">
                <a:solidFill>
                  <a:srgbClr val="62736C"/>
                </a:solidFill>
              </a:rPr>
              <a:t>拟议流水线</a:t>
            </a:r>
          </a:p>
        </p:txBody>
      </p:sp>
      <p:sp>
        <p:nvSpPr>
          <p:cNvPr id="15" name="proposal-stage-1">
            <a:extLst>
              <a:ext uri="{FF2B5EF4-FFF2-40B4-BE49-F238E27FC236}">
                <a16:creationId xmlns:a16="http://schemas.microsoft.com/office/drawing/2014/main" id="{898B9192-4372-43B6-8201-070B8C571DE3}"/>
              </a:ext>
            </a:extLst>
          </p:cNvPr>
          <p:cNvSpPr>
            <a:spLocks noGrp="1"/>
          </p:cNvSpPr>
          <p:nvPr/>
        </p:nvSpPr>
        <p:spPr>
          <a:xfrm>
            <a:off x="685800" y="5048250"/>
            <a:ext cx="2238375" cy="666750"/>
          </a:xfrm>
          <a:prstGeom prst="rect">
            <a:avLst/>
          </a:prstGeom>
          <a:solidFill>
            <a:srgbClr val="EDEDED"/>
          </a:solidFill>
          <a:ln w="9525">
            <a:solidFill>
              <a:srgbClr val="B8BCC4"/>
            </a:solidFill>
            <a:prstDash val="solid"/>
          </a:ln>
        </p:spPr>
        <p:txBody>
          <a:bodyPr/>
          <a:lstStyle/>
          <a:p>
            <a:pPr algn="ctr">
              <a:buNone/>
              <a:defRPr sz="1350" b="1">
                <a:solidFill>
                  <a:srgbClr val="17372F"/>
                </a:solidFill>
              </a:defRPr>
            </a:pPr>
            <a:r>
              <a:rPr sz="1350" b="1">
                <a:solidFill>
                  <a:srgbClr val="17372F"/>
                </a:solidFill>
              </a:rPr>
              <a:t>1 统计合法共现</a:t>
            </a:r>
          </a:p>
          <a:p>
            <a:pPr algn="ctr">
              <a:buNone/>
              <a:defRPr sz="1350" b="1">
                <a:solidFill>
                  <a:srgbClr val="17372F"/>
                </a:solidFill>
              </a:defRPr>
            </a:pPr>
            <a:r>
              <a:rPr sz="1350" b="1">
                <a:solidFill>
                  <a:srgbClr val="17372F"/>
                </a:solidFill>
              </a:rPr>
              <a:t>orbit motif</a:t>
            </a:r>
          </a:p>
        </p:txBody>
      </p:sp>
      <p:sp>
        <p:nvSpPr>
          <p:cNvPr id="16" name="proposal-arrow-1">
            <a:extLst>
              <a:ext uri="{FF2B5EF4-FFF2-40B4-BE49-F238E27FC236}">
                <a16:creationId xmlns:a16="http://schemas.microsoft.com/office/drawing/2014/main" id="{537A4C7D-6793-47DD-8353-30FD15CB90FE}"/>
              </a:ext>
            </a:extLst>
          </p:cNvPr>
          <p:cNvSpPr>
            <a:spLocks noGrp="1"/>
          </p:cNvSpPr>
          <p:nvPr/>
        </p:nvSpPr>
        <p:spPr>
          <a:xfrm>
            <a:off x="3000375" y="5238750"/>
            <a:ext cx="266700" cy="304800"/>
          </a:xfrm>
          <a:prstGeom prst="rect">
            <a:avLst/>
          </a:prstGeom>
          <a:noFill/>
          <a:ln w="0">
            <a:noFill/>
            <a:prstDash val="solid"/>
          </a:ln>
        </p:spPr>
        <p:txBody>
          <a:bodyPr/>
          <a:lstStyle/>
          <a:p>
            <a:pPr algn="ctr">
              <a:buNone/>
              <a:defRPr sz="1950" b="1">
                <a:solidFill>
                  <a:srgbClr val="3D8DFF"/>
                </a:solidFill>
              </a:defRPr>
            </a:pPr>
            <a:r>
              <a:rPr sz="1950" b="1">
                <a:solidFill>
                  <a:srgbClr val="3D8DFF"/>
                </a:solidFill>
              </a:rPr>
              <a:t>→</a:t>
            </a:r>
          </a:p>
        </p:txBody>
      </p:sp>
      <p:sp>
        <p:nvSpPr>
          <p:cNvPr id="17" name="proposal-stage-2">
            <a:extLst>
              <a:ext uri="{FF2B5EF4-FFF2-40B4-BE49-F238E27FC236}">
                <a16:creationId xmlns:a16="http://schemas.microsoft.com/office/drawing/2014/main" id="{401D38D4-5F48-4C93-B75C-12DD71F3E6C5}"/>
              </a:ext>
            </a:extLst>
          </p:cNvPr>
          <p:cNvSpPr>
            <a:spLocks noGrp="1"/>
          </p:cNvSpPr>
          <p:nvPr/>
        </p:nvSpPr>
        <p:spPr>
          <a:xfrm>
            <a:off x="3333750" y="5048250"/>
            <a:ext cx="2238375" cy="666750"/>
          </a:xfrm>
          <a:prstGeom prst="rect">
            <a:avLst/>
          </a:prstGeom>
          <a:solidFill>
            <a:srgbClr val="E5EFE9"/>
          </a:solidFill>
          <a:ln w="9525">
            <a:solidFill>
              <a:srgbClr val="2D6B5B"/>
            </a:solidFill>
            <a:prstDash val="solid"/>
          </a:ln>
        </p:spPr>
        <p:txBody>
          <a:bodyPr/>
          <a:lstStyle/>
          <a:p>
            <a:pPr algn="ctr">
              <a:buNone/>
              <a:defRPr sz="1350" b="1">
                <a:solidFill>
                  <a:srgbClr val="17372F"/>
                </a:solidFill>
              </a:defRPr>
            </a:pPr>
            <a:r>
              <a:rPr sz="1350" b="1">
                <a:solidFill>
                  <a:srgbClr val="17372F"/>
                </a:solidFill>
              </a:rPr>
              <a:t>2 set-level merge</a:t>
            </a:r>
          </a:p>
          <a:p>
            <a:pPr algn="ctr">
              <a:buNone/>
              <a:defRPr sz="1350" b="1">
                <a:solidFill>
                  <a:srgbClr val="17372F"/>
                </a:solidFill>
              </a:defRPr>
            </a:pPr>
            <a:r>
              <a:rPr sz="1350" b="1">
                <a:solidFill>
                  <a:srgbClr val="17372F"/>
                </a:solidFill>
              </a:rPr>
              <a:t>可逆展开</a:t>
            </a:r>
          </a:p>
        </p:txBody>
      </p:sp>
      <p:sp>
        <p:nvSpPr>
          <p:cNvPr id="18" name="proposal-arrow-2">
            <a:extLst>
              <a:ext uri="{FF2B5EF4-FFF2-40B4-BE49-F238E27FC236}">
                <a16:creationId xmlns:a16="http://schemas.microsoft.com/office/drawing/2014/main" id="{E9315CCF-A7DE-473C-B54B-9D39D9163CDA}"/>
              </a:ext>
            </a:extLst>
          </p:cNvPr>
          <p:cNvSpPr>
            <a:spLocks noGrp="1"/>
          </p:cNvSpPr>
          <p:nvPr/>
        </p:nvSpPr>
        <p:spPr>
          <a:xfrm>
            <a:off x="5648325" y="5238750"/>
            <a:ext cx="266700" cy="304800"/>
          </a:xfrm>
          <a:prstGeom prst="rect">
            <a:avLst/>
          </a:prstGeom>
          <a:noFill/>
          <a:ln w="0">
            <a:noFill/>
            <a:prstDash val="solid"/>
          </a:ln>
        </p:spPr>
        <p:txBody>
          <a:bodyPr/>
          <a:lstStyle/>
          <a:p>
            <a:pPr algn="ctr">
              <a:buNone/>
              <a:defRPr sz="1950" b="1">
                <a:solidFill>
                  <a:srgbClr val="3D8DFF"/>
                </a:solidFill>
              </a:defRPr>
            </a:pPr>
            <a:r>
              <a:rPr sz="1950" b="1">
                <a:solidFill>
                  <a:srgbClr val="3D8DFF"/>
                </a:solidFill>
              </a:rPr>
              <a:t>→</a:t>
            </a:r>
          </a:p>
        </p:txBody>
      </p:sp>
      <p:sp>
        <p:nvSpPr>
          <p:cNvPr id="19" name="proposal-stage-3">
            <a:extLst>
              <a:ext uri="{FF2B5EF4-FFF2-40B4-BE49-F238E27FC236}">
                <a16:creationId xmlns:a16="http://schemas.microsoft.com/office/drawing/2014/main" id="{91263579-760D-4E6B-853E-03ADB5E53283}"/>
              </a:ext>
            </a:extLst>
          </p:cNvPr>
          <p:cNvSpPr>
            <a:spLocks noGrp="1"/>
          </p:cNvSpPr>
          <p:nvPr/>
        </p:nvSpPr>
        <p:spPr>
          <a:xfrm>
            <a:off x="5981700" y="5048250"/>
            <a:ext cx="2238375" cy="666750"/>
          </a:xfrm>
          <a:prstGeom prst="rect">
            <a:avLst/>
          </a:prstGeom>
          <a:solidFill>
            <a:srgbClr val="D9F2FC"/>
          </a:solidFill>
          <a:ln w="9525">
            <a:solidFill>
              <a:srgbClr val="3D8DFF"/>
            </a:solidFill>
            <a:prstDash val="solid"/>
          </a:ln>
        </p:spPr>
        <p:txBody>
          <a:bodyPr/>
          <a:lstStyle/>
          <a:p>
            <a:pPr algn="ctr">
              <a:buNone/>
              <a:defRPr sz="1350" b="1">
                <a:solidFill>
                  <a:srgbClr val="17372F"/>
                </a:solidFill>
              </a:defRPr>
            </a:pPr>
            <a:r>
              <a:rPr sz="1350" b="1">
                <a:solidFill>
                  <a:srgbClr val="17372F"/>
                </a:solidFill>
              </a:rPr>
              <a:t>3 Mask / denoise</a:t>
            </a:r>
          </a:p>
          <a:p>
            <a:pPr algn="ctr">
              <a:buNone/>
              <a:defRPr sz="1350" b="1">
                <a:solidFill>
                  <a:srgbClr val="17372F"/>
                </a:solidFill>
              </a:defRPr>
            </a:pPr>
            <a:r>
              <a:rPr sz="1350" b="1">
                <a:solidFill>
                  <a:srgbClr val="17372F"/>
                </a:solidFill>
              </a:rPr>
              <a:t>双向恢复</a:t>
            </a:r>
          </a:p>
        </p:txBody>
      </p:sp>
      <p:sp>
        <p:nvSpPr>
          <p:cNvPr id="20" name="proposal-arrow-3">
            <a:extLst>
              <a:ext uri="{FF2B5EF4-FFF2-40B4-BE49-F238E27FC236}">
                <a16:creationId xmlns:a16="http://schemas.microsoft.com/office/drawing/2014/main" id="{9D504CF9-DF0E-457A-859B-781217431C70}"/>
              </a:ext>
            </a:extLst>
          </p:cNvPr>
          <p:cNvSpPr>
            <a:spLocks noGrp="1"/>
          </p:cNvSpPr>
          <p:nvPr/>
        </p:nvSpPr>
        <p:spPr>
          <a:xfrm>
            <a:off x="8296275" y="5238750"/>
            <a:ext cx="266700" cy="304800"/>
          </a:xfrm>
          <a:prstGeom prst="rect">
            <a:avLst/>
          </a:prstGeom>
          <a:noFill/>
          <a:ln w="0">
            <a:noFill/>
            <a:prstDash val="solid"/>
          </a:ln>
        </p:spPr>
        <p:txBody>
          <a:bodyPr/>
          <a:lstStyle/>
          <a:p>
            <a:pPr algn="ctr">
              <a:buNone/>
              <a:defRPr sz="1950" b="1">
                <a:solidFill>
                  <a:srgbClr val="3D8DFF"/>
                </a:solidFill>
              </a:defRPr>
            </a:pPr>
            <a:r>
              <a:rPr sz="1950" b="1">
                <a:solidFill>
                  <a:srgbClr val="3D8DFF"/>
                </a:solidFill>
              </a:rPr>
              <a:t>→</a:t>
            </a:r>
          </a:p>
        </p:txBody>
      </p:sp>
      <p:sp>
        <p:nvSpPr>
          <p:cNvPr id="21" name="proposal-stage-4">
            <a:extLst>
              <a:ext uri="{FF2B5EF4-FFF2-40B4-BE49-F238E27FC236}">
                <a16:creationId xmlns:a16="http://schemas.microsoft.com/office/drawing/2014/main" id="{228C2C8B-AC9A-4FA1-80F4-6BE92F193AAC}"/>
              </a:ext>
            </a:extLst>
          </p:cNvPr>
          <p:cNvSpPr>
            <a:spLocks noGrp="1"/>
          </p:cNvSpPr>
          <p:nvPr/>
        </p:nvSpPr>
        <p:spPr>
          <a:xfrm>
            <a:off x="8629650" y="5048250"/>
            <a:ext cx="2238375" cy="666750"/>
          </a:xfrm>
          <a:prstGeom prst="rect">
            <a:avLst/>
          </a:prstGeom>
          <a:solidFill>
            <a:srgbClr val="E5EFE9"/>
          </a:solidFill>
          <a:ln w="9525">
            <a:solidFill>
              <a:srgbClr val="2D6B5B"/>
            </a:solidFill>
            <a:prstDash val="solid"/>
          </a:ln>
        </p:spPr>
        <p:txBody>
          <a:bodyPr/>
          <a:lstStyle/>
          <a:p>
            <a:pPr algn="ctr">
              <a:buNone/>
              <a:defRPr sz="1350" b="1">
                <a:solidFill>
                  <a:srgbClr val="17372F"/>
                </a:solidFill>
              </a:defRPr>
            </a:pPr>
            <a:r>
              <a:rPr sz="1350" b="1">
                <a:solidFill>
                  <a:srgbClr val="17372F"/>
                </a:solidFill>
              </a:rPr>
              <a:t>4 Legal expand</a:t>
            </a:r>
          </a:p>
          <a:p>
            <a:pPr algn="ctr">
              <a:buNone/>
              <a:defRPr sz="1350" b="1">
                <a:solidFill>
                  <a:srgbClr val="17372F"/>
                </a:solidFill>
              </a:defRPr>
            </a:pPr>
            <a:r>
              <a:rPr sz="1350" b="1">
                <a:solidFill>
                  <a:srgbClr val="17372F"/>
                </a:solidFill>
              </a:rPr>
              <a:t>→ geometry</a:t>
            </a:r>
          </a:p>
        </p:txBody>
      </p:sp>
    </p:spTree>
    <p:extLst>
      <p:ext uri="{BB962C8B-B14F-4D97-AF65-F5344CB8AC3E}">
        <p14:creationId xmlns:p14="http://schemas.microsoft.com/office/powerpoint/2010/main" val="1597091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51346812-B41D-44E3-9E11-F27C49153FDB}"/>
              </a:ext>
            </a:extLst>
          </p:cNvPr>
          <p:cNvSpPr>
            <a:spLocks noGrp="1"/>
          </p:cNvSpPr>
          <p:nvPr/>
        </p:nvSpPr>
        <p:spPr>
          <a:xfrm>
            <a:off x="685800" y="342900"/>
            <a:ext cx="323850" cy="171450"/>
          </a:xfrm>
          <a:prstGeom prst="rect">
            <a:avLst/>
          </a:prstGeom>
          <a:noFill/>
          <a:ln w="0">
            <a:noFill/>
            <a:prstDash val="solid"/>
          </a:ln>
        </p:spPr>
        <p:txBody>
          <a:bodyPr/>
          <a:lstStyle/>
          <a:p>
            <a:pPr algn="l">
              <a:buNone/>
              <a:defRPr sz="900" b="1">
                <a:solidFill>
                  <a:srgbClr val="2D6B5B"/>
                </a:solidFill>
              </a:defRPr>
            </a:pPr>
            <a:r>
              <a:rPr sz="900" b="1">
                <a:solidFill>
                  <a:srgbClr val="2D6B5B"/>
                </a:solidFill>
              </a:rPr>
              <a:t>09</a:t>
            </a:r>
          </a:p>
        </p:txBody>
      </p:sp>
      <p:sp>
        <p:nvSpPr>
          <p:cNvPr id="2" name="矩形 1">
            <a:extLst>
              <a:ext uri="{FF2B5EF4-FFF2-40B4-BE49-F238E27FC236}">
                <a16:creationId xmlns:a16="http://schemas.microsoft.com/office/drawing/2014/main" id="{D3E6A164-064E-4BFF-9A60-0E6264AE746D}"/>
              </a:ext>
            </a:extLst>
          </p:cNvPr>
          <p:cNvSpPr>
            <a:spLocks noGrp="1"/>
          </p:cNvSpPr>
          <p:nvPr/>
        </p:nvSpPr>
        <p:spPr>
          <a:xfrm>
            <a:off x="1200150" y="342900"/>
            <a:ext cx="2857500" cy="171450"/>
          </a:xfrm>
          <a:prstGeom prst="rect">
            <a:avLst/>
          </a:prstGeom>
          <a:noFill/>
          <a:ln w="0">
            <a:noFill/>
            <a:prstDash val="solid"/>
          </a:ln>
        </p:spPr>
        <p:txBody>
          <a:bodyPr/>
          <a:lstStyle/>
          <a:p>
            <a:pPr algn="l">
              <a:buNone/>
              <a:defRPr sz="900" b="1">
                <a:solidFill>
                  <a:srgbClr val="62736C"/>
                </a:solidFill>
              </a:defRPr>
            </a:pPr>
            <a:r>
              <a:rPr sz="900" b="1">
                <a:solidFill>
                  <a:srgbClr val="62736C"/>
                </a:solidFill>
              </a:rPr>
              <a:t>后续工作</a:t>
            </a:r>
          </a:p>
        </p:txBody>
      </p:sp>
      <p:sp>
        <p:nvSpPr>
          <p:cNvPr id="3" name="矩形 2">
            <a:extLst>
              <a:ext uri="{FF2B5EF4-FFF2-40B4-BE49-F238E27FC236}">
                <a16:creationId xmlns:a16="http://schemas.microsoft.com/office/drawing/2014/main" id="{883B0B22-2A54-41F9-B6F8-068BF2F7FA64}"/>
              </a:ext>
            </a:extLst>
          </p:cNvPr>
          <p:cNvSpPr>
            <a:spLocks noGrp="1"/>
          </p:cNvSpPr>
          <p:nvPr/>
        </p:nvSpPr>
        <p:spPr>
          <a:xfrm>
            <a:off x="685800" y="609600"/>
            <a:ext cx="10668000" cy="400050"/>
          </a:xfrm>
          <a:prstGeom prst="rect">
            <a:avLst/>
          </a:prstGeom>
          <a:noFill/>
          <a:ln w="0">
            <a:noFill/>
            <a:prstDash val="solid"/>
          </a:ln>
        </p:spPr>
        <p:txBody>
          <a:bodyPr/>
          <a:lstStyle/>
          <a:p>
            <a:pPr algn="l">
              <a:buNone/>
              <a:defRPr sz="2625" b="1">
                <a:solidFill>
                  <a:srgbClr val="17372F"/>
                </a:solidFill>
              </a:defRPr>
            </a:pPr>
            <a:r>
              <a:rPr sz="2625" b="1">
                <a:solidFill>
                  <a:srgbClr val="17372F"/>
                </a:solidFill>
              </a:rPr>
              <a:t>先证明它解决什么，再证明它更强</a:t>
            </a:r>
          </a:p>
        </p:txBody>
      </p:sp>
      <p:sp>
        <p:nvSpPr>
          <p:cNvPr id="4" name="矩形 3">
            <a:extLst>
              <a:ext uri="{FF2B5EF4-FFF2-40B4-BE49-F238E27FC236}">
                <a16:creationId xmlns:a16="http://schemas.microsoft.com/office/drawing/2014/main" id="{13E5C414-458F-4366-99EC-734BF35CCC89}"/>
              </a:ext>
            </a:extLst>
          </p:cNvPr>
          <p:cNvSpPr>
            <a:spLocks noGrp="1"/>
          </p:cNvSpPr>
          <p:nvPr/>
        </p:nvSpPr>
        <p:spPr>
          <a:xfrm>
            <a:off x="685800" y="1066800"/>
            <a:ext cx="10820400" cy="9525"/>
          </a:xfrm>
          <a:prstGeom prst="rect">
            <a:avLst/>
          </a:prstGeom>
          <a:solidFill>
            <a:srgbClr val="C9D8D0"/>
          </a:solidFill>
          <a:ln w="9525">
            <a:solidFill>
              <a:srgbClr val="C9D8D0"/>
            </a:solidFill>
            <a:prstDash val="solid"/>
          </a:ln>
        </p:spPr>
      </p:sp>
      <p:sp>
        <p:nvSpPr>
          <p:cNvPr id="5" name="矩形 4">
            <a:extLst>
              <a:ext uri="{FF2B5EF4-FFF2-40B4-BE49-F238E27FC236}">
                <a16:creationId xmlns:a16="http://schemas.microsoft.com/office/drawing/2014/main" id="{27CB5F77-0176-4C9D-825F-24E08E3C35E5}"/>
              </a:ext>
            </a:extLst>
          </p:cNvPr>
          <p:cNvSpPr>
            <a:spLocks noGrp="1"/>
          </p:cNvSpPr>
          <p:nvPr/>
        </p:nvSpPr>
        <p:spPr>
          <a:xfrm>
            <a:off x="685800" y="1571625"/>
            <a:ext cx="10287000" cy="1143000"/>
          </a:xfrm>
          <a:prstGeom prst="rect">
            <a:avLst/>
          </a:prstGeom>
          <a:noFill/>
          <a:ln w="0">
            <a:noFill/>
            <a:prstDash val="solid"/>
          </a:ln>
        </p:spPr>
        <p:txBody>
          <a:bodyPr/>
          <a:lstStyle/>
          <a:p>
            <a:pPr algn="l">
              <a:buNone/>
              <a:defRPr sz="2025" b="1">
                <a:solidFill>
                  <a:srgbClr val="17372F"/>
                </a:solidFill>
              </a:defRPr>
            </a:pPr>
            <a:r>
              <a:rPr sz="2025" b="1">
                <a:solidFill>
                  <a:srgbClr val="17372F"/>
                </a:solidFill>
              </a:rPr>
              <a:t>三阶段实验，先把 representation gain 与 generator gain 拆开。</a:t>
            </a:r>
          </a:p>
        </p:txBody>
      </p:sp>
      <p:sp>
        <p:nvSpPr>
          <p:cNvPr id="6" name="椭圆 5">
            <a:extLst>
              <a:ext uri="{FF2B5EF4-FFF2-40B4-BE49-F238E27FC236}">
                <a16:creationId xmlns:a16="http://schemas.microsoft.com/office/drawing/2014/main" id="{87A8E219-EC18-4627-BB7A-1E8F754F03AA}"/>
              </a:ext>
            </a:extLst>
          </p:cNvPr>
          <p:cNvSpPr>
            <a:spLocks noGrp="1"/>
          </p:cNvSpPr>
          <p:nvPr/>
        </p:nvSpPr>
        <p:spPr>
          <a:xfrm>
            <a:off x="685800" y="3409950"/>
            <a:ext cx="66675" cy="66675"/>
          </a:xfrm>
          <a:prstGeom prst="ellipse">
            <a:avLst/>
          </a:prstGeom>
          <a:solidFill>
            <a:srgbClr val="2D6B5B"/>
          </a:solidFill>
          <a:ln w="9525">
            <a:solidFill>
              <a:srgbClr val="2D6B5B"/>
            </a:solidFill>
            <a:prstDash val="solid"/>
          </a:ln>
        </p:spPr>
      </p:sp>
      <p:sp>
        <p:nvSpPr>
          <p:cNvPr id="7" name="矩形 6">
            <a:extLst>
              <a:ext uri="{FF2B5EF4-FFF2-40B4-BE49-F238E27FC236}">
                <a16:creationId xmlns:a16="http://schemas.microsoft.com/office/drawing/2014/main" id="{66F03B90-056C-4A03-9330-B9054383A7D4}"/>
              </a:ext>
            </a:extLst>
          </p:cNvPr>
          <p:cNvSpPr>
            <a:spLocks noGrp="1"/>
          </p:cNvSpPr>
          <p:nvPr/>
        </p:nvSpPr>
        <p:spPr>
          <a:xfrm>
            <a:off x="895350" y="3314700"/>
            <a:ext cx="9886950" cy="666750"/>
          </a:xfrm>
          <a:prstGeom prst="rect">
            <a:avLst/>
          </a:prstGeom>
          <a:noFill/>
          <a:ln w="0">
            <a:noFill/>
            <a:prstDash val="solid"/>
          </a:ln>
        </p:spPr>
        <p:txBody>
          <a:bodyPr/>
          <a:lstStyle/>
          <a:p>
            <a:pPr algn="l">
              <a:buNone/>
              <a:defRPr sz="1575" b="0">
                <a:solidFill>
                  <a:srgbClr val="263732"/>
                </a:solidFill>
              </a:defRPr>
            </a:pPr>
            <a:r>
              <a:rPr sz="1575" b="0">
                <a:solidFill>
                  <a:srgbClr val="263732"/>
                </a:solidFill>
              </a:rPr>
              <a:t>复现：WyFormer / DynaCrys / MaskGXT 的同口径基线</a:t>
            </a:r>
          </a:p>
        </p:txBody>
      </p:sp>
      <p:sp>
        <p:nvSpPr>
          <p:cNvPr id="8" name="椭圆 7">
            <a:extLst>
              <a:ext uri="{FF2B5EF4-FFF2-40B4-BE49-F238E27FC236}">
                <a16:creationId xmlns:a16="http://schemas.microsoft.com/office/drawing/2014/main" id="{40CAB8FD-61F6-45D2-B233-302E966ECAE2}"/>
              </a:ext>
            </a:extLst>
          </p:cNvPr>
          <p:cNvSpPr>
            <a:spLocks noGrp="1"/>
          </p:cNvSpPr>
          <p:nvPr/>
        </p:nvSpPr>
        <p:spPr>
          <a:xfrm>
            <a:off x="685800" y="4381500"/>
            <a:ext cx="66675" cy="66675"/>
          </a:xfrm>
          <a:prstGeom prst="ellipse">
            <a:avLst/>
          </a:prstGeom>
          <a:solidFill>
            <a:srgbClr val="2D6B5B"/>
          </a:solidFill>
          <a:ln w="9525">
            <a:solidFill>
              <a:srgbClr val="2D6B5B"/>
            </a:solidFill>
            <a:prstDash val="solid"/>
          </a:ln>
        </p:spPr>
      </p:sp>
      <p:sp>
        <p:nvSpPr>
          <p:cNvPr id="9" name="矩形 8">
            <a:extLst>
              <a:ext uri="{FF2B5EF4-FFF2-40B4-BE49-F238E27FC236}">
                <a16:creationId xmlns:a16="http://schemas.microsoft.com/office/drawing/2014/main" id="{ECCDFD1A-9CAD-4B1D-9477-965A766D14FB}"/>
              </a:ext>
            </a:extLst>
          </p:cNvPr>
          <p:cNvSpPr>
            <a:spLocks noGrp="1"/>
          </p:cNvSpPr>
          <p:nvPr/>
        </p:nvSpPr>
        <p:spPr>
          <a:xfrm>
            <a:off x="895350" y="4286250"/>
            <a:ext cx="9886950" cy="666750"/>
          </a:xfrm>
          <a:prstGeom prst="rect">
            <a:avLst/>
          </a:prstGeom>
          <a:noFill/>
          <a:ln w="0">
            <a:noFill/>
            <a:prstDash val="solid"/>
          </a:ln>
        </p:spPr>
        <p:txBody>
          <a:bodyPr/>
          <a:lstStyle/>
          <a:p>
            <a:pPr algn="l">
              <a:buNone/>
              <a:defRPr sz="1350" b="0">
                <a:solidFill>
                  <a:srgbClr val="263732"/>
                </a:solidFill>
              </a:defRPr>
            </a:pPr>
            <a:r>
              <a:rPr sz="1350" b="0">
                <a:solidFill>
                  <a:srgbClr val="263732"/>
                </a:solidFill>
              </a:rPr>
              <a:t>消融：比较 sequence-level 与 set-level byte-pair encoding；加入 prototype-disjoint split</a:t>
            </a:r>
          </a:p>
        </p:txBody>
      </p:sp>
      <p:sp>
        <p:nvSpPr>
          <p:cNvPr id="10" name="椭圆 9">
            <a:extLst>
              <a:ext uri="{FF2B5EF4-FFF2-40B4-BE49-F238E27FC236}">
                <a16:creationId xmlns:a16="http://schemas.microsoft.com/office/drawing/2014/main" id="{D2F825EE-C992-4B24-B712-E9C933FE4585}"/>
              </a:ext>
            </a:extLst>
          </p:cNvPr>
          <p:cNvSpPr>
            <a:spLocks noGrp="1"/>
          </p:cNvSpPr>
          <p:nvPr/>
        </p:nvSpPr>
        <p:spPr>
          <a:xfrm>
            <a:off x="685800" y="5353050"/>
            <a:ext cx="66675" cy="66675"/>
          </a:xfrm>
          <a:prstGeom prst="ellipse">
            <a:avLst/>
          </a:prstGeom>
          <a:solidFill>
            <a:srgbClr val="2D6B5B"/>
          </a:solidFill>
          <a:ln w="9525">
            <a:solidFill>
              <a:srgbClr val="2D6B5B"/>
            </a:solidFill>
            <a:prstDash val="solid"/>
          </a:ln>
        </p:spPr>
      </p:sp>
      <p:sp>
        <p:nvSpPr>
          <p:cNvPr id="11" name="矩形 10">
            <a:extLst>
              <a:ext uri="{FF2B5EF4-FFF2-40B4-BE49-F238E27FC236}">
                <a16:creationId xmlns:a16="http://schemas.microsoft.com/office/drawing/2014/main" id="{C358E6D6-3D20-4252-A6AA-122811B9A389}"/>
              </a:ext>
            </a:extLst>
          </p:cNvPr>
          <p:cNvSpPr>
            <a:spLocks noGrp="1"/>
          </p:cNvSpPr>
          <p:nvPr/>
        </p:nvSpPr>
        <p:spPr>
          <a:xfrm>
            <a:off x="895350" y="5257800"/>
            <a:ext cx="9886950" cy="666750"/>
          </a:xfrm>
          <a:prstGeom prst="rect">
            <a:avLst/>
          </a:prstGeom>
          <a:noFill/>
          <a:ln w="0">
            <a:noFill/>
            <a:prstDash val="solid"/>
          </a:ln>
        </p:spPr>
        <p:txBody>
          <a:bodyPr/>
          <a:lstStyle/>
          <a:p>
            <a:pPr algn="l">
              <a:buNone/>
              <a:defRPr sz="1575" b="0">
                <a:solidFill>
                  <a:srgbClr val="263732"/>
                </a:solidFill>
              </a:defRPr>
            </a:pPr>
            <a:r>
              <a:rPr sz="1575" b="0">
                <a:solidFill>
                  <a:srgbClr val="263732"/>
                </a:solidFill>
              </a:rPr>
              <a:t>指标：合法性、对称保持、novelty、diversity、速度与低数据效率</a:t>
            </a:r>
          </a:p>
        </p:txBody>
      </p:sp>
      <p:sp>
        <p:nvSpPr>
          <p:cNvPr id="12" name="矩形 11">
            <a:extLst>
              <a:ext uri="{FF2B5EF4-FFF2-40B4-BE49-F238E27FC236}">
                <a16:creationId xmlns:a16="http://schemas.microsoft.com/office/drawing/2014/main" id="{FD8786D1-2BF0-4773-8101-5237643309CA}"/>
              </a:ext>
            </a:extLst>
          </p:cNvPr>
          <p:cNvSpPr>
            <a:spLocks noGrp="1"/>
          </p:cNvSpPr>
          <p:nvPr/>
        </p:nvSpPr>
        <p:spPr>
          <a:xfrm>
            <a:off x="685800" y="6400800"/>
            <a:ext cx="10820400" cy="9525"/>
          </a:xfrm>
          <a:prstGeom prst="rect">
            <a:avLst/>
          </a:prstGeom>
          <a:solidFill>
            <a:srgbClr val="C9D8D0"/>
          </a:solidFill>
          <a:ln w="9525">
            <a:solidFill>
              <a:srgbClr val="C9D8D0"/>
            </a:solidFill>
            <a:prstDash val="solid"/>
          </a:ln>
        </p:spPr>
      </p:sp>
      <p:sp>
        <p:nvSpPr>
          <p:cNvPr id="13" name="矩形 12">
            <a:extLst>
              <a:ext uri="{FF2B5EF4-FFF2-40B4-BE49-F238E27FC236}">
                <a16:creationId xmlns:a16="http://schemas.microsoft.com/office/drawing/2014/main" id="{6E07B325-C643-4842-8CFA-C20CE350B74C}"/>
              </a:ext>
            </a:extLst>
          </p:cNvPr>
          <p:cNvSpPr>
            <a:spLocks noGrp="1"/>
          </p:cNvSpPr>
          <p:nvPr/>
        </p:nvSpPr>
        <p:spPr>
          <a:xfrm>
            <a:off x="685800" y="6524625"/>
            <a:ext cx="10820400" cy="152400"/>
          </a:xfrm>
          <a:prstGeom prst="rect">
            <a:avLst/>
          </a:prstGeom>
          <a:noFill/>
          <a:ln w="0">
            <a:noFill/>
            <a:prstDash val="solid"/>
          </a:ln>
        </p:spPr>
        <p:txBody>
          <a:bodyPr/>
          <a:lstStyle/>
          <a:p>
            <a:pPr algn="l">
              <a:buNone/>
              <a:defRPr sz="750" b="0">
                <a:solidFill>
                  <a:srgbClr val="62736C"/>
                </a:solidFill>
              </a:defRPr>
            </a:pPr>
            <a:r>
              <a:rPr sz="750" b="0">
                <a:solidFill>
                  <a:srgbClr val="62736C"/>
                </a:solidFill>
              </a:rPr>
              <a:t>DynaCrys (Jin et al., 2026) · MaskGXT (Seong et al., 2026) · DynaCrys Evaluation · paper pages 7–10; MaskGXT Experiments · paper pages 9–12; WyFormer Experiments · paper pages 6–9</a:t>
            </a:r>
          </a:p>
        </p:txBody>
      </p:sp>
    </p:spTree>
    <p:extLst>
      <p:ext uri="{BB962C8B-B14F-4D97-AF65-F5344CB8AC3E}">
        <p14:creationId xmlns:p14="http://schemas.microsoft.com/office/powerpoint/2010/main" val="357907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5324FFBE-7C71-4866-B1DF-B614034EC591}"/>
              </a:ext>
            </a:extLst>
          </p:cNvPr>
          <p:cNvSpPr>
            <a:spLocks noGrp="1"/>
          </p:cNvSpPr>
          <p:nvPr/>
        </p:nvSpPr>
        <p:spPr>
          <a:xfrm>
            <a:off x="685800" y="342900"/>
            <a:ext cx="323850" cy="171450"/>
          </a:xfrm>
          <a:prstGeom prst="rect">
            <a:avLst/>
          </a:prstGeom>
          <a:noFill/>
          <a:ln w="0">
            <a:noFill/>
            <a:prstDash val="solid"/>
          </a:ln>
        </p:spPr>
        <p:txBody>
          <a:bodyPr/>
          <a:lstStyle/>
          <a:p>
            <a:pPr algn="l">
              <a:buNone/>
              <a:defRPr sz="900" b="1">
                <a:solidFill>
                  <a:srgbClr val="2D6B5B"/>
                </a:solidFill>
              </a:defRPr>
            </a:pPr>
            <a:r>
              <a:rPr sz="900" b="1">
                <a:solidFill>
                  <a:srgbClr val="2D6B5B"/>
                </a:solidFill>
              </a:rPr>
              <a:t>10</a:t>
            </a:r>
          </a:p>
        </p:txBody>
      </p:sp>
      <p:sp>
        <p:nvSpPr>
          <p:cNvPr id="2" name="矩形 1">
            <a:extLst>
              <a:ext uri="{FF2B5EF4-FFF2-40B4-BE49-F238E27FC236}">
                <a16:creationId xmlns:a16="http://schemas.microsoft.com/office/drawing/2014/main" id="{1B032A48-4009-4F0F-BE3C-6B9375C4F7E4}"/>
              </a:ext>
            </a:extLst>
          </p:cNvPr>
          <p:cNvSpPr>
            <a:spLocks noGrp="1"/>
          </p:cNvSpPr>
          <p:nvPr/>
        </p:nvSpPr>
        <p:spPr>
          <a:xfrm>
            <a:off x="1200150" y="342900"/>
            <a:ext cx="2857500" cy="171450"/>
          </a:xfrm>
          <a:prstGeom prst="rect">
            <a:avLst/>
          </a:prstGeom>
          <a:noFill/>
          <a:ln w="0">
            <a:noFill/>
            <a:prstDash val="solid"/>
          </a:ln>
        </p:spPr>
        <p:txBody>
          <a:bodyPr/>
          <a:lstStyle/>
          <a:p>
            <a:pPr algn="l">
              <a:buNone/>
              <a:defRPr sz="900" b="1">
                <a:solidFill>
                  <a:srgbClr val="62736C"/>
                </a:solidFill>
              </a:defRPr>
            </a:pPr>
            <a:r>
              <a:rPr sz="900" b="1">
                <a:solidFill>
                  <a:srgbClr val="62736C"/>
                </a:solidFill>
              </a:rPr>
              <a:t>讨论</a:t>
            </a:r>
          </a:p>
        </p:txBody>
      </p:sp>
      <p:sp>
        <p:nvSpPr>
          <p:cNvPr id="3" name="矩形 2">
            <a:extLst>
              <a:ext uri="{FF2B5EF4-FFF2-40B4-BE49-F238E27FC236}">
                <a16:creationId xmlns:a16="http://schemas.microsoft.com/office/drawing/2014/main" id="{6051FB8D-850E-469F-BC3E-1F0EEF565BFB}"/>
              </a:ext>
            </a:extLst>
          </p:cNvPr>
          <p:cNvSpPr>
            <a:spLocks noGrp="1"/>
          </p:cNvSpPr>
          <p:nvPr/>
        </p:nvSpPr>
        <p:spPr>
          <a:xfrm>
            <a:off x="685800" y="609600"/>
            <a:ext cx="10668000" cy="400050"/>
          </a:xfrm>
          <a:prstGeom prst="rect">
            <a:avLst/>
          </a:prstGeom>
          <a:noFill/>
          <a:ln w="0">
            <a:noFill/>
            <a:prstDash val="solid"/>
          </a:ln>
        </p:spPr>
        <p:txBody>
          <a:bodyPr/>
          <a:lstStyle/>
          <a:p>
            <a:pPr algn="l">
              <a:buNone/>
              <a:defRPr sz="2625" b="1">
                <a:solidFill>
                  <a:srgbClr val="17372F"/>
                </a:solidFill>
              </a:defRPr>
            </a:pPr>
            <a:r>
              <a:rPr sz="2625" b="1">
                <a:solidFill>
                  <a:srgbClr val="17372F"/>
                </a:solidFill>
              </a:rPr>
              <a:t>结论：保留方向，改成 Wyckoff grammar</a:t>
            </a:r>
          </a:p>
        </p:txBody>
      </p:sp>
      <p:sp>
        <p:nvSpPr>
          <p:cNvPr id="4" name="矩形 3">
            <a:extLst>
              <a:ext uri="{FF2B5EF4-FFF2-40B4-BE49-F238E27FC236}">
                <a16:creationId xmlns:a16="http://schemas.microsoft.com/office/drawing/2014/main" id="{1DC98346-B7F6-40A3-AA3D-D7EC8A4227FB}"/>
              </a:ext>
            </a:extLst>
          </p:cNvPr>
          <p:cNvSpPr>
            <a:spLocks noGrp="1"/>
          </p:cNvSpPr>
          <p:nvPr/>
        </p:nvSpPr>
        <p:spPr>
          <a:xfrm>
            <a:off x="685800" y="1066800"/>
            <a:ext cx="10820400" cy="9525"/>
          </a:xfrm>
          <a:prstGeom prst="rect">
            <a:avLst/>
          </a:prstGeom>
          <a:solidFill>
            <a:srgbClr val="C9D8D0"/>
          </a:solidFill>
          <a:ln w="9525">
            <a:solidFill>
              <a:srgbClr val="C9D8D0"/>
            </a:solidFill>
            <a:prstDash val="solid"/>
          </a:ln>
        </p:spPr>
      </p:sp>
      <p:sp>
        <p:nvSpPr>
          <p:cNvPr id="5" name="矩形 4">
            <a:extLst>
              <a:ext uri="{FF2B5EF4-FFF2-40B4-BE49-F238E27FC236}">
                <a16:creationId xmlns:a16="http://schemas.microsoft.com/office/drawing/2014/main" id="{9D64768A-1FDC-41CF-9956-C95C6DBC8D62}"/>
              </a:ext>
            </a:extLst>
          </p:cNvPr>
          <p:cNvSpPr>
            <a:spLocks noGrp="1"/>
          </p:cNvSpPr>
          <p:nvPr/>
        </p:nvSpPr>
        <p:spPr>
          <a:xfrm>
            <a:off x="685800" y="1571625"/>
            <a:ext cx="10287000" cy="1143000"/>
          </a:xfrm>
          <a:prstGeom prst="rect">
            <a:avLst/>
          </a:prstGeom>
          <a:noFill/>
          <a:ln w="0">
            <a:noFill/>
            <a:prstDash val="solid"/>
          </a:ln>
        </p:spPr>
        <p:txBody>
          <a:bodyPr/>
          <a:lstStyle/>
          <a:p>
            <a:pPr algn="l">
              <a:buNone/>
              <a:defRPr sz="1500" b="1">
                <a:solidFill>
                  <a:srgbClr val="17372F"/>
                </a:solidFill>
              </a:defRPr>
            </a:pPr>
            <a:r>
              <a:rPr sz="1500" b="1">
                <a:solidFill>
                  <a:srgbClr val="17372F"/>
                </a:solidFill>
              </a:rPr>
              <a:t>当前判断：generic Wyckoff DLM = incremental；structured set-DLM + symmetry-aware vocabulary = viable hypothesis。</a:t>
            </a:r>
          </a:p>
        </p:txBody>
      </p:sp>
      <p:sp>
        <p:nvSpPr>
          <p:cNvPr id="6" name="椭圆 5">
            <a:extLst>
              <a:ext uri="{FF2B5EF4-FFF2-40B4-BE49-F238E27FC236}">
                <a16:creationId xmlns:a16="http://schemas.microsoft.com/office/drawing/2014/main" id="{F59BBBCF-56F0-4C2B-8CFB-C588A2354CB1}"/>
              </a:ext>
            </a:extLst>
          </p:cNvPr>
          <p:cNvSpPr>
            <a:spLocks noGrp="1"/>
          </p:cNvSpPr>
          <p:nvPr/>
        </p:nvSpPr>
        <p:spPr>
          <a:xfrm>
            <a:off x="685800" y="3409950"/>
            <a:ext cx="66675" cy="66675"/>
          </a:xfrm>
          <a:prstGeom prst="ellipse">
            <a:avLst/>
          </a:prstGeom>
          <a:solidFill>
            <a:srgbClr val="2D6B5B"/>
          </a:solidFill>
          <a:ln w="9525">
            <a:solidFill>
              <a:srgbClr val="2D6B5B"/>
            </a:solidFill>
            <a:prstDash val="solid"/>
          </a:ln>
        </p:spPr>
      </p:sp>
      <p:sp>
        <p:nvSpPr>
          <p:cNvPr id="7" name="矩形 6">
            <a:extLst>
              <a:ext uri="{FF2B5EF4-FFF2-40B4-BE49-F238E27FC236}">
                <a16:creationId xmlns:a16="http://schemas.microsoft.com/office/drawing/2014/main" id="{E49A454B-D47A-46E1-B303-C2584AB5B382}"/>
              </a:ext>
            </a:extLst>
          </p:cNvPr>
          <p:cNvSpPr>
            <a:spLocks noGrp="1"/>
          </p:cNvSpPr>
          <p:nvPr/>
        </p:nvSpPr>
        <p:spPr>
          <a:xfrm>
            <a:off x="895350" y="3314700"/>
            <a:ext cx="9886950" cy="666750"/>
          </a:xfrm>
          <a:prstGeom prst="rect">
            <a:avLst/>
          </a:prstGeom>
          <a:noFill/>
          <a:ln w="0">
            <a:noFill/>
            <a:prstDash val="solid"/>
          </a:ln>
        </p:spPr>
        <p:txBody>
          <a:bodyPr/>
          <a:lstStyle/>
          <a:p>
            <a:pPr algn="l">
              <a:buNone/>
              <a:defRPr sz="1575" b="0">
                <a:solidFill>
                  <a:srgbClr val="263732"/>
                </a:solidFill>
              </a:defRPr>
            </a:pPr>
            <a:r>
              <a:rPr sz="1575" b="0">
                <a:solidFill>
                  <a:srgbClr val="263732"/>
                </a:solidFill>
              </a:rPr>
              <a:t>可以做：先复现，再做 legal set-level byte-pair encoding prototype</a:t>
            </a:r>
          </a:p>
        </p:txBody>
      </p:sp>
      <p:sp>
        <p:nvSpPr>
          <p:cNvPr id="8" name="椭圆 7">
            <a:extLst>
              <a:ext uri="{FF2B5EF4-FFF2-40B4-BE49-F238E27FC236}">
                <a16:creationId xmlns:a16="http://schemas.microsoft.com/office/drawing/2014/main" id="{71C0D171-60FA-4096-8FBD-809C074524B2}"/>
              </a:ext>
            </a:extLst>
          </p:cNvPr>
          <p:cNvSpPr>
            <a:spLocks noGrp="1"/>
          </p:cNvSpPr>
          <p:nvPr/>
        </p:nvSpPr>
        <p:spPr>
          <a:xfrm>
            <a:off x="685800" y="4381500"/>
            <a:ext cx="66675" cy="66675"/>
          </a:xfrm>
          <a:prstGeom prst="ellipse">
            <a:avLst/>
          </a:prstGeom>
          <a:solidFill>
            <a:srgbClr val="2D6B5B"/>
          </a:solidFill>
          <a:ln w="9525">
            <a:solidFill>
              <a:srgbClr val="2D6B5B"/>
            </a:solidFill>
            <a:prstDash val="solid"/>
          </a:ln>
        </p:spPr>
      </p:sp>
      <p:sp>
        <p:nvSpPr>
          <p:cNvPr id="9" name="矩形 8">
            <a:extLst>
              <a:ext uri="{FF2B5EF4-FFF2-40B4-BE49-F238E27FC236}">
                <a16:creationId xmlns:a16="http://schemas.microsoft.com/office/drawing/2014/main" id="{2F3BDBB9-FA5A-4557-8D8B-E2BD72F1A98A}"/>
              </a:ext>
            </a:extLst>
          </p:cNvPr>
          <p:cNvSpPr>
            <a:spLocks noGrp="1"/>
          </p:cNvSpPr>
          <p:nvPr/>
        </p:nvSpPr>
        <p:spPr>
          <a:xfrm>
            <a:off x="895350" y="4286250"/>
            <a:ext cx="9886950" cy="666750"/>
          </a:xfrm>
          <a:prstGeom prst="rect">
            <a:avLst/>
          </a:prstGeom>
          <a:noFill/>
          <a:ln w="0">
            <a:noFill/>
            <a:prstDash val="solid"/>
          </a:ln>
        </p:spPr>
        <p:txBody>
          <a:bodyPr/>
          <a:lstStyle/>
          <a:p>
            <a:pPr algn="l">
              <a:buNone/>
              <a:defRPr sz="1575" b="0">
                <a:solidFill>
                  <a:srgbClr val="263732"/>
                </a:solidFill>
              </a:defRPr>
            </a:pPr>
            <a:r>
              <a:rPr sz="1575" b="0">
                <a:solidFill>
                  <a:srgbClr val="263732"/>
                </a:solidFill>
              </a:rPr>
              <a:t>不能先宣称：首次 DLM / 首次 Wyckoff diffusion</a:t>
            </a:r>
          </a:p>
        </p:txBody>
      </p:sp>
      <p:sp>
        <p:nvSpPr>
          <p:cNvPr id="10" name="椭圆 9">
            <a:extLst>
              <a:ext uri="{FF2B5EF4-FFF2-40B4-BE49-F238E27FC236}">
                <a16:creationId xmlns:a16="http://schemas.microsoft.com/office/drawing/2014/main" id="{63B20320-779A-4D1A-A0BF-2F5EF4D28C57}"/>
              </a:ext>
            </a:extLst>
          </p:cNvPr>
          <p:cNvSpPr>
            <a:spLocks noGrp="1"/>
          </p:cNvSpPr>
          <p:nvPr/>
        </p:nvSpPr>
        <p:spPr>
          <a:xfrm>
            <a:off x="685800" y="5353050"/>
            <a:ext cx="66675" cy="66675"/>
          </a:xfrm>
          <a:prstGeom prst="ellipse">
            <a:avLst/>
          </a:prstGeom>
          <a:solidFill>
            <a:srgbClr val="2D6B5B"/>
          </a:solidFill>
          <a:ln w="9525">
            <a:solidFill>
              <a:srgbClr val="2D6B5B"/>
            </a:solidFill>
            <a:prstDash val="solid"/>
          </a:ln>
        </p:spPr>
      </p:sp>
      <p:sp>
        <p:nvSpPr>
          <p:cNvPr id="11" name="矩形 10">
            <a:extLst>
              <a:ext uri="{FF2B5EF4-FFF2-40B4-BE49-F238E27FC236}">
                <a16:creationId xmlns:a16="http://schemas.microsoft.com/office/drawing/2014/main" id="{65012198-75D3-4EB9-9E32-64C5796E50B8}"/>
              </a:ext>
            </a:extLst>
          </p:cNvPr>
          <p:cNvSpPr>
            <a:spLocks noGrp="1"/>
          </p:cNvSpPr>
          <p:nvPr/>
        </p:nvSpPr>
        <p:spPr>
          <a:xfrm>
            <a:off x="895350" y="5257800"/>
            <a:ext cx="9886950" cy="666750"/>
          </a:xfrm>
          <a:prstGeom prst="rect">
            <a:avLst/>
          </a:prstGeom>
          <a:noFill/>
          <a:ln w="0">
            <a:noFill/>
            <a:prstDash val="solid"/>
          </a:ln>
        </p:spPr>
        <p:txBody>
          <a:bodyPr/>
          <a:lstStyle/>
          <a:p>
            <a:pPr algn="l">
              <a:buNone/>
              <a:defRPr sz="1575" b="0">
                <a:solidFill>
                  <a:srgbClr val="263732"/>
                </a:solidFill>
              </a:defRPr>
            </a:pPr>
            <a:r>
              <a:rPr sz="1575" b="0">
                <a:solidFill>
                  <a:srgbClr val="263732"/>
                </a:solidFill>
              </a:rPr>
              <a:t>需要拍板：先做 full crystal，还是先做 protostructure</a:t>
            </a:r>
          </a:p>
        </p:txBody>
      </p:sp>
      <p:sp>
        <p:nvSpPr>
          <p:cNvPr id="12" name="矩形 11">
            <a:extLst>
              <a:ext uri="{FF2B5EF4-FFF2-40B4-BE49-F238E27FC236}">
                <a16:creationId xmlns:a16="http://schemas.microsoft.com/office/drawing/2014/main" id="{0BD030FF-F4BC-46E0-BAE0-A8033D9F522D}"/>
              </a:ext>
            </a:extLst>
          </p:cNvPr>
          <p:cNvSpPr>
            <a:spLocks noGrp="1"/>
          </p:cNvSpPr>
          <p:nvPr/>
        </p:nvSpPr>
        <p:spPr>
          <a:xfrm>
            <a:off x="685800" y="6400800"/>
            <a:ext cx="10820400" cy="9525"/>
          </a:xfrm>
          <a:prstGeom prst="rect">
            <a:avLst/>
          </a:prstGeom>
          <a:solidFill>
            <a:srgbClr val="C9D8D0"/>
          </a:solidFill>
          <a:ln w="9525">
            <a:solidFill>
              <a:srgbClr val="C9D8D0"/>
            </a:solidFill>
            <a:prstDash val="solid"/>
          </a:ln>
        </p:spPr>
      </p:sp>
      <p:sp>
        <p:nvSpPr>
          <p:cNvPr id="13" name="矩形 12">
            <a:extLst>
              <a:ext uri="{FF2B5EF4-FFF2-40B4-BE49-F238E27FC236}">
                <a16:creationId xmlns:a16="http://schemas.microsoft.com/office/drawing/2014/main" id="{281187D0-60C9-419A-8ADF-9D141481EC48}"/>
              </a:ext>
            </a:extLst>
          </p:cNvPr>
          <p:cNvSpPr>
            <a:spLocks noGrp="1"/>
          </p:cNvSpPr>
          <p:nvPr/>
        </p:nvSpPr>
        <p:spPr>
          <a:xfrm>
            <a:off x="685800" y="6524625"/>
            <a:ext cx="10820400" cy="152400"/>
          </a:xfrm>
          <a:prstGeom prst="rect">
            <a:avLst/>
          </a:prstGeom>
          <a:noFill/>
          <a:ln w="0">
            <a:noFill/>
            <a:prstDash val="solid"/>
          </a:ln>
        </p:spPr>
        <p:txBody>
          <a:bodyPr/>
          <a:lstStyle/>
          <a:p>
            <a:pPr algn="l">
              <a:buNone/>
              <a:defRPr sz="750" b="0">
                <a:solidFill>
                  <a:srgbClr val="62736C"/>
                </a:solidFill>
              </a:defRPr>
            </a:pPr>
            <a:r>
              <a:rPr sz="750" b="0">
                <a:solidFill>
                  <a:srgbClr val="62736C"/>
                </a:solidFill>
              </a:rPr>
              <a:t>DynaCrys (Jin et al., 2026) · MaskGXT (Seong et al., 2026) · DynaCrys Conclusion · paper page 10; MaskGXT Conclusion / Limitations · paper pages 11–12; bounded related-work scan</a:t>
            </a:r>
          </a:p>
        </p:txBody>
      </p:sp>
    </p:spTree>
    <p:extLst>
      <p:ext uri="{BB962C8B-B14F-4D97-AF65-F5344CB8AC3E}">
        <p14:creationId xmlns:p14="http://schemas.microsoft.com/office/powerpoint/2010/main" val="1584246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8" name="number">
            <a:extLst>
              <a:ext uri="{FF2B5EF4-FFF2-40B4-BE49-F238E27FC236}">
                <a16:creationId xmlns:a16="http://schemas.microsoft.com/office/drawing/2014/main" id="{FDDED9C3-3D4B-4C96-B7C2-025AB0A03BFA}"/>
              </a:ext>
            </a:extLst>
          </p:cNvPr>
          <p:cNvSpPr>
            <a:spLocks noGrp="1"/>
          </p:cNvSpPr>
          <p:nvPr/>
        </p:nvSpPr>
        <p:spPr>
          <a:xfrm>
            <a:off x="685800" y="323850"/>
            <a:ext cx="381000" cy="190500"/>
          </a:xfrm>
          <a:prstGeom prst="rect">
            <a:avLst/>
          </a:prstGeom>
          <a:noFill/>
          <a:ln w="0">
            <a:noFill/>
          </a:ln>
        </p:spPr>
        <p:txBody>
          <a:bodyPr>
            <a:noAutofit/>
          </a:bodyPr>
          <a:lstStyle/>
          <a:p>
            <a:pPr>
              <a:defRPr sz="900" b="1">
                <a:solidFill>
                  <a:srgbClr val="2D6B5B"/>
                </a:solidFill>
                <a:latin typeface="PingFang SC"/>
                <a:ea typeface="PingFang SC"/>
                <a:cs typeface="PingFang SC"/>
              </a:defRPr>
            </a:pPr>
            <a:r>
              <a:rPr sz="900" b="1">
                <a:solidFill>
                  <a:srgbClr val="2D6B5B"/>
                </a:solidFill>
                <a:latin typeface="PingFang SC"/>
                <a:ea typeface="PingFang SC"/>
                <a:cs typeface="PingFang SC"/>
              </a:rPr>
              <a:t>11</a:t>
            </a:r>
          </a:p>
        </p:txBody>
      </p:sp>
      <p:sp>
        <p:nvSpPr>
          <p:cNvPr id="2" name="section">
            <a:extLst>
              <a:ext uri="{FF2B5EF4-FFF2-40B4-BE49-F238E27FC236}">
                <a16:creationId xmlns:a16="http://schemas.microsoft.com/office/drawing/2014/main" id="{9E47C345-5CA8-485C-99B7-93E6D0EC8287}"/>
              </a:ext>
            </a:extLst>
          </p:cNvPr>
          <p:cNvSpPr>
            <a:spLocks noGrp="1"/>
          </p:cNvSpPr>
          <p:nvPr/>
        </p:nvSpPr>
        <p:spPr>
          <a:xfrm>
            <a:off x="1200150" y="323850"/>
            <a:ext cx="2095500" cy="190500"/>
          </a:xfrm>
          <a:prstGeom prst="rect">
            <a:avLst/>
          </a:prstGeom>
          <a:noFill/>
          <a:ln w="0">
            <a:noFill/>
          </a:ln>
        </p:spPr>
        <p:txBody>
          <a:bodyPr>
            <a:noAutofit/>
          </a:bodyPr>
          <a:lstStyle/>
          <a:p>
            <a:pPr>
              <a:defRPr sz="900" b="1">
                <a:solidFill>
                  <a:srgbClr val="62736C"/>
                </a:solidFill>
                <a:latin typeface="PingFang SC"/>
                <a:ea typeface="PingFang SC"/>
                <a:cs typeface="PingFang SC"/>
              </a:defRPr>
            </a:pPr>
            <a:r>
              <a:rPr sz="900" b="1">
                <a:solidFill>
                  <a:srgbClr val="62736C"/>
                </a:solidFill>
                <a:latin typeface="PingFang SC"/>
                <a:ea typeface="PingFang SC"/>
                <a:cs typeface="PingFang SC"/>
              </a:rPr>
              <a:t>模型对比</a:t>
            </a:r>
          </a:p>
        </p:txBody>
      </p:sp>
      <p:sp>
        <p:nvSpPr>
          <p:cNvPr id="3" name="title">
            <a:extLst>
              <a:ext uri="{FF2B5EF4-FFF2-40B4-BE49-F238E27FC236}">
                <a16:creationId xmlns:a16="http://schemas.microsoft.com/office/drawing/2014/main" id="{D438A60D-8AF1-400D-8F9B-5535F2C6698D}"/>
              </a:ext>
            </a:extLst>
          </p:cNvPr>
          <p:cNvSpPr>
            <a:spLocks noGrp="1"/>
          </p:cNvSpPr>
          <p:nvPr/>
        </p:nvSpPr>
        <p:spPr>
          <a:xfrm>
            <a:off x="685800" y="628650"/>
            <a:ext cx="10858500" cy="428625"/>
          </a:xfrm>
          <a:prstGeom prst="rect">
            <a:avLst/>
          </a:prstGeom>
          <a:noFill/>
          <a:ln w="0">
            <a:noFill/>
          </a:ln>
        </p:spPr>
        <p:txBody>
          <a:bodyPr>
            <a:noAutofit/>
          </a:bodyPr>
          <a:lstStyle/>
          <a:p>
            <a:pPr>
              <a:defRPr sz="2625" b="1">
                <a:solidFill>
                  <a:srgbClr val="17372F"/>
                </a:solidFill>
                <a:latin typeface="PingFang SC"/>
                <a:ea typeface="PingFang SC"/>
                <a:cs typeface="PingFang SC"/>
              </a:defRPr>
            </a:pPr>
            <a:r>
              <a:rPr sz="2625" b="1">
                <a:solidFill>
                  <a:srgbClr val="17372F"/>
                </a:solidFill>
                <a:latin typeface="PingFang SC"/>
                <a:ea typeface="PingFang SC"/>
                <a:cs typeface="PingFang SC"/>
              </a:rPr>
              <a:t>晶体生成模型与我们的方案</a:t>
            </a:r>
          </a:p>
        </p:txBody>
      </p:sp>
      <p:graphicFrame>
        <p:nvGraphicFramePr>
          <p:cNvPr id="12" name="表格 11"/>
          <p:cNvGraphicFramePr/>
          <p:nvPr>
            <p:extLst>
              <p:ext uri="{D42A27DB-BD31-4B8C-83A1-F6EECF244321}">
                <p14:modId xmlns:p14="http://schemas.microsoft.com/office/powerpoint/2010/main" val="4105870951"/>
              </p:ext>
            </p:extLst>
          </p:nvPr>
        </p:nvGraphicFramePr>
        <p:xfrm>
          <a:off x="1757362" y="1457325"/>
          <a:ext cx="8677275" cy="4514850"/>
        </p:xfrm>
        <a:graphic>
          <a:graphicData uri="http://schemas.openxmlformats.org/drawingml/2006/table">
            <a:tbl>
              <a:tblPr/>
              <a:tblGrid>
                <a:gridCol w="1409700">
                  <a:extLst>
                    <a:ext uri="{9D8B030D-6E8A-4147-A177-3AD203B41FA5}">
                      <a16:colId xmlns:a16="http://schemas.microsoft.com/office/drawing/2014/main" val="20000"/>
                    </a:ext>
                  </a:extLst>
                </a:gridCol>
                <a:gridCol w="2266950">
                  <a:extLst>
                    <a:ext uri="{9D8B030D-6E8A-4147-A177-3AD203B41FA5}">
                      <a16:colId xmlns:a16="http://schemas.microsoft.com/office/drawing/2014/main" val="20001"/>
                    </a:ext>
                  </a:extLst>
                </a:gridCol>
                <a:gridCol w="1781175">
                  <a:extLst>
                    <a:ext uri="{9D8B030D-6E8A-4147-A177-3AD203B41FA5}">
                      <a16:colId xmlns:a16="http://schemas.microsoft.com/office/drawing/2014/main" val="20002"/>
                    </a:ext>
                  </a:extLst>
                </a:gridCol>
                <a:gridCol w="2324100">
                  <a:extLst>
                    <a:ext uri="{9D8B030D-6E8A-4147-A177-3AD203B41FA5}">
                      <a16:colId xmlns:a16="http://schemas.microsoft.com/office/drawing/2014/main" val="20003"/>
                    </a:ext>
                  </a:extLst>
                </a:gridCol>
                <a:gridCol w="895350">
                  <a:extLst>
                    <a:ext uri="{9D8B030D-6E8A-4147-A177-3AD203B41FA5}">
                      <a16:colId xmlns:a16="http://schemas.microsoft.com/office/drawing/2014/main" val="20004"/>
                    </a:ext>
                  </a:extLst>
                </a:gridCol>
              </a:tblGrid>
              <a:tr h="314325">
                <a:tc>
                  <a:txBody>
                    <a:bodyPr/>
                    <a:lstStyle/>
                    <a:p>
                      <a:r>
                        <a:rPr sz="1200" b="1">
                          <a:solidFill>
                            <a:srgbClr val="FFFFFF"/>
                          </a:solidFill>
                          <a:latin typeface="PingFang SC"/>
                          <a:ea typeface="PingFang SC"/>
                          <a:cs typeface="PingFang SC"/>
                        </a:rPr>
                        <a:t>模型</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表示 / tokenizer</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生成范式</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条件生成设置</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直接输出</a:t>
                      </a:r>
                    </a:p>
                  </a:txBody>
                  <a:tcPr marL="76200" marR="66675" marT="47625" marB="47625" anchor="ctr">
                    <a:solidFill>
                      <a:srgbClr val="2D6B5B"/>
                    </a:solidFill>
                  </a:tcPr>
                </a:tc>
                <a:extLst>
                  <a:ext uri="{0D108BD9-81ED-4DB2-BD59-A6C34878D82A}">
                    <a16:rowId xmlns:a16="http://schemas.microsoft.com/office/drawing/2014/main" val="10000"/>
                  </a:ext>
                </a:extLst>
              </a:tr>
              <a:tr h="466725">
                <a:tc>
                  <a:txBody>
                    <a:bodyPr/>
                    <a:lstStyle/>
                    <a:p>
                      <a:r>
                        <a:rPr sz="1125" b="1">
                          <a:solidFill>
                            <a:srgbClr val="17372F"/>
                          </a:solidFill>
                          <a:latin typeface="PingFang SC"/>
                          <a:ea typeface="PingFang SC"/>
                          <a:cs typeface="PingFang SC"/>
                        </a:rPr>
                        <a:t>CrystalFormer</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Wyckoff / 元素字段</a:t>
                      </a:r>
                    </a:p>
                    <a:p>
                      <a:r>
                        <a:rPr sz="1125" b="0">
                          <a:solidFill>
                            <a:srgbClr val="17372F"/>
                          </a:solidFill>
                          <a:latin typeface="PingFang SC"/>
                          <a:ea typeface="PingFang SC"/>
                          <a:cs typeface="PingFang SC"/>
                        </a:rPr>
                        <a:t>连续坐标与晶格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逐位点、逐字段</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空间群、结构补全</a:t>
                      </a:r>
                    </a:p>
                    <a:p>
                      <a:r>
                        <a:rPr sz="1125" b="0">
                          <a:solidFill>
                            <a:srgbClr val="17372F"/>
                          </a:solidFill>
                          <a:latin typeface="PingFang SC"/>
                          <a:ea typeface="PingFang SC"/>
                          <a:cs typeface="PingFang SC"/>
                        </a:rPr>
                        <a:t>性质预测器 + MCMC 引导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extLst>
                  <a:ext uri="{0D108BD9-81ED-4DB2-BD59-A6C34878D82A}">
                    <a16:rowId xmlns:a16="http://schemas.microsoft.com/office/drawing/2014/main" val="10001"/>
                  </a:ext>
                </a:extLst>
              </a:tr>
              <a:tr h="466725">
                <a:tc>
                  <a:txBody>
                    <a:bodyPr/>
                    <a:lstStyle/>
                    <a:p>
                      <a:r>
                        <a:rPr sz="1125" b="1">
                          <a:solidFill>
                            <a:srgbClr val="17372F"/>
                          </a:solidFill>
                          <a:latin typeface="PingFang SC"/>
                          <a:ea typeface="PingFang SC"/>
                          <a:cs typeface="PingFang SC"/>
                        </a:rPr>
                        <a:t>Matra-Genoa</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可逆混合字段序列</a:t>
                      </a:r>
                    </a:p>
                    <a:p>
                      <a:r>
                        <a:rPr sz="1125" b="0">
                          <a:solidFill>
                            <a:srgbClr val="17372F"/>
                          </a:solidFill>
                          <a:latin typeface="PingFang SC"/>
                          <a:ea typeface="PingFang SC"/>
                          <a:cs typeface="PingFang SC"/>
                        </a:rPr>
                        <a:t>含自由坐标与晶格</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条件前缀后逐项预测</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稳定性、元素系统</a:t>
                      </a:r>
                    </a:p>
                    <a:p>
                      <a:r>
                        <a:rPr sz="1125" b="0">
                          <a:solidFill>
                            <a:srgbClr val="17372F"/>
                          </a:solidFill>
                          <a:latin typeface="PingFang SC"/>
                          <a:ea typeface="PingFang SC"/>
                          <a:cs typeface="PingFang SC"/>
                        </a:rPr>
                        <a:t>支持空间群 / 位点前缀*</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extLst>
                  <a:ext uri="{0D108BD9-81ED-4DB2-BD59-A6C34878D82A}">
                    <a16:rowId xmlns:a16="http://schemas.microsoft.com/office/drawing/2014/main" val="10002"/>
                  </a:ext>
                </a:extLst>
              </a:tr>
              <a:tr h="466725">
                <a:tc>
                  <a:txBody>
                    <a:bodyPr/>
                    <a:lstStyle/>
                    <a:p>
                      <a:r>
                        <a:rPr sz="1125" b="1">
                          <a:solidFill>
                            <a:srgbClr val="17372F"/>
                          </a:solidFill>
                          <a:latin typeface="PingFang SC"/>
                          <a:ea typeface="PingFang SC"/>
                          <a:cs typeface="PingFang SC"/>
                        </a:rPr>
                        <a:t>WyFormer</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元素 + 位点对称 + 编号</a:t>
                      </a:r>
                    </a:p>
                    <a:p>
                      <a:r>
                        <a:rPr sz="1125" b="1">
                          <a:solidFill>
                            <a:srgbClr val="17372F"/>
                          </a:solidFill>
                          <a:latin typeface="PingFang SC"/>
                          <a:ea typeface="PingFang SC"/>
                          <a:cs typeface="PingFang SC"/>
                        </a:rPr>
                        <a:t>复合 orbit 单元，无坐标</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自回归级联</a:t>
                      </a:r>
                    </a:p>
                    <a:p>
                      <a:r>
                        <a:rPr sz="1125" b="1">
                          <a:solidFill>
                            <a:srgbClr val="17372F"/>
                          </a:solidFill>
                          <a:latin typeface="PingFang SC"/>
                          <a:ea typeface="PingFang SC"/>
                          <a:cs typeface="PingFang SC"/>
                        </a:rPr>
                        <a:t>无位置编码 + 集合打乱</a:t>
                      </a:r>
                    </a:p>
                  </a:txBody>
                  <a:tcPr marL="76200" marR="66675" marT="47625" marB="47625" anchor="ctr">
                    <a:solidFill>
                      <a:srgbClr val="F5F8F5"/>
                    </a:solidFill>
                  </a:tcPr>
                </a:tc>
                <a:tc>
                  <a:txBody>
                    <a:bodyPr/>
                    <a:lstStyle/>
                    <a:p>
                      <a:r>
                        <a:rPr sz="1125" b="1" dirty="0" err="1">
                          <a:solidFill>
                            <a:srgbClr val="17372F"/>
                          </a:solidFill>
                          <a:latin typeface="PingFang SC"/>
                          <a:ea typeface="PingFang SC"/>
                          <a:cs typeface="PingFang SC"/>
                        </a:rPr>
                        <a:t>空间群条件</a:t>
                      </a:r>
                      <a:endParaRPr sz="1125" b="1"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原型结构</a:t>
                      </a:r>
                    </a:p>
                    <a:p>
                      <a:r>
                        <a:rPr sz="1125" b="1">
                          <a:solidFill>
                            <a:srgbClr val="17372F"/>
                          </a:solidFill>
                          <a:latin typeface="PingFang SC"/>
                          <a:ea typeface="PingFang SC"/>
                          <a:cs typeface="PingFang SC"/>
                        </a:rPr>
                        <a:t>再补几何</a:t>
                      </a:r>
                    </a:p>
                  </a:txBody>
                  <a:tcPr marL="76200" marR="66675" marT="47625" marB="47625" anchor="ctr">
                    <a:solidFill>
                      <a:srgbClr val="F5F8F5"/>
                    </a:solidFill>
                  </a:tcPr>
                </a:tc>
                <a:extLst>
                  <a:ext uri="{0D108BD9-81ED-4DB2-BD59-A6C34878D82A}">
                    <a16:rowId xmlns:a16="http://schemas.microsoft.com/office/drawing/2014/main" val="10003"/>
                  </a:ext>
                </a:extLst>
              </a:tr>
              <a:tr h="466725">
                <a:tc>
                  <a:txBody>
                    <a:bodyPr/>
                    <a:lstStyle/>
                    <a:p>
                      <a:r>
                        <a:rPr sz="1125" b="1" dirty="0" err="1">
                          <a:solidFill>
                            <a:srgbClr val="17372F"/>
                          </a:solidFill>
                          <a:latin typeface="PingFang SC"/>
                          <a:ea typeface="PingFang SC"/>
                          <a:cs typeface="PingFang SC"/>
                        </a:rPr>
                        <a:t>WyckoffDiff</a:t>
                      </a:r>
                      <a:endParaRPr sz="1125" b="1"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Wyckoff 位点 × 元素</a:t>
                      </a:r>
                    </a:p>
                    <a:p>
                      <a:r>
                        <a:rPr sz="1125" b="1">
                          <a:solidFill>
                            <a:srgbClr val="17372F"/>
                          </a:solidFill>
                          <a:latin typeface="PingFang SC"/>
                          <a:ea typeface="PingFang SC"/>
                          <a:cs typeface="PingFang SC"/>
                        </a:rPr>
                        <a:t>占据 / 计数离散变量</a:t>
                      </a: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非自回归</a:t>
                      </a:r>
                    </a:p>
                    <a:p>
                      <a:r>
                        <a:rPr sz="1125" b="1">
                          <a:solidFill>
                            <a:srgbClr val="17372F"/>
                          </a:solidFill>
                          <a:latin typeface="PingFang SC"/>
                          <a:ea typeface="PingFang SC"/>
                          <a:cs typeface="PingFang SC"/>
                        </a:rPr>
                        <a:t>D3PM 离散扩散</a:t>
                      </a:r>
                    </a:p>
                  </a:txBody>
                  <a:tcPr marL="76200" marR="66675" marT="47625" marB="47625" anchor="ctr">
                    <a:solidFill>
                      <a:srgbClr val="EAF0EB"/>
                    </a:solidFill>
                  </a:tcPr>
                </a:tc>
                <a:tc>
                  <a:txBody>
                    <a:bodyPr/>
                    <a:lstStyle/>
                    <a:p>
                      <a:r>
                        <a:rPr sz="1125" b="1" dirty="0" err="1">
                          <a:solidFill>
                            <a:srgbClr val="17372F"/>
                          </a:solidFill>
                          <a:latin typeface="PingFang SC"/>
                          <a:ea typeface="PingFang SC"/>
                          <a:cs typeface="PingFang SC"/>
                        </a:rPr>
                        <a:t>按抽取的空间群去噪</a:t>
                      </a:r>
                      <a:endParaRPr sz="1125" b="1"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dirty="0" err="1">
                          <a:solidFill>
                            <a:srgbClr val="17372F"/>
                          </a:solidFill>
                          <a:latin typeface="PingFang SC"/>
                          <a:ea typeface="PingFang SC"/>
                          <a:cs typeface="PingFang SC"/>
                        </a:rPr>
                        <a:t>原型结构</a:t>
                      </a:r>
                      <a:endParaRPr sz="1125" b="1" dirty="0">
                        <a:solidFill>
                          <a:srgbClr val="17372F"/>
                        </a:solidFill>
                        <a:latin typeface="PingFang SC"/>
                        <a:ea typeface="PingFang SC"/>
                        <a:cs typeface="PingFang SC"/>
                      </a:endParaRPr>
                    </a:p>
                    <a:p>
                      <a:r>
                        <a:rPr sz="1125" b="1" dirty="0" err="1">
                          <a:solidFill>
                            <a:srgbClr val="17372F"/>
                          </a:solidFill>
                          <a:latin typeface="PingFang SC"/>
                          <a:ea typeface="PingFang SC"/>
                          <a:cs typeface="PingFang SC"/>
                        </a:rPr>
                        <a:t>再补几何</a:t>
                      </a:r>
                      <a:endParaRPr sz="1125" b="1" dirty="0">
                        <a:solidFill>
                          <a:srgbClr val="17372F"/>
                        </a:solidFill>
                        <a:latin typeface="PingFang SC"/>
                        <a:ea typeface="PingFang SC"/>
                        <a:cs typeface="PingFang SC"/>
                      </a:endParaRPr>
                    </a:p>
                  </a:txBody>
                  <a:tcPr marL="76200" marR="66675" marT="47625" marB="47625" anchor="ctr">
                    <a:solidFill>
                      <a:srgbClr val="EAF0EB"/>
                    </a:solidFill>
                  </a:tcPr>
                </a:tc>
                <a:extLst>
                  <a:ext uri="{0D108BD9-81ED-4DB2-BD59-A6C34878D82A}">
                    <a16:rowId xmlns:a16="http://schemas.microsoft.com/office/drawing/2014/main" val="10004"/>
                  </a:ext>
                </a:extLst>
              </a:tr>
              <a:tr h="466725">
                <a:tc>
                  <a:txBody>
                    <a:bodyPr/>
                    <a:lstStyle/>
                    <a:p>
                      <a:r>
                        <a:rPr sz="1125" b="1">
                          <a:solidFill>
                            <a:srgbClr val="17372F"/>
                          </a:solidFill>
                          <a:latin typeface="PingFang SC"/>
                          <a:ea typeface="PingFang SC"/>
                          <a:cs typeface="PingFang SC"/>
                        </a:rPr>
                        <a:t>SymmCD</a:t>
                      </a:r>
                    </a:p>
                  </a:txBody>
                  <a:tcPr marL="76200" marR="66675" marT="47625" marB="47625" anchor="ctr">
                    <a:solidFill>
                      <a:srgbClr val="F5F8F5"/>
                    </a:solidFill>
                  </a:tcPr>
                </a:tc>
                <a:tc>
                  <a:txBody>
                    <a:bodyPr/>
                    <a:lstStyle/>
                    <a:p>
                      <a:r>
                        <a:rPr sz="1125" b="0" dirty="0" err="1">
                          <a:solidFill>
                            <a:srgbClr val="17372F"/>
                          </a:solidFill>
                          <a:latin typeface="PingFang SC"/>
                          <a:ea typeface="PingFang SC"/>
                          <a:cs typeface="PingFang SC"/>
                        </a:rPr>
                        <a:t>不对称单元、位点对称</a:t>
                      </a:r>
                      <a:endParaRPr sz="1125" b="0" dirty="0">
                        <a:solidFill>
                          <a:srgbClr val="17372F"/>
                        </a:solidFill>
                        <a:latin typeface="PingFang SC"/>
                        <a:ea typeface="PingFang SC"/>
                        <a:cs typeface="PingFang SC"/>
                      </a:endParaRPr>
                    </a:p>
                    <a:p>
                      <a:r>
                        <a:rPr sz="1125" b="0" dirty="0" err="1">
                          <a:solidFill>
                            <a:srgbClr val="17372F"/>
                          </a:solidFill>
                          <a:latin typeface="PingFang SC"/>
                          <a:ea typeface="PingFang SC"/>
                          <a:cs typeface="PingFang SC"/>
                        </a:rPr>
                        <a:t>元素、连续坐标与晶格</a:t>
                      </a:r>
                      <a:endParaRPr sz="1125" b="0"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离散 + 连续扩散</a:t>
                      </a:r>
                    </a:p>
                  </a:txBody>
                  <a:tcPr marL="76200" marR="66675" marT="47625" marB="47625" anchor="ctr">
                    <a:solidFill>
                      <a:srgbClr val="F5F8F5"/>
                    </a:solidFill>
                  </a:tcPr>
                </a:tc>
                <a:tc>
                  <a:txBody>
                    <a:bodyPr/>
                    <a:lstStyle/>
                    <a:p>
                      <a:r>
                        <a:rPr sz="1125" b="0" dirty="0" err="1">
                          <a:solidFill>
                            <a:srgbClr val="17372F"/>
                          </a:solidFill>
                          <a:latin typeface="PingFang SC"/>
                          <a:ea typeface="PingFang SC"/>
                          <a:cs typeface="PingFang SC"/>
                        </a:rPr>
                        <a:t>空间群输入，按先验采样</a:t>
                      </a:r>
                      <a:endParaRPr sz="1125" b="0"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extLst>
                  <a:ext uri="{0D108BD9-81ED-4DB2-BD59-A6C34878D82A}">
                    <a16:rowId xmlns:a16="http://schemas.microsoft.com/office/drawing/2014/main" val="10005"/>
                  </a:ext>
                </a:extLst>
              </a:tr>
              <a:tr h="466725">
                <a:tc>
                  <a:txBody>
                    <a:bodyPr/>
                    <a:lstStyle/>
                    <a:p>
                      <a:r>
                        <a:rPr sz="1125" b="1">
                          <a:solidFill>
                            <a:srgbClr val="17372F"/>
                          </a:solidFill>
                          <a:latin typeface="PingFang SC"/>
                          <a:ea typeface="PingFang SC"/>
                          <a:cs typeface="PingFang SC"/>
                        </a:rPr>
                        <a:t>DynaCrys</a:t>
                      </a:r>
                    </a:p>
                  </a:txBody>
                  <a:tcPr marL="76200" marR="66675" marT="47625" marB="47625" anchor="ctr">
                    <a:solidFill>
                      <a:srgbClr val="EAF0EB"/>
                    </a:solidFill>
                  </a:tcPr>
                </a:tc>
                <a:tc>
                  <a:txBody>
                    <a:bodyPr/>
                    <a:lstStyle/>
                    <a:p>
                      <a:r>
                        <a:rPr sz="1125" b="0" dirty="0" err="1">
                          <a:solidFill>
                            <a:srgbClr val="17372F"/>
                          </a:solidFill>
                          <a:latin typeface="PingFang SC"/>
                          <a:ea typeface="PingFang SC"/>
                          <a:cs typeface="PingFang SC"/>
                        </a:rPr>
                        <a:t>动态空间群、无序占据集</a:t>
                      </a:r>
                      <a:endParaRPr sz="1125" b="0" dirty="0">
                        <a:solidFill>
                          <a:srgbClr val="17372F"/>
                        </a:solidFill>
                        <a:latin typeface="PingFang SC"/>
                        <a:ea typeface="PingFang SC"/>
                        <a:cs typeface="PingFang SC"/>
                      </a:endParaRPr>
                    </a:p>
                    <a:p>
                      <a:r>
                        <a:rPr sz="1125" b="0" dirty="0" err="1">
                          <a:solidFill>
                            <a:srgbClr val="17372F"/>
                          </a:solidFill>
                          <a:latin typeface="PingFang SC"/>
                          <a:ea typeface="PingFang SC"/>
                          <a:cs typeface="PingFang SC"/>
                        </a:rPr>
                        <a:t>学习的对称</a:t>
                      </a:r>
                      <a:r>
                        <a:rPr sz="1125" b="0" dirty="0">
                          <a:solidFill>
                            <a:srgbClr val="17372F"/>
                          </a:solidFill>
                          <a:latin typeface="PingFang SC"/>
                          <a:ea typeface="PingFang SC"/>
                          <a:cs typeface="PingFang SC"/>
                        </a:rPr>
                        <a:t> codebook</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符号与几何两阶段扩散</a:t>
                      </a:r>
                    </a:p>
                  </a:txBody>
                  <a:tcPr marL="76200" marR="66675" marT="47625" marB="47625" anchor="ctr">
                    <a:solidFill>
                      <a:srgbClr val="EAF0EB"/>
                    </a:solidFill>
                  </a:tcPr>
                </a:tc>
                <a:tc>
                  <a:txBody>
                    <a:bodyPr/>
                    <a:lstStyle/>
                    <a:p>
                      <a:r>
                        <a:rPr sz="1125" b="0" dirty="0" err="1">
                          <a:solidFill>
                            <a:srgbClr val="17372F"/>
                          </a:solidFill>
                          <a:latin typeface="PingFang SC"/>
                          <a:ea typeface="PingFang SC"/>
                          <a:cs typeface="PingFang SC"/>
                        </a:rPr>
                        <a:t>主实验为无条件生成</a:t>
                      </a:r>
                      <a:endParaRPr sz="1125" b="0" dirty="0">
                        <a:solidFill>
                          <a:srgbClr val="17372F"/>
                        </a:solidFill>
                        <a:latin typeface="PingFang SC"/>
                        <a:ea typeface="PingFang SC"/>
                        <a:cs typeface="PingFang SC"/>
                      </a:endParaRPr>
                    </a:p>
                    <a:p>
                      <a:r>
                        <a:rPr sz="1125" b="0" dirty="0" err="1">
                          <a:solidFill>
                            <a:srgbClr val="17372F"/>
                          </a:solidFill>
                          <a:latin typeface="PingFang SC"/>
                          <a:ea typeface="PingFang SC"/>
                          <a:cs typeface="PingFang SC"/>
                        </a:rPr>
                        <a:t>几何以自生成</a:t>
                      </a:r>
                      <a:r>
                        <a:rPr lang="en-US" altLang="zh-CN" sz="1125" b="0" dirty="0" err="1">
                          <a:solidFill>
                            <a:srgbClr val="17372F"/>
                          </a:solidFill>
                          <a:latin typeface="PingFang SC"/>
                          <a:ea typeface="PingFang SC"/>
                          <a:cs typeface="PingFang SC"/>
                        </a:rPr>
                        <a:t>prototype</a:t>
                      </a:r>
                      <a:r>
                        <a:rPr sz="1125" b="0" dirty="0" err="1">
                          <a:solidFill>
                            <a:srgbClr val="17372F"/>
                          </a:solidFill>
                          <a:latin typeface="PingFang SC"/>
                          <a:ea typeface="PingFang SC"/>
                          <a:cs typeface="PingFang SC"/>
                        </a:rPr>
                        <a:t>为条件</a:t>
                      </a:r>
                      <a:endParaRPr sz="1125" b="0"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extLst>
                  <a:ext uri="{0D108BD9-81ED-4DB2-BD59-A6C34878D82A}">
                    <a16:rowId xmlns:a16="http://schemas.microsoft.com/office/drawing/2014/main" val="10006"/>
                  </a:ext>
                </a:extLst>
              </a:tr>
              <a:tr h="466725">
                <a:tc>
                  <a:txBody>
                    <a:bodyPr/>
                    <a:lstStyle/>
                    <a:p>
                      <a:r>
                        <a:rPr sz="1125" b="1">
                          <a:solidFill>
                            <a:srgbClr val="17372F"/>
                          </a:solidFill>
                          <a:latin typeface="PingFang SC"/>
                          <a:ea typeface="PingFang SC"/>
                          <a:cs typeface="PingFang SC"/>
                        </a:rPr>
                        <a:t>MaskGXT</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逐原子 / 字段 token</a:t>
                      </a:r>
                    </a:p>
                    <a:p>
                      <a:r>
                        <a:rPr sz="1125" b="0">
                          <a:solidFill>
                            <a:srgbClr val="17372F"/>
                          </a:solidFill>
                          <a:latin typeface="PingFang SC"/>
                          <a:ea typeface="PingFang SC"/>
                          <a:cs typeface="PingFang SC"/>
                        </a:rPr>
                        <a:t>几何量化 + 连续精度修正</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非自回归掩码生成</a:t>
                      </a:r>
                    </a:p>
                    <a:p>
                      <a:r>
                        <a:rPr sz="1125" b="0">
                          <a:solidFill>
                            <a:srgbClr val="17372F"/>
                          </a:solidFill>
                          <a:latin typeface="PingFang SC"/>
                          <a:ea typeface="PingFang SC"/>
                          <a:cs typeface="PingFang SC"/>
                        </a:rPr>
                        <a:t>按置信度迭代并行解码</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给定化学组成的 CSP</a:t>
                      </a:r>
                    </a:p>
                    <a:p>
                      <a:r>
                        <a:rPr sz="1125" b="0">
                          <a:solidFill>
                            <a:srgbClr val="17372F"/>
                          </a:solidFill>
                          <a:latin typeface="PingFang SC"/>
                          <a:ea typeface="PingFang SC"/>
                          <a:cs typeface="PingFang SC"/>
                        </a:rPr>
                        <a:t>原子类型与数量已知</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extLst>
                  <a:ext uri="{0D108BD9-81ED-4DB2-BD59-A6C34878D82A}">
                    <a16:rowId xmlns:a16="http://schemas.microsoft.com/office/drawing/2014/main" val="10007"/>
                  </a:ext>
                </a:extLst>
              </a:tr>
              <a:tr h="466725">
                <a:tc>
                  <a:txBody>
                    <a:bodyPr/>
                    <a:lstStyle/>
                    <a:p>
                      <a:r>
                        <a:rPr sz="1125" b="1">
                          <a:solidFill>
                            <a:srgbClr val="17372F"/>
                          </a:solidFill>
                          <a:latin typeface="PingFang SC"/>
                          <a:ea typeface="PingFang SC"/>
                          <a:cs typeface="PingFang SC"/>
                        </a:rPr>
                        <a:t>WyckoffDiff-</a:t>
                      </a:r>
                    </a:p>
                    <a:p>
                      <a:r>
                        <a:rPr sz="1125" b="1">
                          <a:solidFill>
                            <a:srgbClr val="17372F"/>
                          </a:solidFill>
                          <a:latin typeface="PingFang SC"/>
                          <a:ea typeface="PingFang SC"/>
                          <a:cs typeface="PingFang SC"/>
                        </a:rPr>
                        <a:t>Adaptor（补充）</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沿用占据 / 计数表示</a:t>
                      </a:r>
                    </a:p>
                    <a:p>
                      <a:r>
                        <a:rPr sz="1125" b="0">
                          <a:solidFill>
                            <a:srgbClr val="17372F"/>
                          </a:solidFill>
                          <a:latin typeface="PingFang SC"/>
                          <a:ea typeface="PingFang SC"/>
                          <a:cs typeface="PingFang SC"/>
                        </a:rPr>
                        <a:t>去噪网络加入条件适配器</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条件离散扩散</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空间群 + 元素系统</a:t>
                      </a:r>
                    </a:p>
                    <a:p>
                      <a:r>
                        <a:rPr sz="1125" b="0">
                          <a:solidFill>
                            <a:srgbClr val="17372F"/>
                          </a:solidFill>
                          <a:latin typeface="PingFang SC"/>
                          <a:ea typeface="PingFang SC"/>
                          <a:cs typeface="PingFang SC"/>
                        </a:rPr>
                        <a:t>+ 凸包上方能量条件</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原型结构</a:t>
                      </a:r>
                    </a:p>
                    <a:p>
                      <a:r>
                        <a:rPr sz="1125" b="0">
                          <a:solidFill>
                            <a:srgbClr val="17372F"/>
                          </a:solidFill>
                          <a:latin typeface="PingFang SC"/>
                          <a:ea typeface="PingFang SC"/>
                          <a:cs typeface="PingFang SC"/>
                        </a:rPr>
                        <a:t>再补几何</a:t>
                      </a:r>
                    </a:p>
                  </a:txBody>
                  <a:tcPr marL="76200" marR="66675" marT="47625" marB="47625" anchor="ctr">
                    <a:solidFill>
                      <a:srgbClr val="EAF0EB"/>
                    </a:solidFill>
                  </a:tcPr>
                </a:tc>
                <a:extLst>
                  <a:ext uri="{0D108BD9-81ED-4DB2-BD59-A6C34878D82A}">
                    <a16:rowId xmlns:a16="http://schemas.microsoft.com/office/drawing/2014/main" val="10008"/>
                  </a:ext>
                </a:extLst>
              </a:tr>
              <a:tr h="466725">
                <a:tc>
                  <a:txBody>
                    <a:bodyPr/>
                    <a:lstStyle/>
                    <a:p>
                      <a:r>
                        <a:rPr sz="1125" b="1">
                          <a:solidFill>
                            <a:srgbClr val="17372F"/>
                          </a:solidFill>
                          <a:latin typeface="PingFang SC"/>
                          <a:ea typeface="PingFang SC"/>
                          <a:cs typeface="PingFang SC"/>
                        </a:rPr>
                        <a:t>CrystalDLM</a:t>
                      </a:r>
                    </a:p>
                    <a:p>
                      <a:r>
                        <a:rPr sz="1125" b="1">
                          <a:solidFill>
                            <a:srgbClr val="17372F"/>
                          </a:solidFill>
                          <a:latin typeface="PingFang SC"/>
                          <a:ea typeface="PingFang SC"/>
                          <a:cs typeface="PingFang SC"/>
                        </a:rPr>
                        <a:t>（边轨道候选）</a:t>
                      </a: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位点约束＋边轨道</a:t>
                      </a:r>
                    </a:p>
                    <a:p>
                      <a:r>
                        <a:rPr sz="1125" b="1">
                          <a:solidFill>
                            <a:srgbClr val="17372F"/>
                          </a:solidFill>
                          <a:latin typeface="PingFang SC"/>
                          <a:ea typeface="PingFang SC"/>
                          <a:cs typeface="PingFang SC"/>
                        </a:rPr>
                        <a:t>离散原型、几何分离</a:t>
                      </a: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拟非自回归扩散</a:t>
                      </a:r>
                    </a:p>
                    <a:p>
                      <a:r>
                        <a:rPr sz="1125" b="1">
                          <a:solidFill>
                            <a:srgbClr val="17372F"/>
                          </a:solidFill>
                          <a:latin typeface="PingFang SC"/>
                          <a:ea typeface="PingFang SC"/>
                          <a:cs typeface="PingFang SC"/>
                        </a:rPr>
                        <a:t>已做并行单级去噪</a:t>
                      </a: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已测：原型＋指定晶格</a:t>
                      </a:r>
                    </a:p>
                    <a:p>
                      <a:r>
                        <a:rPr sz="1125" b="1">
                          <a:solidFill>
                            <a:srgbClr val="17372F"/>
                          </a:solidFill>
                          <a:latin typeface="PingFang SC"/>
                          <a:ea typeface="PingFang SC"/>
                          <a:cs typeface="PingFang SC"/>
                        </a:rPr>
                        <a:t>最终应用条件待定</a:t>
                      </a:r>
                    </a:p>
                  </a:txBody>
                  <a:tcPr marL="76200" marR="66675" marT="47625" marB="47625" anchor="ctr">
                    <a:solidFill>
                      <a:srgbClr val="DCECE3"/>
                    </a:solidFill>
                  </a:tcPr>
                </a:tc>
                <a:tc>
                  <a:txBody>
                    <a:bodyPr/>
                    <a:lstStyle/>
                    <a:p>
                      <a:r>
                        <a:rPr sz="1125" b="1" dirty="0" err="1">
                          <a:solidFill>
                            <a:srgbClr val="17372F"/>
                          </a:solidFill>
                          <a:latin typeface="PingFang SC"/>
                          <a:ea typeface="PingFang SC"/>
                          <a:cs typeface="PingFang SC"/>
                        </a:rPr>
                        <a:t>原型编码</a:t>
                      </a:r>
                      <a:endParaRPr sz="1125" b="1" dirty="0">
                        <a:solidFill>
                          <a:srgbClr val="17372F"/>
                        </a:solidFill>
                        <a:latin typeface="PingFang SC"/>
                        <a:ea typeface="PingFang SC"/>
                        <a:cs typeface="PingFang SC"/>
                      </a:endParaRPr>
                    </a:p>
                    <a:p>
                      <a:r>
                        <a:rPr sz="1125" b="1" dirty="0" err="1">
                          <a:solidFill>
                            <a:srgbClr val="17372F"/>
                          </a:solidFill>
                          <a:latin typeface="PingFang SC"/>
                          <a:ea typeface="PingFang SC"/>
                          <a:cs typeface="PingFang SC"/>
                        </a:rPr>
                        <a:t>去噪位移</a:t>
                      </a:r>
                      <a:endParaRPr sz="1125" b="1" dirty="0">
                        <a:solidFill>
                          <a:srgbClr val="17372F"/>
                        </a:solidFill>
                        <a:latin typeface="PingFang SC"/>
                        <a:ea typeface="PingFang SC"/>
                        <a:cs typeface="PingFang SC"/>
                      </a:endParaRPr>
                    </a:p>
                  </a:txBody>
                  <a:tcPr marL="76200" marR="66675" marT="47625" marB="47625" anchor="ctr">
                    <a:solidFill>
                      <a:srgbClr val="DCECE3"/>
                    </a:solidFill>
                  </a:tcPr>
                </a:tc>
                <a:extLst>
                  <a:ext uri="{0D108BD9-81ED-4DB2-BD59-A6C34878D82A}">
                    <a16:rowId xmlns:a16="http://schemas.microsoft.com/office/drawing/2014/main" val="10009"/>
                  </a:ext>
                </a:extLst>
              </a:tr>
            </a:tbl>
          </a:graphicData>
        </a:graphic>
      </p:graphicFrame>
      <p:sp>
        <p:nvSpPr>
          <p:cNvPr id="6" name="definitions">
            <a:extLst>
              <a:ext uri="{FF2B5EF4-FFF2-40B4-BE49-F238E27FC236}">
                <a16:creationId xmlns:a16="http://schemas.microsoft.com/office/drawing/2014/main" id="{936DBE54-42A9-4C57-84D7-F0CDA023929A}"/>
              </a:ext>
            </a:extLst>
          </p:cNvPr>
          <p:cNvSpPr>
            <a:spLocks noGrp="1"/>
          </p:cNvSpPr>
          <p:nvPr/>
        </p:nvSpPr>
        <p:spPr>
          <a:xfrm>
            <a:off x="685800" y="6324600"/>
            <a:ext cx="10858500" cy="209550"/>
          </a:xfrm>
          <a:prstGeom prst="rect">
            <a:avLst/>
          </a:prstGeom>
          <a:noFill/>
          <a:ln w="0">
            <a:noFill/>
          </a:ln>
        </p:spPr>
        <p:txBody>
          <a:bodyPr>
            <a:noAutofit/>
          </a:bodyPr>
          <a:lstStyle/>
          <a:p>
            <a:pPr>
              <a:buNone/>
              <a:defRPr sz="900" b="0">
                <a:solidFill>
                  <a:srgbClr val="62736C"/>
                </a:solidFill>
                <a:latin typeface="PingFang SC"/>
                <a:ea typeface="PingFang SC"/>
                <a:cs typeface="PingFang SC"/>
              </a:defRPr>
            </a:pPr>
            <a:r>
              <a:rPr sz="900" b="0">
                <a:solidFill>
                  <a:srgbClr val="62736C"/>
                </a:solidFill>
                <a:latin typeface="PingFang SC"/>
                <a:ea typeface="PingFang SC"/>
                <a:cs typeface="PingFang SC"/>
              </a:rPr>
              <a:t>文献中的原型结构通常不含完整几何。* 条件字段已有，缺少专门基准。本方案完整生成仍拟议。</a:t>
            </a:r>
          </a:p>
        </p:txBody>
      </p:sp>
      <p:sp>
        <p:nvSpPr>
          <p:cNvPr id="7" name="footer">
            <a:extLst>
              <a:ext uri="{FF2B5EF4-FFF2-40B4-BE49-F238E27FC236}">
                <a16:creationId xmlns:a16="http://schemas.microsoft.com/office/drawing/2014/main" id="{7B1B5FAA-746E-431C-810A-5F23ED7F2032}"/>
              </a:ext>
            </a:extLst>
          </p:cNvPr>
          <p:cNvSpPr>
            <a:spLocks noGrp="1"/>
          </p:cNvSpPr>
          <p:nvPr/>
        </p:nvSpPr>
        <p:spPr>
          <a:xfrm>
            <a:off x="685800" y="6619875"/>
            <a:ext cx="10858500" cy="161925"/>
          </a:xfrm>
          <a:prstGeom prst="rect">
            <a:avLst/>
          </a:prstGeom>
          <a:noFill/>
          <a:ln w="0">
            <a:noFill/>
          </a:ln>
        </p:spPr>
        <p:txBody>
          <a:bodyPr>
            <a:noAutofit/>
          </a:bodyPr>
          <a:lstStyle/>
          <a:p>
            <a:pPr>
              <a:buNone/>
              <a:defRPr sz="750" b="0">
                <a:solidFill>
                  <a:srgbClr val="62736C"/>
                </a:solidFill>
                <a:latin typeface="PingFang SC"/>
                <a:ea typeface="PingFang SC"/>
                <a:cs typeface="PingFang SC"/>
              </a:defRPr>
            </a:pPr>
            <a:r>
              <a:rPr sz="750" b="0">
                <a:solidFill>
                  <a:srgbClr val="62736C"/>
                </a:solidFill>
                <a:latin typeface="PingFang SC"/>
                <a:ea typeface="PingFang SC"/>
                <a:cs typeface="PingFang SC"/>
              </a:rPr>
              <a:t>论文核对：2026-09-07；本方案更新：2026-09-09。原文、直接先例与实验边界见备注。</a:t>
            </a:r>
          </a:p>
        </p:txBody>
      </p:sp>
    </p:spTree>
    <p:extLst>
      <p:ext uri="{BB962C8B-B14F-4D97-AF65-F5344CB8AC3E}">
        <p14:creationId xmlns:p14="http://schemas.microsoft.com/office/powerpoint/2010/main" val="211451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353840A-BC42-CB15-1B45-06CC18C7A306}"/>
              </a:ext>
            </a:extLst>
          </p:cNvPr>
          <p:cNvSpPr txBox="1"/>
          <p:nvPr/>
        </p:nvSpPr>
        <p:spPr>
          <a:xfrm>
            <a:off x="1581593" y="3858259"/>
            <a:ext cx="8604398" cy="2031325"/>
          </a:xfrm>
          <a:prstGeom prst="rect">
            <a:avLst/>
          </a:prstGeom>
          <a:noFill/>
        </p:spPr>
        <p:txBody>
          <a:bodyPr wrap="square">
            <a:spAutoFit/>
          </a:bodyPr>
          <a:lstStyle/>
          <a:p>
            <a:pPr>
              <a:buNone/>
            </a:pPr>
            <a:r>
              <a:rPr lang="zh-CN" altLang="en-US" dirty="0"/>
              <a:t>比如，</a:t>
            </a:r>
            <a:r>
              <a:rPr lang="en-US" altLang="zh-CN" dirty="0"/>
              <a:t>A </a:t>
            </a:r>
            <a:r>
              <a:rPr lang="zh-CN" altLang="en-US" dirty="0"/>
              <a:t>附近有几个属于同一个 </a:t>
            </a:r>
            <a:r>
              <a:rPr lang="en-US" altLang="zh-CN" dirty="0"/>
              <a:t>Wyckoff </a:t>
            </a:r>
            <a:r>
              <a:rPr lang="zh-CN" altLang="en-US" dirty="0"/>
              <a:t>位点的 </a:t>
            </a:r>
            <a:r>
              <a:rPr lang="en-US" altLang="zh-CN" dirty="0"/>
              <a:t>B </a:t>
            </a:r>
            <a:r>
              <a:rPr lang="zh-CN" altLang="en-US" dirty="0"/>
              <a:t>原子：一个在当前晶胞，一个在相邻晶胞。只写“</a:t>
            </a:r>
            <a:r>
              <a:rPr lang="en-US" altLang="zh-CN" dirty="0"/>
              <a:t>A </a:t>
            </a:r>
            <a:r>
              <a:rPr lang="zh-CN" altLang="en-US" dirty="0"/>
              <a:t>连接 </a:t>
            </a:r>
            <a:r>
              <a:rPr lang="en-US" altLang="zh-CN" dirty="0"/>
              <a:t>B </a:t>
            </a:r>
            <a:r>
              <a:rPr lang="zh-CN" altLang="en-US" dirty="0"/>
              <a:t>位点”，还没有指明具体连接谁。操作和平移标签是在给这个邻居“标地址”。晶体学 </a:t>
            </a:r>
            <a:r>
              <a:rPr lang="en-US" altLang="zh-CN" dirty="0"/>
              <a:t>CIF </a:t>
            </a:r>
            <a:r>
              <a:rPr lang="zh-CN" altLang="en-US" dirty="0"/>
              <a:t>的连接记录也采用类似方式，用对称操作编号和晶胞平移标记连接端点。</a:t>
            </a:r>
            <a:endParaRPr lang="en-US" altLang="zh-CN" dirty="0"/>
          </a:p>
          <a:p>
            <a:pPr>
              <a:buNone/>
            </a:pPr>
            <a:r>
              <a:rPr lang="zh-CN" altLang="en-US" dirty="0"/>
              <a:t>我们希望在生成几何之前，就显式给模型提供周期连接关系时，把它们放进 </a:t>
            </a:r>
            <a:r>
              <a:rPr lang="en-US" altLang="zh-CN" dirty="0"/>
              <a:t>tokenizer </a:t>
            </a:r>
            <a:r>
              <a:rPr lang="zh-CN" altLang="en-US" dirty="0"/>
              <a:t>才有明确用途。这里的晶格平移也不是原子需要学习的连续位移，而是整数晶胞编号。</a:t>
            </a:r>
          </a:p>
        </p:txBody>
      </p:sp>
      <p:pic>
        <p:nvPicPr>
          <p:cNvPr id="6" name="图片 5">
            <a:extLst>
              <a:ext uri="{FF2B5EF4-FFF2-40B4-BE49-F238E27FC236}">
                <a16:creationId xmlns:a16="http://schemas.microsoft.com/office/drawing/2014/main" id="{D9D2F823-0162-319F-5DD3-D799966FD126}"/>
              </a:ext>
            </a:extLst>
          </p:cNvPr>
          <p:cNvPicPr>
            <a:picLocks noChangeAspect="1"/>
          </p:cNvPicPr>
          <p:nvPr/>
        </p:nvPicPr>
        <p:blipFill>
          <a:blip r:embed="rId2"/>
          <a:stretch>
            <a:fillRect/>
          </a:stretch>
        </p:blipFill>
        <p:spPr>
          <a:xfrm>
            <a:off x="1254432" y="1286541"/>
            <a:ext cx="9683135" cy="1483002"/>
          </a:xfrm>
          <a:prstGeom prst="rect">
            <a:avLst/>
          </a:prstGeom>
        </p:spPr>
      </p:pic>
    </p:spTree>
    <p:extLst>
      <p:ext uri="{BB962C8B-B14F-4D97-AF65-F5344CB8AC3E}">
        <p14:creationId xmlns:p14="http://schemas.microsoft.com/office/powerpoint/2010/main" val="1616875601"/>
      </p:ext>
    </p:extLst>
  </p:cSld>
  <p:clrMapOvr>
    <a:masterClrMapping/>
  </p:clrMapOvr>
</p:sld>
</file>

<file path=ppt/slides/slide13.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8" name="number">
            <a:extLst xmlns:a="http://schemas.openxmlformats.org/drawingml/2006/main">
              <a:ext uri="{FF2B5EF4-FFF2-40B4-BE49-F238E27FC236}">
                <a16:creationId xmlns:a16="http://schemas.microsoft.com/office/drawing/2014/main" id="{A987EB67-7AD3-4885-A176-C5512E987415}"/>
              </a:ext>
            </a:extLst>
          </p:cNvPr>
          <p:cNvSpPr>
            <a:spLocks xmlns:a="http://schemas.openxmlformats.org/drawingml/2006/main" noGrp="1"/>
          </p:cNvSpPr>
          <p:nvPr/>
        </p:nvSpPr>
        <p:spPr>
          <a:xfrm xmlns:a="http://schemas.openxmlformats.org/drawingml/2006/main">
            <a:off x="762000" y="323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2D6B5B"/>
                </a:solidFill>
                <a:latin typeface="PingFang SC"/>
                <a:ea typeface="PingFang SC"/>
                <a:cs typeface="PingFang SC"/>
              </a:defRPr>
            </a:pPr>
            <a:r>
              <a:rPr sz="900" b="0">
                <a:solidFill>
                  <a:srgbClr val="2D6B5B"/>
                </a:solidFill>
                <a:latin typeface="PingFang SC"/>
                <a:ea typeface="PingFang SC"/>
                <a:cs typeface="PingFang SC"/>
              </a:rPr>
              <a:t>13</a:t>
            </a:r>
          </a:p>
        </p:txBody>
      </p:sp>
      <p:sp>
        <p:nvSpPr>
          <p:cNvPr id="2" name="section">
            <a:extLst xmlns:a="http://schemas.openxmlformats.org/drawingml/2006/main">
              <a:ext uri="{FF2B5EF4-FFF2-40B4-BE49-F238E27FC236}">
                <a16:creationId xmlns:a16="http://schemas.microsoft.com/office/drawing/2014/main" id="{6AF45CF3-7511-4CF2-A0EC-EF6983044FB7}"/>
              </a:ext>
            </a:extLst>
          </p:cNvPr>
          <p:cNvSpPr>
            <a:spLocks xmlns:a="http://schemas.openxmlformats.org/drawingml/2006/main" noGrp="1"/>
          </p:cNvSpPr>
          <p:nvPr/>
        </p:nvSpPr>
        <p:spPr>
          <a:xfrm xmlns:a="http://schemas.openxmlformats.org/drawingml/2006/main">
            <a:off x="1285875" y="3238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2736C"/>
                </a:solidFill>
                <a:latin typeface="PingFang SC"/>
                <a:ea typeface="PingFang SC"/>
                <a:cs typeface="PingFang SC"/>
              </a:defRPr>
            </a:pPr>
            <a:r>
              <a:rPr sz="900" b="0">
                <a:solidFill>
                  <a:srgbClr val="62736C"/>
                </a:solidFill>
                <a:latin typeface="PingFang SC"/>
                <a:ea typeface="PingFang SC"/>
                <a:cs typeface="PingFang SC"/>
              </a:rPr>
              <a:t>探索结果</a:t>
            </a:r>
          </a:p>
        </p:txBody>
      </p:sp>
      <p:sp>
        <p:nvSpPr>
          <p:cNvPr id="3" name="title">
            <a:extLst xmlns:a="http://schemas.openxmlformats.org/drawingml/2006/main">
              <a:ext uri="{FF2B5EF4-FFF2-40B4-BE49-F238E27FC236}">
                <a16:creationId xmlns:a16="http://schemas.microsoft.com/office/drawing/2014/main" id="{3726C3E5-038C-494A-AD11-E820E799B7AE}"/>
              </a:ext>
            </a:extLst>
          </p:cNvPr>
          <p:cNvSpPr>
            <a:spLocks xmlns:a="http://schemas.openxmlformats.org/drawingml/2006/main" noGrp="1"/>
          </p:cNvSpPr>
          <p:nvPr/>
        </p:nvSpPr>
        <p:spPr>
          <a:xfrm xmlns:a="http://schemas.openxmlformats.org/drawingml/2006/main">
            <a:off x="762000" y="647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72F"/>
                </a:solidFill>
                <a:latin typeface="PingFang SC"/>
                <a:ea typeface="PingFang SC"/>
                <a:cs typeface="PingFang SC"/>
              </a:defRPr>
            </a:pPr>
            <a:r>
              <a:rPr sz="2625" b="1">
                <a:solidFill>
                  <a:srgbClr val="17372F"/>
                </a:solidFill>
                <a:latin typeface="PingFang SC"/>
                <a:ea typeface="PingFang SC"/>
                <a:cs typeface="PingFang SC"/>
              </a:rPr>
              <a:t>Tokenizer 方案探索与实验结果</a:t>
            </a:r>
          </a:p>
        </p:txBody>
      </p:sp>
      <p:sp>
        <p:nvSpPr>
          <p:cNvPr id="4" name="summary">
            <a:extLst xmlns:a="http://schemas.openxmlformats.org/drawingml/2006/main">
              <a:ext uri="{FF2B5EF4-FFF2-40B4-BE49-F238E27FC236}">
                <a16:creationId xmlns:a16="http://schemas.microsoft.com/office/drawing/2014/main" id="{7FCA7D2B-2616-450B-ADC5-9CC507C6BB68}"/>
              </a:ext>
            </a:extLst>
          </p:cNvPr>
          <p:cNvSpPr>
            <a:spLocks xmlns:a="http://schemas.openxmlformats.org/drawingml/2006/main" noGrp="1"/>
          </p:cNvSpPr>
          <p:nvPr/>
        </p:nvSpPr>
        <p:spPr>
          <a:xfrm xmlns:a="http://schemas.openxmlformats.org/drawingml/2006/main">
            <a:off x="762000" y="11334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2736C"/>
                </a:solidFill>
                <a:latin typeface="PingFang SC"/>
                <a:ea typeface="PingFang SC"/>
                <a:cs typeface="PingFang SC"/>
              </a:defRPr>
            </a:pPr>
            <a:r>
              <a:rPr sz="1425" b="0">
                <a:solidFill>
                  <a:srgbClr val="62736C"/>
                </a:solidFill>
                <a:latin typeface="PingFang SC"/>
                <a:ea typeface="PingFang SC"/>
                <a:cs typeface="PingFang SC"/>
              </a:rPr>
              <a:t>8 个具体方案：6 个做了模型实验，1 个只做词表计算，1 个停在文献筛查</a:t>
            </a:r>
          </a:p>
        </p:txBody>
      </p:sp>
      <p:graphicFrame>
        <p:nvGraphicFramePr>
          <p:cNvPr id="12" name=""/>
          <p:cNvGraphicFramePr/>
          <p:nvPr/>
        </p:nvGraphicFramePr>
        <p:xfrm>
          <a:off xmlns:a="http://schemas.openxmlformats.org/drawingml/2006/main" x="762000" y="1543050"/>
          <a:ext xmlns:a="http://schemas.openxmlformats.org/drawingml/2006/main" cx="10668000" cy="4457700"/>
        </p:xfrm>
        <a:graphic xmlns:a="http://schemas.openxmlformats.org/drawingml/2006/main">
          <a:graphicData uri="http://schemas.openxmlformats.org/drawingml/2006/table">
            <a:tbl>
              <a:tblPr firstRow="0" bandRow="0"/>
              <a:tblGrid>
                <a:gridCol w="2628900"/>
                <a:gridCol w="2762250"/>
                <a:gridCol w="1600200"/>
                <a:gridCol w="3676650"/>
              </a:tblGrid>
              <a:tr h="342900">
                <a:tc>
                  <a:txBody>
                    <a:bodyPr>
                      <a:noAutofit/>
                    </a:bodyPr>
                    <a:lstStyle/>
                    <a:p>
                      <a:r>
                        <a:rPr sz="1350" b="1">
                          <a:solidFill>
                            <a:srgbClr val="FFFFFF"/>
                          </a:solidFill>
                          <a:latin typeface="PingFang SC"/>
                          <a:ea typeface="PingFang SC"/>
                          <a:cs typeface="PingFang SC"/>
                        </a:rPr>
                        <a:t>方案</a:t>
                      </a:r>
                    </a:p>
                  </a:txBody>
                  <a:tcPr marL="85725" marR="76200" marT="47625" marB="47625" anchor="ctr">
                    <a:solidFill>
                      <a:srgbClr val="2D6B5B"/>
                    </a:solidFill>
                  </a:tcPr>
                </a:tc>
                <a:tc>
                  <a:txBody>
                    <a:bodyPr>
                      <a:noAutofit/>
                    </a:bodyPr>
                    <a:lstStyle/>
                    <a:p>
                      <a:r>
                        <a:rPr sz="1350" b="1">
                          <a:solidFill>
                            <a:srgbClr val="FFFFFF"/>
                          </a:solidFill>
                          <a:latin typeface="PingFang SC"/>
                          <a:ea typeface="PingFang SC"/>
                          <a:cs typeface="PingFang SC"/>
                        </a:rPr>
                        <a:t>分词 / 表示方法</a:t>
                      </a:r>
                    </a:p>
                  </a:txBody>
                  <a:tcPr marL="85725" marR="76200" marT="47625" marB="47625" anchor="ctr">
                    <a:solidFill>
                      <a:srgbClr val="2D6B5B"/>
                    </a:solidFill>
                  </a:tcPr>
                </a:tc>
                <a:tc>
                  <a:txBody>
                    <a:bodyPr>
                      <a:noAutofit/>
                    </a:bodyPr>
                    <a:lstStyle/>
                    <a:p>
                      <a:r>
                        <a:rPr sz="1350" b="1">
                          <a:solidFill>
                            <a:srgbClr val="FFFFFF"/>
                          </a:solidFill>
                          <a:latin typeface="PingFang SC"/>
                          <a:ea typeface="PingFang SC"/>
                          <a:cs typeface="PingFang SC"/>
                        </a:rPr>
                        <a:t>验证阶段</a:t>
                      </a:r>
                    </a:p>
                  </a:txBody>
                  <a:tcPr marL="85725" marR="76200" marT="47625" marB="47625" anchor="ctr">
                    <a:solidFill>
                      <a:srgbClr val="2D6B5B"/>
                    </a:solidFill>
                  </a:tcPr>
                </a:tc>
                <a:tc>
                  <a:txBody>
                    <a:bodyPr>
                      <a:noAutofit/>
                    </a:bodyPr>
                    <a:lstStyle/>
                    <a:p>
                      <a:r>
                        <a:rPr sz="1350" b="1">
                          <a:solidFill>
                            <a:srgbClr val="FFFFFF"/>
                          </a:solidFill>
                          <a:latin typeface="PingFang SC"/>
                          <a:ea typeface="PingFang SC"/>
                          <a:cs typeface="PingFang SC"/>
                        </a:rPr>
                        <a:t>结果与判断</a:t>
                      </a:r>
                    </a:p>
                  </a:txBody>
                  <a:tcPr marL="85725" marR="76200" marT="47625" marB="47625" anchor="ctr">
                    <a:solidFill>
                      <a:srgbClr val="2D6B5B"/>
                    </a:solidFill>
                  </a:tcPr>
                </a:tc>
              </a:tr>
              <a:tr h="514350">
                <a:tc>
                  <a:txBody>
                    <a:bodyPr>
                      <a:noAutofit/>
                    </a:bodyPr>
                    <a:lstStyle/>
                    <a:p>
                      <a:r>
                        <a:rPr sz="1200" b="1">
                          <a:solidFill>
                            <a:srgbClr val="17372F"/>
                          </a:solidFill>
                          <a:latin typeface="PingFang SC"/>
                          <a:ea typeface="PingFang SC"/>
                          <a:cs typeface="PingFang SC"/>
                        </a:rPr>
                        <a:t>1  完整占位配置大 token</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同一元素的整套 WP 占位配置</a:t>
                      </a:r>
                    </a:p>
                    <a:p>
                      <a:r>
                        <a:rPr sz="1200" b="0">
                          <a:solidFill>
                            <a:srgbClr val="17372F"/>
                          </a:solidFill>
                          <a:latin typeface="PingFang SC"/>
                          <a:ea typeface="PingFang SC"/>
                          <a:cs typeface="PingFang SC"/>
                        </a:rPr>
                        <a:t>独立成词</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词表计算</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扫描 230 个空间群，部分组合数量爆炸</a:t>
                      </a:r>
                    </a:p>
                    <a:p>
                      <a:r>
                        <a:rPr sz="1200" b="0">
                          <a:solidFill>
                            <a:srgbClr val="17372F"/>
                          </a:solidFill>
                          <a:latin typeface="PingFang SC"/>
                          <a:ea typeface="PingFang SC"/>
                          <a:cs typeface="PingFang SC"/>
                        </a:rPr>
                        <a:t>不采用全覆盖的大词表</a:t>
                      </a:r>
                    </a:p>
                  </a:txBody>
                  <a:tcPr marL="85725" marR="76200" marT="47625" marB="47625" anchor="ctr">
                    <a:solidFill>
                      <a:srgbClr val="F5F8F5"/>
                    </a:solidFill>
                  </a:tcPr>
                </a:tc>
              </a:tr>
              <a:tr h="514350">
                <a:tc>
                  <a:txBody>
                    <a:bodyPr>
                      <a:noAutofit/>
                    </a:bodyPr>
                    <a:lstStyle/>
                    <a:p>
                      <a:r>
                        <a:rPr sz="1200" b="1">
                          <a:solidFill>
                            <a:srgbClr val="17372F"/>
                          </a:solidFill>
                          <a:latin typeface="PingFang SC"/>
                          <a:ea typeface="PingFang SC"/>
                          <a:cs typeface="PingFang SC"/>
                        </a:rPr>
                        <a:t>2  完整占位的组合式编码</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将各 WP 占位记录组合</a:t>
                      </a:r>
                    </a:p>
                    <a:p>
                      <a:r>
                        <a:rPr sz="1200" b="0">
                          <a:solidFill>
                            <a:srgbClr val="17372F"/>
                          </a:solidFill>
                          <a:latin typeface="PingFang SC"/>
                          <a:ea typeface="PingFang SC"/>
                          <a:cs typeface="PingFang SC"/>
                        </a:rPr>
                        <a:t>编码成完整配置表示</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模型对照</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相同联合解码下，匹配率仅增 0.20 个百分点</a:t>
                      </a:r>
                    </a:p>
                    <a:p>
                      <a:r>
                        <a:rPr sz="1200" b="0">
                          <a:solidFill>
                            <a:srgbClr val="17372F"/>
                          </a:solidFill>
                          <a:latin typeface="PingFang SC"/>
                          <a:ea typeface="PingFang SC"/>
                          <a:cs typeface="PingFang SC"/>
                        </a:rPr>
                        <a:t>未确认预测收益</a:t>
                      </a:r>
                    </a:p>
                  </a:txBody>
                  <a:tcPr marL="85725" marR="76200" marT="47625" marB="47625" anchor="ctr">
                    <a:solidFill>
                      <a:srgbClr val="EAF0EB"/>
                    </a:solidFill>
                  </a:tcPr>
                </a:tc>
              </a:tr>
              <a:tr h="514350">
                <a:tc>
                  <a:txBody>
                    <a:bodyPr>
                      <a:noAutofit/>
                    </a:bodyPr>
                    <a:lstStyle/>
                    <a:p>
                      <a:r>
                        <a:rPr sz="1200" b="1">
                          <a:solidFill>
                            <a:srgbClr val="17372F"/>
                          </a:solidFill>
                          <a:latin typeface="PingFang SC"/>
                          <a:ea typeface="PingFang SC"/>
                          <a:cs typeface="PingFang SC"/>
                        </a:rPr>
                        <a:t>3  无序 WP 集合合并</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将常共同出现的同元素</a:t>
                      </a:r>
                    </a:p>
                    <a:p>
                      <a:r>
                        <a:rPr sz="1200" b="0">
                          <a:solidFill>
                            <a:srgbClr val="17372F"/>
                          </a:solidFill>
                          <a:latin typeface="PingFang SC"/>
                          <a:ea typeface="PingFang SC"/>
                          <a:cs typeface="PingFang SC"/>
                        </a:rPr>
                        <a:t>WP 轨道合成一个 token</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可逆编码＋模型</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可以压缩，未证明优于简单计数编码</a:t>
                      </a:r>
                    </a:p>
                    <a:p>
                      <a:r>
                        <a:rPr sz="1200" b="0">
                          <a:solidFill>
                            <a:srgbClr val="17372F"/>
                          </a:solidFill>
                          <a:latin typeface="PingFang SC"/>
                          <a:ea typeface="PingFang SC"/>
                          <a:cs typeface="PingFang SC"/>
                        </a:rPr>
                        <a:t>随后调整为计数块方案</a:t>
                      </a:r>
                    </a:p>
                  </a:txBody>
                  <a:tcPr marL="85725" marR="76200" marT="47625" marB="47625" anchor="ctr">
                    <a:solidFill>
                      <a:srgbClr val="F5F8F5"/>
                    </a:solidFill>
                  </a:tcPr>
                </a:tc>
              </a:tr>
              <a:tr h="514350">
                <a:tc>
                  <a:txBody>
                    <a:bodyPr>
                      <a:noAutofit/>
                    </a:bodyPr>
                    <a:lstStyle/>
                    <a:p>
                      <a:r>
                        <a:rPr sz="1200" b="1">
                          <a:solidFill>
                            <a:srgbClr val="17372F"/>
                          </a:solidFill>
                          <a:latin typeface="PingFang SC"/>
                          <a:ea typeface="PingFang SC"/>
                          <a:cs typeface="PingFang SC"/>
                        </a:rPr>
                        <a:t>4  WP 计数块合并</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先记录 WP 与出现次数</a:t>
                      </a:r>
                    </a:p>
                    <a:p>
                      <a:r>
                        <a:rPr sz="1200" b="0">
                          <a:solidFill>
                            <a:srgbClr val="17372F"/>
                          </a:solidFill>
                          <a:latin typeface="PingFang SC"/>
                          <a:ea typeface="PingFang SC"/>
                          <a:cs typeface="PingFang SC"/>
                        </a:rPr>
                        <a:t>再合并常见的多条计数记录</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三种子模型＋测试</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测试编码单元减少约 9.6%</a:t>
                      </a:r>
                    </a:p>
                    <a:p>
                      <a:r>
                        <a:rPr sz="1200" b="0">
                          <a:solidFill>
                            <a:srgbClr val="17372F"/>
                          </a:solidFill>
                          <a:latin typeface="PingFang SC"/>
                          <a:ea typeface="PingFang SC"/>
                          <a:cs typeface="PingFang SC"/>
                        </a:rPr>
                        <a:t>预测质量无稳定提升，停止扩大实验</a:t>
                      </a:r>
                    </a:p>
                  </a:txBody>
                  <a:tcPr marL="85725" marR="76200" marT="47625" marB="47625" anchor="ctr">
                    <a:solidFill>
                      <a:srgbClr val="EAF0EB"/>
                    </a:solidFill>
                  </a:tcPr>
                </a:tc>
              </a:tr>
              <a:tr h="514350">
                <a:tc>
                  <a:txBody>
                    <a:bodyPr>
                      <a:noAutofit/>
                    </a:bodyPr>
                    <a:lstStyle/>
                    <a:p>
                      <a:r>
                        <a:rPr sz="1200" b="1">
                          <a:solidFill>
                            <a:srgbClr val="17372F"/>
                          </a:solidFill>
                          <a:latin typeface="PingFang SC"/>
                          <a:ea typeface="PingFang SC"/>
                          <a:cs typeface="PingFang SC"/>
                        </a:rPr>
                        <a:t>5  重数组合＋WP 分配</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先按对称等价原子组的大小汇总</a:t>
                      </a:r>
                    </a:p>
                    <a:p>
                      <a:r>
                        <a:rPr sz="1200" b="0">
                          <a:solidFill>
                            <a:srgbClr val="17372F"/>
                          </a:solidFill>
                          <a:latin typeface="PingFang SC"/>
                          <a:ea typeface="PingFang SC"/>
                          <a:cs typeface="PingFang SC"/>
                        </a:rPr>
                        <a:t>再补充具体 WP 身份</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模型分解＋消融</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层级概率形式未优于共同打分</a:t>
                      </a:r>
                    </a:p>
                    <a:p>
                      <a:r>
                        <a:rPr sz="1200" b="0">
                          <a:solidFill>
                            <a:srgbClr val="17372F"/>
                          </a:solidFill>
                          <a:latin typeface="PingFang SC"/>
                          <a:ea typeface="PingFang SC"/>
                          <a:cs typeface="PingFang SC"/>
                        </a:rPr>
                        <a:t>未确认按重数聚合的收益</a:t>
                      </a:r>
                    </a:p>
                  </a:txBody>
                  <a:tcPr marL="85725" marR="76200" marT="47625" marB="47625" anchor="ctr">
                    <a:solidFill>
                      <a:srgbClr val="F5F8F5"/>
                    </a:solidFill>
                  </a:tcPr>
                </a:tc>
              </a:tr>
              <a:tr h="514350">
                <a:tc>
                  <a:txBody>
                    <a:bodyPr>
                      <a:noAutofit/>
                    </a:bodyPr>
                    <a:lstStyle/>
                    <a:p>
                      <a:r>
                        <a:rPr sz="1200" b="1">
                          <a:solidFill>
                            <a:srgbClr val="17372F"/>
                          </a:solidFill>
                          <a:latin typeface="PingFang SC"/>
                          <a:ea typeface="PingFang SC"/>
                          <a:cs typeface="PingFang SC"/>
                        </a:rPr>
                        <a:t>6  位点类型计数＋WP 分配</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先按位点点群类型汇总占位</a:t>
                      </a:r>
                    </a:p>
                    <a:p>
                      <a:r>
                        <a:rPr sz="1200" b="0">
                          <a:solidFill>
                            <a:srgbClr val="17372F"/>
                          </a:solidFill>
                          <a:latin typeface="PingFang SC"/>
                          <a:ea typeface="PingFang SC"/>
                          <a:cs typeface="PingFang SC"/>
                        </a:rPr>
                        <a:t>再补充具体 WP 身份</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编码检查＋模型</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未达到预定的模型收益门槛</a:t>
                      </a:r>
                    </a:p>
                    <a:p>
                      <a:r>
                        <a:rPr sz="1200" b="0">
                          <a:solidFill>
                            <a:srgbClr val="17372F"/>
                          </a:solidFill>
                          <a:latin typeface="PingFang SC"/>
                          <a:ea typeface="PingFang SC"/>
                          <a:cs typeface="PingFang SC"/>
                        </a:rPr>
                        <a:t>停止扩大该分支</a:t>
                      </a:r>
                    </a:p>
                  </a:txBody>
                  <a:tcPr marL="85725" marR="76200" marT="47625" marB="47625" anchor="ctr">
                    <a:solidFill>
                      <a:srgbClr val="EAF0EB"/>
                    </a:solidFill>
                  </a:tcPr>
                </a:tc>
              </a:tr>
              <a:tr h="514350">
                <a:tc>
                  <a:txBody>
                    <a:bodyPr>
                      <a:noAutofit/>
                    </a:bodyPr>
                    <a:lstStyle/>
                    <a:p>
                      <a:r>
                        <a:rPr sz="1200" b="1">
                          <a:solidFill>
                            <a:srgbClr val="17372F"/>
                          </a:solidFill>
                          <a:latin typeface="PingFang SC"/>
                          <a:ea typeface="PingFang SC"/>
                          <a:cs typeface="PingFang SC"/>
                        </a:rPr>
                        <a:t>7  群–子群 / WP 分裂动作</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将子群选择与 WP 分裂</a:t>
                      </a:r>
                    </a:p>
                    <a:p>
                      <a:r>
                        <a:rPr sz="1200" b="0">
                          <a:solidFill>
                            <a:srgbClr val="17372F"/>
                          </a:solidFill>
                          <a:latin typeface="PingFang SC"/>
                          <a:ea typeface="PingFang SC"/>
                          <a:cs typeface="PingFang SC"/>
                        </a:rPr>
                        <a:t>编码为生成动作</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仅文献筛查</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已有工作明显覆盖相关思路</a:t>
                      </a:r>
                    </a:p>
                    <a:p>
                      <a:r>
                        <a:rPr sz="1200" b="0">
                          <a:solidFill>
                            <a:srgbClr val="17372F"/>
                          </a:solidFill>
                          <a:latin typeface="PingFang SC"/>
                          <a:ea typeface="PingFang SC"/>
                          <a:cs typeface="PingFang SC"/>
                        </a:rPr>
                        <a:t>未进入实现和训练</a:t>
                      </a:r>
                    </a:p>
                  </a:txBody>
                  <a:tcPr marL="85725" marR="76200" marT="47625" marB="47625" anchor="ctr">
                    <a:solidFill>
                      <a:srgbClr val="F5F8F5"/>
                    </a:solidFill>
                  </a:tcPr>
                </a:tc>
              </a:tr>
              <a:tr h="514350">
                <a:tc>
                  <a:txBody>
                    <a:bodyPr>
                      <a:noAutofit/>
                    </a:bodyPr>
                    <a:lstStyle/>
                    <a:p>
                      <a:r>
                        <a:rPr sz="1200" b="1">
                          <a:solidFill>
                            <a:srgbClr val="17372F"/>
                          </a:solidFill>
                          <a:latin typeface="PingFang SC"/>
                          <a:ea typeface="PingFang SC"/>
                          <a:cs typeface="PingFang SC"/>
                        </a:rPr>
                        <a:t>8  空间群边轨道 tokenizer</a:t>
                      </a:r>
                    </a:p>
                  </a:txBody>
                  <a:tcPr marL="85725" marR="76200" marT="47625" marB="47625" anchor="ctr">
                    <a:solidFill>
                      <a:srgbClr val="DCECE3"/>
                    </a:solidFill>
                  </a:tcPr>
                </a:tc>
                <a:tc>
                  <a:txBody>
                    <a:bodyPr>
                      <a:noAutofit/>
                    </a:bodyPr>
                    <a:lstStyle/>
                    <a:p>
                      <a:r>
                        <a:rPr sz="1200" b="1">
                          <a:solidFill>
                            <a:srgbClr val="17372F"/>
                          </a:solidFill>
                          <a:latin typeface="PingFang SC"/>
                          <a:ea typeface="PingFang SC"/>
                          <a:cs typeface="PingFang SC"/>
                        </a:rPr>
                        <a:t>合并对称等价的邻接关系</a:t>
                      </a:r>
                    </a:p>
                    <a:p>
                      <a:r>
                        <a:rPr sz="1200" b="1">
                          <a:solidFill>
                            <a:srgbClr val="17372F"/>
                          </a:solidFill>
                          <a:latin typeface="PingFang SC"/>
                          <a:ea typeface="PingFang SC"/>
                          <a:cs typeface="PingFang SC"/>
                        </a:rPr>
                        <a:t>离散原型与连续几何分开</a:t>
                      </a:r>
                    </a:p>
                  </a:txBody>
                  <a:tcPr marL="85725" marR="76200" marT="47625" marB="47625" anchor="ctr">
                    <a:solidFill>
                      <a:srgbClr val="DCECE3"/>
                    </a:solidFill>
                  </a:tcPr>
                </a:tc>
                <a:tc>
                  <a:txBody>
                    <a:bodyPr>
                      <a:noAutofit/>
                    </a:bodyPr>
                    <a:lstStyle/>
                    <a:p>
                      <a:r>
                        <a:rPr sz="1200" b="1">
                          <a:solidFill>
                            <a:srgbClr val="17372F"/>
                          </a:solidFill>
                          <a:latin typeface="PingFang SC"/>
                          <a:ea typeface="PingFang SC"/>
                          <a:cs typeface="PingFang SC"/>
                        </a:rPr>
                        <a:t>编码＋模型＋去噪</a:t>
                      </a:r>
                    </a:p>
                  </a:txBody>
                  <a:tcPr marL="85725" marR="76200" marT="47625" marB="47625" anchor="ctr">
                    <a:solidFill>
                      <a:srgbClr val="DCECE3"/>
                    </a:solidFill>
                  </a:tcPr>
                </a:tc>
                <a:tc>
                  <a:txBody>
                    <a:bodyPr>
                      <a:noAutofit/>
                    </a:bodyPr>
                    <a:lstStyle/>
                    <a:p>
                      <a:r>
                        <a:rPr sz="1200" b="1">
                          <a:solidFill>
                            <a:srgbClr val="17372F"/>
                          </a:solidFill>
                          <a:latin typeface="PingFang SC"/>
                          <a:ea typeface="PingFang SC"/>
                          <a:cs typeface="PingFang SC"/>
                        </a:rPr>
                        <a:t>保留为候选，指定 ASU 对照下显存少 44.6%</a:t>
                      </a:r>
                    </a:p>
                    <a:p>
                      <a:r>
                        <a:rPr sz="1200" b="1">
                          <a:solidFill>
                            <a:srgbClr val="17372F"/>
                          </a:solidFill>
                          <a:latin typeface="PingFang SC"/>
                          <a:ea typeface="PingFang SC"/>
                          <a:cs typeface="PingFang SC"/>
                        </a:rPr>
                        <a:t>耗时多 11.7%，完整生成尚待验证</a:t>
                      </a:r>
                    </a:p>
                  </a:txBody>
                  <a:tcPr marL="85725" marR="76200" marT="47625" marB="47625" anchor="ctr">
                    <a:solidFill>
                      <a:srgbClr val="DCECE3"/>
                    </a:solidFill>
                  </a:tcPr>
                </a:tc>
              </a:tr>
            </a:tbl>
          </a:graphicData>
        </a:graphic>
      </p:graphicFrame>
      <p:sp>
        <p:nvSpPr>
          <p:cNvPr id="6" name="counting">
            <a:extLst xmlns:a="http://schemas.openxmlformats.org/drawingml/2006/main">
              <a:ext uri="{FF2B5EF4-FFF2-40B4-BE49-F238E27FC236}">
                <a16:creationId xmlns:a16="http://schemas.microsoft.com/office/drawing/2014/main" id="{06D13731-5FD6-4AD4-946A-1299E319313A}"/>
              </a:ext>
            </a:extLst>
          </p:cNvPr>
          <p:cNvSpPr>
            <a:spLocks xmlns:a="http://schemas.openxmlformats.org/drawingml/2006/main" noGrp="1"/>
          </p:cNvSpPr>
          <p:nvPr/>
        </p:nvSpPr>
        <p:spPr>
          <a:xfrm xmlns:a="http://schemas.openxmlformats.org/drawingml/2006/main">
            <a:off x="762000" y="62007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736C"/>
                </a:solidFill>
                <a:latin typeface="PingFang SC"/>
                <a:ea typeface="PingFang SC"/>
                <a:cs typeface="PingFang SC"/>
              </a:defRPr>
            </a:pPr>
            <a:r>
              <a:rPr sz="1050" b="0">
                <a:solidFill>
                  <a:srgbClr val="62736C"/>
                </a:solidFill>
                <a:latin typeface="PingFang SC"/>
                <a:ea typeface="PingFang SC"/>
                <a:cs typeface="PingFang SC"/>
              </a:rPr>
              <a:t>统计包含最初词表检查。③④为同一大方向的两版方案，合并后为 7 大类。训练种子与实现优化不另计。</a:t>
            </a:r>
          </a:p>
        </p:txBody>
      </p:sp>
      <p:sp>
        <p:nvSpPr>
          <p:cNvPr id="7" name="limits">
            <a:extLst xmlns:a="http://schemas.openxmlformats.org/drawingml/2006/main">
              <a:ext uri="{FF2B5EF4-FFF2-40B4-BE49-F238E27FC236}">
                <a16:creationId xmlns:a16="http://schemas.microsoft.com/office/drawing/2014/main" id="{D704B791-A54B-4C44-A73A-E8773A237E77}"/>
              </a:ext>
            </a:extLst>
          </p:cNvPr>
          <p:cNvSpPr>
            <a:spLocks xmlns:a="http://schemas.openxmlformats.org/drawingml/2006/main" noGrp="1"/>
          </p:cNvSpPr>
          <p:nvPr/>
        </p:nvSpPr>
        <p:spPr>
          <a:xfrm xmlns:a="http://schemas.openxmlformats.org/drawingml/2006/main">
            <a:off x="762000" y="65055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2736C"/>
                </a:solidFill>
                <a:latin typeface="PingFang SC"/>
                <a:ea typeface="PingFang SC"/>
                <a:cs typeface="PingFang SC"/>
              </a:defRPr>
            </a:pPr>
            <a:r>
              <a:rPr sz="900" b="0">
                <a:solidFill>
                  <a:srgbClr val="62736C"/>
                </a:solidFill>
                <a:latin typeface="PingFang SC"/>
                <a:ea typeface="PingFang SC"/>
                <a:cs typeface="PingFang SC"/>
              </a:rPr>
              <a:t>WP = Wyckoff 位置。各行实验任务与预算不同，不能直接横比准确率。实验记录与比较范围见本页备注。</a:t>
            </a:r>
          </a:p>
        </p:txBody>
      </p:sp>
    </p:spTree>
    <p:extLst>
      <p:ext uri="{BB962C8B-B14F-4D97-AF65-F5344CB8AC3E}">
        <p14:creationId xmlns:p14="http://schemas.microsoft.com/office/powerpoint/2010/main" val="12714398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284</TotalTime>
  <Words>3952</Words>
  <Application>Microsoft Macintosh PowerPoint</Application>
  <DocSecurity>0</DocSecurity>
  <PresentationFormat>宽屏</PresentationFormat>
  <Paragraphs>351</Paragraphs>
  <Slides>13</Slides>
  <Notes>11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12</vt:i4>
      </vt:variant>
    </vt:vector>
  </HeadingPairs>
  <TitlesOfParts>
    <vt:vector size="15" baseType="lpstr">
      <vt:lpstr>PingFang SC</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铖 桂</cp:lastModifiedBy>
  <cp:revision>2</cp:revision>
  <dcterms:created xsi:type="dcterms:W3CDTF">2026-09-07T13:39:25Z</dcterms:created>
  <dcterms:modified xsi:type="dcterms:W3CDTF">2026-09-09T07:59:59Z</dcterms:modified>
</cp:coreProperties>
</file>