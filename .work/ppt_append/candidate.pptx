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56266e37a6464d" /><Relationship Type="http://schemas.openxmlformats.org/officeDocument/2006/relationships/extended-properties" Target="/docProps/app.xml" Id="R9cccfef209a14929" /><Relationship Type="http://schemas.openxmlformats.org/officeDocument/2006/relationships/officeDocument" Target="/ppt/presentation.xml" Id="R0781bbff07be49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457faa38cd462a"/>
  </p:sldMasterIdLst>
  <p:notesMasterIdLst>
    <p:notesMasterId xmlns:r="http://schemas.openxmlformats.org/officeDocument/2006/relationships" r:id="Ree9bd7e3f22d4cdc"/>
  </p:notesMasterIdLst>
  <p:sldIdLst>
    <p:sldId xmlns:r="http://schemas.openxmlformats.org/officeDocument/2006/relationships" id="256" r:id="R21d58e5f83214d33"/>
    <p:sldId xmlns:r="http://schemas.openxmlformats.org/officeDocument/2006/relationships" id="257" r:id="R155f34baf4814005"/>
    <p:sldId xmlns:r="http://schemas.openxmlformats.org/officeDocument/2006/relationships" id="258" r:id="R0bacefc780d044ee"/>
    <p:sldId xmlns:r="http://schemas.openxmlformats.org/officeDocument/2006/relationships" id="259" r:id="R1f8a12dddee6495a"/>
    <p:sldId xmlns:r="http://schemas.openxmlformats.org/officeDocument/2006/relationships" id="260" r:id="R95423f92f21c4a8f"/>
    <p:sldId xmlns:r="http://schemas.openxmlformats.org/officeDocument/2006/relationships" id="261" r:id="R3d0905f79d9146b0"/>
    <p:sldId xmlns:r="http://schemas.openxmlformats.org/officeDocument/2006/relationships" id="262" r:id="R3c10cc45b9674c0c"/>
    <p:sldId xmlns:r="http://schemas.openxmlformats.org/officeDocument/2006/relationships" id="263" r:id="Rb2dd41a494804172"/>
    <p:sldId xmlns:r="http://schemas.openxmlformats.org/officeDocument/2006/relationships" id="264" r:id="R2c851d70c6c14b51"/>
    <p:sldId xmlns:r="http://schemas.openxmlformats.org/officeDocument/2006/relationships" id="265" r:id="Rfc72a8075947411f"/>
    <p:sldId xmlns:r="http://schemas.openxmlformats.org/officeDocument/2006/relationships" id="266" r:id="R86dc3ed8be7d4f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4c1484d3d4d3a" /><Relationship Type="http://schemas.openxmlformats.org/officeDocument/2006/relationships/slideMaster" Target="/ppt/slideMasters/slideMaster1.xml" Id="Rb2457faa38cd462a" /><Relationship Type="http://schemas.openxmlformats.org/officeDocument/2006/relationships/notesMaster" Target="/ppt/notesMasters/notesMaster1.xml" Id="Ree9bd7e3f22d4cdc" /><Relationship Type="http://schemas.openxmlformats.org/officeDocument/2006/relationships/presProps" Target="/ppt/presProps.xml" Id="Reb3ac0b0fdf44b9d" /><Relationship Type="http://schemas.openxmlformats.org/officeDocument/2006/relationships/viewProps" Target="/ppt/viewProps.xml" Id="R7c68294de88149a7" /><Relationship Type="http://schemas.openxmlformats.org/officeDocument/2006/relationships/tableStyles" Target="/ppt/tableStyles.xml" Id="R9a694512e2164639" /><Relationship Type="http://schemas.openxmlformats.org/officeDocument/2006/relationships/slide" Target="/ppt/slides/slide1.xml" Id="R21d58e5f83214d33" /><Relationship Type="http://schemas.openxmlformats.org/officeDocument/2006/relationships/slide" Target="/ppt/slides/slide2.xml" Id="R155f34baf4814005" /><Relationship Type="http://schemas.openxmlformats.org/officeDocument/2006/relationships/slide" Target="/ppt/slides/slide3.xml" Id="R0bacefc780d044ee" /><Relationship Type="http://schemas.openxmlformats.org/officeDocument/2006/relationships/slide" Target="/ppt/slides/slide4.xml" Id="R1f8a12dddee6495a" /><Relationship Type="http://schemas.openxmlformats.org/officeDocument/2006/relationships/slide" Target="/ppt/slides/slide5.xml" Id="R95423f92f21c4a8f" /><Relationship Type="http://schemas.openxmlformats.org/officeDocument/2006/relationships/slide" Target="/ppt/slides/slide6.xml" Id="R3d0905f79d9146b0" /><Relationship Type="http://schemas.openxmlformats.org/officeDocument/2006/relationships/slide" Target="/ppt/slides/slide7.xml" Id="R3c10cc45b9674c0c" /><Relationship Type="http://schemas.openxmlformats.org/officeDocument/2006/relationships/slide" Target="/ppt/slides/slide8.xml" Id="Rb2dd41a494804172" /><Relationship Type="http://schemas.openxmlformats.org/officeDocument/2006/relationships/slide" Target="/ppt/slides/slide9.xml" Id="R2c851d70c6c14b51" /><Relationship Type="http://schemas.openxmlformats.org/officeDocument/2006/relationships/slide" Target="/ppt/slides/slide10.xml" Id="Rfc72a8075947411f" /><Relationship Type="http://schemas.openxmlformats.org/officeDocument/2006/relationships/slide" Target="/ppt/slides/slide11.xml" Id="R86dc3ed8be7d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124745b6d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78710da0b4391" /><Relationship Type="http://schemas.openxmlformats.org/officeDocument/2006/relationships/notesMaster" Target="/ppt/notesMasters/notesMaster1.xml" Id="Rb43774fe430d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a7f3e66d2445e" /><Relationship Type="http://schemas.openxmlformats.org/officeDocument/2006/relationships/notesMaster" Target="/ppt/notesMasters/notesMaster1.xml" Id="R37023ed9b7cb4a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1df1f61114ef2" /><Relationship Type="http://schemas.openxmlformats.org/officeDocument/2006/relationships/notesMaster" Target="/ppt/notesMasters/notesMaster1.xml" Id="R355ec778d39f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fa8fb5d9e4bad" /><Relationship Type="http://schemas.openxmlformats.org/officeDocument/2006/relationships/notesMaster" Target="/ppt/notesMasters/notesMaster1.xml" Id="R3c693f6dabca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480df162b445bc" /><Relationship Type="http://schemas.openxmlformats.org/officeDocument/2006/relationships/notesMaster" Target="/ppt/notesMasters/notesMaster1.xml" Id="Ra192190177284e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9b850a8f804c00" /><Relationship Type="http://schemas.openxmlformats.org/officeDocument/2006/relationships/notesMaster" Target="/ppt/notesMasters/notesMaster1.xml" Id="R7595d511c73648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8457a1205b4789" /><Relationship Type="http://schemas.openxmlformats.org/officeDocument/2006/relationships/notesMaster" Target="/ppt/notesMasters/notesMaster1.xml" Id="Rf7c88a89292746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225ba2d0864527" /><Relationship Type="http://schemas.openxmlformats.org/officeDocument/2006/relationships/notesMaster" Target="/ppt/notesMasters/notesMaster1.xml" Id="Rddd7ee7aeacc4d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28d7b17ced4f99" /><Relationship Type="http://schemas.openxmlformats.org/officeDocument/2006/relationships/notesMaster" Target="/ppt/notesMasters/notesMaster1.xml" Id="R86b74d84ca1441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4f83ba5c7b473c" /><Relationship Type="http://schemas.openxmlformats.org/officeDocument/2006/relationships/notesMaster" Target="/ppt/notesMasters/notesMaster1.xml" Id="R8e65d1d7a20847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9a3e186cf0443f" /><Relationship Type="http://schemas.openxmlformats.org/officeDocument/2006/relationships/notesMaster" Target="/ppt/notesMasters/notesMaster1.xml" Id="R43a4b0d57c81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title page: https://arxiv.org/abs/2608.07401</a:t>
            </a:r>
          </a:p>
          <a:p xmlns:a="http://schemas.openxmlformats.org/drawingml/2006/main">
            <a:r>
              <a:t>- MaskGXT title page: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Introduction and symmetry representation: https://arxiv.org/abs/2608.07401 (paper pages 1-4)</a:t>
            </a:r>
          </a:p>
          <a:p xmlns:a="http://schemas.openxmlformats.org/drawingml/2006/main">
            <a:r>
              <a:t>- SymmCD Introduction and representation: https://arxiv.org/abs/2502.03638 (paper pages 1, 4-6)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Figure 4 and Tokenization: https://arxiv.org/abs/2503.02407 (paper pages 4-5)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Figure 1 and Method: https://arxiv.org/abs/2608.07401 (paper pages 2, 4-6)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MaskGXT Figure 3 and Sampling: https://arxiv.org/abs/2606.22866 (paper pages 6,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Table 1: https://arxiv.org/abs/2608.07401 (paper page 8)</a:t>
            </a:r>
          </a:p>
          <a:p xmlns:a="http://schemas.openxmlformats.org/drawingml/2006/main">
            <a:r>
              <a:t>- MaskGXT Tables 2 and 4: https://arxiv.org/abs/2606.22866 (paper pages 11-12)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CrystalFormer: https://arxiv.org/abs/2403.15734</a:t>
            </a:r>
          </a:p>
          <a:p xmlns:a="http://schemas.openxmlformats.org/drawingml/2006/main">
            <a:r>
              <a:t>- Matra-Genoa: https://arxiv.org/abs/2501.16051</a:t>
            </a:r>
          </a:p>
          <a:p xmlns:a="http://schemas.openxmlformats.org/drawingml/2006/main">
            <a:r>
              <a:t>- WyckoffDiff: https://arxiv.org/abs/2502.06485</a:t>
            </a:r>
          </a:p>
          <a:p xmlns:a="http://schemas.openxmlformats.org/drawingml/2006/main">
            <a:r>
              <a:t>- SymmCD: https://arxiv.org/abs/2502.03638</a:t>
            </a:r>
          </a:p>
          <a:p xmlns:a="http://schemas.openxmlformats.org/drawingml/2006/main">
            <a:r>
              <a:t>- DynaCrys: https://arxiv.org/abs/2608.07401</a:t>
            </a:r>
          </a:p>
          <a:p xmlns:a="http://schemas.openxmlformats.org/drawingml/2006/main">
            <a:r>
              <a:t>- MaskGXT: https://arxiv.org/abs/2606.22866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WyFormer Tokenization: https://arxiv.org/abs/2503.02407 (paper pages 4-5)</a:t>
            </a:r>
          </a:p>
          <a:p xmlns:a="http://schemas.openxmlformats.org/drawingml/2006/main">
            <a:r>
              <a:t>- DynaCrys Method: https://arxiv.org/abs/2608.07401 (paper pages 4-6)</a:t>
            </a:r>
          </a:p>
          <a:p xmlns:a="http://schemas.openxmlformats.org/drawingml/2006/main">
            <a:r>
              <a:t>- MaskGXT Method: https://arxiv.org/abs/2606.22866 (paper pages 5-9)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Evaluation: https://arxiv.org/abs/2608.07401 (paper pages 7-10)</a:t>
            </a:r>
          </a:p>
          <a:p xmlns:a="http://schemas.openxmlformats.org/drawingml/2006/main">
            <a:r>
              <a:t>- MaskGXT Experiments: https://arxiv.org/abs/2606.22866 (paper pages 9-12)</a:t>
            </a:r>
          </a:p>
          <a:p xmlns:a="http://schemas.openxmlformats.org/drawingml/2006/main">
            <a:r>
              <a:t>- WyFormer Experiments: https://arxiv.org/abs/2503.02407 (paper pages 6-9)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DynaCrys Conclusion: https://arxiv.org/abs/2608.07401 (paper page 10)</a:t>
            </a:r>
          </a:p>
          <a:p xmlns:a="http://schemas.openxmlformats.org/drawingml/2006/main">
            <a:r>
              <a:t>- MaskGXT Conclusion and Limitations: https://arxiv.org/abs/2606.22866 (paper pages 11-12)</a:t>
            </a:r>
          </a:p>
          <a:p xmlns:a="http://schemas.openxmlformats.org/drawingml/2006/main">
            <a:r>
              <a:t>- Bounded related-work scan recorded in work/source-notes.txt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晶体条件生成模型对比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核对日期：2026-09-07。范围为本地找到的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模型对比表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模型 | 表示 / tokenizer 的基本单元 | 生成范式与解码方式 | 条件生成：原文做了什么 | 模型直接输出 | 与我们拟议方案的主要关系 |</a:t>
            </a:r>
          </a:p>
          <a:p xmlns:a="http://schemas.openxmlformats.org/drawingml/2006/main">
            <a:r>
              <a:t>|---|---|---|---|---|---|</a:t>
            </a:r>
          </a:p>
          <a:p xmlns:a="http://schemas.openxmlformats.org/drawingml/2006/main"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 xmlns:a="http://schemas.openxmlformats.org/drawingml/2006/main"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motif/set tokenizer 与非 AR 去噪的作用 |</a:t>
            </a:r>
          </a:p>
          <a:p xmlns:a="http://schemas.openxmlformats.org/drawingml/2006/main"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创新，差异在 motif 编码与扩散生成 |</a:t>
            </a:r>
          </a:p>
          <a:p xmlns:a="http://schemas.openxmlformats.org/drawingml/2006/main"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 xmlns:a="http://schemas.openxmlformats.org/drawingml/2006/main"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扩散；我们的潜在区别在离散 motif 编码及选定后的条件任务 |</a:t>
            </a:r>
          </a:p>
          <a:p xmlns:a="http://schemas.openxmlformats.org/drawingml/2006/main"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 xmlns:a="http://schemas.openxmlformats.org/drawingml/2006/main"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 xmlns:a="http://schemas.openxmlformats.org/drawingml/2006/main"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 xmlns:a="http://schemas.openxmlformats.org/drawingml/2006/main">
            <a:r>
              <a:t>| **我们的模型：CrystalDLM（拟议）** | **新 Wyckoff tokenizer**；PPT 候选为 set-level BPE，将合法共现 orbit 合并为可逆 motif，保留集合/对称信息；具体规则待定 | **非 AR diffusion / DLM**；拟以双向去噪恢复 masked 单元，具体目标与采样算法待定 | **以 conditional generation 为主要任务；条件类型待定**，暂不选定化学式、性质或部分结构 | **待定**：protostructure 或完整结构；PPT 尚未定案 | 拟验证的组合是 **新的集合/motif tokenizer + 非 AR 扩散 + 明确的条件任务**；效果与创新性尚待实验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表格结论与用词边界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 xmlns:a="http://schemas.openxmlformats.org/drawingml/2006/main"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 xmlns:a="http://schemas.openxmlformats.org/drawingml/2006/main">
            <a:r>
              <a:t>3. **“Tokenizer 不同”需要落到编码单元上。** 已有工作分别采用复合 orbit 单元、占据矩阵、混合连续/离散字段、固定量化 bins 和对称 codebook。PPT 的候选区别是可学习合并的 orbit motif，以及集合等价性下的稳定、可逆编码；这仍是设计假设，不能写成已证明的性能优势。[1–8；本地 PPT 第 8 页]</a:t>
            </a:r>
          </a:p>
          <a:p xmlns:a="http://schemas.openxmlformats.org/drawingml/2006/main"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可用于汇报的当前定位：**我们拟研究面向条件晶体生成的 Wyckoff 集合/motif tokenizer，并结合非自回归扩散生成；要验证的差异是 token 单元及其对条件任务的作用，而非单独宣称首次使用扩散或条件生成。条件类型与输出层级尚待确定。**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原文证据与阅读版本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以下页码均为对应版本 PDF 页码。链接固定到本次所读版本，避免后续改版造成页码漂移。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 xmlns:a="http://schemas.openxmlformats.org/drawingml/2006/main"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 xmlns:a="http://schemas.openxmlformats.org/drawingml/2006/main"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 xmlns:a="http://schemas.openxmlformats.org/drawingml/2006/main"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 xmlns:a="http://schemas.openxmlformats.org/drawingml/2006/main"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 xmlns:a="http://schemas.openxmlformats.org/drawingml/2006/main"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 xmlns:a="http://schemas.openxmlformats.org/drawingml/2006/main"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</a:p>
          <a:p xmlns:a="http://schemas.openxmlformats.org/drawingml/2006/main"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核对范围与限制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 xmlns:a="http://schemas.openxmlformats.org/drawingml/2006/main"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 xmlns:a="http://schemas.openxmlformats.org/drawingml/2006/main"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</a:p>
          <a:p xmlns:a="http://schemas.openxmlformats.org/drawingml/2006/main">
            <a:r>
              <a:t>- 本文由 AI 辅助阅读全文与汇总；不代表用户已人工读完全部论文。逐篇详细核对笔记保存在 `notes/`。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0be313fea4d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4f52064ac6482c" /><Relationship Type="http://schemas.openxmlformats.org/officeDocument/2006/relationships/slideLayout" Target="/ppt/slideLayouts/slideLayout1.xml" Id="R658a3080cefa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8a3080cefa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29cc8e154bae" /><Relationship Type="http://schemas.openxmlformats.org/officeDocument/2006/relationships/notesSlide" Target="/ppt/notesSlides/notesSlide1.xml" Id="R0aebef85b0ac4d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e987e016496b" /><Relationship Type="http://schemas.openxmlformats.org/officeDocument/2006/relationships/notesSlide" Target="/ppt/notesSlides/notesSlide2.xml" Id="Rc735e733d945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d11686904cd7" /><Relationship Type="http://schemas.openxmlformats.org/officeDocument/2006/relationships/image" Target="/ppt/media/image.png" Id="R4a9b7d6916694fb7" /><Relationship Type="http://schemas.openxmlformats.org/officeDocument/2006/relationships/notesSlide" Target="/ppt/notesSlides/notesSlide3.xml" Id="Rbade9f0e3a964a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85eab273f4013" /><Relationship Type="http://schemas.openxmlformats.org/officeDocument/2006/relationships/image" Target="/ppt/media/image2.png" Id="R1a0a03388263427b" /><Relationship Type="http://schemas.openxmlformats.org/officeDocument/2006/relationships/notesSlide" Target="/ppt/notesSlides/notesSlide4.xml" Id="R3eca7fdbc36a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0215df2d4dfa" /><Relationship Type="http://schemas.openxmlformats.org/officeDocument/2006/relationships/image" Target="/ppt/media/image3.png" Id="R8a0054e1ffa14344" /><Relationship Type="http://schemas.openxmlformats.org/officeDocument/2006/relationships/notesSlide" Target="/ppt/notesSlides/notesSlide5.xml" Id="R73e3c43ae88749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0257d95cf45d6" /><Relationship Type="http://schemas.openxmlformats.org/officeDocument/2006/relationships/notesSlide" Target="/ppt/notesSlides/notesSlide6.xml" Id="Rbae4801d19f44d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7bc6566db4779" /><Relationship Type="http://schemas.openxmlformats.org/officeDocument/2006/relationships/notesSlide" Target="/ppt/notesSlides/notesSlide7.xml" Id="R1e5f8216d0bb45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05d5f426b4ed2" /><Relationship Type="http://schemas.openxmlformats.org/officeDocument/2006/relationships/notesSlide" Target="/ppt/notesSlides/notesSlide8.xml" Id="Rd749656a06f742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a337303864302" /><Relationship Type="http://schemas.openxmlformats.org/officeDocument/2006/relationships/notesSlide" Target="/ppt/notesSlides/notesSlide9.xml" Id="Rb9018a059eb242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7214a9c254992" /><Relationship Type="http://schemas.openxmlformats.org/officeDocument/2006/relationships/notesSlide" Target="/ppt/notesSlides/notesSlide10.xml" Id="R5a48a0006f224a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935c18ba8490d" /><Relationship Type="http://schemas.openxmlformats.org/officeDocument/2006/relationships/notesSlide" Target="/ppt/notesSlides/notesSlide11.xml" Id="R68928966603640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95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</a:t>
            </a:r>
            <a:r>
              <a:rPr sz="1725" b="0">
                <a:solidFill>
                  <a:srgbClr val="263732"/>
                </a:solidFill>
              </a:rPr>
              <a:t> </a:t>
            </a:r>
            <a:r>
              <a:rPr sz="1725" b="0">
                <a:solidFill>
                  <a:srgbClr val="263732"/>
                </a:solidFill>
              </a:rPr>
              <a:t>本身不新，结构化</a:t>
            </a:r>
            <a:r>
              <a:rPr sz="1725" b="0">
                <a:solidFill>
                  <a:srgbClr val="263732"/>
                </a:solidFill>
              </a:rPr>
              <a:t> tokenization + legal set diffusion </a:t>
            </a:r>
            <a:r>
              <a:rPr sz="1725" b="0">
                <a:solidFill>
                  <a:srgbClr val="263732"/>
                </a:solidFill>
              </a:rPr>
              <a:t>才是主线</a:t>
            </a:r>
            <a:endParaRPr sz="1725" b="0">
              <a:solidFill>
                <a:srgbClr val="263732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b7d6916694fb7"/>
          <a:stretch xmlns:a="http://schemas.openxmlformats.org/drawingml/2006/main"/>
        </p:blipFill>
        <p:spPr>
          <a:xfrm xmlns:a="http://schemas.openxmlformats.org/drawingml/2006/main">
            <a:off x="685800" y="2061882"/>
            <a:ext cx="10820400" cy="1591235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a03388263427b"/>
          <a:stretch xmlns:a="http://schemas.openxmlformats.org/drawingml/2006/main"/>
        </p:blipFill>
        <p:spPr>
          <a:xfrm xmlns:a="http://schemas.openxmlformats.org/drawingml/2006/main">
            <a:off x="685800" y="1773945"/>
            <a:ext cx="10820400" cy="2167111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53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1045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054e1ffa14344"/>
          <a:stretch xmlns:a="http://schemas.openxmlformats.org/drawingml/2006/main"/>
        </p:blipFill>
        <p:spPr>
          <a:xfrm xmlns:a="http://schemas.openxmlformats.org/drawingml/2006/main">
            <a:off x="685800" y="1494926"/>
            <a:ext cx="5981700" cy="3791948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9817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98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763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</a:t>
            </a:r>
            <a:r>
              <a:rPr sz="1275" b="0">
                <a:solidFill>
                  <a:srgbClr val="263732"/>
                </a:solidFill>
              </a:rPr>
              <a:t> </a:t>
            </a:r>
            <a:r>
              <a:rPr sz="1275" b="0">
                <a:solidFill>
                  <a:srgbClr val="263732"/>
                </a:solidFill>
              </a:rPr>
              <a:t>同时表示</a:t>
            </a:r>
            <a:r>
              <a:rPr sz="1275" b="0">
                <a:solidFill>
                  <a:srgbClr val="263732"/>
                </a:solidFill>
              </a:rPr>
              <a:t> </a:t>
            </a:r>
            <a:r>
              <a:rPr sz="1275">
                <a:solidFill>
                  <a:srgbClr val="263732"/>
                </a:solidFill>
              </a:rPr>
              <a:t>space </a:t>
            </a:r>
            <a:r>
              <a:rPr sz="1275">
                <a:solidFill>
                  <a:srgbClr val="263732"/>
                </a:solidFill>
              </a:rPr>
              <a:t>group</a:t>
            </a:r>
            <a:r>
              <a:rPr sz="1275" b="0">
                <a:solidFill>
                  <a:srgbClr val="263732"/>
                </a:solidFill>
              </a:rPr>
              <a:t>、晶格、坐标、</a:t>
            </a:r>
            <a:r>
              <a:rPr sz="1275" b="0">
                <a:solidFill>
                  <a:srgbClr val="263732"/>
                </a:solidFill>
              </a:rPr>
              <a:t>Wyckoff position、元素</a:t>
            </a:r>
            <a:endParaRPr sz="1275" b="0">
              <a:solidFill>
                <a:srgbClr val="263732"/>
              </a:solidFill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5"/>
          </a:solidFill>
          <a:ln xmlns:a="http://schemas.openxmlformats.org/drawingml/2006/main"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 xmlns:a="http://schemas.openxmlformats.org/drawingml/2006/main"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 xmlns:a="http://schemas.openxmlformats.org/drawingml/2006/main"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 xmlns:a="http://schemas.openxmlformats.org/drawingml/2006/main"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 xmlns:a="http://schemas.openxmlformats.org/drawingml/2006/main"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</a:t>
            </a:r>
            <a:r>
              <a:rPr sz="1350" b="1">
                <a:solidFill>
                  <a:srgbClr val="17372F"/>
                </a:solidFill>
              </a:rPr>
              <a:t>set-level merge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 xmlns:a="http://schemas.openxmlformats.org/drawingml/2006/main"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 xmlns:a="http://schemas.openxmlformats.org/drawingml/2006/main"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 xmlns:a="http://schemas.openxmlformats.org/drawingml/2006/main"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238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 xmlns:a="http://schemas.openxmlformats.org/drawingml/2006/main"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482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9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</a:t>
            </a:r>
            <a:r>
              <a:rPr sz="1575" b="0">
                <a:solidFill>
                  <a:srgbClr val="263732"/>
                </a:solidFill>
              </a:rPr>
              <a:t>legal set-level byte-pair encoding prototype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5B"/>
          </a:solidFill>
          <a:ln xmlns:a="http://schemas.openxmlformats.org/drawingml/2006/main"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988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0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DDED9C3-3D4B-4C96-B7C2-025AB0A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E47C345-5CA8-485C-99B7-93E6D0E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38A60D-8AF1-400D-8F9B-5535F2C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4608FCA-16A0-4911-80CA-B88C4A94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比较 tokenizer、生成范式与条件任务；我们的条件类型与输出层级尚待确定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108966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09700"/>
                <a:gridCol w="2266950"/>
                <a:gridCol w="1781175"/>
                <a:gridCol w="2324100"/>
                <a:gridCol w="895350"/>
                <a:gridCol w="2219325"/>
              </a:tblGrid>
              <a:tr h="314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与我们方案的关系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条件生成已有先例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拟更换编码与生成机制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已有结构化条件生成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拟引入 motif 与并行去噪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化学计量条件属未来工作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集合表示接近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无序输入仍可自回归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未做性质 / 化学式任务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 Wyckoff 离散扩散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新编码需区别于占据矩阵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未做组成 / 性质条件基准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已有对称压缩与扩散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潜在差异在 motif / 条件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几何以自生成原型为条件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已有集合与对称 codebook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我们的条件任务定位不同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已有条件 + 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组成条件下的直接基线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已有对称感知条件扩散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需比较编码与条件机制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（我们的方案）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 Wyckoff tokenizer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候选：set-level BPE / motif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非自回归扩散 / 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拟双向恢复 masked 单元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以条件生成为主要任务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具体条件类型待定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待定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原型或完整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拟验证新集合 / motif 编码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对条件扩散生成的作用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</a:tr>
            </a:tbl>
          </a:graphicData>
        </a:graphic>
      </p:graphicFrame>
      <p:sp>
        <p:nvSpPr>
          <p:cNvPr id="6" name="definitions">
            <a:extLst xmlns:a="http://schemas.openxmlformats.org/drawingml/2006/main">
              <a:ext uri="{FF2B5EF4-FFF2-40B4-BE49-F238E27FC236}">
                <a16:creationId xmlns:a16="http://schemas.microsoft.com/office/drawing/2014/main" id="{936DBE54-42A9-4C57-84D7-F0CDA02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原型结构（protostructure）：空间群与元素占据描述，尚缺完整晶格 / 自由坐标。* 支持字段，缺少专门条件基准。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B1B5FAA-746E-431C-810A-5F23ED7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10858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依据 8 篇论文正文及相关附录（2026-09-07 核对）。完整比较与原文出处见本页备注。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211451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2026-09-07T13:39:25.9890000Z</dcterms:created>
  <dcterms:modified xsi:type="dcterms:W3CDTF">2026-09-07T13:39:25.9890000Z</dcterms:modified>
</coreProperties>
</file>